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Engagement is not a warm-up that happens before real assessment. The way clients respond to pacing, transparency, direct questions, boundaries, and the therapist’s attempts to include each person provides important clinical information. In LMFT work, engagement also means building a workable alliance with multiple participants without automatically accepting one person’s description of the problem. The goal is not to make everyone agree. The goal is to create enough safety and clarity for each relevant perspective to be heard while the therapist continues to assess functioning, relationships, risk, readiness, and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in intake, clarify who requested treatment, who is present, who is considered the client or client system, what role the therapist is performing, and what information may be shared. A court, employer, school, parent, partner, or physician may influence attendance without becoming the clinical client. In couple or family work, participation does not automatically answer who controls authorization or how individual contacts will be handled. Clear role and treatment-unit decisions improve consent, reduce later conflict, and prevent the therapist from moving into assessment or intervention under an inaccurate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open questions to invite the client’s story and priorities. Use reflection to communicate understanding and check meaning. Use clarification to resolve ambiguity or inconsistency without accusation. Use direct, focused questions when an exact fact controls the next decision, such as the timing of a medication change, current suicidal intent, access to a weapon, or the amount of a substance used. A good intake is organized but not mechanical. Follow the clues that affect safety, diagnosis, functioning, treatment fit, and the client system rather than asking every possible question with equal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status examination describes current appearance and behavior, speech, reported mood, observed affect, thought process, thought content, perception, cognition, orientation, memory, insight, judgment, and impulse control. It is a snapshot, not a complete diagnosis. Document what you see and hear before assigning meaning. For example, “speaks softly, pauses before answering, and maintains limited eye contact” is more accurate than “guarded and deceptive” when culture, anxiety, language, trauma, or baseline are unknown. Compare findings with prior functioning and the immediate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Chronology and baseline often determine urgency. Ask when symptoms began, whether they fluctuate, what changed around the onset, and whether the presentation differs from usual functioning. Assess health conditions, recent injury, sleep, pain, pregnancy or postpartum changes, medication starts and stops, missed doses, nonprescription products, alcohol, cannabis, stimulants, sedatives, and other substances. Sudden confusion, altered consciousness, unsteady walking, or rapid cognitive change may require medical evaluation before psychological interpretation. The LMFT can assess effects, coordinate care, and encourage prescriber contact, but should not direct medication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accepting one participant’s referral label as the formulation, joining with one person against another, turning intake into a rigid checklist, interpreting quiet behavior as resistance or deception, diagnosing from one MSE finding, or ignoring a new medical or medication clue. Another trap is preserving rapport by avoiding direct safety questions. Empathy and direct assessment are compatible. The strongest answer usually clarifies the missing fact that will change the next decision while maintaining a respectful alliance and accurate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arrives for intake with new confusion, blurred vision, and unsteady walking after combining several over-the-counter sleep and allergy products. Continuing the routine interview or interpreting the symptoms as anxiety would be poorly timed. The therapist should assess immediate safety, clarify what was taken and when, and arrange prompt medical or poison-control guidance as indicated. This response does not require the therapist to diagnose toxicity or recommend another medication. It uses the available facts to recognize a possible medical emergency, remain within scope, and preserve continuity after the urgent issue is addressed.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complete Workbook 2, practice organizing every vignette under five headings: role and treatment unit, immediate safety or medical urgency, current symptoms and MSE, baseline and chronology, and systemic or contextual factors. In the question bank, mark whether a missed item came from taking sides, inferring motive, diagnosing too soon, overlooking a medical or substance clue, or avoiding a direct question. Your goal is to gather enough accurate information for the next decision without delaying action when urgency is already established.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3467A6"/>
                </a:solidFill>
                <a:latin typeface="Aptos" pitchFamily="34" charset="0"/>
                <a:ea typeface="Aptos" pitchFamily="34" charset="-122"/>
                <a:cs typeface="Aptos" pitchFamily="34" charset="-120"/>
              </a:rPr>
              <a:t>Workbook 2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Clinical Engagement, Intake, and Mental Status Assessment</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Engagement is not a warm-up that happens before real assessment.</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3467A6"/>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3467A6">
                <a:alpha val="75000"/>
              </a:srgbClr>
            </a:solidFill>
            <a:prstDash val="solid"/>
            <a:tailEnd type="triangle"/>
          </a:ln>
        </p:spPr>
      </p:sp>
      <p:sp>
        <p:nvSpPr>
          <p:cNvPr id="16" name="Text 14"/>
          <p:cNvSpPr/>
          <p:nvPr/>
        </p:nvSpPr>
        <p:spPr>
          <a:xfrm>
            <a:off x="658368" y="3822192"/>
            <a:ext cx="178003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Clarify</a:t>
            </a:r>
            <a:endParaRPr lang="en-US" sz="1140" dirty="0"/>
          </a:p>
        </p:txBody>
      </p:sp>
      <p:sp>
        <p:nvSpPr>
          <p:cNvPr id="17" name="Text 15"/>
          <p:cNvSpPr/>
          <p:nvPr/>
        </p:nvSpPr>
        <p:spPr>
          <a:xfrm>
            <a:off x="2602992" y="3822192"/>
            <a:ext cx="178003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a:t>
            </a:r>
            <a:endParaRPr lang="en-US" sz="1140" dirty="0"/>
          </a:p>
        </p:txBody>
      </p:sp>
      <p:sp>
        <p:nvSpPr>
          <p:cNvPr id="18" name="Text 16"/>
          <p:cNvSpPr/>
          <p:nvPr/>
        </p:nvSpPr>
        <p:spPr>
          <a:xfrm>
            <a:off x="4547616" y="3822192"/>
            <a:ext cx="1780032"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Choose</a:t>
            </a:r>
            <a:endParaRPr lang="en-US" sz="1140" dirty="0"/>
          </a:p>
        </p:txBody>
      </p:sp>
      <p:sp>
        <p:nvSpPr>
          <p:cNvPr id="19" name="Text 17"/>
          <p:cNvSpPr/>
          <p:nvPr/>
        </p:nvSpPr>
        <p:spPr>
          <a:xfrm>
            <a:off x="7498080" y="3474720"/>
            <a:ext cx="1668780" cy="800100"/>
          </a:xfrm>
          <a:prstGeom prst="rect">
            <a:avLst/>
          </a:prstGeom>
          <a:solidFill>
            <a:srgbClr val="EAF0F8"/>
          </a:solidFill>
          <a:ln w="11430">
            <a:solidFill>
              <a:srgbClr val="3467A6"/>
            </a:solidFill>
          </a:ln>
        </p:spPr>
        <p:txBody>
          <a:bodyPr wrap="square" lIns="1016" tIns="1016" rIns="1016" bIns="1016" rtlCol="0" anchor="ctr">
            <a:normAutofit/>
          </a:bodyPr>
          <a:lstStyle/>
          <a:p>
            <a:pPr algn="ctr" indent="0" marL="0">
              <a:buNone/>
            </a:pPr>
            <a:r>
              <a:rPr lang="en-US" sz="1500" b="1" dirty="0">
                <a:solidFill>
                  <a:srgbClr val="3467A6"/>
                </a:solidFill>
                <a:latin typeface="Aptos Display" pitchFamily="34" charset="0"/>
                <a:ea typeface="Aptos Display" pitchFamily="34" charset="-122"/>
                <a:cs typeface="Aptos Display" pitchFamily="34" charset="-120"/>
              </a:rPr>
              <a:t>Clarify</a:t>
            </a:r>
            <a:endParaRPr lang="en-US" sz="1500" dirty="0"/>
          </a:p>
        </p:txBody>
      </p:sp>
      <p:sp>
        <p:nvSpPr>
          <p:cNvPr id="20" name="Text 18"/>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Assess</a:t>
            </a:r>
            <a:endParaRPr lang="en-US" sz="1500" dirty="0"/>
          </a:p>
        </p:txBody>
      </p:sp>
      <p:sp>
        <p:nvSpPr>
          <p:cNvPr id="21" name="Text 19"/>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Choose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Clarify Role, Referral, and Treatment Unit</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Early in intake, clarify who requested treatment, who is present, who is considered the client or client system, what role the therapist is…</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Nested cards show referral…</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participants</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therapist role</a:t>
            </a:r>
            <a:endParaRPr lang="en-US" sz="1140" dirty="0"/>
          </a:p>
        </p:txBody>
      </p:sp>
      <p:sp>
        <p:nvSpPr>
          <p:cNvPr id="15" name="Text 13"/>
          <p:cNvSpPr/>
          <p:nvPr/>
        </p:nvSpPr>
        <p:spPr>
          <a:xfrm>
            <a:off x="9850374" y="2331720"/>
            <a:ext cx="985266"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client system.</a:t>
            </a:r>
            <a:endParaRPr lang="en-US" sz="1140" dirty="0"/>
          </a:p>
        </p:txBody>
      </p:sp>
      <p:sp>
        <p:nvSpPr>
          <p:cNvPr id="16" name="Text 14"/>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Nested cards show referral…</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court, employer, school, parent, partner, or physician may influence attendance without…</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Clear role and treatment-unit decisions improve consent, reduce later conflict, and prevent…</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Who Referred? Who Participates? Who Is the Client?</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Clear role and treatment-unit decisions improve consent, reduce later conflict, and prevent the therapist from moving into assessment or…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Match the Interview Tool to the Task</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Use open questions to invite the client’s story and priorities.</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Open questions</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reflections</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clarifying questions</a:t>
            </a:r>
            <a:endParaRPr lang="en-US" sz="1140" dirty="0"/>
          </a:p>
        </p:txBody>
      </p:sp>
      <p:sp>
        <p:nvSpPr>
          <p:cNvPr id="15" name="Text 13"/>
          <p:cNvSpPr/>
          <p:nvPr/>
        </p:nvSpPr>
        <p:spPr>
          <a:xfrm>
            <a:off x="9850374" y="2331720"/>
            <a:ext cx="985266"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direct questions are…</a:t>
            </a:r>
            <a:endParaRPr lang="en-US" sz="1140" dirty="0"/>
          </a:p>
        </p:txBody>
      </p:sp>
      <p:sp>
        <p:nvSpPr>
          <p:cNvPr id="16" name="Text 14"/>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Open questions</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Use reflection to communicate understanding and check meaning.</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Follow the clues that affect safety, diagnosis, functioning, treatment fit, and the client…</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Explore Broadly • Clarify Precisely</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Follow the clues that affect safety, diagnosis, functioning, treatment fit, and the client system rather than asking every possible question…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Mental Status Examination as a Snapshot</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The mental status examination describes current appearance and behavior, speech, reported mood, observed affect, thought process, thought content,…</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Observe</a:t>
            </a:r>
            <a:endParaRPr lang="en-US" sz="1140" dirty="0"/>
          </a:p>
        </p:txBody>
      </p:sp>
      <p:sp>
        <p:nvSpPr>
          <p:cNvPr id="13" name="Text 11"/>
          <p:cNvSpPr/>
          <p:nvPr/>
        </p:nvSpPr>
        <p:spPr>
          <a:xfrm>
            <a:off x="7933944"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Describe</a:t>
            </a:r>
            <a:endParaRPr lang="en-US" sz="1140" dirty="0"/>
          </a:p>
        </p:txBody>
      </p:sp>
      <p:sp>
        <p:nvSpPr>
          <p:cNvPr id="14" name="Text 12"/>
          <p:cNvSpPr/>
          <p:nvPr/>
        </p:nvSpPr>
        <p:spPr>
          <a:xfrm>
            <a:off x="9467088" y="2331720"/>
            <a:ext cx="1368552"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Compare</a:t>
            </a:r>
            <a:endParaRPr lang="en-US" sz="1140" dirty="0"/>
          </a:p>
        </p:txBody>
      </p:sp>
      <p:sp>
        <p:nvSpPr>
          <p:cNvPr id="15" name="Text 13"/>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Observe</a:t>
            </a:r>
            <a:endParaRPr lang="en-US" sz="220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is a snapshot, not a complete diagnosis.</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Compare findings with prior functioning and the immediate context.</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Observe • Describe • Compare</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Compare findings with prior functioning and the immediate context.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Establish Baseline and Rule Out Health Factors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Chronology and baseline often determine urgency.</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3467A6"/>
            </a:solidFill>
          </a:ln>
        </p:spPr>
        <p:txBody>
          <a:bodyPr wrap="square" lIns="508" tIns="508" rIns="508" bIns="508" rtlCol="0" anchor="ctr">
            <a:normAutofit/>
          </a:bodyPr>
          <a:lstStyle/>
          <a:p>
            <a:pPr algn="ctr" indent="0" marL="0">
              <a:buNone/>
            </a:pPr>
            <a:r>
              <a:rPr lang="en-US" sz="1220" b="1" dirty="0">
                <a:solidFill>
                  <a:srgbClr val="3467A6"/>
                </a:solidFill>
                <a:latin typeface="Aptos" pitchFamily="34" charset="0"/>
                <a:ea typeface="Aptos" pitchFamily="34" charset="-122"/>
                <a:cs typeface="Aptos" pitchFamily="34" charset="-120"/>
              </a:rPr>
              <a:t>A timeline connects baseline</a:t>
            </a:r>
            <a:endParaRPr lang="en-US" sz="1220" dirty="0"/>
          </a:p>
        </p:txBody>
      </p:sp>
      <p:sp>
        <p:nvSpPr>
          <p:cNvPr id="12" name="Text 10"/>
          <p:cNvSpPr/>
          <p:nvPr/>
        </p:nvSpPr>
        <p:spPr>
          <a:xfrm>
            <a:off x="6793992" y="2368296"/>
            <a:ext cx="3557016" cy="438912"/>
          </a:xfrm>
          <a:prstGeom prst="rect">
            <a:avLst/>
          </a:prstGeom>
          <a:solidFill>
            <a:srgbClr val="EAF0F8"/>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health changes</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medication</a:t>
            </a:r>
            <a:endParaRPr lang="en-US" sz="1220" dirty="0"/>
          </a:p>
        </p:txBody>
      </p:sp>
      <p:sp>
        <p:nvSpPr>
          <p:cNvPr id="14" name="Text 12"/>
          <p:cNvSpPr/>
          <p:nvPr/>
        </p:nvSpPr>
        <p:spPr>
          <a:xfrm>
            <a:off x="7123176" y="3355848"/>
            <a:ext cx="2898648" cy="438912"/>
          </a:xfrm>
          <a:prstGeom prst="rect">
            <a:avLst/>
          </a:prstGeom>
          <a:solidFill>
            <a:srgbClr val="EAF0F8"/>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substances</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sleep</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Ask when symptoms began, whether they fluctuate, what changed around the onset, and whether…</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LMFT can assess effects, coordinate care, and encourage prescriber contact, but should not…</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What Changed? When? What Else Could Explain It?</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LMFT can assess effects, coordinate care, and encourage prescriber contact, but should not direct medication changes.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Common traps include accepting one participant’s referral label as the formulation, joining with one person against another, turning intake into a…</a:t>
            </a:r>
            <a:endParaRPr lang="en-US" sz="2080" dirty="0"/>
          </a:p>
        </p:txBody>
      </p:sp>
      <p:sp>
        <p:nvSpPr>
          <p:cNvPr id="11" name="Text 9"/>
          <p:cNvSpPr/>
          <p:nvPr/>
        </p:nvSpPr>
        <p:spPr>
          <a:xfrm>
            <a:off x="6446520" y="2011680"/>
            <a:ext cx="2103120" cy="1097280"/>
          </a:xfrm>
          <a:prstGeom prst="rect">
            <a:avLst/>
          </a:prstGeom>
          <a:solidFill>
            <a:srgbClr val="EAF0F8"/>
          </a:solidFill>
          <a:ln w="11430">
            <a:solidFill>
              <a:srgbClr val="3467A6"/>
            </a:solidFill>
          </a:ln>
        </p:spPr>
        <p:txBody>
          <a:bodyPr wrap="square" lIns="1016" tIns="1016" rIns="1016" bIns="1016" rtlCol="0" anchor="ctr">
            <a:normAutofit/>
          </a:bodyPr>
          <a:lstStyle/>
          <a:p>
            <a:pPr algn="ctr" indent="0" marL="0">
              <a:buNone/>
            </a:pPr>
            <a:r>
              <a:rPr lang="en-US" sz="1500" b="1" dirty="0">
                <a:solidFill>
                  <a:srgbClr val="3467A6"/>
                </a:solidFill>
                <a:latin typeface="Aptos Display" pitchFamily="34" charset="0"/>
                <a:ea typeface="Aptos Display" pitchFamily="34" charset="-122"/>
                <a:cs typeface="Aptos Display" pitchFamily="34" charset="-120"/>
              </a:rPr>
              <a:t>Trap cards show taking sides</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checklist interviewing</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inferred motive</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premature diagnosis</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Another trap is preserving rapport by avoiding direct safety questions.</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strongest answer usually clarifies the missing fact that will change the next decision…</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Describe Before You Conclude</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strongest answer usually clarifies the missing fact that will change the next decision while maintaining a respectful alliance and accurate…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New Confusion After Medication Use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client arrives for intake with new confusion, blurred vision, and unsteady walking after combining several over-the-counter sleep and allergy…</a:t>
            </a:r>
            <a:endParaRPr lang="en-US" sz="2080" dirty="0"/>
          </a:p>
        </p:txBody>
      </p:sp>
      <p:sp>
        <p:nvSpPr>
          <p:cNvPr id="11" name="Shape 9"/>
          <p:cNvSpPr/>
          <p:nvPr/>
        </p:nvSpPr>
        <p:spPr>
          <a:xfrm>
            <a:off x="6537960" y="2148840"/>
            <a:ext cx="4160520" cy="2743200"/>
          </a:xfrm>
          <a:prstGeom prst="rect">
            <a:avLst>
              <a:gd name="adj" fmla="val 3333"/>
            </a:avLst>
          </a:prstGeom>
          <a:solidFill>
            <a:srgbClr val="EAF0F8"/>
          </a:solidFill>
          <a:ln w="15240">
            <a:solidFill>
              <a:srgbClr val="3467A6">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3467A6"/>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3467A6">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Continuing the routine interview or interpreting the symptoms as anxiety would be poorly timed.</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uses the available facts to recognize a possible medical emergency, remain within scope,…</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Medical Priority Before Psychological Interpretation</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It uses the available facts to recognize a possible medical emergency, remain within scope, and preserve continuity after the urgent issue is…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As you complete Workbook 2, practice organizing every vignette under five headings: role and treatment unit, immediate safety or medical urgency,…</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Safety</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Baseline</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Context</a:t>
            </a:r>
            <a:endParaRPr lang="en-US" sz="1140" dirty="0"/>
          </a:p>
        </p:txBody>
      </p:sp>
      <p:sp>
        <p:nvSpPr>
          <p:cNvPr id="16" name="Text 14"/>
          <p:cNvSpPr/>
          <p:nvPr/>
        </p:nvSpPr>
        <p:spPr>
          <a:xfrm>
            <a:off x="10080346" y="2331720"/>
            <a:ext cx="755294"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Next Step</a:t>
            </a:r>
            <a:endParaRPr lang="en-US" sz="1140" dirty="0"/>
          </a:p>
        </p:txBody>
      </p:sp>
      <p:sp>
        <p:nvSpPr>
          <p:cNvPr id="17" name="Text 15"/>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Role</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the question bank, mark whether a missed item came from taking sides, inferring motive,…</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Your goal is to gather enough accurate information for the next decision without delaying…</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Role • Safety • Baseline • Context • Next Step</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Your goal is to gather enough accurate information for the next decision without delaying action when urgency is already established.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Workbook 02 Companion: Workbook 2 Companion: Clinical Engagement, Intake, and Mental Status Assessment</dc:title>
  <dc:subject>LMFT Workbook 02 Companion</dc:subject>
  <dc:creator>Clinical Training Academy</dc:creator>
  <cp:lastModifiedBy>Clinical Training Academy</cp:lastModifiedBy>
  <cp:revision>1</cp:revision>
  <dcterms:created xsi:type="dcterms:W3CDTF">2026-07-25T22:10:42Z</dcterms:created>
  <dcterms:modified xsi:type="dcterms:W3CDTF">2026-07-25T22:10:42Z</dcterms:modified>
</cp:coreProperties>
</file>