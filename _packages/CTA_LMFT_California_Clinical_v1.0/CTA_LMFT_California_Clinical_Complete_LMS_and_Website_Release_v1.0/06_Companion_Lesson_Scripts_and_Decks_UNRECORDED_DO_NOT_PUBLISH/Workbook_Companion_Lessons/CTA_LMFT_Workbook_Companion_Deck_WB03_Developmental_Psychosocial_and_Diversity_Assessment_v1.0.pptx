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behavior cannot be interpreted accurately from age alone. Development includes physical health, cognition and learning, emotional regulation, relationships and attachment, identity and meaning, and the surrounding environment. A quiet adolescent, an overwhelmed new parent, or an isolated older adult may require very different assessment depending on baseline, developmental capacity, family transition, health, culture, support, and recent change. Workbook 3 teaches you to ask what is happening, at what developmental point, within which relationships and systems, and with what effect on functioning, safety, and 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chronological age, demonstrated developmental abilities, and the current individual life task. Then identify the family life-cycle position and active transitions. School entry, adolescence, launching, couple formation, parenting, divorce, remarriage, caregiving, retirement, illness, migration, deployment, and loss can reorganize roles, boundaries, expectations, and support. Compare current functioning with baseline and ask what changed. A symptom emerging after a major transition may still require diagnosis, but the transition changes the questions you ask and the treatment system you consider.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and identity shape how clients define distress, family responsibility, autonomy, spirituality, help-seeking, privacy, and acceptable change. Assess the client’s own meanings rather than explaining behavior from demographic labels. Include race, ethnicity, gender, sexuality, disability, age, class, religion, immigration, and community only when they are relevant to the client’s experience and goals. Also assess school, work, health care, legal systems, military context, housing, technology, and community resources. Context should change the formulation and next action, not remain a decorative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and accessibility can determine whether treatment is safe and usable. Ask about discrimination, coercion, financial strain, housing instability, language access, transportation, disability accommodations, technology, caregiving demands, and institutional barriers. Do not label missed sessions or incomplete homework as resistance before assessing feasibility. Trauma may be individual, relational, institutional, community-based, or historical, but identity or migration alone does not prove trauma. Strengths such as supportive relationships, prior coping, community connection, cultural resources, persistence, and practical supports should be linked to protection, engagement, and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sequence. First, locate the client in age, developmental level, life stage, and family transition. Second, identify the relevant systems. Third, ask what changed. Fourth, assess meaning, symptoms, functioning, relationships, identity, and safety. Fifth, identify strengths, resources, barriers, access, and power. Sixth, apply the systemic lens to roles, boundaries, attachment, and reciprocal patterns. Seventh, choose the next action: gather missing information, protect safety, collaborate, adapt, refer, plan, or intervene. This sequence keeps development and diversity connected to the actual clinical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assuming everyone at a certain age or family stage has the same capacity or response. Avoid using group membership as a complete explanation. Do not pathologize language, spirituality, disability, neurodiversity, gender diversity, family structure, or culturally shaped closeness without evidence of distress or impairment. Do not reduce poverty, inaccessible services, discrimination, or housing instability to poor motivation. And do not recommend a behavior plan before clarifying developmental fit, family meaning, safety, school or work conditions, and recent contextual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16-year-old begins missing school after the family moves to a smaller apartment following a parent’s job loss. The parents describe the adolescent as defiant and request an individual behavior plan. A stronger first response assesses the adolescent’s developmental need for autonomy and belonging, school safety and peer context, the meaning of the move, housing stress, family conflict, privacy, symptoms, and the sequence surrounding school mornings. The therapist also identifies strengths and available supports. This does not deny individual responsibility. It prevents a premature intervention that ignores the conditions shaping the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3 vignette, write one line for developmental capacity, one for family life-cycle position, one for recent contextual change, one for client meaning, and one for the relational pattern. Then identify the most important barrier and the most usable strength. In your error log, note whether you stereotyped a stage, assumed culture, ignored an environmental system, pathologized difference, or gave advice before assessment. Your best answers should become more specific, respectful, and context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6B4BA3"/>
                </a:solidFill>
                <a:latin typeface="Aptos" pitchFamily="34" charset="0"/>
                <a:ea typeface="Aptos" pitchFamily="34" charset="-122"/>
                <a:cs typeface="Aptos" pitchFamily="34" charset="-120"/>
              </a:rPr>
              <a:t>Workbook 3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Developmental, Psychosocial, and Diversity Assessment</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A behavior cannot be interpreted accurately from age alone.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6B4BA3"/>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6B4BA3">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The same behavior is…</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 stages</a:t>
            </a:r>
            <a:endParaRPr lang="en-US" sz="1140" dirty="0"/>
          </a:p>
        </p:txBody>
      </p:sp>
      <p:sp>
        <p:nvSpPr>
          <p:cNvPr id="18" name="Text 16"/>
          <p:cNvSpPr/>
          <p:nvPr/>
        </p:nvSpPr>
        <p:spPr>
          <a:xfrm>
            <a:off x="4547616" y="3822192"/>
            <a:ext cx="1780032"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contexts.</a:t>
            </a:r>
            <a:endParaRPr lang="en-US" sz="1140" dirty="0"/>
          </a:p>
        </p:txBody>
      </p:sp>
      <p:sp>
        <p:nvSpPr>
          <p:cNvPr id="19" name="Text 17"/>
          <p:cNvSpPr/>
          <p:nvPr/>
        </p:nvSpPr>
        <p:spPr>
          <a:xfrm>
            <a:off x="7498080" y="3474720"/>
            <a:ext cx="1668780" cy="80010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The same behavior is…</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family stages</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contexts.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Locate the Client in Development and Family Life Cycle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Clarify chronological age, demonstrated developmental abilities, and the current individual life task.</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6B4BA3"/>
            </a:solidFill>
          </a:ln>
        </p:spPr>
        <p:txBody>
          <a:bodyPr wrap="square" lIns="508" tIns="508" rIns="508" bIns="508" rtlCol="0" anchor="ctr">
            <a:normAutofit/>
          </a:bodyPr>
          <a:lstStyle/>
          <a:p>
            <a:pPr algn="ctr" indent="0" marL="0">
              <a:buNone/>
            </a:pPr>
            <a:r>
              <a:rPr lang="en-US" sz="1220" b="1" dirty="0">
                <a:solidFill>
                  <a:srgbClr val="6B4BA3"/>
                </a:solidFill>
                <a:latin typeface="Aptos" pitchFamily="34" charset="0"/>
                <a:ea typeface="Aptos" pitchFamily="34" charset="-122"/>
                <a:cs typeface="Aptos" pitchFamily="34" charset="-120"/>
              </a:rPr>
              <a:t>Clarify</a:t>
            </a:r>
            <a:endParaRPr lang="en-US" sz="1220" dirty="0"/>
          </a:p>
        </p:txBody>
      </p:sp>
      <p:sp>
        <p:nvSpPr>
          <p:cNvPr id="12" name="Text 10"/>
          <p:cNvSpPr/>
          <p:nvPr/>
        </p:nvSpPr>
        <p:spPr>
          <a:xfrm>
            <a:off x="6793992" y="2368296"/>
            <a:ext cx="3557016"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Assess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Choose</a:t>
            </a:r>
            <a:endParaRPr lang="en-US" sz="1220" dirty="0"/>
          </a:p>
        </p:txBody>
      </p:sp>
      <p:sp>
        <p:nvSpPr>
          <p:cNvPr id="14" name="Text 12"/>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5" name="Text 13"/>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identify the family life-cycle position and active transitions.</a:t>
            </a:r>
            <a:endParaRPr lang="en-US" sz="1330" dirty="0"/>
          </a:p>
        </p:txBody>
      </p:sp>
      <p:sp>
        <p:nvSpPr>
          <p:cNvPr id="16" name="Text 14"/>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symptom emerging after a major transition may still require diagnosis, but the transition…</a:t>
            </a:r>
            <a:endParaRPr lang="en-US" sz="133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Person Stage + Family Stage + Recent Transition</a:t>
            </a:r>
            <a:endParaRPr lang="en-US" sz="1330" dirty="0"/>
          </a:p>
        </p:txBody>
      </p:sp>
      <p:sp>
        <p:nvSpPr>
          <p:cNvPr id="20" name="Text 18"/>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1" name="Text 19"/>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symptom emerging after a major transition may still require diagnosis, but the transition changes the questions you ask and the treatment…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Assess Context, Culture, Identity, and Meaning</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Culture and identity shape how clients define distress, family responsibility, autonomy, spirituality, help-seeking, privacy, and acceptable change.</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Context layers include…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school</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work</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health care</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culture</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Context layers include…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the client’s own meanings rather than explaining behavior from demographic labels.</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Context should change the formulation and next action, not remain a decorative paragraph.</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What the Experience Means to This Client</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Context should change the formulation and next action, not remain a decorative paragraph.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Include Power, Access, Trauma, and Resilience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Power and accessibility can determine whether treatment is safe and usable.</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4" name="Text 12"/>
          <p:cNvSpPr/>
          <p:nvPr/>
        </p:nvSpPr>
        <p:spPr>
          <a:xfrm>
            <a:off x="9467088" y="2331720"/>
            <a:ext cx="1368552"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5" name="Text 13"/>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about discrimination, coercion, financial strain, housing instability, language access,…</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Strengths such as supportive relationships, prior coping, community connection, cultural…</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Barrier Assessment + Strength Assessment</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Strengths such as supportive relationships, prior coping, community connection, cultural resources, persistence, and practical supports should…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Contextual Reasoning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this sequence.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6B4BA3"/>
            </a:solidFill>
          </a:ln>
        </p:spPr>
        <p:txBody>
          <a:bodyPr wrap="square" lIns="508" tIns="508" rIns="508" bIns="508" rtlCol="0" anchor="ctr">
            <a:normAutofit/>
          </a:bodyPr>
          <a:lstStyle/>
          <a:p>
            <a:pPr algn="ctr" indent="0" marL="0">
              <a:buNone/>
            </a:pPr>
            <a:r>
              <a:rPr lang="en-US" sz="1220" b="1" dirty="0">
                <a:solidFill>
                  <a:srgbClr val="6B4BA3"/>
                </a:solidFill>
                <a:latin typeface="Aptos" pitchFamily="34" charset="0"/>
                <a:ea typeface="Aptos" pitchFamily="34" charset="-122"/>
                <a:cs typeface="Aptos" pitchFamily="34" charset="-120"/>
              </a:rPr>
              <a:t>Locate</a:t>
            </a:r>
            <a:endParaRPr lang="en-US" sz="1220" dirty="0"/>
          </a:p>
        </p:txBody>
      </p:sp>
      <p:sp>
        <p:nvSpPr>
          <p:cNvPr id="12" name="Text 10"/>
          <p:cNvSpPr/>
          <p:nvPr/>
        </p:nvSpPr>
        <p:spPr>
          <a:xfrm>
            <a:off x="6793992" y="2368296"/>
            <a:ext cx="3557016"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Systems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Change</a:t>
            </a:r>
            <a:endParaRPr lang="en-US" sz="1220" dirty="0"/>
          </a:p>
        </p:txBody>
      </p:sp>
      <p:sp>
        <p:nvSpPr>
          <p:cNvPr id="14" name="Text 12"/>
          <p:cNvSpPr/>
          <p:nvPr/>
        </p:nvSpPr>
        <p:spPr>
          <a:xfrm>
            <a:off x="7123176" y="3355848"/>
            <a:ext cx="2898648"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Meaning</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Strengths</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First, locate the client in age, developmental level, life stage, and family transition.</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sequence keeps development and diversity connected to the actual clinical decision.</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Locate → Systems → Change → Meaning → Strengths → Pattern → Action</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This sequence keeps development and diversity connected to the actual clinical decision.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assuming everyone at a certain age or family stage has the same capacity or response.</a:t>
            </a:r>
            <a:endParaRPr lang="en-US" sz="2080" dirty="0"/>
          </a:p>
        </p:txBody>
      </p:sp>
      <p:sp>
        <p:nvSpPr>
          <p:cNvPr id="11" name="Text 9"/>
          <p:cNvSpPr/>
          <p:nvPr/>
        </p:nvSpPr>
        <p:spPr>
          <a:xfrm>
            <a:off x="6446520" y="2011680"/>
            <a:ext cx="2103120" cy="109728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Trap cards show stage…</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cultural overgeneralization</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pathologizing difference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individualizing structural…</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Avoid using group membership as a complete explanation.</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And do not recommend a behavior plan before clarifying developmental fit, family meaning,…</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Difference Is Not Diagnosis</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And do not recommend a behavior plan before clarifying developmental fit, family meaning, safety, school or work conditions, and recent…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School Refusal After Family Change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16-year-old begins missing school after the family moves to a smaller apartment following a parent’s job loss.</a:t>
            </a:r>
            <a:endParaRPr lang="en-US" sz="2080" dirty="0"/>
          </a:p>
        </p:txBody>
      </p:sp>
      <p:sp>
        <p:nvSpPr>
          <p:cNvPr id="11" name="Shape 9"/>
          <p:cNvSpPr/>
          <p:nvPr/>
        </p:nvSpPr>
        <p:spPr>
          <a:xfrm>
            <a:off x="6537960" y="2148840"/>
            <a:ext cx="4160520" cy="2743200"/>
          </a:xfrm>
          <a:prstGeom prst="rect">
            <a:avLst>
              <a:gd name="adj" fmla="val 3333"/>
            </a:avLst>
          </a:prstGeom>
          <a:solidFill>
            <a:srgbClr val="EEE9F7"/>
          </a:solidFill>
          <a:ln w="15240">
            <a:solidFill>
              <a:srgbClr val="6B4BA3">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6B4BA3"/>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6B4BA3">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parents describe the adolescent as defiant and request an individual behavior plan.</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prevents a premature intervention that ignores the conditions shaping the behavior.</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the Transition and the System Before Labeling Defiance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prevents a premature intervention that ignores the conditions shaping the behavior.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3 vignette, write one line for developmental capacity, one for family life-cycle position, one for recent contextual change, one…</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4" name="Text 12"/>
          <p:cNvSpPr/>
          <p:nvPr/>
        </p:nvSpPr>
        <p:spPr>
          <a:xfrm>
            <a:off x="9467088" y="2331720"/>
            <a:ext cx="1368552"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5" name="Text 13"/>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identify the most important barrier and the most usable strength.</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Your best answers should become more specific, respectful, and context responsive.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Development + Family Stage + Context + Meaning + Pattern</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Your best answers should become more specific, respectful, and context responsive.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03 Companion: Workbook 3 Companion: Developmental, Psychosocial, and Diversity Assessment</dc:title>
  <dc:subject>LMFT Workbook 03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