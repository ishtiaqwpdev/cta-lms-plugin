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1 gives you the reasoning structure you will use across the entire LMFT program. The exam rarely rewards the answer with the most clinical vocabulary or the most intensive action. It rewards the answer that fits the exact task, the stage of care, the facts already known, and the professional role. Your goal is to slow the question down just enough to identify what must happen now, what information is still missing, and which option is best timed. This companion lesson highlights the three habits to practice in every workbook: read the task first, use a clinical priority hierarchy, and compare answers for sequence and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final question and its qualifier. FIRST asks for the earliest required step. NEXT asks what follows from work that has already occurred. BEST asks for the strongest overall response under the stated conditions. MOST appropriate asks which option fits the role, evidence, and stage better than the alternatives. Also identify the task category. Is the question asking for assessment, immediate safety action, diagnosis, treatment planning, intervention, referral, legal or ethical response, or evaluation of progress? When candidates read the entire story before defining the task, they often answer a different clinical question than the one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priority hierarchy when several answers seem plausible. Respond first to a medical emergency or immediate danger. Address a controlling legal or ethical duty when the facts clearly support it. Clarify the therapist role, treatment unit, consent, and confidentiality frame when those are uncertain. Engage and assess before choosing a diagnosis, intervention, referral, or level of care that depends on missing information. Then formulate goals, choose a plan, intervene, and monitor response. This hierarchy is not mechanical. It prevents premature action while still allowing immediate action when danger, medical instability, or a clear duty is already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one: define the task by reading the final sentence and qualifier. Pass two: extract only the facts that control the decision, such as safety signals, stage of care, what has already happened, the treatment unit, client preferences, relational patterns, and missing information. Pass three: compare sequence and fit. Eliminate answers that assume facts, skip a required step, violate autonomy or law, use excessive intensity, or answer the wrong task. This method is faster than repeatedly rereading the whole vignette because it tells you exactly which details matter and why one plausible option is better timed than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Systemic reasoning means asking how symptoms, attachment, roles, boundaries, hierarchy, communication, developmental transitions, culture, and reciprocal sequences shape the case. Identify the relevant treatment unit: individual, couple, family, group, caregiver system, or another relational unit. Do not force family treatment into every question. Safety, privacy, consent, medical urgency, or individual assessment may require another sequence. Systemic thinking also does not mean equal blame. Track influence and patterns while preserving responsibility, power differences, and client protection. The best answer integrates the person and the system instead of reducing the case to only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familiar traps. One is matching a single keyword to a favorite theory or diagnosis. Another is choosing the most intensive action because it sounds decisive. A third is assuming facts that are not in the vignette, such as danger, consent, motivation, or a confirmed diagnosis. A fourth is skipping the current stage by teaching skills before assessment or referring before basic clarification. A fifth is judging a client as resistant, manipulative, or unmotivated instead of assessing function, context, readiness, and barriers. When an option feels emotionally satisfying, return to the task word and ask whether the action is actually supported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couple requesting communication training. During an individual check-in allowed by the treatment policy, one partner reports monitoring, threats, and fear of punishment after disagreements. Teaching assertive communication in the next conjoint session sounds clinically useful, but it may increase danger. The stronger first response is to assess safety, coercion, retaliation risk, and whether conjoint treatment is appropriate before facilitating disclosure or skills practice. This answer wins because it follows the hierarchy: immediate safety and treatment structure control the next step. The systemic lens still matters, but it cannot be used to frame coercive violence as an equal communication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Workbook 1 before attempting the 17-question bank. For every missed or low-confidence item, record four things: the task word, the decision stage, the fact you overlooked, and the rule that makes the correct answer better timed. Practice at a deliberate pace first, then repeat with timing. Do not measure progress only by score. Track whether you are reducing premature intervention, unsupported assumptions, and task-word errors. Carry this same reasoning routine into every later CTA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0E7C86"/>
                </a:solidFill>
                <a:latin typeface="Aptos" pitchFamily="34" charset="0"/>
                <a:ea typeface="Aptos" pitchFamily="34" charset="-122"/>
                <a:cs typeface="Aptos" pitchFamily="34" charset="-120"/>
              </a:rPr>
              <a:t>Workbook 1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Exam Strategy and Clinical Reasoning</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Workbook 1 gives you the reasoning structure you will use across the entire LMFT program.</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0E7C8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0E7C86">
                <a:alpha val="75000"/>
              </a:srgbClr>
            </a:solidFill>
            <a:prstDash val="solid"/>
            <a:tailEnd type="triangle"/>
          </a:ln>
        </p:spPr>
      </p:sp>
      <p:sp>
        <p:nvSpPr>
          <p:cNvPr id="16" name="Text 14"/>
          <p:cNvSpPr/>
          <p:nvPr/>
        </p:nvSpPr>
        <p:spPr>
          <a:xfrm>
            <a:off x="658368"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Task</a:t>
            </a:r>
            <a:endParaRPr lang="en-US" sz="1140" dirty="0"/>
          </a:p>
        </p:txBody>
      </p:sp>
      <p:sp>
        <p:nvSpPr>
          <p:cNvPr id="17" name="Text 15"/>
          <p:cNvSpPr/>
          <p:nvPr/>
        </p:nvSpPr>
        <p:spPr>
          <a:xfrm>
            <a:off x="2116836"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Priority</a:t>
            </a:r>
            <a:endParaRPr lang="en-US" sz="1140" dirty="0"/>
          </a:p>
        </p:txBody>
      </p:sp>
      <p:sp>
        <p:nvSpPr>
          <p:cNvPr id="18" name="Text 16"/>
          <p:cNvSpPr/>
          <p:nvPr/>
        </p:nvSpPr>
        <p:spPr>
          <a:xfrm>
            <a:off x="3575304"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Fit</a:t>
            </a:r>
            <a:endParaRPr lang="en-US" sz="1140" dirty="0"/>
          </a:p>
        </p:txBody>
      </p:sp>
      <p:sp>
        <p:nvSpPr>
          <p:cNvPr id="19" name="Text 17"/>
          <p:cNvSpPr/>
          <p:nvPr/>
        </p:nvSpPr>
        <p:spPr>
          <a:xfrm>
            <a:off x="5033772" y="3822192"/>
            <a:ext cx="129387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Answer</a:t>
            </a:r>
            <a:endParaRPr lang="en-US" sz="1140" dirty="0"/>
          </a:p>
        </p:txBody>
      </p:sp>
      <p:sp>
        <p:nvSpPr>
          <p:cNvPr id="20" name="Text 18"/>
          <p:cNvSpPr/>
          <p:nvPr/>
        </p:nvSpPr>
        <p:spPr>
          <a:xfrm>
            <a:off x="7498080" y="3474720"/>
            <a:ext cx="1668780" cy="80010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Task</a:t>
            </a:r>
            <a:endParaRPr lang="en-US" sz="1500" dirty="0"/>
          </a:p>
        </p:txBody>
      </p:sp>
      <p:sp>
        <p:nvSpPr>
          <p:cNvPr id="21" name="Text 19"/>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Priority</a:t>
            </a:r>
            <a:endParaRPr lang="en-US" sz="1500" dirty="0"/>
          </a:p>
        </p:txBody>
      </p:sp>
      <p:sp>
        <p:nvSpPr>
          <p:cNvPr id="22" name="Text 20"/>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Fit</a:t>
            </a:r>
            <a:endParaRPr lang="en-US" sz="1500" dirty="0"/>
          </a:p>
        </p:txBody>
      </p:sp>
      <p:sp>
        <p:nvSpPr>
          <p:cNvPr id="23" name="Text 21"/>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Answer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Read the Task Before Solving the Story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Begin with the final question and its qualifier.</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FIRST</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NEXT</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BEST</a:t>
            </a:r>
            <a:endParaRPr lang="en-US" sz="1140" dirty="0"/>
          </a:p>
        </p:txBody>
      </p:sp>
      <p:sp>
        <p:nvSpPr>
          <p:cNvPr id="15" name="Text 13"/>
          <p:cNvSpPr/>
          <p:nvPr/>
        </p:nvSpPr>
        <p:spPr>
          <a:xfrm>
            <a:off x="9850374" y="2331720"/>
            <a:ext cx="9852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MOST</a:t>
            </a:r>
            <a:endParaRPr lang="en-US" sz="1140" dirty="0"/>
          </a:p>
        </p:txBody>
      </p:sp>
      <p:sp>
        <p:nvSpPr>
          <p:cNvPr id="16" name="Text 14"/>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FIRST</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FIRST asks for the earliest required step.</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When candidates read the entire story before defining the task, they often answer a different…</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FIRST • NEXT • BEST • MOST</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When candidates read the entire story before defining the task, they often answer a different clinical question than the one being asked.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Clinical Decision Hierarchy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a priority hierarchy when several answers seem plausible.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0E7C86"/>
            </a:solidFill>
          </a:ln>
        </p:spPr>
        <p:txBody>
          <a:bodyPr wrap="square" lIns="508" tIns="508" rIns="508" bIns="508" rtlCol="0" anchor="ctr">
            <a:normAutofit/>
          </a:bodyPr>
          <a:lstStyle/>
          <a:p>
            <a:pPr algn="ctr" indent="0" marL="0">
              <a:buNone/>
            </a:pPr>
            <a:r>
              <a:rPr lang="en-US" sz="1220" b="1" dirty="0">
                <a:solidFill>
                  <a:srgbClr val="0E7C86"/>
                </a:solidFill>
                <a:latin typeface="Aptos" pitchFamily="34" charset="0"/>
                <a:ea typeface="Aptos" pitchFamily="34" charset="-122"/>
                <a:cs typeface="Aptos" pitchFamily="34" charset="-120"/>
              </a:rPr>
              <a:t>Emergency</a:t>
            </a:r>
            <a:endParaRPr lang="en-US" sz="1220" dirty="0"/>
          </a:p>
        </p:txBody>
      </p:sp>
      <p:sp>
        <p:nvSpPr>
          <p:cNvPr id="12" name="Text 10"/>
          <p:cNvSpPr/>
          <p:nvPr/>
        </p:nvSpPr>
        <p:spPr>
          <a:xfrm>
            <a:off x="6793992" y="2368296"/>
            <a:ext cx="3557016"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Duty</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Role</a:t>
            </a:r>
            <a:endParaRPr lang="en-US" sz="1220" dirty="0"/>
          </a:p>
        </p:txBody>
      </p:sp>
      <p:sp>
        <p:nvSpPr>
          <p:cNvPr id="14" name="Text 12"/>
          <p:cNvSpPr/>
          <p:nvPr/>
        </p:nvSpPr>
        <p:spPr>
          <a:xfrm>
            <a:off x="7123176" y="3355848"/>
            <a:ext cx="2898648"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Assess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Plan</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Respond first to a medical emergency or immediate danger.</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prevents premature action while still allowing immediate action when danger, medical…</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Emergency → Duty → Role → Assess → Plan → Intervene → Review</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prevents premature action while still allowing immediate action when danger, medical instability, or a clear duty is already established.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Three-Pass Vignette Method</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Pass one: define the task by reading the final sentence and qualifier.</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0E7C86"/>
            </a:solidFill>
          </a:ln>
        </p:spPr>
        <p:txBody>
          <a:bodyPr wrap="square" lIns="508" tIns="508" rIns="508" bIns="508" rtlCol="0" anchor="ctr">
            <a:normAutofit/>
          </a:bodyPr>
          <a:lstStyle/>
          <a:p>
            <a:pPr algn="ctr" indent="0" marL="0">
              <a:buNone/>
            </a:pPr>
            <a:r>
              <a:rPr lang="en-US" sz="1220" b="1" dirty="0">
                <a:solidFill>
                  <a:srgbClr val="0E7C86"/>
                </a:solidFill>
                <a:latin typeface="Aptos" pitchFamily="34" charset="0"/>
                <a:ea typeface="Aptos" pitchFamily="34" charset="-122"/>
                <a:cs typeface="Aptos" pitchFamily="34" charset="-120"/>
              </a:rPr>
              <a:t>1 Define</a:t>
            </a:r>
            <a:endParaRPr lang="en-US" sz="1220" dirty="0"/>
          </a:p>
        </p:txBody>
      </p:sp>
      <p:sp>
        <p:nvSpPr>
          <p:cNvPr id="12" name="Text 10"/>
          <p:cNvSpPr/>
          <p:nvPr/>
        </p:nvSpPr>
        <p:spPr>
          <a:xfrm>
            <a:off x="6793992" y="2368296"/>
            <a:ext cx="3557016"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2 Extract</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3 Compare</a:t>
            </a:r>
            <a:endParaRPr lang="en-US" sz="1220" dirty="0"/>
          </a:p>
        </p:txBody>
      </p:sp>
      <p:sp>
        <p:nvSpPr>
          <p:cNvPr id="14" name="Text 12"/>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5" name="Text 13"/>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Pass two: extract only the facts that control the decision, such as safety signals, stage of…</a:t>
            </a:r>
            <a:endParaRPr lang="en-US" sz="1330" dirty="0"/>
          </a:p>
        </p:txBody>
      </p:sp>
      <p:sp>
        <p:nvSpPr>
          <p:cNvPr id="16" name="Text 14"/>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method is faster than repeatedly rereading the whole vignette because it tells you…</a:t>
            </a:r>
            <a:endParaRPr lang="en-US" sz="133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1 Define • 2 Extract • 3 Compare</a:t>
            </a:r>
            <a:endParaRPr lang="en-US" sz="1330" dirty="0"/>
          </a:p>
        </p:txBody>
      </p:sp>
      <p:sp>
        <p:nvSpPr>
          <p:cNvPr id="20" name="Text 18"/>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1" name="Text 19"/>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This method is faster than repeatedly rereading the whole vignette because it tells you exactly which details matter and why one plausible…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Add the LMFT Systemic Lens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Systemic reasoning means asking how symptoms, attachment, roles, boundaries, hierarchy, communication, developmental transitions, culture, and…</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Individual symptoms are…</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cultural</a:t>
            </a:r>
            <a:endParaRPr lang="en-US" sz="1140" dirty="0"/>
          </a:p>
        </p:txBody>
      </p:sp>
      <p:sp>
        <p:nvSpPr>
          <p:cNvPr id="15" name="Text 13"/>
          <p:cNvSpPr/>
          <p:nvPr/>
        </p:nvSpPr>
        <p:spPr>
          <a:xfrm>
            <a:off x="9850374" y="2331720"/>
            <a:ext cx="9852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environmental systems.</a:t>
            </a:r>
            <a:endParaRPr lang="en-US" sz="1140" dirty="0"/>
          </a:p>
        </p:txBody>
      </p:sp>
      <p:sp>
        <p:nvSpPr>
          <p:cNvPr id="16" name="Text 14"/>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Individual symptoms are…</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Identify the relevant treatment unit: individual, couple, family, group, caregiver system, or…</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answer integrates the person and the system instead of reducing the case to only one…</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Individual + Relationship + Context</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best answer integrates the person and the system instead of reducing the case to only one of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Watch for familiar traps.</a:t>
            </a:r>
            <a:endParaRPr lang="en-US" sz="2080" dirty="0"/>
          </a:p>
        </p:txBody>
      </p:sp>
      <p:sp>
        <p:nvSpPr>
          <p:cNvPr id="11" name="Text 9"/>
          <p:cNvSpPr/>
          <p:nvPr/>
        </p:nvSpPr>
        <p:spPr>
          <a:xfrm>
            <a:off x="6446520" y="2011680"/>
            <a:ext cx="2103120" cy="109728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Five trap cards: keyword…</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strongest action</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assumed facts</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skipped stage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One is matching a single keyword to a favorite theory or diagnosis.</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When an option feels emotionally satisfying, return to the task word and ask whether the…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Plausible Does Not Mean Well-Timed</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When an option feels emotionally satisfying, return to the task word and ask whether the action is actually supported now.</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Couple Conflict and Fear</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Imagine a couple requesting communication training.</a:t>
            </a:r>
            <a:endParaRPr lang="en-US" sz="2080" dirty="0"/>
          </a:p>
        </p:txBody>
      </p:sp>
      <p:sp>
        <p:nvSpPr>
          <p:cNvPr id="11" name="Shape 9"/>
          <p:cNvSpPr/>
          <p:nvPr/>
        </p:nvSpPr>
        <p:spPr>
          <a:xfrm>
            <a:off x="6537960" y="2148840"/>
            <a:ext cx="4160520" cy="2743200"/>
          </a:xfrm>
          <a:prstGeom prst="rect">
            <a:avLst>
              <a:gd name="adj" fmla="val 3333"/>
            </a:avLst>
          </a:prstGeom>
          <a:solidFill>
            <a:srgbClr val="E5F3F4"/>
          </a:solidFill>
          <a:ln w="15240">
            <a:solidFill>
              <a:srgbClr val="0E7C8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0E7C8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0E7C8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During an individual check-in allowed by the treatment policy, one partner reports monitoring,…</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systemic lens still matters, but it cannot be used to frame coercive violence as an equal…</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and Treatment Format Before Skills</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systemic lens still matters, but it cannot be used to frame coercive violence as an equal communication problem.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WB01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Complete Workbook 1 before attempting the 17-question bank.</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Learn</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Practice</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Review</a:t>
            </a:r>
            <a:endParaRPr lang="en-US" sz="1140" dirty="0"/>
          </a:p>
        </p:txBody>
      </p:sp>
      <p:sp>
        <p:nvSpPr>
          <p:cNvPr id="15" name="Text 13"/>
          <p:cNvSpPr/>
          <p:nvPr/>
        </p:nvSpPr>
        <p:spPr>
          <a:xfrm>
            <a:off x="9850374" y="2331720"/>
            <a:ext cx="9852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Correct</a:t>
            </a:r>
            <a:endParaRPr lang="en-US" sz="1140" dirty="0"/>
          </a:p>
        </p:txBody>
      </p:sp>
      <p:sp>
        <p:nvSpPr>
          <p:cNvPr id="16" name="Text 14"/>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Learn</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 every missed or low-confidence item, record four things: the task word, the decision…</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Carry this same reasoning routine into every later CTA workbook.</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Learn → Practice → Review → Correct</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Carry this same reasoning routine into every later CTA workbook.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01 Companion: Workbook 1 Companion: Exam Strategy and Clinical Reasoning</dc:title>
  <dc:subject>LMFT Workbook 01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