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answer choices name interventions that could work in general. The best answer is the version that fits the client’s developmental capacity, cultural and identity meanings, access conditions, family system, stage of treatment, and informed preferences. Context should lead to a clinical adaptation. It may change the language, modality, participants, pace, homework, setting, coordination, or outcome measure. Workbook 10 helps you distinguish culturally responsive and accessible practice from simply mentioning diversity during assessment and then delivering the same plan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is context: identify developmental, cultural, identity, family, environmental, health, and historical factors that change the meaning of the problem. A is access and alliance: assess language, disability, neurodiversity, technology, transportation, cost, safety, trust, and participation barriers. R is relational adaptation: change roles, participants, pacing, communication, modality, materials, or homework within the client system. E is evaluate: determine whether the adaptation improved understanding, participation, safety, alliance, functioning, and progress. CARE prevents context from remaining a description without changing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 may need concrete language, play or visual methods, short tasks, caregiver coaching, predictable routines, and school coordination. Adolescents need meaningful choices, privacy clarification, identity exploration, collaborative goals, and a balanced approach to caregiver involvement and autonomy. Adults may need treatment integrated with work, intimacy, parenting, health, and caregiving. Older adults may require attention to sensory access, cognition, transportation, grief, technology, isolation, autonomy, and family role change. Developmental fit is based on demonstrated capacity, not age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Cultural humility requires self-reflection, openness to correction, attention to power, and collaborative adaptation. Ask how the client and family understand the concern and what would make treatment respectful and useful. Assess minority stress, discrimination, concealment pressure, rejection, community support, spirituality, religion, migration, military experience, gender, sexual orientation, disability, and historical trauma only as they are relevant to the client. Validate real contextual stress without treating identity as the disorder or asking the client to provide all of the therapist’s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strain, housing instability, unsafe work, school barriers, food insecurity, transportation, childcare, language, disability, technology, and caregiving demands can maintain symptoms and relationship conflict. Do not label missed appointments or incomplete practice as lack of commitment before assessing feasibility. Adapt the format, schedule, materials, interpreter support, task size, participant involvement, and resource coordination. Then evaluate whether the change actually improves engagement and functioning. A well-intended accommodation that does not help should be revised, just like any other clinical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assuming culture from demographic labels, using the same intervention for every age, treating structural stress as an individual coping failure, involving family automatically, using children or family members as interpreters for sensitive work, ignoring disability or neurodiversity, giving immigration or legal advice outside competence, or making one adaptation and assuming it works. The best answer asks about meaning and barriers, preserves autonomy and safety, changes the treatment delivery, and evaluates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older adult caring for a spouse misses sessions because transportation is unreliable and video technology is difficult. Labeling the client uncommitted or terminating for nonattendance ignores the treatment context. The stronger response assesses caregiver burden, health, sensory and technology needs, privacy, transportation, family roles, and available supports. The therapist may adapt the service format, simplify technology, adjust scheduling, coordinate resources, and monitor whether participation and functioning improve. The adaptation remains collaborative and within legal and clinical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Workbook 10 vignette, identify the client-defined meaning, the developmental and family-stage context, the access or power barrier, the proposed adaptation, and the outcome that will show whether it helped. In your error log, mark stereotyping, age mismatch, ignored structural stress, automatic family involvement, inaccessible homework, or failure to evaluate an adaptation. Strong contextual reasoning changes what the therapist does, not only what the therapist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3D7A4D"/>
                </a:solidFill>
                <a:latin typeface="Aptos" pitchFamily="34" charset="0"/>
                <a:ea typeface="Aptos" pitchFamily="34" charset="-122"/>
                <a:cs typeface="Aptos" pitchFamily="34" charset="-120"/>
              </a:rPr>
              <a:t>Workbook 10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Developmental, Cultural, and Contextual Interventions</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Many answer choices name interventions that could work in general.</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3D7A4D"/>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3D7A4D">
                <a:alpha val="75000"/>
              </a:srgbClr>
            </a:solidFill>
            <a:prstDash val="solid"/>
            <a:tailEnd type="triangle"/>
          </a:ln>
        </p:spPr>
      </p:sp>
      <p:sp>
        <p:nvSpPr>
          <p:cNvPr id="16" name="Text 14"/>
          <p:cNvSpPr/>
          <p:nvPr/>
        </p:nvSpPr>
        <p:spPr>
          <a:xfrm>
            <a:off x="658368"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Assessment context flows…</a:t>
            </a:r>
            <a:endParaRPr lang="en-US" sz="1140" dirty="0"/>
          </a:p>
        </p:txBody>
      </p:sp>
      <p:sp>
        <p:nvSpPr>
          <p:cNvPr id="17" name="Text 15"/>
          <p:cNvSpPr/>
          <p:nvPr/>
        </p:nvSpPr>
        <p:spPr>
          <a:xfrm>
            <a:off x="2116836"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pacing</a:t>
            </a:r>
            <a:endParaRPr lang="en-US" sz="1140" dirty="0"/>
          </a:p>
        </p:txBody>
      </p:sp>
      <p:sp>
        <p:nvSpPr>
          <p:cNvPr id="18" name="Text 16"/>
          <p:cNvSpPr/>
          <p:nvPr/>
        </p:nvSpPr>
        <p:spPr>
          <a:xfrm>
            <a:off x="3575304"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participants</a:t>
            </a:r>
            <a:endParaRPr lang="en-US" sz="1140" dirty="0"/>
          </a:p>
        </p:txBody>
      </p:sp>
      <p:sp>
        <p:nvSpPr>
          <p:cNvPr id="19" name="Text 17"/>
          <p:cNvSpPr/>
          <p:nvPr/>
        </p:nvSpPr>
        <p:spPr>
          <a:xfrm>
            <a:off x="5033772" y="3822192"/>
            <a:ext cx="1293876"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materials.</a:t>
            </a:r>
            <a:endParaRPr lang="en-US" sz="1140" dirty="0"/>
          </a:p>
        </p:txBody>
      </p:sp>
      <p:sp>
        <p:nvSpPr>
          <p:cNvPr id="20" name="Text 18"/>
          <p:cNvSpPr/>
          <p:nvPr/>
        </p:nvSpPr>
        <p:spPr>
          <a:xfrm>
            <a:off x="7498080" y="3474720"/>
            <a:ext cx="1668780" cy="800100"/>
          </a:xfrm>
          <a:prstGeom prst="rect">
            <a:avLst/>
          </a:prstGeom>
          <a:solidFill>
            <a:srgbClr val="EAF3EC"/>
          </a:solidFill>
          <a:ln w="11430">
            <a:solidFill>
              <a:srgbClr val="3D7A4D"/>
            </a:solidFill>
          </a:ln>
        </p:spPr>
        <p:txBody>
          <a:bodyPr wrap="square" lIns="1016" tIns="1016" rIns="1016" bIns="1016" rtlCol="0" anchor="ctr">
            <a:normAutofit/>
          </a:bodyPr>
          <a:lstStyle/>
          <a:p>
            <a:pPr algn="ctr" indent="0" marL="0">
              <a:buNone/>
            </a:pPr>
            <a:r>
              <a:rPr lang="en-US" sz="1500" b="1" dirty="0">
                <a:solidFill>
                  <a:srgbClr val="3D7A4D"/>
                </a:solidFill>
                <a:latin typeface="Aptos Display" pitchFamily="34" charset="0"/>
                <a:ea typeface="Aptos Display" pitchFamily="34" charset="-122"/>
                <a:cs typeface="Aptos Display" pitchFamily="34" charset="-120"/>
              </a:rPr>
              <a:t>Assessment context flows…</a:t>
            </a:r>
            <a:endParaRPr lang="en-US" sz="1500" dirty="0"/>
          </a:p>
        </p:txBody>
      </p:sp>
      <p:sp>
        <p:nvSpPr>
          <p:cNvPr id="21" name="Text 19"/>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pacing</a:t>
            </a:r>
            <a:endParaRPr lang="en-US" sz="1500" dirty="0"/>
          </a:p>
        </p:txBody>
      </p:sp>
      <p:sp>
        <p:nvSpPr>
          <p:cNvPr id="22" name="Text 20"/>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participants</a:t>
            </a:r>
            <a:endParaRPr lang="en-US" sz="1500" dirty="0"/>
          </a:p>
        </p:txBody>
      </p:sp>
      <p:sp>
        <p:nvSpPr>
          <p:cNvPr id="23" name="Text 21"/>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materials.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CARE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 is context: identify developmental, cultural, identity, family, environmental, health, and historical factors that change the meaning of the…</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3D7A4D"/>
            </a:solidFill>
          </a:ln>
        </p:spPr>
        <p:txBody>
          <a:bodyPr wrap="square" lIns="508" tIns="508" rIns="508" bIns="508" rtlCol="0" anchor="ctr">
            <a:normAutofit/>
          </a:bodyPr>
          <a:lstStyle/>
          <a:p>
            <a:pPr algn="ctr" indent="0" marL="0">
              <a:buNone/>
            </a:pPr>
            <a:r>
              <a:rPr lang="en-US" sz="1220" b="1" dirty="0">
                <a:solidFill>
                  <a:srgbClr val="3D7A4D"/>
                </a:solidFill>
                <a:latin typeface="Aptos" pitchFamily="34" charset="0"/>
                <a:ea typeface="Aptos" pitchFamily="34" charset="-122"/>
                <a:cs typeface="Aptos" pitchFamily="34" charset="-120"/>
              </a:rPr>
              <a:t>Context</a:t>
            </a:r>
            <a:endParaRPr lang="en-US" sz="1220" dirty="0"/>
          </a:p>
        </p:txBody>
      </p:sp>
      <p:sp>
        <p:nvSpPr>
          <p:cNvPr id="12" name="Text 10"/>
          <p:cNvSpPr/>
          <p:nvPr/>
        </p:nvSpPr>
        <p:spPr>
          <a:xfrm>
            <a:off x="6793992" y="2368296"/>
            <a:ext cx="3557016" cy="438912"/>
          </a:xfrm>
          <a:prstGeom prst="rect">
            <a:avLst/>
          </a:prstGeom>
          <a:solidFill>
            <a:srgbClr val="EAF3EC"/>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Access/Alliance</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Relational Adaptation</a:t>
            </a:r>
            <a:endParaRPr lang="en-US" sz="1220" dirty="0"/>
          </a:p>
        </p:txBody>
      </p:sp>
      <p:sp>
        <p:nvSpPr>
          <p:cNvPr id="14" name="Text 12"/>
          <p:cNvSpPr/>
          <p:nvPr/>
        </p:nvSpPr>
        <p:spPr>
          <a:xfrm>
            <a:off x="7123176" y="3355848"/>
            <a:ext cx="2898648" cy="438912"/>
          </a:xfrm>
          <a:prstGeom prst="rect">
            <a:avLst/>
          </a:prstGeom>
          <a:solidFill>
            <a:srgbClr val="EAF3EC"/>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Evaluate</a:t>
            </a:r>
            <a:endParaRPr lang="en-US" sz="122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is access and alliance: assess language, disability, neurodiversity, technology,…</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CARE prevents context from remaining a description without changing treatment.</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Context • Access/Alliance • Relational Adaptation • Evaluate</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CARE prevents context from remaining a description without changing treatment.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Development and Family Life Cycle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Children may need concrete language, play or visual methods, short tasks, caregiver coaching, predictable routines, and school coordination.</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4" name="Text 12"/>
          <p:cNvSpPr/>
          <p:nvPr/>
        </p:nvSpPr>
        <p:spPr>
          <a:xfrm>
            <a:off x="9467088" y="2331720"/>
            <a:ext cx="1368552"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5" name="Text 13"/>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Adolescents need meaningful choices, privacy clarification, identity exploration,…</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Developmental fit is based on demonstrated capacity, not age alone.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Capacity and Stage Determine Delivery</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Developmental fit is based on demonstrated capacity, not age alone.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Address Culture, Identity, Power, and Meaning</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Cultural humility requires self-reflection, openness to correction, attention to power, and collaborative adaptation.</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Ask</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Reflect</a:t>
            </a:r>
            <a:endParaRPr lang="en-US" sz="1140" dirty="0"/>
          </a:p>
        </p:txBody>
      </p:sp>
      <p:sp>
        <p:nvSpPr>
          <p:cNvPr id="14" name="Text 12"/>
          <p:cNvSpPr/>
          <p:nvPr/>
        </p:nvSpPr>
        <p:spPr>
          <a:xfrm>
            <a:off x="9467088" y="2331720"/>
            <a:ext cx="1368552"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Adapt</a:t>
            </a:r>
            <a:endParaRPr lang="en-US" sz="1140" dirty="0"/>
          </a:p>
        </p:txBody>
      </p:sp>
      <p:sp>
        <p:nvSpPr>
          <p:cNvPr id="15" name="Text 13"/>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Ask</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how the client and family understand the concern and what would make treatment respectful…</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Validate real contextual stress without treating identity as the disorder or asking the client…</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Reflect, Adapt</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Validate real contextual stress without treating identity as the disorder or asking the client to provide all of the therapist’s education.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Make Access and Structural Conditions Part of Treatment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Financial strain, housing instability, unsafe work, school barriers, food insecurity, transportation, childcare, language, disability, technology,…</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Transportation</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technology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housing</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cost</a:t>
            </a:r>
            <a:endParaRPr lang="en-US" sz="1140" dirty="0"/>
          </a:p>
        </p:txBody>
      </p:sp>
      <p:sp>
        <p:nvSpPr>
          <p:cNvPr id="16" name="Text 14"/>
          <p:cNvSpPr/>
          <p:nvPr/>
        </p:nvSpPr>
        <p:spPr>
          <a:xfrm>
            <a:off x="10080346" y="2331720"/>
            <a:ext cx="755294"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work</a:t>
            </a:r>
            <a:endParaRPr lang="en-US" sz="1140" dirty="0"/>
          </a:p>
        </p:txBody>
      </p:sp>
      <p:sp>
        <p:nvSpPr>
          <p:cNvPr id="17" name="Text 15"/>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Transportation</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label missed appointments or incomplete practice as lack of commitment before assessing…</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well-intended accommodation that does not help should be revised, just like any other…</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Access Is a Treatment Variable</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 well-intended accommodation that does not help should be revised, just like any other clinical intervention.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Avoid assuming culture from demographic labels, using the same intervention for every age, treating structural stress as an individual coping…</a:t>
            </a:r>
            <a:endParaRPr lang="en-US" sz="2080" dirty="0"/>
          </a:p>
        </p:txBody>
      </p:sp>
      <p:sp>
        <p:nvSpPr>
          <p:cNvPr id="11" name="Text 9"/>
          <p:cNvSpPr/>
          <p:nvPr/>
        </p:nvSpPr>
        <p:spPr>
          <a:xfrm>
            <a:off x="6446520" y="2011680"/>
            <a:ext cx="2103120" cy="1097280"/>
          </a:xfrm>
          <a:prstGeom prst="rect">
            <a:avLst/>
          </a:prstGeom>
          <a:solidFill>
            <a:srgbClr val="EAF3EC"/>
          </a:solidFill>
          <a:ln w="11430">
            <a:solidFill>
              <a:srgbClr val="3D7A4D"/>
            </a:solidFill>
          </a:ln>
        </p:spPr>
        <p:txBody>
          <a:bodyPr wrap="square" lIns="1016" tIns="1016" rIns="1016" bIns="1016" rtlCol="0" anchor="ctr">
            <a:normAutofit/>
          </a:bodyPr>
          <a:lstStyle/>
          <a:p>
            <a:pPr algn="ctr" indent="0" marL="0">
              <a:buNone/>
            </a:pPr>
            <a:r>
              <a:rPr lang="en-US" sz="1500" b="1" dirty="0">
                <a:solidFill>
                  <a:srgbClr val="3D7A4D"/>
                </a:solidFill>
                <a:latin typeface="Aptos Display" pitchFamily="34" charset="0"/>
                <a:ea typeface="Aptos Display" pitchFamily="34" charset="-122"/>
                <a:cs typeface="Aptos Display" pitchFamily="34" charset="-120"/>
              </a:rPr>
              <a:t>Trap cards show…</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age-based uniformity</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family involvement by…</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access-as-resistance</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best answer asks about meaning and barriers, preserves autonomy and safety, changes the…</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best answer asks about meaning and barriers, preserves autonomy and safety, changes the…</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Adapt From Evidence, Not Stereotype</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best answer asks about meaning and barriers, preserves autonomy and safety, changes the treatment delivery, and evaluates the result.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Caregiving, Aging, and Access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An older adult caring for a spouse misses sessions because transportation is unreliable and video technology is difficult.</a:t>
            </a:r>
            <a:endParaRPr lang="en-US" sz="2080" dirty="0"/>
          </a:p>
        </p:txBody>
      </p:sp>
      <p:sp>
        <p:nvSpPr>
          <p:cNvPr id="11" name="Shape 9"/>
          <p:cNvSpPr/>
          <p:nvPr/>
        </p:nvSpPr>
        <p:spPr>
          <a:xfrm>
            <a:off x="6537960" y="2148840"/>
            <a:ext cx="4160520" cy="2743200"/>
          </a:xfrm>
          <a:prstGeom prst="rect">
            <a:avLst>
              <a:gd name="adj" fmla="val 3333"/>
            </a:avLst>
          </a:prstGeom>
          <a:solidFill>
            <a:srgbClr val="EAF3EC"/>
          </a:solidFill>
          <a:ln w="15240">
            <a:solidFill>
              <a:srgbClr val="3D7A4D">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3D7A4D"/>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3D7A4D">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Labeling the client uncommitted or terminating for nonattendance ignores the treatment context.</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adaptation remains collaborative and within legal and clinical requirements.</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Adapt Access Before Labeling Noncommitment</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adaptation remains collaborative and within legal and clinical requirements.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10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WB10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every Workbook 10 vignette, identify the client-defined meaning, the developmental and family-stage context, the access or power barrier, the…</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Meaning</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Barrier</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Adaptation</a:t>
            </a:r>
            <a:endParaRPr lang="en-US" sz="1140" dirty="0"/>
          </a:p>
        </p:txBody>
      </p:sp>
      <p:sp>
        <p:nvSpPr>
          <p:cNvPr id="15" name="Text 13"/>
          <p:cNvSpPr/>
          <p:nvPr/>
        </p:nvSpPr>
        <p:spPr>
          <a:xfrm>
            <a:off x="9850374" y="2331720"/>
            <a:ext cx="985266"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Outcome</a:t>
            </a:r>
            <a:endParaRPr lang="en-US" sz="1140" dirty="0"/>
          </a:p>
        </p:txBody>
      </p:sp>
      <p:sp>
        <p:nvSpPr>
          <p:cNvPr id="16" name="Text 14"/>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Meaning</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stereotyping, age mismatch, ignored structural stress, automatic…</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contextual reasoning changes what the therapist does, not only what the therapist…</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Meaning • Barrier • Adaptation • Outcome</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contextual reasoning changes what the therapist does, not only what the therapist notices.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10 Companion: Workbook 10 Companion: Developmental, Cultural, and Contextual Interventions</dc:title>
  <dc:subject>LMFT Workbook 10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