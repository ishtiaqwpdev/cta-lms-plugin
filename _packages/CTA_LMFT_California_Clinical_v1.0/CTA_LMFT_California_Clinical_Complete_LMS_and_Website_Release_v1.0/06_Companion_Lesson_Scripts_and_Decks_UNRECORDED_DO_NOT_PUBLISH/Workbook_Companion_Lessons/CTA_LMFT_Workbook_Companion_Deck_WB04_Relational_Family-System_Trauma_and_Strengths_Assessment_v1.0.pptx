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Relational assessment asks how people connect, support, influence, protect, and sometimes endanger one another. It includes social connection, intimacy and sexuality, family roles, hierarchy, boundaries, alliances, trauma, loss, aggression, regulation, coping, resilience, and available supports. The therapist gathers multiple perspectives without assuming that every perspective is equally accurate or every participant has equal power. Workbook 4 helps you identify what is known, what is missing, and which assessment step or consultation will resolve the most important unanswered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 organizes the major domains. R is relationships and social connection. E is emotional injuries, trauma, and loss. L is the life-support system and family dynamics. A is aggression, impulsivity, and regulation. T is tools, testing, consultation, and referral. The final E is existing strengths, coping, resilience, and protective factors. The map does not require equal depth in every domain. Follow the facts that affect safety, formulation, treatment fit, and level of care. Use it to prevent a narrow focus on only symptoms or only family conflict.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Sensitive topics require relevance, consent, developmentally and culturally appropriate language, and careful attention to safety. Determine whether abuse, coercion, violence, stalking, or exploitation is current before encouraging conjoint disclosure. A calm presentation does not rule out danger, and a history of aggression does not automatically prove current intent. For trauma and loss, assess timing, current safety, functional impact, coping, support, and meaning before seeking a detailed narrative. For intimacy and sexuality, avoid assumptions about orientation, relationship structure, ability, or cultural norms.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Strengths are not a reassuring list added after risk assessment. They include internal capacities, safe relationships, prior successful coping, community resources, housing, transportation, health care, school support, and other assets that can reduce risk or increase follow-through. Standardized measures can support assessment when they answer a defined question and are appropriate for age, language, literacy, disability, culture, and setting. A score is not a diagnosis. Ask how the result changes safety planning, consultation, referral, monitoring, or treatment.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Consultation or referral should answer a specific question that exceeds the therapist’s role or competence. Severe mood symptoms or medication questions may require psychiatric evaluation. Fainting, neurological change, sleep, pain, or endocrine symptoms may require medical assessment. Cognitive or diagnostic clarification may require psychological testing. School functioning may require educational services. Complex needs may require multidisciplinary coordination. Referral is not an automatic exit from relational treatment. Clarify roles, obtain appropriate authorization, share only relevant information, and remain responsible for continuity within the LMFT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traps include treating one participant’s report as the complete family truth, interpreting motive before mapping the sequence, pressing for trauma or sexual detail before explaining relevance, pathologizing cultural closeness or a nontraditional relationship, using a screening score as a diagnosis, referring before basic assessment, failing to refer when specialty evaluation is clearly needed, and naming strengths without explaining how they protect or guide care. The strongest answer protects safety, preserves alliance, and targets the unanswered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16-year-old is brought for school refusal and escalating arguments. One parent calls the adolescent manipulative. The other privately reports fear of the first parent’s temper. The adolescent says school feels unsafe but will not explain in the joint session. The therapist should not force disclosure or accept the manipulation label. First assess immediate safety and whether joint discussion is appropriate. Then gather each perspective within the treatment frame, clarify coercion, aggression, school context, trauma, loss, coping, and protective relationships. Consultation may follow if the facts point to school, medical, psychiatric, or multidisciplinary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RELATE on every Workbook 4 scenario. For each domain, record what is known, what is missing, who can answer the question, and whether the information changes safety, treatment format, referral, or planning. In the question bank, track errors involving alliance, current danger, trauma pacing, source reliability, instrument limits, consultation, or protective factors. Your aim is not to collect every possible fact. It is to obtain the fact that most improves the next clinical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D7A4D"/>
          </a:solidFill>
          <a:ln w="12700">
            <a:solidFill>
              <a:srgbClr val="3D7A4D">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D7A4D"/>
                </a:solidFill>
                <a:latin typeface="Aptos" pitchFamily="34" charset="0"/>
                <a:ea typeface="Aptos" pitchFamily="34" charset="-122"/>
                <a:cs typeface="Aptos" pitchFamily="34" charset="-120"/>
              </a:rPr>
              <a:t>LMFT WORKBOOK 04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WB04 • 01/8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D7A4D"/>
                </a:solidFill>
                <a:latin typeface="Aptos Display" pitchFamily="34" charset="0"/>
                <a:ea typeface="Aptos Display" pitchFamily="34" charset="-122"/>
                <a:cs typeface="Aptos Display" pitchFamily="34" charset="-120"/>
              </a:rPr>
              <a:t>01</a:t>
            </a:r>
            <a:endParaRPr lang="en-US" sz="3200" dirty="0"/>
          </a:p>
        </p:txBody>
      </p:sp>
      <p:sp>
        <p:nvSpPr>
          <p:cNvPr id="9" name="Text 7"/>
          <p:cNvSpPr/>
          <p:nvPr/>
        </p:nvSpPr>
        <p:spPr>
          <a:xfrm>
            <a:off x="566928" y="914400"/>
            <a:ext cx="3840480" cy="310896"/>
          </a:xfrm>
          <a:prstGeom prst="rect">
            <a:avLst/>
          </a:prstGeom>
          <a:noFill/>
          <a:ln/>
        </p:spPr>
        <p:txBody>
          <a:bodyPr wrap="square" lIns="0" tIns="0" rIns="0" bIns="0" rtlCol="0" anchor="ctr"/>
          <a:lstStyle/>
          <a:p>
            <a:pPr indent="0" marL="0">
              <a:buNone/>
            </a:pPr>
            <a:r>
              <a:rPr lang="en-US" sz="1420" b="1" dirty="0">
                <a:solidFill>
                  <a:srgbClr val="3D7A4D"/>
                </a:solidFill>
                <a:latin typeface="Aptos" pitchFamily="34" charset="0"/>
                <a:ea typeface="Aptos" pitchFamily="34" charset="-122"/>
                <a:cs typeface="Aptos" pitchFamily="34" charset="-120"/>
              </a:rPr>
              <a:t>Workbook 4 Companion</a:t>
            </a:r>
            <a:endParaRPr lang="en-US" sz="1420" dirty="0"/>
          </a:p>
        </p:txBody>
      </p:sp>
      <p:sp>
        <p:nvSpPr>
          <p:cNvPr id="10" name="Text 8"/>
          <p:cNvSpPr/>
          <p:nvPr/>
        </p:nvSpPr>
        <p:spPr>
          <a:xfrm>
            <a:off x="566928" y="1298448"/>
            <a:ext cx="6583680" cy="1024128"/>
          </a:xfrm>
          <a:prstGeom prst="rect">
            <a:avLst/>
          </a:prstGeom>
          <a:noFill/>
          <a:ln/>
        </p:spPr>
        <p:txBody>
          <a:bodyPr wrap="square" lIns="127" tIns="127" rIns="127" bIns="127" rtlCol="0" anchor="ctr">
            <a:normAutofit/>
          </a:bodyPr>
          <a:lstStyle/>
          <a:p>
            <a:pPr indent="0" marL="0">
              <a:buNone/>
            </a:pPr>
            <a:r>
              <a:rPr lang="en-US" sz="3100" b="1" dirty="0">
                <a:solidFill>
                  <a:srgbClr val="10263F"/>
                </a:solidFill>
                <a:latin typeface="Aptos Display" pitchFamily="34" charset="0"/>
                <a:ea typeface="Aptos Display" pitchFamily="34" charset="-122"/>
                <a:cs typeface="Aptos Display" pitchFamily="34" charset="-120"/>
              </a:rPr>
              <a:t>Relational, Family-System, Trauma, and Strengths Assessment</a:t>
            </a:r>
            <a:endParaRPr lang="en-US" sz="3100" dirty="0"/>
          </a:p>
        </p:txBody>
      </p:sp>
      <p:sp>
        <p:nvSpPr>
          <p:cNvPr id="11" name="Text 9"/>
          <p:cNvSpPr/>
          <p:nvPr/>
        </p:nvSpPr>
        <p:spPr>
          <a:xfrm>
            <a:off x="585216" y="2432304"/>
            <a:ext cx="5852160" cy="310896"/>
          </a:xfrm>
          <a:prstGeom prst="rect">
            <a:avLst/>
          </a:prstGeom>
          <a:noFill/>
          <a:ln/>
        </p:spPr>
        <p:txBody>
          <a:bodyPr wrap="square" lIns="0" tIns="0" rIns="0" bIns="0" rtlCol="0" anchor="ctr"/>
          <a:lstStyle/>
          <a:p>
            <a:pPr indent="0" marL="0">
              <a:buNone/>
            </a:pPr>
            <a:r>
              <a:rPr lang="en-US" sz="1320" dirty="0">
                <a:solidFill>
                  <a:srgbClr val="5A6675"/>
                </a:solidFill>
                <a:latin typeface="Aptos" pitchFamily="34" charset="0"/>
                <a:ea typeface="Aptos" pitchFamily="34" charset="-122"/>
                <a:cs typeface="Aptos" pitchFamily="34" charset="-120"/>
              </a:rPr>
              <a:t>Ready-to-record CTA workbook companion deck</a:t>
            </a:r>
            <a:endParaRPr lang="en-US" sz="1320" dirty="0"/>
          </a:p>
        </p:txBody>
      </p:sp>
      <p:sp>
        <p:nvSpPr>
          <p:cNvPr id="12" name="Text 10"/>
          <p:cNvSpPr/>
          <p:nvPr/>
        </p:nvSpPr>
        <p:spPr>
          <a:xfrm>
            <a:off x="7571232" y="1810512"/>
            <a:ext cx="3429000" cy="1188720"/>
          </a:xfrm>
          <a:prstGeom prst="rect">
            <a:avLst/>
          </a:prstGeom>
          <a:noFill/>
          <a:ln/>
        </p:spPr>
        <p:txBody>
          <a:bodyPr wrap="square" lIns="254" tIns="254" rIns="254" bIns="254" rtlCol="0" anchor="ctr">
            <a:normAutofit/>
          </a:bodyPr>
          <a:lstStyle/>
          <a:p>
            <a:pPr indent="0" marL="0">
              <a:buNone/>
            </a:pPr>
            <a:r>
              <a:rPr lang="en-US" sz="1960" b="1" dirty="0">
                <a:solidFill>
                  <a:srgbClr val="1D2838"/>
                </a:solidFill>
                <a:latin typeface="Aptos Display" pitchFamily="34" charset="0"/>
                <a:ea typeface="Aptos Display" pitchFamily="34" charset="-122"/>
                <a:cs typeface="Aptos Display" pitchFamily="34" charset="-120"/>
              </a:rPr>
              <a:t>Relational assessment asks how people connect, support, influence, protect, and sometimes endanger one another.</a:t>
            </a:r>
            <a:endParaRPr lang="en-US" sz="1960" dirty="0"/>
          </a:p>
        </p:txBody>
      </p:sp>
      <p:sp>
        <p:nvSpPr>
          <p:cNvPr id="13" name="Text 11"/>
          <p:cNvSpPr/>
          <p:nvPr/>
        </p:nvSpPr>
        <p:spPr>
          <a:xfrm>
            <a:off x="7552944" y="5468112"/>
            <a:ext cx="3520440" cy="384048"/>
          </a:xfrm>
          <a:prstGeom prst="rect">
            <a:avLst/>
          </a:prstGeom>
          <a:noFill/>
          <a:ln/>
        </p:spPr>
        <p:txBody>
          <a:bodyPr wrap="square" lIns="0" tIns="0" rIns="0" bIns="0" rtlCol="0" anchor="ctr">
            <a:normAutofit/>
          </a:bodyPr>
          <a:lstStyle/>
          <a:p>
            <a:pPr indent="0" marL="0">
              <a:buNone/>
            </a:pPr>
            <a:r>
              <a:rPr lang="en-US" sz="1220" dirty="0">
                <a:solidFill>
                  <a:srgbClr val="5A6675"/>
                </a:solidFill>
                <a:latin typeface="Aptos" pitchFamily="34" charset="0"/>
                <a:ea typeface="Aptos" pitchFamily="34" charset="-122"/>
                <a:cs typeface="Aptos" pitchFamily="34" charset="-120"/>
              </a:rPr>
              <a:t>Speaker notes are synchronized with the Word narration script.</a:t>
            </a:r>
            <a:endParaRPr lang="en-US" sz="1220" dirty="0"/>
          </a:p>
        </p:txBody>
      </p:sp>
      <p:sp>
        <p:nvSpPr>
          <p:cNvPr id="14" name="Text 12"/>
          <p:cNvSpPr/>
          <p:nvPr/>
        </p:nvSpPr>
        <p:spPr>
          <a:xfrm>
            <a:off x="585216" y="5340096"/>
            <a:ext cx="3429000" cy="301752"/>
          </a:xfrm>
          <a:prstGeom prst="rect">
            <a:avLst/>
          </a:prstGeom>
          <a:solidFill>
            <a:srgbClr val="3D7A4D"/>
          </a:solidFill>
          <a:ln/>
        </p:spPr>
        <p:txBody>
          <a:bodyPr wrap="square" lIns="254" tIns="254" rIns="254" bIns="254" rtlCol="0" anchor="ctr"/>
          <a:lstStyle/>
          <a:p>
            <a:pPr algn="ctr" indent="0" marL="0">
              <a:buNone/>
            </a:pPr>
            <a:r>
              <a:rPr lang="en-US" sz="1030" b="1" dirty="0">
                <a:solidFill>
                  <a:srgbClr val="FFFFFF"/>
                </a:solidFill>
                <a:latin typeface="Aptos" pitchFamily="34" charset="0"/>
                <a:ea typeface="Aptos" pitchFamily="34" charset="-122"/>
                <a:cs typeface="Aptos" pitchFamily="34" charset="-120"/>
              </a:rPr>
              <a:t>8–10 MINUTE COMPANION LESSON</a:t>
            </a:r>
            <a:endParaRPr lang="en-US" sz="1030" dirty="0"/>
          </a:p>
        </p:txBody>
      </p:sp>
      <p:sp>
        <p:nvSpPr>
          <p:cNvPr id="15" name="Shape 13"/>
          <p:cNvSpPr/>
          <p:nvPr/>
        </p:nvSpPr>
        <p:spPr>
          <a:xfrm>
            <a:off x="795528" y="4114800"/>
            <a:ext cx="5394960" cy="0"/>
          </a:xfrm>
          <a:prstGeom prst="line">
            <a:avLst/>
          </a:prstGeom>
          <a:noFill/>
          <a:ln w="13970">
            <a:solidFill>
              <a:srgbClr val="3D7A4D">
                <a:alpha val="75000"/>
              </a:srgbClr>
            </a:solidFill>
            <a:prstDash val="solid"/>
            <a:tailEnd type="triangle"/>
          </a:ln>
        </p:spPr>
      </p:sp>
      <p:sp>
        <p:nvSpPr>
          <p:cNvPr id="16" name="Text 14"/>
          <p:cNvSpPr/>
          <p:nvPr/>
        </p:nvSpPr>
        <p:spPr>
          <a:xfrm>
            <a:off x="658368"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 relationship map…</a:t>
            </a:r>
            <a:endParaRPr lang="en-US" sz="1140" dirty="0"/>
          </a:p>
        </p:txBody>
      </p:sp>
      <p:sp>
        <p:nvSpPr>
          <p:cNvPr id="17" name="Text 15"/>
          <p:cNvSpPr/>
          <p:nvPr/>
        </p:nvSpPr>
        <p:spPr>
          <a:xfrm>
            <a:off x="1825142"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boundaries</a:t>
            </a:r>
            <a:endParaRPr lang="en-US" sz="1140" dirty="0"/>
          </a:p>
        </p:txBody>
      </p:sp>
      <p:sp>
        <p:nvSpPr>
          <p:cNvPr id="18" name="Text 16"/>
          <p:cNvSpPr/>
          <p:nvPr/>
        </p:nvSpPr>
        <p:spPr>
          <a:xfrm>
            <a:off x="2991917"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roles</a:t>
            </a:r>
            <a:endParaRPr lang="en-US" sz="1140" dirty="0"/>
          </a:p>
        </p:txBody>
      </p:sp>
      <p:sp>
        <p:nvSpPr>
          <p:cNvPr id="19" name="Text 17"/>
          <p:cNvSpPr/>
          <p:nvPr/>
        </p:nvSpPr>
        <p:spPr>
          <a:xfrm>
            <a:off x="4158691"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intimacy</a:t>
            </a:r>
            <a:endParaRPr lang="en-US" sz="1140" dirty="0"/>
          </a:p>
        </p:txBody>
      </p:sp>
      <p:sp>
        <p:nvSpPr>
          <p:cNvPr id="20" name="Text 18"/>
          <p:cNvSpPr/>
          <p:nvPr/>
        </p:nvSpPr>
        <p:spPr>
          <a:xfrm>
            <a:off x="5325466" y="3822192"/>
            <a:ext cx="1002182" cy="594360"/>
          </a:xfrm>
          <a:prstGeom prst="rect">
            <a:avLst/>
          </a:prstGeom>
          <a:solidFill>
            <a:srgbClr val="3D7A4D"/>
          </a:solidFill>
          <a:ln w="10160">
            <a:solidFill>
              <a:srgbClr val="3D7A4D"/>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trauma</a:t>
            </a:r>
            <a:endParaRPr lang="en-US" sz="1140" dirty="0"/>
          </a:p>
        </p:txBody>
      </p:sp>
      <p:sp>
        <p:nvSpPr>
          <p:cNvPr id="21" name="Text 19"/>
          <p:cNvSpPr/>
          <p:nvPr/>
        </p:nvSpPr>
        <p:spPr>
          <a:xfrm>
            <a:off x="7498080" y="3474720"/>
            <a:ext cx="1668780" cy="800100"/>
          </a:xfrm>
          <a:prstGeom prst="rect">
            <a:avLst/>
          </a:prstGeom>
          <a:solidFill>
            <a:srgbClr val="EAF3EC"/>
          </a:solidFill>
          <a:ln w="11430">
            <a:solidFill>
              <a:srgbClr val="3D7A4D"/>
            </a:solidFill>
          </a:ln>
        </p:spPr>
        <p:txBody>
          <a:bodyPr wrap="square" lIns="1016" tIns="1016" rIns="1016" bIns="1016" rtlCol="0" anchor="ctr">
            <a:normAutofit/>
          </a:bodyPr>
          <a:lstStyle/>
          <a:p>
            <a:pPr algn="ctr" indent="0" marL="0">
              <a:buNone/>
            </a:pPr>
            <a:r>
              <a:rPr lang="en-US" sz="1500" b="1" dirty="0">
                <a:solidFill>
                  <a:srgbClr val="3D7A4D"/>
                </a:solidFill>
                <a:latin typeface="Aptos Display" pitchFamily="34" charset="0"/>
                <a:ea typeface="Aptos Display" pitchFamily="34" charset="-122"/>
                <a:cs typeface="Aptos Display" pitchFamily="34" charset="-120"/>
              </a:rPr>
              <a:t>A relationship map…</a:t>
            </a:r>
            <a:endParaRPr lang="en-US" sz="1500" dirty="0"/>
          </a:p>
        </p:txBody>
      </p:sp>
      <p:sp>
        <p:nvSpPr>
          <p:cNvPr id="22" name="Text 20"/>
          <p:cNvSpPr/>
          <p:nvPr/>
        </p:nvSpPr>
        <p:spPr>
          <a:xfrm>
            <a:off x="9304020" y="347472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boundaries</a:t>
            </a:r>
            <a:endParaRPr lang="en-US" sz="1500" dirty="0"/>
          </a:p>
        </p:txBody>
      </p:sp>
      <p:sp>
        <p:nvSpPr>
          <p:cNvPr id="23" name="Text 21"/>
          <p:cNvSpPr/>
          <p:nvPr/>
        </p:nvSpPr>
        <p:spPr>
          <a:xfrm>
            <a:off x="7498080" y="441198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roles</a:t>
            </a:r>
            <a:endParaRPr lang="en-US" sz="1500" dirty="0"/>
          </a:p>
        </p:txBody>
      </p:sp>
      <p:sp>
        <p:nvSpPr>
          <p:cNvPr id="24" name="Text 22"/>
          <p:cNvSpPr/>
          <p:nvPr/>
        </p:nvSpPr>
        <p:spPr>
          <a:xfrm>
            <a:off x="9304020" y="441198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intimacy</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D7A4D"/>
          </a:solidFill>
          <a:ln w="12700">
            <a:solidFill>
              <a:srgbClr val="3D7A4D">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D7A4D"/>
                </a:solidFill>
                <a:latin typeface="Aptos" pitchFamily="34" charset="0"/>
                <a:ea typeface="Aptos" pitchFamily="34" charset="-122"/>
                <a:cs typeface="Aptos" pitchFamily="34" charset="-120"/>
              </a:rPr>
              <a:t>LMFT WORKBOOK 04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WB04 • 02/8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D7A4D"/>
                </a:solidFill>
                <a:latin typeface="Aptos Display" pitchFamily="34" charset="0"/>
                <a:ea typeface="Aptos Display" pitchFamily="34" charset="-122"/>
                <a:cs typeface="Aptos Display" pitchFamily="34" charset="-120"/>
              </a:rPr>
              <a:t>02</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Use the RELATE Assessment Map</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RELATE organizes the major domains.</a:t>
            </a:r>
            <a:endParaRPr lang="en-US" sz="2080" dirty="0"/>
          </a:p>
        </p:txBody>
      </p:sp>
      <p:sp>
        <p:nvSpPr>
          <p:cNvPr id="11" name="Shape 9"/>
          <p:cNvSpPr/>
          <p:nvPr/>
        </p:nvSpPr>
        <p:spPr>
          <a:xfrm>
            <a:off x="6537960" y="2624328"/>
            <a:ext cx="4160520" cy="0"/>
          </a:xfrm>
          <a:prstGeom prst="line">
            <a:avLst/>
          </a:prstGeom>
          <a:noFill/>
          <a:ln w="13970">
            <a:solidFill>
              <a:srgbClr val="3D7A4D">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Relationships</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Emotional Injury</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Life System</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Aggression</a:t>
            </a:r>
            <a:endParaRPr lang="en-US" sz="1140" dirty="0"/>
          </a:p>
        </p:txBody>
      </p:sp>
      <p:sp>
        <p:nvSpPr>
          <p:cNvPr id="16" name="Text 14"/>
          <p:cNvSpPr/>
          <p:nvPr/>
        </p:nvSpPr>
        <p:spPr>
          <a:xfrm>
            <a:off x="10080346" y="2331720"/>
            <a:ext cx="755294" cy="594360"/>
          </a:xfrm>
          <a:prstGeom prst="rect">
            <a:avLst/>
          </a:prstGeom>
          <a:solidFill>
            <a:srgbClr val="3D7A4D"/>
          </a:solidFill>
          <a:ln w="10160">
            <a:solidFill>
              <a:srgbClr val="3D7A4D"/>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Tools</a:t>
            </a:r>
            <a:endParaRPr lang="en-US" sz="1140" dirty="0"/>
          </a:p>
        </p:txBody>
      </p:sp>
      <p:sp>
        <p:nvSpPr>
          <p:cNvPr id="17" name="Text 15"/>
          <p:cNvSpPr/>
          <p:nvPr/>
        </p:nvSpPr>
        <p:spPr>
          <a:xfrm>
            <a:off x="7086600" y="3401568"/>
            <a:ext cx="3063240" cy="914400"/>
          </a:xfrm>
          <a:prstGeom prst="rect">
            <a:avLst/>
          </a:prstGeom>
          <a:solidFill>
            <a:srgbClr val="EAF3EC"/>
          </a:solidFill>
          <a:ln w="13970">
            <a:solidFill>
              <a:srgbClr val="3D7A4D">
                <a:alpha val="75000"/>
              </a:srgbClr>
            </a:solidFill>
          </a:ln>
        </p:spPr>
        <p:txBody>
          <a:bodyPr wrap="square" lIns="635" tIns="635" rIns="635" bIns="635" rtlCol="0" anchor="ctr">
            <a:normAutofit/>
          </a:bodyPr>
          <a:lstStyle/>
          <a:p>
            <a:pPr algn="ctr" indent="0" marL="0">
              <a:buNone/>
            </a:pPr>
            <a:r>
              <a:rPr lang="en-US" sz="2200" b="1" dirty="0">
                <a:solidFill>
                  <a:srgbClr val="3D7A4D"/>
                </a:solidFill>
                <a:latin typeface="Aptos Display" pitchFamily="34" charset="0"/>
                <a:ea typeface="Aptos Display" pitchFamily="34" charset="-122"/>
                <a:cs typeface="Aptos Display" pitchFamily="34" charset="-120"/>
              </a:rPr>
              <a:t>Relationships</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R is relationships and social connection.</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Use it to prevent a narrow focus on only symptoms or only family conflict.</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Relationships • Emotional Injury • Life System • Aggression • Tools • Existing Strengths</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D7A4D"/>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Use it to prevent a narrow focus on only symptoms or only family conflict.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D7A4D"/>
          </a:solidFill>
          <a:ln w="12700">
            <a:solidFill>
              <a:srgbClr val="3D7A4D">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D7A4D"/>
                </a:solidFill>
                <a:latin typeface="Aptos" pitchFamily="34" charset="0"/>
                <a:ea typeface="Aptos" pitchFamily="34" charset="-122"/>
                <a:cs typeface="Aptos" pitchFamily="34" charset="-120"/>
              </a:rPr>
              <a:t>LMFT WORKBOOK 04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WB04 • 03/8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D7A4D"/>
                </a:solidFill>
                <a:latin typeface="Aptos Display" pitchFamily="34" charset="0"/>
                <a:ea typeface="Aptos Display" pitchFamily="34" charset="-122"/>
                <a:cs typeface="Aptos Display" pitchFamily="34" charset="-120"/>
              </a:rPr>
              <a:t>03</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Assess Trauma, Loss, Intimacy, and Aggression With Pacing</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Sensitive topics require relevance, consent, developmentally and culturally appropriate language, and careful attention to safety.</a:t>
            </a:r>
            <a:endParaRPr lang="en-US" sz="2080" dirty="0"/>
          </a:p>
        </p:txBody>
      </p:sp>
      <p:sp>
        <p:nvSpPr>
          <p:cNvPr id="11" name="Shape 9"/>
          <p:cNvSpPr/>
          <p:nvPr/>
        </p:nvSpPr>
        <p:spPr>
          <a:xfrm>
            <a:off x="6537960" y="2624328"/>
            <a:ext cx="4160520" cy="0"/>
          </a:xfrm>
          <a:prstGeom prst="line">
            <a:avLst/>
          </a:prstGeom>
          <a:noFill/>
          <a:ln w="13970">
            <a:solidFill>
              <a:srgbClr val="3D7A4D">
                <a:alpha val="75000"/>
              </a:srgbClr>
            </a:solidFill>
            <a:prstDash val="solid"/>
            <a:tailEnd type="triangle"/>
          </a:ln>
        </p:spPr>
      </p:sp>
      <p:sp>
        <p:nvSpPr>
          <p:cNvPr id="12" name="Text 10"/>
          <p:cNvSpPr/>
          <p:nvPr/>
        </p:nvSpPr>
        <p:spPr>
          <a:xfrm>
            <a:off x="6400800" y="2331720"/>
            <a:ext cx="136855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 safety gate appears…</a:t>
            </a:r>
            <a:endParaRPr lang="en-US" sz="1140" dirty="0"/>
          </a:p>
        </p:txBody>
      </p:sp>
      <p:sp>
        <p:nvSpPr>
          <p:cNvPr id="13" name="Text 11"/>
          <p:cNvSpPr/>
          <p:nvPr/>
        </p:nvSpPr>
        <p:spPr>
          <a:xfrm>
            <a:off x="7933944" y="2331720"/>
            <a:ext cx="136855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sexuality</a:t>
            </a:r>
            <a:endParaRPr lang="en-US" sz="1140" dirty="0"/>
          </a:p>
        </p:txBody>
      </p:sp>
      <p:sp>
        <p:nvSpPr>
          <p:cNvPr id="14" name="Text 12"/>
          <p:cNvSpPr/>
          <p:nvPr/>
        </p:nvSpPr>
        <p:spPr>
          <a:xfrm>
            <a:off x="9467088" y="2331720"/>
            <a:ext cx="1368552" cy="594360"/>
          </a:xfrm>
          <a:prstGeom prst="rect">
            <a:avLst/>
          </a:prstGeom>
          <a:solidFill>
            <a:srgbClr val="3D7A4D"/>
          </a:solidFill>
          <a:ln w="10160">
            <a:solidFill>
              <a:srgbClr val="3D7A4D"/>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violence inquiry.</a:t>
            </a:r>
            <a:endParaRPr lang="en-US" sz="1140" dirty="0"/>
          </a:p>
        </p:txBody>
      </p:sp>
      <p:sp>
        <p:nvSpPr>
          <p:cNvPr id="15" name="Text 13"/>
          <p:cNvSpPr/>
          <p:nvPr/>
        </p:nvSpPr>
        <p:spPr>
          <a:xfrm>
            <a:off x="7086600" y="3401568"/>
            <a:ext cx="3063240" cy="914400"/>
          </a:xfrm>
          <a:prstGeom prst="rect">
            <a:avLst/>
          </a:prstGeom>
          <a:solidFill>
            <a:srgbClr val="EAF3EC"/>
          </a:solidFill>
          <a:ln w="13970">
            <a:solidFill>
              <a:srgbClr val="3D7A4D">
                <a:alpha val="75000"/>
              </a:srgbClr>
            </a:solidFill>
          </a:ln>
        </p:spPr>
        <p:txBody>
          <a:bodyPr wrap="square" lIns="635" tIns="635" rIns="635" bIns="635" rtlCol="0" anchor="ctr">
            <a:normAutofit/>
          </a:bodyPr>
          <a:lstStyle/>
          <a:p>
            <a:pPr algn="ctr" indent="0" marL="0">
              <a:buNone/>
            </a:pPr>
            <a:r>
              <a:rPr lang="en-US" sz="2200" b="1" dirty="0">
                <a:solidFill>
                  <a:srgbClr val="3D7A4D"/>
                </a:solidFill>
                <a:latin typeface="Aptos Display" pitchFamily="34" charset="0"/>
                <a:ea typeface="Aptos Display" pitchFamily="34" charset="-122"/>
                <a:cs typeface="Aptos Display" pitchFamily="34" charset="-120"/>
              </a:rPr>
              <a:t>A safety gate appears…</a:t>
            </a:r>
            <a:endParaRPr lang="en-US" sz="2200" dirty="0"/>
          </a:p>
        </p:txBody>
      </p:sp>
      <p:sp>
        <p:nvSpPr>
          <p:cNvPr id="16" name="Text 14"/>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17" name="Text 15"/>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Determine whether abuse, coercion, violence, stalking, or exploitation is current before…</a:t>
            </a:r>
            <a:endParaRPr lang="en-US" sz="1330" dirty="0"/>
          </a:p>
        </p:txBody>
      </p:sp>
      <p:sp>
        <p:nvSpPr>
          <p:cNvPr id="18" name="Text 16"/>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For intimacy and sexuality, avoid assumptions about orientation, relationship structure,…</a:t>
            </a:r>
            <a:endParaRPr lang="en-US" sz="133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Safety and Consent Before Detail</a:t>
            </a:r>
            <a:endParaRPr lang="en-US" sz="1330" dirty="0"/>
          </a:p>
        </p:txBody>
      </p:sp>
      <p:sp>
        <p:nvSpPr>
          <p:cNvPr id="22" name="Text 20"/>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D7A4D"/>
                </a:solidFill>
                <a:latin typeface="Aptos" pitchFamily="34" charset="0"/>
                <a:ea typeface="Aptos" pitchFamily="34" charset="-122"/>
                <a:cs typeface="Aptos" pitchFamily="34" charset="-120"/>
              </a:rPr>
              <a:t>STUDENT MOVE</a:t>
            </a:r>
            <a:endParaRPr lang="en-US" sz="940" dirty="0"/>
          </a:p>
        </p:txBody>
      </p:sp>
      <p:sp>
        <p:nvSpPr>
          <p:cNvPr id="23" name="Text 21"/>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For intimacy and sexuality, avoid assumptions about orientation, relationship structure, ability, or cultural norms.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D7A4D"/>
          </a:solidFill>
          <a:ln w="12700">
            <a:solidFill>
              <a:srgbClr val="3D7A4D">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D7A4D"/>
                </a:solidFill>
                <a:latin typeface="Aptos" pitchFamily="34" charset="0"/>
                <a:ea typeface="Aptos" pitchFamily="34" charset="-122"/>
                <a:cs typeface="Aptos" pitchFamily="34" charset="-120"/>
              </a:rPr>
              <a:t>LMFT WORKBOOK 04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WB04 • 04/8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D7A4D"/>
                </a:solidFill>
                <a:latin typeface="Aptos Display" pitchFamily="34" charset="0"/>
                <a:ea typeface="Aptos Display" pitchFamily="34" charset="-122"/>
                <a:cs typeface="Aptos Display" pitchFamily="34" charset="-120"/>
              </a:rPr>
              <a:t>04</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Strengths and Measures Must Change the Decision</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Strengths are not a reassuring list added after risk assessment.</a:t>
            </a:r>
            <a:endParaRPr lang="en-US" sz="2080" dirty="0"/>
          </a:p>
        </p:txBody>
      </p:sp>
      <p:sp>
        <p:nvSpPr>
          <p:cNvPr id="11" name="Shape 9"/>
          <p:cNvSpPr/>
          <p:nvPr/>
        </p:nvSpPr>
        <p:spPr>
          <a:xfrm>
            <a:off x="6537960" y="2624328"/>
            <a:ext cx="4160520" cy="0"/>
          </a:xfrm>
          <a:prstGeom prst="line">
            <a:avLst/>
          </a:prstGeom>
          <a:noFill/>
          <a:ln w="13970">
            <a:solidFill>
              <a:srgbClr val="3D7A4D">
                <a:alpha val="75000"/>
              </a:srgbClr>
            </a:solidFill>
            <a:prstDash val="solid"/>
            <a:tailEnd type="triangle"/>
          </a:ln>
        </p:spPr>
      </p:sp>
      <p:sp>
        <p:nvSpPr>
          <p:cNvPr id="12" name="Text 10"/>
          <p:cNvSpPr/>
          <p:nvPr/>
        </p:nvSpPr>
        <p:spPr>
          <a:xfrm>
            <a:off x="6400800" y="2331720"/>
            <a:ext cx="136855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Clarify</a:t>
            </a:r>
            <a:endParaRPr lang="en-US" sz="1140" dirty="0"/>
          </a:p>
        </p:txBody>
      </p:sp>
      <p:sp>
        <p:nvSpPr>
          <p:cNvPr id="13" name="Text 11"/>
          <p:cNvSpPr/>
          <p:nvPr/>
        </p:nvSpPr>
        <p:spPr>
          <a:xfrm>
            <a:off x="7933944" y="2331720"/>
            <a:ext cx="136855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Assess</a:t>
            </a:r>
            <a:endParaRPr lang="en-US" sz="1140" dirty="0"/>
          </a:p>
        </p:txBody>
      </p:sp>
      <p:sp>
        <p:nvSpPr>
          <p:cNvPr id="14" name="Text 12"/>
          <p:cNvSpPr/>
          <p:nvPr/>
        </p:nvSpPr>
        <p:spPr>
          <a:xfrm>
            <a:off x="9467088" y="2331720"/>
            <a:ext cx="1368552" cy="594360"/>
          </a:xfrm>
          <a:prstGeom prst="rect">
            <a:avLst/>
          </a:prstGeom>
          <a:solidFill>
            <a:srgbClr val="3D7A4D"/>
          </a:solidFill>
          <a:ln w="10160">
            <a:solidFill>
              <a:srgbClr val="3D7A4D"/>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Choose</a:t>
            </a:r>
            <a:endParaRPr lang="en-US" sz="1140" dirty="0"/>
          </a:p>
        </p:txBody>
      </p:sp>
      <p:sp>
        <p:nvSpPr>
          <p:cNvPr id="15" name="Text 13"/>
          <p:cNvSpPr/>
          <p:nvPr/>
        </p:nvSpPr>
        <p:spPr>
          <a:xfrm>
            <a:off x="7086600" y="3401568"/>
            <a:ext cx="3063240" cy="914400"/>
          </a:xfrm>
          <a:prstGeom prst="rect">
            <a:avLst/>
          </a:prstGeom>
          <a:solidFill>
            <a:srgbClr val="EAF3EC"/>
          </a:solidFill>
          <a:ln w="13970">
            <a:solidFill>
              <a:srgbClr val="3D7A4D">
                <a:alpha val="75000"/>
              </a:srgbClr>
            </a:solidFill>
          </a:ln>
        </p:spPr>
        <p:txBody>
          <a:bodyPr wrap="square" lIns="635" tIns="635" rIns="635" bIns="635" rtlCol="0" anchor="ctr">
            <a:normAutofit/>
          </a:bodyPr>
          <a:lstStyle/>
          <a:p>
            <a:pPr algn="ctr" indent="0" marL="0">
              <a:buNone/>
            </a:pPr>
            <a:r>
              <a:rPr lang="en-US" sz="2200" b="1" dirty="0">
                <a:solidFill>
                  <a:srgbClr val="3D7A4D"/>
                </a:solidFill>
                <a:latin typeface="Aptos Display" pitchFamily="34" charset="0"/>
                <a:ea typeface="Aptos Display" pitchFamily="34" charset="-122"/>
                <a:cs typeface="Aptos Display" pitchFamily="34" charset="-120"/>
              </a:rPr>
              <a:t>Clarify</a:t>
            </a:r>
            <a:endParaRPr lang="en-US" sz="2200" dirty="0"/>
          </a:p>
        </p:txBody>
      </p:sp>
      <p:sp>
        <p:nvSpPr>
          <p:cNvPr id="16" name="Text 14"/>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17" name="Text 15"/>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They include internal capacities, safe relationships, prior successful coping, community…</a:t>
            </a:r>
            <a:endParaRPr lang="en-US" sz="1330" dirty="0"/>
          </a:p>
        </p:txBody>
      </p:sp>
      <p:sp>
        <p:nvSpPr>
          <p:cNvPr id="18" name="Text 16"/>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Ask how the result changes safety planning, consultation, referral, monitoring, or treatment.</a:t>
            </a:r>
            <a:endParaRPr lang="en-US" sz="133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Strengths Are Usable Resources</a:t>
            </a:r>
            <a:endParaRPr lang="en-US" sz="1330" dirty="0"/>
          </a:p>
        </p:txBody>
      </p:sp>
      <p:sp>
        <p:nvSpPr>
          <p:cNvPr id="22" name="Text 20"/>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D7A4D"/>
                </a:solidFill>
                <a:latin typeface="Aptos" pitchFamily="34" charset="0"/>
                <a:ea typeface="Aptos" pitchFamily="34" charset="-122"/>
                <a:cs typeface="Aptos" pitchFamily="34" charset="-120"/>
              </a:rPr>
              <a:t>STUDENT MOVE</a:t>
            </a:r>
            <a:endParaRPr lang="en-US" sz="940" dirty="0"/>
          </a:p>
        </p:txBody>
      </p:sp>
      <p:sp>
        <p:nvSpPr>
          <p:cNvPr id="23" name="Text 21"/>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Ask how the result changes safety planning, consultation, referral, monitoring, or treatment.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D7A4D"/>
          </a:solidFill>
          <a:ln w="12700">
            <a:solidFill>
              <a:srgbClr val="3D7A4D">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D7A4D"/>
                </a:solidFill>
                <a:latin typeface="Aptos" pitchFamily="34" charset="0"/>
                <a:ea typeface="Aptos" pitchFamily="34" charset="-122"/>
                <a:cs typeface="Aptos" pitchFamily="34" charset="-120"/>
              </a:rPr>
              <a:t>LMFT WORKBOOK 04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WB04 • 05/8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D7A4D"/>
                </a:solidFill>
                <a:latin typeface="Aptos Display" pitchFamily="34" charset="0"/>
                <a:ea typeface="Aptos Display" pitchFamily="34" charset="-122"/>
                <a:cs typeface="Aptos Display" pitchFamily="34" charset="-120"/>
              </a:rPr>
              <a:t>05</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Use Consultation and Referral for the Unresolved Question</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Consultation or referral should answer a specific question that exceeds the therapist’s role or competence.</a:t>
            </a:r>
            <a:endParaRPr lang="en-US" sz="2080" dirty="0"/>
          </a:p>
        </p:txBody>
      </p:sp>
      <p:sp>
        <p:nvSpPr>
          <p:cNvPr id="11" name="Shape 9"/>
          <p:cNvSpPr/>
          <p:nvPr/>
        </p:nvSpPr>
        <p:spPr>
          <a:xfrm>
            <a:off x="6537960" y="2624328"/>
            <a:ext cx="4160520" cy="0"/>
          </a:xfrm>
          <a:prstGeom prst="line">
            <a:avLst/>
          </a:prstGeom>
          <a:noFill/>
          <a:ln w="13970">
            <a:solidFill>
              <a:srgbClr val="3D7A4D">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 clinical question points…</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medicine</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psychology</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school services</a:t>
            </a:r>
            <a:endParaRPr lang="en-US" sz="1140" dirty="0"/>
          </a:p>
        </p:txBody>
      </p:sp>
      <p:sp>
        <p:nvSpPr>
          <p:cNvPr id="16" name="Text 14"/>
          <p:cNvSpPr/>
          <p:nvPr/>
        </p:nvSpPr>
        <p:spPr>
          <a:xfrm>
            <a:off x="10080346" y="2331720"/>
            <a:ext cx="755294" cy="594360"/>
          </a:xfrm>
          <a:prstGeom prst="rect">
            <a:avLst/>
          </a:prstGeom>
          <a:solidFill>
            <a:srgbClr val="3D7A4D"/>
          </a:solidFill>
          <a:ln w="10160">
            <a:solidFill>
              <a:srgbClr val="3D7A4D"/>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a multidisciplinary team.</a:t>
            </a:r>
            <a:endParaRPr lang="en-US" sz="1140" dirty="0"/>
          </a:p>
        </p:txBody>
      </p:sp>
      <p:sp>
        <p:nvSpPr>
          <p:cNvPr id="17" name="Text 15"/>
          <p:cNvSpPr/>
          <p:nvPr/>
        </p:nvSpPr>
        <p:spPr>
          <a:xfrm>
            <a:off x="7086600" y="3401568"/>
            <a:ext cx="3063240" cy="914400"/>
          </a:xfrm>
          <a:prstGeom prst="rect">
            <a:avLst/>
          </a:prstGeom>
          <a:solidFill>
            <a:srgbClr val="EAF3EC"/>
          </a:solidFill>
          <a:ln w="13970">
            <a:solidFill>
              <a:srgbClr val="3D7A4D">
                <a:alpha val="75000"/>
              </a:srgbClr>
            </a:solidFill>
          </a:ln>
        </p:spPr>
        <p:txBody>
          <a:bodyPr wrap="square" lIns="635" tIns="635" rIns="635" bIns="635" rtlCol="0" anchor="ctr">
            <a:normAutofit/>
          </a:bodyPr>
          <a:lstStyle/>
          <a:p>
            <a:pPr algn="ctr" indent="0" marL="0">
              <a:buNone/>
            </a:pPr>
            <a:r>
              <a:rPr lang="en-US" sz="2200" b="1" dirty="0">
                <a:solidFill>
                  <a:srgbClr val="3D7A4D"/>
                </a:solidFill>
                <a:latin typeface="Aptos Display" pitchFamily="34" charset="0"/>
                <a:ea typeface="Aptos Display" pitchFamily="34" charset="-122"/>
                <a:cs typeface="Aptos Display" pitchFamily="34" charset="-120"/>
              </a:rPr>
              <a:t>A clinical question points…</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Severe mood symptoms or medication questions may require psychiatric evaluation.</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Clarify roles, obtain appropriate authorization, share only relevant information, and remain…</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Refer for a Purpose, Preserve Continuity</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D7A4D"/>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Clarify roles, obtain appropriate authorization, share only relevant information, and remain responsible for continuity within the LMFT role.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D7A4D"/>
          </a:solidFill>
          <a:ln w="12700">
            <a:solidFill>
              <a:srgbClr val="3D7A4D">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D7A4D"/>
                </a:solidFill>
                <a:latin typeface="Aptos" pitchFamily="34" charset="0"/>
                <a:ea typeface="Aptos" pitchFamily="34" charset="-122"/>
                <a:cs typeface="Aptos" pitchFamily="34" charset="-120"/>
              </a:rPr>
              <a:t>LMFT WORKBOOK 04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WB04 • 06/8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D7A4D"/>
                </a:solidFill>
                <a:latin typeface="Aptos Display" pitchFamily="34" charset="0"/>
                <a:ea typeface="Aptos Display" pitchFamily="34" charset="-122"/>
                <a:cs typeface="Aptos Display" pitchFamily="34" charset="-120"/>
              </a:rPr>
              <a:t>06</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Common Exam Traps</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Common traps include treating one participant’s report as the complete family truth, interpreting motive before mapping the sequence, pressing for…</a:t>
            </a:r>
            <a:endParaRPr lang="en-US" sz="2080" dirty="0"/>
          </a:p>
        </p:txBody>
      </p:sp>
      <p:sp>
        <p:nvSpPr>
          <p:cNvPr id="11" name="Text 9"/>
          <p:cNvSpPr/>
          <p:nvPr/>
        </p:nvSpPr>
        <p:spPr>
          <a:xfrm>
            <a:off x="6446520" y="2011680"/>
            <a:ext cx="2103120" cy="1097280"/>
          </a:xfrm>
          <a:prstGeom prst="rect">
            <a:avLst/>
          </a:prstGeom>
          <a:solidFill>
            <a:srgbClr val="EAF3EC"/>
          </a:solidFill>
          <a:ln w="11430">
            <a:solidFill>
              <a:srgbClr val="3D7A4D"/>
            </a:solidFill>
          </a:ln>
        </p:spPr>
        <p:txBody>
          <a:bodyPr wrap="square" lIns="1016" tIns="1016" rIns="1016" bIns="1016" rtlCol="0" anchor="ctr">
            <a:normAutofit/>
          </a:bodyPr>
          <a:lstStyle/>
          <a:p>
            <a:pPr algn="ctr" indent="0" marL="0">
              <a:buNone/>
            </a:pPr>
            <a:r>
              <a:rPr lang="en-US" sz="1500" b="1" dirty="0">
                <a:solidFill>
                  <a:srgbClr val="3D7A4D"/>
                </a:solidFill>
                <a:latin typeface="Aptos Display" pitchFamily="34" charset="0"/>
                <a:ea typeface="Aptos Display" pitchFamily="34" charset="-122"/>
                <a:cs typeface="Aptos Display" pitchFamily="34" charset="-120"/>
              </a:rPr>
              <a:t>Trap cards show taking one…</a:t>
            </a:r>
            <a:endParaRPr lang="en-US" sz="1500" dirty="0"/>
          </a:p>
        </p:txBody>
      </p:sp>
      <p:sp>
        <p:nvSpPr>
          <p:cNvPr id="12" name="Text 10"/>
          <p:cNvSpPr/>
          <p:nvPr/>
        </p:nvSpPr>
        <p:spPr>
          <a:xfrm>
            <a:off x="8686800" y="201168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pressing for detail</a:t>
            </a:r>
            <a:endParaRPr lang="en-US" sz="1500" dirty="0"/>
          </a:p>
        </p:txBody>
      </p:sp>
      <p:sp>
        <p:nvSpPr>
          <p:cNvPr id="13" name="Text 11"/>
          <p:cNvSpPr/>
          <p:nvPr/>
        </p:nvSpPr>
        <p:spPr>
          <a:xfrm>
            <a:off x="6446520" y="324612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pathologizing closeness</a:t>
            </a:r>
            <a:endParaRPr lang="en-US" sz="1500" dirty="0"/>
          </a:p>
        </p:txBody>
      </p:sp>
      <p:sp>
        <p:nvSpPr>
          <p:cNvPr id="14" name="Text 12"/>
          <p:cNvSpPr/>
          <p:nvPr/>
        </p:nvSpPr>
        <p:spPr>
          <a:xfrm>
            <a:off x="8686800" y="324612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using a score as diagnosis</a:t>
            </a:r>
            <a:endParaRPr lang="en-US" sz="1500" dirty="0"/>
          </a:p>
        </p:txBody>
      </p:sp>
      <p:sp>
        <p:nvSpPr>
          <p:cNvPr id="15" name="Text 13"/>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16" name="Text 14"/>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strongest answer protects safety, preserves alliance, and targets the unanswered question.</a:t>
            </a:r>
            <a:endParaRPr lang="en-US" sz="1330" dirty="0"/>
          </a:p>
        </p:txBody>
      </p:sp>
      <p:sp>
        <p:nvSpPr>
          <p:cNvPr id="17" name="Text 15"/>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18" name="Text 16"/>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strongest answer protects safety, preserves alliance, and targets the unanswered question.</a:t>
            </a:r>
            <a:endParaRPr lang="en-US" sz="133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Assess Before You Interpret</a:t>
            </a:r>
            <a:endParaRPr lang="en-US" sz="1330" dirty="0"/>
          </a:p>
        </p:txBody>
      </p:sp>
      <p:sp>
        <p:nvSpPr>
          <p:cNvPr id="21" name="Text 19"/>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D7A4D"/>
                </a:solidFill>
                <a:latin typeface="Aptos" pitchFamily="34" charset="0"/>
                <a:ea typeface="Aptos" pitchFamily="34" charset="-122"/>
                <a:cs typeface="Aptos" pitchFamily="34" charset="-120"/>
              </a:rPr>
              <a:t>STUDENT MOVE</a:t>
            </a:r>
            <a:endParaRPr lang="en-US" sz="940" dirty="0"/>
          </a:p>
        </p:txBody>
      </p:sp>
      <p:sp>
        <p:nvSpPr>
          <p:cNvPr id="22" name="Text 20"/>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The strongest answer protects safety, preserves alliance, and targets the unanswered question.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D7A4D"/>
          </a:solidFill>
          <a:ln w="12700">
            <a:solidFill>
              <a:srgbClr val="3D7A4D">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D7A4D"/>
                </a:solidFill>
                <a:latin typeface="Aptos" pitchFamily="34" charset="0"/>
                <a:ea typeface="Aptos" pitchFamily="34" charset="-122"/>
                <a:cs typeface="Aptos" pitchFamily="34" charset="-120"/>
              </a:rPr>
              <a:t>LMFT WORKBOOK 04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WB04 • 07/8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D7A4D"/>
                </a:solidFill>
                <a:latin typeface="Aptos Display" pitchFamily="34" charset="0"/>
                <a:ea typeface="Aptos Display" pitchFamily="34" charset="-122"/>
                <a:cs typeface="Aptos Display" pitchFamily="34" charset="-120"/>
              </a:rPr>
              <a:t>07</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Mini Scenario: Adolescent, School Fear, and Family Temper</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A 16-year-old is brought for school refusal and escalating arguments.</a:t>
            </a:r>
            <a:endParaRPr lang="en-US" sz="2080" dirty="0"/>
          </a:p>
        </p:txBody>
      </p:sp>
      <p:sp>
        <p:nvSpPr>
          <p:cNvPr id="11" name="Shape 9"/>
          <p:cNvSpPr/>
          <p:nvPr/>
        </p:nvSpPr>
        <p:spPr>
          <a:xfrm>
            <a:off x="6537960" y="2148840"/>
            <a:ext cx="4160520" cy="2743200"/>
          </a:xfrm>
          <a:prstGeom prst="rect">
            <a:avLst>
              <a:gd name="adj" fmla="val 3333"/>
            </a:avLst>
          </a:prstGeom>
          <a:solidFill>
            <a:srgbClr val="EAF3EC"/>
          </a:solidFill>
          <a:ln w="15240">
            <a:solidFill>
              <a:srgbClr val="3D7A4D">
                <a:alpha val="85000"/>
              </a:srgbClr>
            </a:solidFill>
            <a:prstDash val="solid"/>
          </a:ln>
        </p:spPr>
      </p:sp>
      <p:sp>
        <p:nvSpPr>
          <p:cNvPr id="12" name="Text 10"/>
          <p:cNvSpPr/>
          <p:nvPr/>
        </p:nvSpPr>
        <p:spPr>
          <a:xfrm>
            <a:off x="6766560" y="2350008"/>
            <a:ext cx="3703320" cy="228600"/>
          </a:xfrm>
          <a:prstGeom prst="rect">
            <a:avLst/>
          </a:prstGeom>
          <a:noFill/>
          <a:ln/>
        </p:spPr>
        <p:txBody>
          <a:bodyPr wrap="square" lIns="0" tIns="0" rIns="0" bIns="0" rtlCol="0" anchor="ctr"/>
          <a:lstStyle/>
          <a:p>
            <a:pPr indent="0" marL="0">
              <a:buNone/>
            </a:pPr>
            <a:r>
              <a:rPr lang="en-US" sz="1000" b="1" dirty="0">
                <a:solidFill>
                  <a:srgbClr val="3D7A4D"/>
                </a:solidFill>
                <a:latin typeface="Aptos" pitchFamily="34" charset="0"/>
                <a:ea typeface="Aptos" pitchFamily="34" charset="-122"/>
                <a:cs typeface="Aptos" pitchFamily="34" charset="-120"/>
              </a:rPr>
              <a:t>MINI SCENARIO</a:t>
            </a:r>
            <a:endParaRPr lang="en-US" sz="1000" dirty="0"/>
          </a:p>
        </p:txBody>
      </p:sp>
      <p:sp>
        <p:nvSpPr>
          <p:cNvPr id="13" name="Text 11"/>
          <p:cNvSpPr/>
          <p:nvPr/>
        </p:nvSpPr>
        <p:spPr>
          <a:xfrm>
            <a:off x="6766560" y="2770632"/>
            <a:ext cx="3703320" cy="713232"/>
          </a:xfrm>
          <a:prstGeom prst="rect">
            <a:avLst/>
          </a:prstGeom>
          <a:noFill/>
          <a:ln/>
        </p:spPr>
        <p:txBody>
          <a:bodyPr wrap="square" lIns="254" tIns="254" rIns="254" bIns="254" rtlCol="0" anchor="ctr">
            <a:normAutofit/>
          </a:bodyPr>
          <a:lstStyle/>
          <a:p>
            <a:pPr indent="0" marL="0">
              <a:buNone/>
            </a:pPr>
            <a:r>
              <a:rPr lang="en-US" sz="2000" b="1" dirty="0">
                <a:solidFill>
                  <a:srgbClr val="1D2838"/>
                </a:solidFill>
                <a:latin typeface="Aptos Display" pitchFamily="34" charset="0"/>
                <a:ea typeface="Aptos Display" pitchFamily="34" charset="-122"/>
                <a:cs typeface="Aptos Display" pitchFamily="34" charset="-120"/>
              </a:rPr>
              <a:t>Facts → Safety → Role → Next step</a:t>
            </a:r>
            <a:endParaRPr lang="en-US" sz="2000" dirty="0"/>
          </a:p>
        </p:txBody>
      </p:sp>
      <p:sp>
        <p:nvSpPr>
          <p:cNvPr id="14" name="Shape 12"/>
          <p:cNvSpPr/>
          <p:nvPr/>
        </p:nvSpPr>
        <p:spPr>
          <a:xfrm>
            <a:off x="6995160" y="3922776"/>
            <a:ext cx="3246120" cy="0"/>
          </a:xfrm>
          <a:prstGeom prst="line">
            <a:avLst/>
          </a:prstGeom>
          <a:noFill/>
          <a:ln w="13970">
            <a:solidFill>
              <a:srgbClr val="3D7A4D">
                <a:alpha val="75000"/>
              </a:srgbClr>
            </a:solidFill>
            <a:prstDash val="solid"/>
            <a:tailEnd type="triangle"/>
          </a:ln>
        </p:spPr>
      </p:sp>
      <p:sp>
        <p:nvSpPr>
          <p:cNvPr id="15" name="Text 13"/>
          <p:cNvSpPr/>
          <p:nvPr/>
        </p:nvSpPr>
        <p:spPr>
          <a:xfrm>
            <a:off x="6858000"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Facts</a:t>
            </a:r>
            <a:endParaRPr lang="en-US" sz="1140" dirty="0"/>
          </a:p>
        </p:txBody>
      </p:sp>
      <p:sp>
        <p:nvSpPr>
          <p:cNvPr id="16" name="Text 14"/>
          <p:cNvSpPr/>
          <p:nvPr/>
        </p:nvSpPr>
        <p:spPr>
          <a:xfrm>
            <a:off x="7779258"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Risk</a:t>
            </a:r>
            <a:endParaRPr lang="en-US" sz="1140" dirty="0"/>
          </a:p>
        </p:txBody>
      </p:sp>
      <p:sp>
        <p:nvSpPr>
          <p:cNvPr id="17" name="Text 15"/>
          <p:cNvSpPr/>
          <p:nvPr/>
        </p:nvSpPr>
        <p:spPr>
          <a:xfrm>
            <a:off x="8700516"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Role</a:t>
            </a:r>
            <a:endParaRPr lang="en-US" sz="1140" dirty="0"/>
          </a:p>
        </p:txBody>
      </p:sp>
      <p:sp>
        <p:nvSpPr>
          <p:cNvPr id="18" name="Text 16"/>
          <p:cNvSpPr/>
          <p:nvPr/>
        </p:nvSpPr>
        <p:spPr>
          <a:xfrm>
            <a:off x="9621774" y="3630168"/>
            <a:ext cx="756666" cy="594360"/>
          </a:xfrm>
          <a:prstGeom prst="rect">
            <a:avLst/>
          </a:prstGeom>
          <a:solidFill>
            <a:srgbClr val="3D7A4D"/>
          </a:solidFill>
          <a:ln w="10160">
            <a:solidFill>
              <a:srgbClr val="3D7A4D"/>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Action</a:t>
            </a:r>
            <a:endParaRPr lang="en-US" sz="1140" dirty="0"/>
          </a:p>
        </p:txBody>
      </p:sp>
      <p:sp>
        <p:nvSpPr>
          <p:cNvPr id="19" name="Text 17"/>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One parent calls the adolescent manipulative.</a:t>
            </a:r>
            <a:endParaRPr lang="en-US" sz="1330" dirty="0"/>
          </a:p>
        </p:txBody>
      </p:sp>
      <p:sp>
        <p:nvSpPr>
          <p:cNvPr id="21" name="Text 19"/>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22" name="Text 20"/>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Consultation may follow if the facts point to school, medical, psychiatric, or…</a:t>
            </a:r>
            <a:endParaRPr lang="en-US" sz="1330" dirty="0"/>
          </a:p>
        </p:txBody>
      </p:sp>
      <p:sp>
        <p:nvSpPr>
          <p:cNvPr id="23" name="Text 21"/>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24" name="Text 22"/>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Private Safety Assessment Before Joint Disclosure</a:t>
            </a:r>
            <a:endParaRPr lang="en-US" sz="1330" dirty="0"/>
          </a:p>
        </p:txBody>
      </p:sp>
      <p:sp>
        <p:nvSpPr>
          <p:cNvPr id="25" name="Text 23"/>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D7A4D"/>
                </a:solidFill>
                <a:latin typeface="Aptos" pitchFamily="34" charset="0"/>
                <a:ea typeface="Aptos" pitchFamily="34" charset="-122"/>
                <a:cs typeface="Aptos" pitchFamily="34" charset="-120"/>
              </a:rPr>
              <a:t>STUDENT MOVE</a:t>
            </a:r>
            <a:endParaRPr lang="en-US" sz="940" dirty="0"/>
          </a:p>
        </p:txBody>
      </p:sp>
      <p:sp>
        <p:nvSpPr>
          <p:cNvPr id="26" name="Text 24"/>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Consultation may follow if the facts point to school, medical, psychiatric, or multidisciplinary needs.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3D7A4D"/>
          </a:solidFill>
          <a:ln w="12700">
            <a:solidFill>
              <a:srgbClr val="3D7A4D">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3D7A4D"/>
                </a:solidFill>
                <a:latin typeface="Aptos" pitchFamily="34" charset="0"/>
                <a:ea typeface="Aptos" pitchFamily="34" charset="-122"/>
                <a:cs typeface="Aptos" pitchFamily="34" charset="-120"/>
              </a:rPr>
              <a:t>LMFT WORKBOOK 04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WB04 • 08/8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3D7A4D"/>
                </a:solidFill>
                <a:latin typeface="Aptos Display" pitchFamily="34" charset="0"/>
                <a:ea typeface="Aptos Display" pitchFamily="34" charset="-122"/>
                <a:cs typeface="Aptos Display" pitchFamily="34" charset="-120"/>
              </a:rPr>
              <a:t>08</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Study Direction</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Use RELATE on every Workbook 4 scenario.</a:t>
            </a:r>
            <a:endParaRPr lang="en-US" sz="2080" dirty="0"/>
          </a:p>
        </p:txBody>
      </p:sp>
      <p:sp>
        <p:nvSpPr>
          <p:cNvPr id="11" name="Shape 9"/>
          <p:cNvSpPr/>
          <p:nvPr/>
        </p:nvSpPr>
        <p:spPr>
          <a:xfrm>
            <a:off x="6537960" y="2624328"/>
            <a:ext cx="4160520" cy="0"/>
          </a:xfrm>
          <a:prstGeom prst="line">
            <a:avLst/>
          </a:prstGeom>
          <a:noFill/>
          <a:ln w="13970">
            <a:solidFill>
              <a:srgbClr val="3D7A4D">
                <a:alpha val="75000"/>
              </a:srgbClr>
            </a:solidFill>
            <a:prstDash val="solid"/>
            <a:tailEnd type="triangle"/>
          </a:ln>
        </p:spPr>
      </p:sp>
      <p:sp>
        <p:nvSpPr>
          <p:cNvPr id="12" name="Text 10"/>
          <p:cNvSpPr/>
          <p:nvPr/>
        </p:nvSpPr>
        <p:spPr>
          <a:xfrm>
            <a:off x="6400800"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Known</a:t>
            </a:r>
            <a:endParaRPr lang="en-US" sz="1140" dirty="0"/>
          </a:p>
        </p:txBody>
      </p:sp>
      <p:sp>
        <p:nvSpPr>
          <p:cNvPr id="13" name="Text 11"/>
          <p:cNvSpPr/>
          <p:nvPr/>
        </p:nvSpPr>
        <p:spPr>
          <a:xfrm>
            <a:off x="7550658"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Missing</a:t>
            </a:r>
            <a:endParaRPr lang="en-US" sz="1140" dirty="0"/>
          </a:p>
        </p:txBody>
      </p:sp>
      <p:sp>
        <p:nvSpPr>
          <p:cNvPr id="14" name="Text 12"/>
          <p:cNvSpPr/>
          <p:nvPr/>
        </p:nvSpPr>
        <p:spPr>
          <a:xfrm>
            <a:off x="8700516"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Source</a:t>
            </a:r>
            <a:endParaRPr lang="en-US" sz="1140" dirty="0"/>
          </a:p>
        </p:txBody>
      </p:sp>
      <p:sp>
        <p:nvSpPr>
          <p:cNvPr id="15" name="Text 13"/>
          <p:cNvSpPr/>
          <p:nvPr/>
        </p:nvSpPr>
        <p:spPr>
          <a:xfrm>
            <a:off x="9850374" y="2331720"/>
            <a:ext cx="985266" cy="594360"/>
          </a:xfrm>
          <a:prstGeom prst="rect">
            <a:avLst/>
          </a:prstGeom>
          <a:solidFill>
            <a:srgbClr val="3D7A4D"/>
          </a:solidFill>
          <a:ln w="10160">
            <a:solidFill>
              <a:srgbClr val="3D7A4D"/>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Next Step</a:t>
            </a:r>
            <a:endParaRPr lang="en-US" sz="1140" dirty="0"/>
          </a:p>
        </p:txBody>
      </p:sp>
      <p:sp>
        <p:nvSpPr>
          <p:cNvPr id="16" name="Text 14"/>
          <p:cNvSpPr/>
          <p:nvPr/>
        </p:nvSpPr>
        <p:spPr>
          <a:xfrm>
            <a:off x="7086600" y="3401568"/>
            <a:ext cx="3063240" cy="914400"/>
          </a:xfrm>
          <a:prstGeom prst="rect">
            <a:avLst/>
          </a:prstGeom>
          <a:solidFill>
            <a:srgbClr val="EAF3EC"/>
          </a:solidFill>
          <a:ln w="13970">
            <a:solidFill>
              <a:srgbClr val="3D7A4D">
                <a:alpha val="75000"/>
              </a:srgbClr>
            </a:solidFill>
          </a:ln>
        </p:spPr>
        <p:txBody>
          <a:bodyPr wrap="square" lIns="635" tIns="635" rIns="635" bIns="635" rtlCol="0" anchor="ctr">
            <a:normAutofit/>
          </a:bodyPr>
          <a:lstStyle/>
          <a:p>
            <a:pPr algn="ctr" indent="0" marL="0">
              <a:buNone/>
            </a:pPr>
            <a:r>
              <a:rPr lang="en-US" sz="2200" b="1" dirty="0">
                <a:solidFill>
                  <a:srgbClr val="3D7A4D"/>
                </a:solidFill>
                <a:latin typeface="Aptos Display" pitchFamily="34" charset="0"/>
                <a:ea typeface="Aptos Display" pitchFamily="34" charset="-122"/>
                <a:cs typeface="Aptos Display" pitchFamily="34" charset="-120"/>
              </a:rPr>
              <a:t>Known</a:t>
            </a:r>
            <a:endParaRPr lang="en-US" sz="2200" dirty="0"/>
          </a:p>
        </p:txBody>
      </p:sp>
      <p:sp>
        <p:nvSpPr>
          <p:cNvPr id="17" name="Text 15"/>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18" name="Text 16"/>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For each domain, record what is known, what is missing, who can answer the question, and…</a:t>
            </a:r>
            <a:endParaRPr lang="en-US" sz="1330" dirty="0"/>
          </a:p>
        </p:txBody>
      </p:sp>
      <p:sp>
        <p:nvSpPr>
          <p:cNvPr id="19" name="Text 17"/>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It is to obtain the fact that most improves the next clinical decision.</a:t>
            </a:r>
            <a:endParaRPr lang="en-US" sz="1330" dirty="0"/>
          </a:p>
        </p:txBody>
      </p:sp>
      <p:sp>
        <p:nvSpPr>
          <p:cNvPr id="21" name="Text 19"/>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3D7A4D"/>
                </a:solidFill>
                <a:latin typeface="Aptos" pitchFamily="34" charset="0"/>
                <a:ea typeface="Aptos" pitchFamily="34" charset="-122"/>
                <a:cs typeface="Aptos" pitchFamily="34" charset="-120"/>
              </a:rPr>
              <a:t>✓</a:t>
            </a:r>
            <a:endParaRPr lang="en-US" sz="1500" dirty="0"/>
          </a:p>
        </p:txBody>
      </p:sp>
      <p:sp>
        <p:nvSpPr>
          <p:cNvPr id="22" name="Text 20"/>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Known • Missing • Source • Next Step</a:t>
            </a:r>
            <a:endParaRPr lang="en-US" sz="1330" dirty="0"/>
          </a:p>
        </p:txBody>
      </p:sp>
      <p:sp>
        <p:nvSpPr>
          <p:cNvPr id="23" name="Text 21"/>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3D7A4D"/>
                </a:solidFill>
                <a:latin typeface="Aptos" pitchFamily="34" charset="0"/>
                <a:ea typeface="Aptos" pitchFamily="34" charset="-122"/>
                <a:cs typeface="Aptos" pitchFamily="34" charset="-120"/>
              </a:rPr>
              <a:t>STUDENT MOVE</a:t>
            </a:r>
            <a:endParaRPr lang="en-US" sz="940" dirty="0"/>
          </a:p>
        </p:txBody>
      </p:sp>
      <p:sp>
        <p:nvSpPr>
          <p:cNvPr id="24" name="Text 22"/>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It is to obtain the fact that most improves the next clinical decision.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Clinical Training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CTA LMFT Workbook 04 Companion: Workbook 4 Companion: Relational, Family-System, Trauma, and Strengths Assessment</dc:title>
  <dc:subject>LMFT Workbook 04 Companion</dc:subject>
  <dc:creator>Clinical Training Academy</dc:creator>
  <cp:lastModifiedBy>Clinical Training Academy</cp:lastModifiedBy>
  <cp:revision>1</cp:revision>
  <dcterms:created xsi:type="dcterms:W3CDTF">2026-07-25T22:10:42Z</dcterms:created>
  <dcterms:modified xsi:type="dcterms:W3CDTF">2026-07-25T22:10:42Z</dcterms:modified>
</cp:coreProperties>
</file>