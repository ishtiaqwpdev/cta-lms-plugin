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intervention begins by selecting the system that best fits the target. Individual work may be appropriate when the concern is primarily within one client or when privacy and safety require it. Couple or family work may be appropriate when interaction, caregiving, attachment, hierarchy, or shared transition maintains the problem. Group work requires a defined purpose and client fit. Coordinated care may be needed for medical, school, substance, or community needs. The strongest answer chooses the smallest effective and safest system response rather than assuming that every relationship problem should be treated conjointly.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safety. Can participants speak freely without fear of retaliation? Then identify who is involved and who is the client or client system. Clarify whether a genuinely shared relational goal exists. Define each person’s role and the therapist’s role. Establish how information, individual contacts, records, and confidentiality expectations will be handled. Assess access, developmental fit, language, stability, and practical participation. Finally, plan follow-up and continuity. SYSTEM prevents the therapist from selecting conjoint work based only on the number of people in the vignette.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assess immediate risk, coercion, and voluntariness. Second, establish and monitor an alliance with each participant so the therapist is not experienced as taking sides. Third, formulate the interactional cycle: cue, meaning, response, and feedback loop. Fourth, establish the shared goal and treatment unit. Fifth, choose an intervention that reorganizes the target—such as hierarchy, boundary, attachment response, communication sequence, reinforcement, or caregiving pattern. Sixth, review safety, alliance, functioning, and the target cycle. This sequence is the relational version of assessment before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Interventions should match the maintaining process. Track pursuit and withdrawal, criticism and defensiveness, escalation and accommodation, or reassurance and avoidance. Strengthen appropriate boundaries and hierarchy when children are drawn into adult conflict or caregivers are undermined. Address attachment fear and protective responses when connection needs organize the cycle. Support developmentally appropriate caregiving and parenting rather than treating a child’s symptom in isolation. Systemic language does not erase responsibility. The therapist can describe reciprocal influence while holding the person using threats, violence, exploitation, or coercion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transitions such as remarriage, launching, caregiving, illness, or loss require realistic pacing and role renegotiation. Stepfamily closeness and authority often develop gradually. Group treatment requires screening for purpose, readiness, composition, risk, access, and confidentiality limits. Specialty referral may be needed for eating-disorder medical risk, substance treatment, psychiatric care, or other needs. Referral does not automatically end relational work. Clarify roles, authorization, information limits, and follow-up so the client system is not abandoned between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beginning communication exercises before assessing coercion, requiring a private safety concern to be disclosed in front of the other partner, treating all participants as equally responsible, joining with one person against another, asking a child to resolve an adult dispute, giving a stepparent full authority too early, selecting group treatment from diagnosis alone, or referring without continuity. Another trap is adding more technique when the real problem is an alliance rupture, unclear treatment unit, or unsafe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argue about discipline and ask their adolescent to decide which parent is correct. The adolescent’s distress may be real, but the maintaining pattern is not simply poor adolescent judgment. The child has been placed inside the parental subsystem. A structural response strengthens the parental alliance, establishes a boundary around adult decision-making, and returns the adolescent to a developmentally appropriate role. The therapist should assess safety and each person’s perspective before intervening, but should not reinforce the triangulation by asking the adolescent to choose a side or by forming separate coalitions.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Workbook 8 vignette, identify the client system, safety and voluntariness, shared goal, information frame, maintaining cycle, intervention target, and follow-up plan. In your error log, mark automatic conjoint work, equal-blame reasoning, missed hierarchy or boundary issues, poor developmental timing, un-screened group selection, or referral without continuity. The best relational answer is the one that changes the supported pattern in the safest workable treatment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0E7C86"/>
                </a:solidFill>
                <a:latin typeface="Aptos" pitchFamily="34" charset="0"/>
                <a:ea typeface="Aptos" pitchFamily="34" charset="-122"/>
                <a:cs typeface="Aptos" pitchFamily="34" charset="-120"/>
              </a:rPr>
              <a:t>Workbook 8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Family, Couple, Attachment, and Relational Interventions</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Relational intervention begins by selecting the system that best fits the target.</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0E7C8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0E7C86">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Individual</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couple</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group</a:t>
            </a:r>
            <a:endParaRPr lang="en-US" sz="1140" dirty="0"/>
          </a:p>
        </p:txBody>
      </p:sp>
      <p:sp>
        <p:nvSpPr>
          <p:cNvPr id="20" name="Text 18"/>
          <p:cNvSpPr/>
          <p:nvPr/>
        </p:nvSpPr>
        <p:spPr>
          <a:xfrm>
            <a:off x="5325466" y="3822192"/>
            <a:ext cx="1002182"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team pathways branch from…</a:t>
            </a:r>
            <a:endParaRPr lang="en-US" sz="1140" dirty="0"/>
          </a:p>
        </p:txBody>
      </p:sp>
      <p:sp>
        <p:nvSpPr>
          <p:cNvPr id="21" name="Text 19"/>
          <p:cNvSpPr/>
          <p:nvPr/>
        </p:nvSpPr>
        <p:spPr>
          <a:xfrm>
            <a:off x="7498080" y="3474720"/>
            <a:ext cx="1668780" cy="80010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Individual</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couple</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family</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group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SYSTEM to Select the Treatment Frame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Start with safety.</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Safety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Who</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Shared Goal</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Information</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Safety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Can participants speak freely without fear of retaliation?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SYSTEM prevents the therapist from selecting conjoint work based only on the number of people…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 Who → Shared Goal → Role → Information → Access → Follow-Up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SYSTEM prevents the therapist from selecting conjoint work based only on the number of people in the vignette.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Sequence the Relational Intervention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First, assess immediate risk, coercion, and voluntariness.</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0E7C86"/>
            </a:solidFill>
          </a:ln>
        </p:spPr>
        <p:txBody>
          <a:bodyPr wrap="square" lIns="508" tIns="508" rIns="508" bIns="508" rtlCol="0" anchor="ctr">
            <a:normAutofit/>
          </a:bodyPr>
          <a:lstStyle/>
          <a:p>
            <a:pPr algn="ctr" indent="0" marL="0">
              <a:buNone/>
            </a:pPr>
            <a:r>
              <a:rPr lang="en-US" sz="1220" b="1" dirty="0">
                <a:solidFill>
                  <a:srgbClr val="0E7C86"/>
                </a:solidFill>
                <a:latin typeface="Aptos" pitchFamily="34" charset="0"/>
                <a:ea typeface="Aptos" pitchFamily="34" charset="-122"/>
                <a:cs typeface="Aptos" pitchFamily="34" charset="-120"/>
              </a:rPr>
              <a:t>Safety</a:t>
            </a:r>
            <a:endParaRPr lang="en-US" sz="1220" dirty="0"/>
          </a:p>
        </p:txBody>
      </p:sp>
      <p:sp>
        <p:nvSpPr>
          <p:cNvPr id="12" name="Text 10"/>
          <p:cNvSpPr/>
          <p:nvPr/>
        </p:nvSpPr>
        <p:spPr>
          <a:xfrm>
            <a:off x="6793992" y="2368296"/>
            <a:ext cx="3557016"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Alliance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Formulate</a:t>
            </a:r>
            <a:endParaRPr lang="en-US" sz="1220" dirty="0"/>
          </a:p>
        </p:txBody>
      </p:sp>
      <p:sp>
        <p:nvSpPr>
          <p:cNvPr id="14" name="Text 12"/>
          <p:cNvSpPr/>
          <p:nvPr/>
        </p:nvSpPr>
        <p:spPr>
          <a:xfrm>
            <a:off x="7123176" y="3355848"/>
            <a:ext cx="2898648"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Goals/Unit</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Reorganize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Second, establish and monitor an alliance with each participant so the therapist is not…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sequence is the relational version of assessment before technique.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 Alliance • Formulate • Goals/Unit • Reorganize • Review</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This sequence is the relational version of assessment before technique.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Target Cycles, Boundaries, Hierarchy, and Attachment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Interventions should match the maintaining process.</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0E7C86"/>
            </a:solidFill>
          </a:ln>
        </p:spPr>
        <p:txBody>
          <a:bodyPr wrap="square" lIns="508" tIns="508" rIns="508" bIns="508" rtlCol="0" anchor="ctr">
            <a:normAutofit/>
          </a:bodyPr>
          <a:lstStyle/>
          <a:p>
            <a:pPr algn="ctr" indent="0" marL="0">
              <a:buNone/>
            </a:pPr>
            <a:r>
              <a:rPr lang="en-US" sz="1220" b="1" dirty="0">
                <a:solidFill>
                  <a:srgbClr val="0E7C86"/>
                </a:solidFill>
                <a:latin typeface="Aptos" pitchFamily="34" charset="0"/>
                <a:ea typeface="Aptos" pitchFamily="34" charset="-122"/>
                <a:cs typeface="Aptos" pitchFamily="34" charset="-120"/>
              </a:rPr>
              <a:t>Clarify</a:t>
            </a:r>
            <a:endParaRPr lang="en-US" sz="1220" dirty="0"/>
          </a:p>
        </p:txBody>
      </p:sp>
      <p:sp>
        <p:nvSpPr>
          <p:cNvPr id="12" name="Text 10"/>
          <p:cNvSpPr/>
          <p:nvPr/>
        </p:nvSpPr>
        <p:spPr>
          <a:xfrm>
            <a:off x="6793992" y="2368296"/>
            <a:ext cx="3557016" cy="438912"/>
          </a:xfrm>
          <a:prstGeom prst="rect">
            <a:avLst/>
          </a:prstGeom>
          <a:solidFill>
            <a:srgbClr val="E5F3F4"/>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Assess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Choose</a:t>
            </a:r>
            <a:endParaRPr lang="en-US" sz="1220" dirty="0"/>
          </a:p>
        </p:txBody>
      </p:sp>
      <p:sp>
        <p:nvSpPr>
          <p:cNvPr id="14" name="Text 12"/>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5" name="Text 13"/>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Track pursuit and withdrawal, criticism and defensiveness, escalation and accommodation, or…</a:t>
            </a:r>
            <a:endParaRPr lang="en-US" sz="1330" dirty="0"/>
          </a:p>
        </p:txBody>
      </p:sp>
      <p:sp>
        <p:nvSpPr>
          <p:cNvPr id="16" name="Text 14"/>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can describe reciprocal influence while holding the person using threats,…</a:t>
            </a:r>
            <a:endParaRPr lang="en-US" sz="133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Name the Maintaining Process</a:t>
            </a:r>
            <a:endParaRPr lang="en-US" sz="1330" dirty="0"/>
          </a:p>
        </p:txBody>
      </p:sp>
      <p:sp>
        <p:nvSpPr>
          <p:cNvPr id="20" name="Text 18"/>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1" name="Text 19"/>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therapist can describe reciprocal influence while holding the person using threats, violence, exploitation, or coercion accountable.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Modality, Transition, Group, and Referral Needs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Family transitions such as remarriage, launching, caregiving, illness, or loss require realistic pacing and role renegotiation.</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decision map includes…</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couple work</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group screening</a:t>
            </a:r>
            <a:endParaRPr lang="en-US" sz="1140" dirty="0"/>
          </a:p>
        </p:txBody>
      </p:sp>
      <p:sp>
        <p:nvSpPr>
          <p:cNvPr id="15" name="Text 13"/>
          <p:cNvSpPr/>
          <p:nvPr/>
        </p:nvSpPr>
        <p:spPr>
          <a:xfrm>
            <a:off x="9850374" y="2331720"/>
            <a:ext cx="9852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specialty referral.</a:t>
            </a:r>
            <a:endParaRPr lang="en-US" sz="1140" dirty="0"/>
          </a:p>
        </p:txBody>
      </p:sp>
      <p:sp>
        <p:nvSpPr>
          <p:cNvPr id="16" name="Text 14"/>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A decision map includes…</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Stepfamily closeness and authority often develop gradually.</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roles, authorization, information limits, and follow-up so the client system is not…</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Fit the Stage and Preserve Continuity</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Clarify roles, authorization, information limits, and follow-up so the client system is not abandoned between providers.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beginning communication exercises before assessing coercion, requiring a private safety concern to be disclosed in front of the other partner,…</a:t>
            </a:r>
            <a:endParaRPr lang="en-US" sz="2080" dirty="0"/>
          </a:p>
        </p:txBody>
      </p:sp>
      <p:sp>
        <p:nvSpPr>
          <p:cNvPr id="11" name="Text 9"/>
          <p:cNvSpPr/>
          <p:nvPr/>
        </p:nvSpPr>
        <p:spPr>
          <a:xfrm>
            <a:off x="6446520" y="2011680"/>
            <a:ext cx="2103120" cy="1097280"/>
          </a:xfrm>
          <a:prstGeom prst="rect">
            <a:avLst/>
          </a:prstGeom>
          <a:solidFill>
            <a:srgbClr val="E5F3F4"/>
          </a:solidFill>
          <a:ln w="11430">
            <a:solidFill>
              <a:srgbClr val="0E7C86"/>
            </a:solidFill>
          </a:ln>
        </p:spPr>
        <p:txBody>
          <a:bodyPr wrap="square" lIns="1016" tIns="1016" rIns="1016" bIns="1016" rtlCol="0" anchor="ctr">
            <a:normAutofit/>
          </a:bodyPr>
          <a:lstStyle/>
          <a:p>
            <a:pPr algn="ctr" indent="0" marL="0">
              <a:buNone/>
            </a:pPr>
            <a:r>
              <a:rPr lang="en-US" sz="1500" b="1" dirty="0">
                <a:solidFill>
                  <a:srgbClr val="0E7C86"/>
                </a:solidFill>
                <a:latin typeface="Aptos Display" pitchFamily="34" charset="0"/>
                <a:ea typeface="Aptos Display" pitchFamily="34" charset="-122"/>
                <a:cs typeface="Aptos Display" pitchFamily="34" charset="-120"/>
              </a:rPr>
              <a:t>Trap cards show automatic…</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forced disclosure</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therapist alignment</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child triangulation</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adding more technique when the real problem is an alliance rupture, unclear…</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adding more technique when the real problem is an alliance rupture, unclear…</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Relational Does Not Mean Conjoint at Any Cost</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Another trap is adding more technique when the real problem is an alliance rupture, unclear treatment unit, or unsafe format.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Triangulation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Parents argue about discipline and ask their adolescent to decide which parent is correct.</a:t>
            </a:r>
            <a:endParaRPr lang="en-US" sz="2080" dirty="0"/>
          </a:p>
        </p:txBody>
      </p:sp>
      <p:sp>
        <p:nvSpPr>
          <p:cNvPr id="11" name="Shape 9"/>
          <p:cNvSpPr/>
          <p:nvPr/>
        </p:nvSpPr>
        <p:spPr>
          <a:xfrm>
            <a:off x="6537960" y="2148840"/>
            <a:ext cx="4160520" cy="2743200"/>
          </a:xfrm>
          <a:prstGeom prst="rect">
            <a:avLst>
              <a:gd name="adj" fmla="val 3333"/>
            </a:avLst>
          </a:prstGeom>
          <a:solidFill>
            <a:srgbClr val="E5F3F4"/>
          </a:solidFill>
          <a:ln w="15240">
            <a:solidFill>
              <a:srgbClr val="0E7C8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0E7C8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0E7C8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adolescent’s distress may be real, but the maintaining pattern is not simply poor…</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should assess safety and each person’s perspective before intervening, but…</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Strengthen the Parental Subsystem</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therapist should assess safety and each person’s perspective before intervening, but should not reinforce the triangulation by asking the…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0E7C86"/>
          </a:solidFill>
          <a:ln w="12700">
            <a:solidFill>
              <a:srgbClr val="0E7C8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0E7C86"/>
                </a:solidFill>
                <a:latin typeface="Aptos" pitchFamily="34" charset="0"/>
                <a:ea typeface="Aptos" pitchFamily="34" charset="-122"/>
                <a:cs typeface="Aptos" pitchFamily="34" charset="-120"/>
              </a:rPr>
              <a:t>LMFT WORKBOOK 08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WB08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0E7C8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every Workbook 8 vignette, identify the client system, safety and voluntariness, shared goal, information frame, maintaining cycle, intervention…</a:t>
            </a:r>
            <a:endParaRPr lang="en-US" sz="2080" dirty="0"/>
          </a:p>
        </p:txBody>
      </p:sp>
      <p:sp>
        <p:nvSpPr>
          <p:cNvPr id="11" name="Shape 9"/>
          <p:cNvSpPr/>
          <p:nvPr/>
        </p:nvSpPr>
        <p:spPr>
          <a:xfrm>
            <a:off x="6537960" y="2624328"/>
            <a:ext cx="4160520" cy="0"/>
          </a:xfrm>
          <a:prstGeom prst="line">
            <a:avLst/>
          </a:prstGeom>
          <a:noFill/>
          <a:ln w="13970">
            <a:solidFill>
              <a:srgbClr val="0E7C8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System</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Safety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Cycle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Target</a:t>
            </a:r>
            <a:endParaRPr lang="en-US" sz="1140" dirty="0"/>
          </a:p>
        </p:txBody>
      </p:sp>
      <p:sp>
        <p:nvSpPr>
          <p:cNvPr id="16" name="Text 14"/>
          <p:cNvSpPr/>
          <p:nvPr/>
        </p:nvSpPr>
        <p:spPr>
          <a:xfrm>
            <a:off x="10080346" y="2331720"/>
            <a:ext cx="755294" cy="594360"/>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Review</a:t>
            </a:r>
            <a:endParaRPr lang="en-US" sz="1140" dirty="0"/>
          </a:p>
        </p:txBody>
      </p:sp>
      <p:sp>
        <p:nvSpPr>
          <p:cNvPr id="17" name="Text 15"/>
          <p:cNvSpPr/>
          <p:nvPr/>
        </p:nvSpPr>
        <p:spPr>
          <a:xfrm>
            <a:off x="7086600" y="3401568"/>
            <a:ext cx="3063240" cy="914400"/>
          </a:xfrm>
          <a:prstGeom prst="rect">
            <a:avLst/>
          </a:prstGeom>
          <a:solidFill>
            <a:srgbClr val="E5F3F4"/>
          </a:solidFill>
          <a:ln w="13970">
            <a:solidFill>
              <a:srgbClr val="0E7C86">
                <a:alpha val="75000"/>
              </a:srgbClr>
            </a:solidFill>
          </a:ln>
        </p:spPr>
        <p:txBody>
          <a:bodyPr wrap="square" lIns="635" tIns="635" rIns="635" bIns="635"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System</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automatic conjoint work, equal-blame reasoning, missed hierarchy or…</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best relational answer is the one that changes the supported pattern in the safest…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0E7C8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System • Safety • Cycle • Target • Review</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0E7C8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best relational answer is the one that changes the supported pattern in the safest workable treatment system.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08 Companion: Workbook 8 Companion: Family, Couple, Attachment, and Relational Interventions</dc:title>
  <dc:subject>LMFT Workbook 08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