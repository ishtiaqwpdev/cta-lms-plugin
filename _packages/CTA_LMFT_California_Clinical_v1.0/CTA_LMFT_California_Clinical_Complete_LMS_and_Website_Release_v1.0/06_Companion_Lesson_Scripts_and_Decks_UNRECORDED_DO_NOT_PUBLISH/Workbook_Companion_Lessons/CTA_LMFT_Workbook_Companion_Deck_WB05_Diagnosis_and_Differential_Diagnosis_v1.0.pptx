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Diagnosis is useful when it organizes evidence, guides care, and remains open to revision. It is not a label selected from one dramatic symptom. Strong diagnostic reasoning identifies the symptom pattern, establishes onset and course, evaluates distress and impairment, checks exclusions, compares plausible alternatives, and integrates developmental, cultural, medical, substance, and relational context. Workbook 5 focuses on the decision process rather than memorizing complete manual criteria. On the exam, the best response may be a supported diagnosis, a provisional formulation, an active differential, a contextual condition, or a request for more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by defining which symptoms and behaviors belong together and how they affect relationships, parenting, work, school, self-care, health, finances, or safety. Clarify onset, duration, frequency, progression, triggers, episodic pattern, and baseline. Chronology often separates diagnoses that share similar symptoms. Reduced sleep caused by anxiety is different from a decreased need for sleep with increased energy and risky behavior. Grief, adjustment, trauma activation, and a persistent mood syndrome may all include sadness, but course, context, associated features, and impairment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Sudden change, altered consciousness, neurological signs, pregnancy or postpartum change, infection, pain, or metabolic symptoms may require medical evaluation. Symptoms that follow a medication start, stop, dose change, interaction, or inconsistent use require prescriber coordination. Intoxication, withdrawal, escalating use, and symptoms during abstinence help differentiate substance-induced and primary presentations. Severe sleep disruption can be a cause, a symptom, or a maintaining factor. The LMFT assesses chronology, current risk, and functional impact, stays within scope, and coordinates appropriate care before finalizing a psychiatric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may have more than one clinically meaningful condition, but more diagnoses are not automatically more accurate. Use parsimony without forcing unrelated symptoms into one label. Assess whether mood, anxiety, trauma, substance, personality, developmental, or psychotic features are independent, overlapping, or secondary to another condition. Diagnose the individual presentation while also assessing couple conflict, parenting strain, caregiving burden, housing, work, discrimination, or family patterns. Relational distress may be a separate focus of care and should not be used either to dismiss a disorder or to blame one person for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working diagnosis when pattern, course, impairment, and exclusions are adequately supported. Use provisional language when the presentation strongly suggests a diagnosis but important confirmation is pending. Keep a differential active when two or more explanations remain plausible and a high-value fact can separate them. Consider a contextual or relational focus when treatment is warranted but a mental disorder is not supported. Refer or coordinate evaluation when medical, neurological, substance, developmental, or specialty questions require additional expertise. The status should match the evidence available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choosing the most severe-sounding diagnosis, diagnosing from one symptom, ignoring baseline or chronology, accepting a chart label or partner report as conclusive, explaining psychiatric instability only as a family problem, diagnosing an unassessed participant, pathologizing culture, grief, identity, spirituality, or hardship, and selecting a theory-specific intervention when the task asks for assessment or diagnosis. When two options remain, ask which one addresses the missing information that will most change the differential.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reports reduced sleep, irritability, rapid speech, impulsive spending, and increased activity. Stimulant use is intermittent, and the timeline is unclear. Diagnosing bipolar disorder immediately or assuming the symptoms are entirely substance induced would both be premature. The stronger next step is to clarify episode duration, prior episodes, functioning, safety, medication and medical factors, the relationship between symptoms and stimulant use, and whether the pattern persists during abstinence. Coordination for medical or psychiatric evaluation may be indicated. The answer preserves an active differential until the chronology supports a more specific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Workbook 5 vignette, write six lines: the supported pattern, the timeline, the functional impact, the major exclusions, the leading alternatives, and the current diagnostic status. In the question bank, mark whether you overvalued one symptom, ignored a medical or substance clue, missed a duration or baseline fact, or selected an intervention instead of answering the diagnostic task. Review rationales by naming the single fact that would strengthen or weaken your original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B84C45"/>
                </a:solidFill>
                <a:latin typeface="Aptos" pitchFamily="34" charset="0"/>
                <a:ea typeface="Aptos" pitchFamily="34" charset="-122"/>
                <a:cs typeface="Aptos" pitchFamily="34" charset="-120"/>
              </a:rPr>
              <a:t>Workbook 5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Diagnosis and Differential Diagnosis</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Diagnosis is useful when it organizes evidence, guides care, and remains open to revision.</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B84C45"/>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B84C45">
                <a:alpha val="75000"/>
              </a:srgbClr>
            </a:solidFill>
            <a:prstDash val="solid"/>
            <a:tailEnd type="triangle"/>
          </a:ln>
        </p:spPr>
      </p:sp>
      <p:sp>
        <p:nvSpPr>
          <p:cNvPr id="16" name="Text 14"/>
          <p:cNvSpPr/>
          <p:nvPr/>
        </p:nvSpPr>
        <p:spPr>
          <a:xfrm>
            <a:off x="658368"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Clarify</a:t>
            </a:r>
            <a:endParaRPr lang="en-US" sz="1140" dirty="0"/>
          </a:p>
        </p:txBody>
      </p:sp>
      <p:sp>
        <p:nvSpPr>
          <p:cNvPr id="17" name="Text 15"/>
          <p:cNvSpPr/>
          <p:nvPr/>
        </p:nvSpPr>
        <p:spPr>
          <a:xfrm>
            <a:off x="2602992"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a:t>
            </a:r>
            <a:endParaRPr lang="en-US" sz="1140" dirty="0"/>
          </a:p>
        </p:txBody>
      </p:sp>
      <p:sp>
        <p:nvSpPr>
          <p:cNvPr id="18" name="Text 16"/>
          <p:cNvSpPr/>
          <p:nvPr/>
        </p:nvSpPr>
        <p:spPr>
          <a:xfrm>
            <a:off x="4547616" y="3822192"/>
            <a:ext cx="1780032"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Choose</a:t>
            </a:r>
            <a:endParaRPr lang="en-US" sz="1140" dirty="0"/>
          </a:p>
        </p:txBody>
      </p:sp>
      <p:sp>
        <p:nvSpPr>
          <p:cNvPr id="19" name="Text 17"/>
          <p:cNvSpPr/>
          <p:nvPr/>
        </p:nvSpPr>
        <p:spPr>
          <a:xfrm>
            <a:off x="7498080" y="3474720"/>
            <a:ext cx="1668780" cy="800100"/>
          </a:xfrm>
          <a:prstGeom prst="rect">
            <a:avLst/>
          </a:prstGeom>
          <a:solidFill>
            <a:srgbClr val="F7E7E5"/>
          </a:solidFill>
          <a:ln w="11430">
            <a:solidFill>
              <a:srgbClr val="B84C45"/>
            </a:solidFill>
          </a:ln>
        </p:spPr>
        <p:txBody>
          <a:bodyPr wrap="square" lIns="1016" tIns="1016" rIns="1016" bIns="1016" rtlCol="0" anchor="ctr">
            <a:normAutofit/>
          </a:bodyPr>
          <a:lstStyle/>
          <a:p>
            <a:pPr algn="ctr" indent="0" marL="0">
              <a:buNone/>
            </a:pPr>
            <a:r>
              <a:rPr lang="en-US" sz="1500" b="1" dirty="0">
                <a:solidFill>
                  <a:srgbClr val="B84C45"/>
                </a:solidFill>
                <a:latin typeface="Aptos Display" pitchFamily="34" charset="0"/>
                <a:ea typeface="Aptos Display" pitchFamily="34" charset="-122"/>
                <a:cs typeface="Aptos Display" pitchFamily="34" charset="-120"/>
              </a:rPr>
              <a:t>Clarify</a:t>
            </a:r>
            <a:endParaRPr lang="en-US" sz="1500" dirty="0"/>
          </a:p>
        </p:txBody>
      </p:sp>
      <p:sp>
        <p:nvSpPr>
          <p:cNvPr id="20" name="Text 18"/>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Assess</a:t>
            </a:r>
            <a:endParaRPr lang="en-US" sz="1500" dirty="0"/>
          </a:p>
        </p:txBody>
      </p:sp>
      <p:sp>
        <p:nvSpPr>
          <p:cNvPr id="21" name="Text 19"/>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Choose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Define the Pattern, Threshold, and Chronology</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Begin by defining which symptoms and behaviors belong together and how they affect relationships, parenting, work, school, self-care, health,…</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B84C45"/>
            </a:solidFill>
          </a:ln>
        </p:spPr>
        <p:txBody>
          <a:bodyPr wrap="square" lIns="508" tIns="508" rIns="508" bIns="508" rtlCol="0" anchor="ctr">
            <a:normAutofit/>
          </a:bodyPr>
          <a:lstStyle/>
          <a:p>
            <a:pPr algn="ctr" indent="0" marL="0">
              <a:buNone/>
            </a:pPr>
            <a:r>
              <a:rPr lang="en-US" sz="1220" b="1" dirty="0">
                <a:solidFill>
                  <a:srgbClr val="B84C45"/>
                </a:solidFill>
                <a:latin typeface="Aptos" pitchFamily="34" charset="0"/>
                <a:ea typeface="Aptos" pitchFamily="34" charset="-122"/>
                <a:cs typeface="Aptos" pitchFamily="34" charset="-120"/>
              </a:rPr>
              <a:t>A diagnostic timeline…</a:t>
            </a:r>
            <a:endParaRPr lang="en-US" sz="1220" dirty="0"/>
          </a:p>
        </p:txBody>
      </p:sp>
      <p:sp>
        <p:nvSpPr>
          <p:cNvPr id="12" name="Text 10"/>
          <p:cNvSpPr/>
          <p:nvPr/>
        </p:nvSpPr>
        <p:spPr>
          <a:xfrm>
            <a:off x="6793992" y="2368296"/>
            <a:ext cx="3557016"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episodes</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duration</a:t>
            </a:r>
            <a:endParaRPr lang="en-US" sz="1220" dirty="0"/>
          </a:p>
        </p:txBody>
      </p:sp>
      <p:sp>
        <p:nvSpPr>
          <p:cNvPr id="14" name="Text 12"/>
          <p:cNvSpPr/>
          <p:nvPr/>
        </p:nvSpPr>
        <p:spPr>
          <a:xfrm>
            <a:off x="7123176" y="3355848"/>
            <a:ext cx="2898648"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severity</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baseline</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Clarify onset, duration, frequency, progression, triggers, episodic pattern, and baseline.</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Grief, adjustment, trauma activation, and a persistent mood syndrome may all include sadness,…</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What? How Long? How Severe? What Changed?</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Grief, adjustment, trauma activation, and a persistent mood syndrome may all include sadness, but course, context, associated features, and…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Check Medical, Medication, Substance, and Sleep Exclusions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Sudden change, altered consciousness, neurological signs, pregnancy or postpartum change, infection, pain, or metabolic symptoms may require medical…</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B84C45"/>
            </a:solidFill>
          </a:ln>
        </p:spPr>
        <p:txBody>
          <a:bodyPr wrap="square" lIns="508" tIns="508" rIns="508" bIns="508" rtlCol="0" anchor="ctr">
            <a:normAutofit/>
          </a:bodyPr>
          <a:lstStyle/>
          <a:p>
            <a:pPr algn="ctr" indent="0" marL="0">
              <a:buNone/>
            </a:pPr>
            <a:r>
              <a:rPr lang="en-US" sz="1220" b="1" dirty="0">
                <a:solidFill>
                  <a:srgbClr val="B84C45"/>
                </a:solidFill>
                <a:latin typeface="Aptos" pitchFamily="34" charset="0"/>
                <a:ea typeface="Aptos" pitchFamily="34" charset="-122"/>
                <a:cs typeface="Aptos" pitchFamily="34" charset="-120"/>
              </a:rPr>
              <a:t>Four rule-out pathways…</a:t>
            </a:r>
            <a:endParaRPr lang="en-US" sz="1220" dirty="0"/>
          </a:p>
        </p:txBody>
      </p:sp>
      <p:sp>
        <p:nvSpPr>
          <p:cNvPr id="12" name="Text 10"/>
          <p:cNvSpPr/>
          <p:nvPr/>
        </p:nvSpPr>
        <p:spPr>
          <a:xfrm>
            <a:off x="6793992" y="2368296"/>
            <a:ext cx="3557016"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prescriber</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substance</a:t>
            </a:r>
            <a:endParaRPr lang="en-US" sz="1220" dirty="0"/>
          </a:p>
        </p:txBody>
      </p:sp>
      <p:sp>
        <p:nvSpPr>
          <p:cNvPr id="14" name="Text 12"/>
          <p:cNvSpPr/>
          <p:nvPr/>
        </p:nvSpPr>
        <p:spPr>
          <a:xfrm>
            <a:off x="7123176" y="3355848"/>
            <a:ext cx="2898648"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sleep assessment.</a:t>
            </a:r>
            <a:endParaRPr lang="en-US" sz="122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Symptoms that follow a medication start, stop, dose change, interaction, or inconsistent use…</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LMFT assesses chronology, current risk, and functional impact, stays within scope, and…</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Rule Out Before You Lock In</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LMFT assesses chronology, current risk, and functional impact, stays within scope, and coordinates appropriate care before finalizing 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Integrate Context, Comorbidity, and the Systemic Lens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client may have more than one clinically meaningful condition, but more diagnoses are not automatically more accurate.</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Individual diagnosis</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relational</a:t>
            </a:r>
            <a:endParaRPr lang="en-US" sz="1140" dirty="0"/>
          </a:p>
        </p:txBody>
      </p:sp>
      <p:sp>
        <p:nvSpPr>
          <p:cNvPr id="14" name="Text 12"/>
          <p:cNvSpPr/>
          <p:nvPr/>
        </p:nvSpPr>
        <p:spPr>
          <a:xfrm>
            <a:off x="9467088" y="2331720"/>
            <a:ext cx="1368552"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contextual conditions…</a:t>
            </a:r>
            <a:endParaRPr lang="en-US" sz="1140" dirty="0"/>
          </a:p>
        </p:txBody>
      </p:sp>
      <p:sp>
        <p:nvSpPr>
          <p:cNvPr id="15" name="Text 13"/>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Individual diagnosis</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Use parsimony without forcing unrelated symptoms into one label.</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Relational distress may be a separate focus of care and should not be used either to dismiss a…</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 Not Make One Diagnosis Explain Everything</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Relational distress may be a separate focus of care and should not be used either to dismiss a disorder or to blame one person for the system.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Decide: Diagnose, Gather More, or Refer</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Use a working diagnosis when pattern, course, impairment, and exclusions are adequately supported.</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Five diagnostic status…</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provisional</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differential</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rule-out</a:t>
            </a:r>
            <a:endParaRPr lang="en-US" sz="1140" dirty="0"/>
          </a:p>
        </p:txBody>
      </p:sp>
      <p:sp>
        <p:nvSpPr>
          <p:cNvPr id="16" name="Text 14"/>
          <p:cNvSpPr/>
          <p:nvPr/>
        </p:nvSpPr>
        <p:spPr>
          <a:xfrm>
            <a:off x="10080346" y="2331720"/>
            <a:ext cx="755294"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contextual focus.</a:t>
            </a:r>
            <a:endParaRPr lang="en-US" sz="1140" dirty="0"/>
          </a:p>
        </p:txBody>
      </p:sp>
      <p:sp>
        <p:nvSpPr>
          <p:cNvPr id="17" name="Text 15"/>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Five diagnostic status…</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Use provisional language when the presentation strongly suggests a diagnosis but important…</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status should match the evidence available now.</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State Only What the Evidence Supports</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status should match the evidence available now.</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Avoid choosing the most severe-sounding diagnosis, diagnosing from one symptom, ignoring baseline or chronology, accepting a chart label or partner…</a:t>
            </a:r>
            <a:endParaRPr lang="en-US" sz="2080" dirty="0"/>
          </a:p>
        </p:txBody>
      </p:sp>
      <p:sp>
        <p:nvSpPr>
          <p:cNvPr id="11" name="Text 9"/>
          <p:cNvSpPr/>
          <p:nvPr/>
        </p:nvSpPr>
        <p:spPr>
          <a:xfrm>
            <a:off x="6446520" y="2011680"/>
            <a:ext cx="2103120" cy="1097280"/>
          </a:xfrm>
          <a:prstGeom prst="rect">
            <a:avLst/>
          </a:prstGeom>
          <a:solidFill>
            <a:srgbClr val="F7E7E5"/>
          </a:solidFill>
          <a:ln w="11430">
            <a:solidFill>
              <a:srgbClr val="B84C45"/>
            </a:solidFill>
          </a:ln>
        </p:spPr>
        <p:txBody>
          <a:bodyPr wrap="square" lIns="1016" tIns="1016" rIns="1016" bIns="1016" rtlCol="0" anchor="ctr">
            <a:normAutofit/>
          </a:bodyPr>
          <a:lstStyle/>
          <a:p>
            <a:pPr algn="ctr" indent="0" marL="0">
              <a:buNone/>
            </a:pPr>
            <a:r>
              <a:rPr lang="en-US" sz="1500" b="1" dirty="0">
                <a:solidFill>
                  <a:srgbClr val="B84C45"/>
                </a:solidFill>
                <a:latin typeface="Aptos Display" pitchFamily="34" charset="0"/>
                <a:ea typeface="Aptos Display" pitchFamily="34" charset="-122"/>
                <a:cs typeface="Aptos Display" pitchFamily="34" charset="-120"/>
              </a:rPr>
              <a:t>Trap cards show…</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severe label bias</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ignored timeline</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chart acceptance</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When two options remain, ask which one addresses the missing information that will most change…</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When two options remain, ask which one addresses the missing information that will most change…</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Severity Sounding Is Not Accuracy</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When two options remain, ask which one addresses the missing information that will most change the differential.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Activation and Stimulant Use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client reports reduced sleep, irritability, rapid speech, impulsive spending, and increased activity.</a:t>
            </a:r>
            <a:endParaRPr lang="en-US" sz="2080" dirty="0"/>
          </a:p>
        </p:txBody>
      </p:sp>
      <p:sp>
        <p:nvSpPr>
          <p:cNvPr id="11" name="Shape 9"/>
          <p:cNvSpPr/>
          <p:nvPr/>
        </p:nvSpPr>
        <p:spPr>
          <a:xfrm>
            <a:off x="6537960" y="2148840"/>
            <a:ext cx="4160520" cy="2743200"/>
          </a:xfrm>
          <a:prstGeom prst="rect">
            <a:avLst>
              <a:gd name="adj" fmla="val 3333"/>
            </a:avLst>
          </a:prstGeom>
          <a:solidFill>
            <a:srgbClr val="F7E7E5"/>
          </a:solidFill>
          <a:ln w="15240">
            <a:solidFill>
              <a:srgbClr val="B84C45">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B84C45"/>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B84C45">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Stimulant use is intermittent, and the timeline is unclear.</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answer preserves an active differential until the chronology supports a more specific…</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Clarify Symptoms During Use and Abstinence</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answer preserves an active differential until the chronology supports a more specific conclusion.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every Workbook 5 vignette, write six lines: the supported pattern, the timeline, the functional impact, the major exclusions, the leading…</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B84C45"/>
            </a:solidFill>
          </a:ln>
        </p:spPr>
        <p:txBody>
          <a:bodyPr wrap="square" lIns="508" tIns="508" rIns="508" bIns="508" rtlCol="0" anchor="ctr">
            <a:normAutofit/>
          </a:bodyPr>
          <a:lstStyle/>
          <a:p>
            <a:pPr algn="ctr" indent="0" marL="0">
              <a:buNone/>
            </a:pPr>
            <a:r>
              <a:rPr lang="en-US" sz="1220" b="1" dirty="0">
                <a:solidFill>
                  <a:srgbClr val="B84C45"/>
                </a:solidFill>
                <a:latin typeface="Aptos" pitchFamily="34" charset="0"/>
                <a:ea typeface="Aptos" pitchFamily="34" charset="-122"/>
                <a:cs typeface="Aptos" pitchFamily="34" charset="-120"/>
              </a:rPr>
              <a:t>Pattern</a:t>
            </a:r>
            <a:endParaRPr lang="en-US" sz="1220" dirty="0"/>
          </a:p>
        </p:txBody>
      </p:sp>
      <p:sp>
        <p:nvSpPr>
          <p:cNvPr id="12" name="Text 10"/>
          <p:cNvSpPr/>
          <p:nvPr/>
        </p:nvSpPr>
        <p:spPr>
          <a:xfrm>
            <a:off x="6793992" y="2368296"/>
            <a:ext cx="3557016"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Timeline</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Impact</a:t>
            </a:r>
            <a:endParaRPr lang="en-US" sz="1220" dirty="0"/>
          </a:p>
        </p:txBody>
      </p:sp>
      <p:sp>
        <p:nvSpPr>
          <p:cNvPr id="14" name="Text 12"/>
          <p:cNvSpPr/>
          <p:nvPr/>
        </p:nvSpPr>
        <p:spPr>
          <a:xfrm>
            <a:off x="7123176" y="3355848"/>
            <a:ext cx="2898648"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Exclusions</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Alternatives</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the question bank, mark whether you overvalued one symptom, ignored a medical or substance…</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Review rationales by naming the single fact that would strengthen or weaken your original…</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Pattern • Timeline • Impact • Exclusions • Alternatives • Status</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Review rationales by naming the single fact that would strengthen or weaken your original conclusion.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Workbook 05 Companion: Workbook 5 Companion: Diagnosis and Differential Diagnosis</dc:title>
  <dc:subject>LMFT Workbook 05 Companion</dc:subject>
  <dc:creator>Clinical Training Academy</dc:creator>
  <cp:lastModifiedBy>Clinical Training Academy</cp:lastModifiedBy>
  <cp:revision>1</cp:revision>
  <dcterms:created xsi:type="dcterms:W3CDTF">2026-07-25T22:10:42Z</dcterms:created>
  <dcterms:modified xsi:type="dcterms:W3CDTF">2026-07-25T22:10:42Z</dcterms:modified>
</cp:coreProperties>
</file>