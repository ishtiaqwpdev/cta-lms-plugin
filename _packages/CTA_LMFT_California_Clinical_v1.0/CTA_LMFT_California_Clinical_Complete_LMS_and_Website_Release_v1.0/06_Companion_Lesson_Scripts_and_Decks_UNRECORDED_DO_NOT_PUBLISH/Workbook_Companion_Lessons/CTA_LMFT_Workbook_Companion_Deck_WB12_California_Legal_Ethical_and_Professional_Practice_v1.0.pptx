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Professional-practice vignettes often contain several plausible duties at once. One option sounds empathic, another legally cautious, and another administratively convenient. Strong reasoning identifies who the client is, what role the therapist is performing, which authority controls the immediate decision, what facts are known or missing, and how to preserve client welfare and continuity. The most restrictive or legally sounding response is not automatically correct. The best answer follows the controlling duty with the least unnecessary intrusion.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 is problem and people: identify the exact issue and the client or client system. R is role and rules: determine whether the LMFT is therapist, evaluator, consultant, supervisor, or record custodian and which law, regulation, ethics rule, or policy applies. O is obtain facts about consent, authorization, privilege, risk, capacity, location, contract, record, or third-party involvement. T is threat and urgency: determine whether safety, reporting, medical need, or a time-sensitive legal process changes the sequence. E is ethical options that protect autonomy, privacy, fairness, culture, competence, and welfare. C is consult and contain. T is take action and track through explanation, documentation, and follow-up.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Informed consent is ongoing and should be revisited when the treatment unit, participants, individual contacts, telehealth, fees, reports, or therapist role changes. In multi-client treatment, clarify who is the client or client system, who may authorize disclosure, how records are organized, and how individual information will be handled. Confidentiality is the professional duty to protect information. Privacy is the client’s interest in controlling access. Privilege is an evidentiary protection in legal proceedings. Authorization is client-controlled permission with defined recipient, information, purpose, duration, and revocation terms.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Documentation should be accurate, timely, relevant, and corrected transparently without deleting or disguising the original record. Boundary decisions consider power, vulnerability, clinical purpose, culture, community context, value, exploitation risk, confidentiality, alternatives, and ongoing impact. Self-disclosure, gifts, electronic contact, and dual relationships are not judged by one rule alone, but sexual exploitation and other prohibited conduct are not contextual gray areas. Competence includes training, supervised experience, current knowledge, and recognition of limits. Consultation supports judgment but does not transfer responsibility. Impairment requires action to protect clients and continuity.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Telehealth and messaging require attention to identity, location, privacy, emergency procedures, platform risks, documentation, and applicable jurisdiction. Third parties may pay, refer, investigate, request, or receive a limited report without becoming the clinical client. Clarify the contract, purpose, expected reports, confidentiality limits, conflicts, and whether the request shifts the therapist toward a forensic role. Termination, transfer, coverage, or referral should assess risk and need, provide reasonable notice when possible, offer appropriate resources, transfer information with authority, and document efforts to preserve continuity.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Avoid assuming a payer can access records, treating a subpoena as automatic permission to disclose, confusing confidentiality with privilege, sending an entire record when limited information is sufficient, letting agency policy replace law or ethics, interpreting client consent as clinician competence, using consultation to delay a supported urgent duty, taking a third party’s requested role without clarifying conflicts, or referring abruptly to escape ordinary discomfort. Strong answers identify the exact authority and use the least intrusive lawful option that protects care.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parent pays for an adult child’s therapy and requests weekly progress reports. The therapist should first identify the adult child as the client, review the informed-consent and authorization documents, clarify the parent’s financial role, and discuss with the client what—if anything—may be shared. The therapist should not provide updates simply because the parent pays, promise absolute secrecy without reviewing actual limits, or terminate the client to avoid conflict. The response protects privacy, role clarity, autonomy, and continuity while leaving room for a limited client-authorized communication if appropriate.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each Workbook 12 vignette, identify the client or client system, therapist role, controlling authority, missing facts, urgency, least intrusive action, consultation need, and documentation or continuity step. In your error log, mark role confusion, authority confusion, overdisclosure, consent-versus-competence errors, policy treated as law, or abandonment risk. Use the final workbook and CTA’s cited official sources for current legal details; use this companion lesson for the reasoning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B84C45"/>
          </a:solidFill>
          <a:ln w="12700">
            <a:solidFill>
              <a:srgbClr val="B84C45">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B84C45"/>
                </a:solidFill>
                <a:latin typeface="Aptos" pitchFamily="34" charset="0"/>
                <a:ea typeface="Aptos" pitchFamily="34" charset="-122"/>
                <a:cs typeface="Aptos" pitchFamily="34" charset="-120"/>
              </a:rPr>
              <a:t>LMFT WORKBOOK 12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WB12 • 01/8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B84C45"/>
                </a:solidFill>
                <a:latin typeface="Aptos Display" pitchFamily="34" charset="0"/>
                <a:ea typeface="Aptos Display" pitchFamily="34" charset="-122"/>
                <a:cs typeface="Aptos Display" pitchFamily="34" charset="-120"/>
              </a:rPr>
              <a:t>01</a:t>
            </a:r>
            <a:endParaRPr lang="en-US" sz="3200" dirty="0"/>
          </a:p>
        </p:txBody>
      </p:sp>
      <p:sp>
        <p:nvSpPr>
          <p:cNvPr id="9" name="Text 7"/>
          <p:cNvSpPr/>
          <p:nvPr/>
        </p:nvSpPr>
        <p:spPr>
          <a:xfrm>
            <a:off x="566928" y="914400"/>
            <a:ext cx="3840480" cy="310896"/>
          </a:xfrm>
          <a:prstGeom prst="rect">
            <a:avLst/>
          </a:prstGeom>
          <a:noFill/>
          <a:ln/>
        </p:spPr>
        <p:txBody>
          <a:bodyPr wrap="square" lIns="0" tIns="0" rIns="0" bIns="0" rtlCol="0" anchor="ctr"/>
          <a:lstStyle/>
          <a:p>
            <a:pPr indent="0" marL="0">
              <a:buNone/>
            </a:pPr>
            <a:r>
              <a:rPr lang="en-US" sz="1420" b="1" dirty="0">
                <a:solidFill>
                  <a:srgbClr val="B84C45"/>
                </a:solidFill>
                <a:latin typeface="Aptos" pitchFamily="34" charset="0"/>
                <a:ea typeface="Aptos" pitchFamily="34" charset="-122"/>
                <a:cs typeface="Aptos" pitchFamily="34" charset="-120"/>
              </a:rPr>
              <a:t>Workbook 12 Companion</a:t>
            </a:r>
            <a:endParaRPr lang="en-US" sz="1420" dirty="0"/>
          </a:p>
        </p:txBody>
      </p:sp>
      <p:sp>
        <p:nvSpPr>
          <p:cNvPr id="10" name="Text 8"/>
          <p:cNvSpPr/>
          <p:nvPr/>
        </p:nvSpPr>
        <p:spPr>
          <a:xfrm>
            <a:off x="566928" y="1298448"/>
            <a:ext cx="6583680" cy="1024128"/>
          </a:xfrm>
          <a:prstGeom prst="rect">
            <a:avLst/>
          </a:prstGeom>
          <a:noFill/>
          <a:ln/>
        </p:spPr>
        <p:txBody>
          <a:bodyPr wrap="square" lIns="127" tIns="127" rIns="127" bIns="127" rtlCol="0" anchor="ctr">
            <a:normAutofit/>
          </a:bodyPr>
          <a:lstStyle/>
          <a:p>
            <a:pPr indent="0" marL="0">
              <a:buNone/>
            </a:pPr>
            <a:r>
              <a:rPr lang="en-US" sz="3100" b="1" dirty="0">
                <a:solidFill>
                  <a:srgbClr val="10263F"/>
                </a:solidFill>
                <a:latin typeface="Aptos Display" pitchFamily="34" charset="0"/>
                <a:ea typeface="Aptos Display" pitchFamily="34" charset="-122"/>
                <a:cs typeface="Aptos Display" pitchFamily="34" charset="-120"/>
              </a:rPr>
              <a:t>California Legal, Ethical, and Professional Practice</a:t>
            </a:r>
            <a:endParaRPr lang="en-US" sz="3100" dirty="0"/>
          </a:p>
        </p:txBody>
      </p:sp>
      <p:sp>
        <p:nvSpPr>
          <p:cNvPr id="11" name="Text 9"/>
          <p:cNvSpPr/>
          <p:nvPr/>
        </p:nvSpPr>
        <p:spPr>
          <a:xfrm>
            <a:off x="585216" y="2432304"/>
            <a:ext cx="5852160" cy="310896"/>
          </a:xfrm>
          <a:prstGeom prst="rect">
            <a:avLst/>
          </a:prstGeom>
          <a:noFill/>
          <a:ln/>
        </p:spPr>
        <p:txBody>
          <a:bodyPr wrap="square" lIns="0" tIns="0" rIns="0" bIns="0" rtlCol="0" anchor="ctr"/>
          <a:lstStyle/>
          <a:p>
            <a:pPr indent="0" marL="0">
              <a:buNone/>
            </a:pPr>
            <a:r>
              <a:rPr lang="en-US" sz="1320" dirty="0">
                <a:solidFill>
                  <a:srgbClr val="5A6675"/>
                </a:solidFill>
                <a:latin typeface="Aptos" pitchFamily="34" charset="0"/>
                <a:ea typeface="Aptos" pitchFamily="34" charset="-122"/>
                <a:cs typeface="Aptos" pitchFamily="34" charset="-120"/>
              </a:rPr>
              <a:t>Ready-to-record CTA workbook companion deck</a:t>
            </a:r>
            <a:endParaRPr lang="en-US" sz="1320" dirty="0"/>
          </a:p>
        </p:txBody>
      </p:sp>
      <p:sp>
        <p:nvSpPr>
          <p:cNvPr id="12" name="Text 10"/>
          <p:cNvSpPr/>
          <p:nvPr/>
        </p:nvSpPr>
        <p:spPr>
          <a:xfrm>
            <a:off x="7571232" y="1810512"/>
            <a:ext cx="3429000" cy="1188720"/>
          </a:xfrm>
          <a:prstGeom prst="rect">
            <a:avLst/>
          </a:prstGeom>
          <a:noFill/>
          <a:ln/>
        </p:spPr>
        <p:txBody>
          <a:bodyPr wrap="square" lIns="254" tIns="254" rIns="254" bIns="254" rtlCol="0" anchor="ctr">
            <a:normAutofit/>
          </a:bodyPr>
          <a:lstStyle/>
          <a:p>
            <a:pPr indent="0" marL="0">
              <a:buNone/>
            </a:pPr>
            <a:r>
              <a:rPr lang="en-US" sz="1960" b="1" dirty="0">
                <a:solidFill>
                  <a:srgbClr val="1D2838"/>
                </a:solidFill>
                <a:latin typeface="Aptos Display" pitchFamily="34" charset="0"/>
                <a:ea typeface="Aptos Display" pitchFamily="34" charset="-122"/>
                <a:cs typeface="Aptos Display" pitchFamily="34" charset="-120"/>
              </a:rPr>
              <a:t>Professional-practice vignettes often contain several plausible duties at once.</a:t>
            </a:r>
            <a:endParaRPr lang="en-US" sz="1960" dirty="0"/>
          </a:p>
        </p:txBody>
      </p:sp>
      <p:sp>
        <p:nvSpPr>
          <p:cNvPr id="13" name="Text 11"/>
          <p:cNvSpPr/>
          <p:nvPr/>
        </p:nvSpPr>
        <p:spPr>
          <a:xfrm>
            <a:off x="7552944" y="5468112"/>
            <a:ext cx="3520440" cy="384048"/>
          </a:xfrm>
          <a:prstGeom prst="rect">
            <a:avLst/>
          </a:prstGeom>
          <a:noFill/>
          <a:ln/>
        </p:spPr>
        <p:txBody>
          <a:bodyPr wrap="square" lIns="0" tIns="0" rIns="0" bIns="0" rtlCol="0" anchor="ctr">
            <a:normAutofit/>
          </a:bodyPr>
          <a:lstStyle/>
          <a:p>
            <a:pPr indent="0" marL="0">
              <a:buNone/>
            </a:pPr>
            <a:r>
              <a:rPr lang="en-US" sz="1220" dirty="0">
                <a:solidFill>
                  <a:srgbClr val="5A6675"/>
                </a:solidFill>
                <a:latin typeface="Aptos" pitchFamily="34" charset="0"/>
                <a:ea typeface="Aptos" pitchFamily="34" charset="-122"/>
                <a:cs typeface="Aptos" pitchFamily="34" charset="-120"/>
              </a:rPr>
              <a:t>Speaker notes are synchronized with the Word narration script.</a:t>
            </a:r>
            <a:endParaRPr lang="en-US" sz="1220" dirty="0"/>
          </a:p>
        </p:txBody>
      </p:sp>
      <p:sp>
        <p:nvSpPr>
          <p:cNvPr id="14" name="Text 12"/>
          <p:cNvSpPr/>
          <p:nvPr/>
        </p:nvSpPr>
        <p:spPr>
          <a:xfrm>
            <a:off x="585216" y="5340096"/>
            <a:ext cx="3429000" cy="301752"/>
          </a:xfrm>
          <a:prstGeom prst="rect">
            <a:avLst/>
          </a:prstGeom>
          <a:solidFill>
            <a:srgbClr val="B84C45"/>
          </a:solidFill>
          <a:ln/>
        </p:spPr>
        <p:txBody>
          <a:bodyPr wrap="square" lIns="254" tIns="254" rIns="254" bIns="254" rtlCol="0" anchor="ctr"/>
          <a:lstStyle/>
          <a:p>
            <a:pPr algn="ctr" indent="0" marL="0">
              <a:buNone/>
            </a:pPr>
            <a:r>
              <a:rPr lang="en-US" sz="1030" b="1" dirty="0">
                <a:solidFill>
                  <a:srgbClr val="FFFFFF"/>
                </a:solidFill>
                <a:latin typeface="Aptos" pitchFamily="34" charset="0"/>
                <a:ea typeface="Aptos" pitchFamily="34" charset="-122"/>
                <a:cs typeface="Aptos" pitchFamily="34" charset="-120"/>
              </a:rPr>
              <a:t>8–10 MINUTE COMPANION LESSON</a:t>
            </a:r>
            <a:endParaRPr lang="en-US" sz="1030" dirty="0"/>
          </a:p>
        </p:txBody>
      </p:sp>
      <p:sp>
        <p:nvSpPr>
          <p:cNvPr id="15" name="Shape 13"/>
          <p:cNvSpPr/>
          <p:nvPr/>
        </p:nvSpPr>
        <p:spPr>
          <a:xfrm>
            <a:off x="795528" y="4114800"/>
            <a:ext cx="5394960" cy="0"/>
          </a:xfrm>
          <a:prstGeom prst="line">
            <a:avLst/>
          </a:prstGeom>
          <a:noFill/>
          <a:ln w="13970">
            <a:solidFill>
              <a:srgbClr val="B84C45">
                <a:alpha val="75000"/>
              </a:srgbClr>
            </a:solidFill>
            <a:prstDash val="solid"/>
            <a:tailEnd type="triangle"/>
          </a:ln>
        </p:spPr>
      </p:sp>
      <p:sp>
        <p:nvSpPr>
          <p:cNvPr id="16" name="Text 14"/>
          <p:cNvSpPr/>
          <p:nvPr/>
        </p:nvSpPr>
        <p:spPr>
          <a:xfrm>
            <a:off x="658368" y="3822192"/>
            <a:ext cx="1002182"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Client welfare</a:t>
            </a:r>
            <a:endParaRPr lang="en-US" sz="1140" dirty="0"/>
          </a:p>
        </p:txBody>
      </p:sp>
      <p:sp>
        <p:nvSpPr>
          <p:cNvPr id="17" name="Text 15"/>
          <p:cNvSpPr/>
          <p:nvPr/>
        </p:nvSpPr>
        <p:spPr>
          <a:xfrm>
            <a:off x="1825142" y="3822192"/>
            <a:ext cx="1002182"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privacy</a:t>
            </a:r>
            <a:endParaRPr lang="en-US" sz="1140" dirty="0"/>
          </a:p>
        </p:txBody>
      </p:sp>
      <p:sp>
        <p:nvSpPr>
          <p:cNvPr id="18" name="Text 16"/>
          <p:cNvSpPr/>
          <p:nvPr/>
        </p:nvSpPr>
        <p:spPr>
          <a:xfrm>
            <a:off x="2991917" y="3822192"/>
            <a:ext cx="1002182"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safety</a:t>
            </a:r>
            <a:endParaRPr lang="en-US" sz="1140" dirty="0"/>
          </a:p>
        </p:txBody>
      </p:sp>
      <p:sp>
        <p:nvSpPr>
          <p:cNvPr id="19" name="Text 17"/>
          <p:cNvSpPr/>
          <p:nvPr/>
        </p:nvSpPr>
        <p:spPr>
          <a:xfrm>
            <a:off x="4158691" y="3822192"/>
            <a:ext cx="1002182"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role</a:t>
            </a:r>
            <a:endParaRPr lang="en-US" sz="1140" dirty="0"/>
          </a:p>
        </p:txBody>
      </p:sp>
      <p:sp>
        <p:nvSpPr>
          <p:cNvPr id="20" name="Text 18"/>
          <p:cNvSpPr/>
          <p:nvPr/>
        </p:nvSpPr>
        <p:spPr>
          <a:xfrm>
            <a:off x="5325466" y="3822192"/>
            <a:ext cx="1002182" cy="594360"/>
          </a:xfrm>
          <a:prstGeom prst="rect">
            <a:avLst/>
          </a:prstGeom>
          <a:solidFill>
            <a:srgbClr val="B84C45"/>
          </a:solidFill>
          <a:ln w="10160">
            <a:solidFill>
              <a:srgbClr val="B84C45"/>
            </a:solidFill>
          </a:ln>
        </p:spPr>
        <p:txBody>
          <a:bodyPr wrap="square" lIns="508" tIns="508" rIns="508" bIns="508" rtlCol="0" anchor="ctr">
            <a:normAutofit/>
          </a:bodyPr>
          <a:lstStyle/>
          <a:p>
            <a:pPr algn="ctr" indent="0" marL="0">
              <a:buNone/>
            </a:pPr>
            <a:r>
              <a:rPr lang="en-US" sz="1140" b="1" dirty="0">
                <a:solidFill>
                  <a:srgbClr val="FFFFFF"/>
                </a:solidFill>
                <a:latin typeface="Aptos" pitchFamily="34" charset="0"/>
                <a:ea typeface="Aptos" pitchFamily="34" charset="-122"/>
                <a:cs typeface="Aptos" pitchFamily="34" charset="-120"/>
              </a:rPr>
              <a:t>law</a:t>
            </a:r>
            <a:endParaRPr lang="en-US" sz="1140" dirty="0"/>
          </a:p>
        </p:txBody>
      </p:sp>
      <p:sp>
        <p:nvSpPr>
          <p:cNvPr id="21" name="Text 19"/>
          <p:cNvSpPr/>
          <p:nvPr/>
        </p:nvSpPr>
        <p:spPr>
          <a:xfrm>
            <a:off x="7498080" y="3474720"/>
            <a:ext cx="1668780" cy="800100"/>
          </a:xfrm>
          <a:prstGeom prst="rect">
            <a:avLst/>
          </a:prstGeom>
          <a:solidFill>
            <a:srgbClr val="F7E7E5"/>
          </a:solidFill>
          <a:ln w="11430">
            <a:solidFill>
              <a:srgbClr val="B84C45"/>
            </a:solidFill>
          </a:ln>
        </p:spPr>
        <p:txBody>
          <a:bodyPr wrap="square" lIns="1016" tIns="1016" rIns="1016" bIns="1016" rtlCol="0" anchor="ctr">
            <a:normAutofit/>
          </a:bodyPr>
          <a:lstStyle/>
          <a:p>
            <a:pPr algn="ctr" indent="0" marL="0">
              <a:buNone/>
            </a:pPr>
            <a:r>
              <a:rPr lang="en-US" sz="1500" b="1" dirty="0">
                <a:solidFill>
                  <a:srgbClr val="B84C45"/>
                </a:solidFill>
                <a:latin typeface="Aptos Display" pitchFamily="34" charset="0"/>
                <a:ea typeface="Aptos Display" pitchFamily="34" charset="-122"/>
                <a:cs typeface="Aptos Display" pitchFamily="34" charset="-120"/>
              </a:rPr>
              <a:t>Client welfare</a:t>
            </a:r>
            <a:endParaRPr lang="en-US" sz="1500" dirty="0"/>
          </a:p>
        </p:txBody>
      </p:sp>
      <p:sp>
        <p:nvSpPr>
          <p:cNvPr id="22" name="Text 20"/>
          <p:cNvSpPr/>
          <p:nvPr/>
        </p:nvSpPr>
        <p:spPr>
          <a:xfrm>
            <a:off x="9304020" y="3474720"/>
            <a:ext cx="1668780" cy="800100"/>
          </a:xfrm>
          <a:prstGeom prst="rect">
            <a:avLst/>
          </a:prstGeom>
          <a:solidFill>
            <a:srgbClr val="FFFFFF"/>
          </a:solidFill>
          <a:ln w="11430">
            <a:solidFill>
              <a:srgbClr val="D9E0E8"/>
            </a:solidFill>
          </a:ln>
        </p:spPr>
        <p:txBody>
          <a:bodyPr wrap="square" lIns="1016" tIns="1016" rIns="1016" bIns="1016" rtlCol="0" anchor="ctr">
            <a:normAutofit/>
          </a:bodyPr>
          <a:lstStyle/>
          <a:p>
            <a:pPr algn="ctr" indent="0" marL="0">
              <a:buNone/>
            </a:pPr>
            <a:r>
              <a:rPr lang="en-US" sz="1500" b="1" dirty="0">
                <a:solidFill>
                  <a:srgbClr val="1D2838"/>
                </a:solidFill>
                <a:latin typeface="Aptos Display" pitchFamily="34" charset="0"/>
                <a:ea typeface="Aptos Display" pitchFamily="34" charset="-122"/>
                <a:cs typeface="Aptos Display" pitchFamily="34" charset="-120"/>
              </a:rPr>
              <a:t>privacy</a:t>
            </a:r>
            <a:endParaRPr lang="en-US" sz="1500" dirty="0"/>
          </a:p>
        </p:txBody>
      </p:sp>
      <p:sp>
        <p:nvSpPr>
          <p:cNvPr id="23" name="Text 21"/>
          <p:cNvSpPr/>
          <p:nvPr/>
        </p:nvSpPr>
        <p:spPr>
          <a:xfrm>
            <a:off x="7498080" y="4411980"/>
            <a:ext cx="1668780" cy="800100"/>
          </a:xfrm>
          <a:prstGeom prst="rect">
            <a:avLst/>
          </a:prstGeom>
          <a:solidFill>
            <a:srgbClr val="FFFFFF"/>
          </a:solidFill>
          <a:ln w="11430">
            <a:solidFill>
              <a:srgbClr val="D9E0E8"/>
            </a:solidFill>
          </a:ln>
        </p:spPr>
        <p:txBody>
          <a:bodyPr wrap="square" lIns="1016" tIns="1016" rIns="1016" bIns="1016" rtlCol="0" anchor="ctr">
            <a:normAutofit/>
          </a:bodyPr>
          <a:lstStyle/>
          <a:p>
            <a:pPr algn="ctr" indent="0" marL="0">
              <a:buNone/>
            </a:pPr>
            <a:r>
              <a:rPr lang="en-US" sz="1500" b="1" dirty="0">
                <a:solidFill>
                  <a:srgbClr val="1D2838"/>
                </a:solidFill>
                <a:latin typeface="Aptos Display" pitchFamily="34" charset="0"/>
                <a:ea typeface="Aptos Display" pitchFamily="34" charset="-122"/>
                <a:cs typeface="Aptos Display" pitchFamily="34" charset="-120"/>
              </a:rPr>
              <a:t>safety</a:t>
            </a:r>
            <a:endParaRPr lang="en-US" sz="1500" dirty="0"/>
          </a:p>
        </p:txBody>
      </p:sp>
      <p:sp>
        <p:nvSpPr>
          <p:cNvPr id="24" name="Text 22"/>
          <p:cNvSpPr/>
          <p:nvPr/>
        </p:nvSpPr>
        <p:spPr>
          <a:xfrm>
            <a:off x="9304020" y="4411980"/>
            <a:ext cx="1668780" cy="800100"/>
          </a:xfrm>
          <a:prstGeom prst="rect">
            <a:avLst/>
          </a:prstGeom>
          <a:solidFill>
            <a:srgbClr val="FFFFFF"/>
          </a:solidFill>
          <a:ln w="11430">
            <a:solidFill>
              <a:srgbClr val="D9E0E8"/>
            </a:solidFill>
          </a:ln>
        </p:spPr>
        <p:txBody>
          <a:bodyPr wrap="square" lIns="1016" tIns="1016" rIns="1016" bIns="1016" rtlCol="0" anchor="ctr">
            <a:normAutofit/>
          </a:bodyPr>
          <a:lstStyle/>
          <a:p>
            <a:pPr algn="ctr" indent="0" marL="0">
              <a:buNone/>
            </a:pPr>
            <a:r>
              <a:rPr lang="en-US" sz="1500" b="1" dirty="0">
                <a:solidFill>
                  <a:srgbClr val="1D2838"/>
                </a:solidFill>
                <a:latin typeface="Aptos Display" pitchFamily="34" charset="0"/>
                <a:ea typeface="Aptos Display" pitchFamily="34" charset="-122"/>
                <a:cs typeface="Aptos Display" pitchFamily="34" charset="-120"/>
              </a:rPr>
              <a:t>role</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B84C45"/>
          </a:solidFill>
          <a:ln w="12700">
            <a:solidFill>
              <a:srgbClr val="B84C45">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B84C45"/>
                </a:solidFill>
                <a:latin typeface="Aptos" pitchFamily="34" charset="0"/>
                <a:ea typeface="Aptos" pitchFamily="34" charset="-122"/>
                <a:cs typeface="Aptos" pitchFamily="34" charset="-120"/>
              </a:rPr>
              <a:t>LMFT WORKBOOK 12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WB12 • 02/8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B84C45"/>
                </a:solidFill>
                <a:latin typeface="Aptos Display" pitchFamily="34" charset="0"/>
                <a:ea typeface="Aptos Display" pitchFamily="34" charset="-122"/>
                <a:cs typeface="Aptos Display" pitchFamily="34" charset="-120"/>
              </a:rPr>
              <a:t>02</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Use the PROTECT Sequence</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P is problem and people: identify the exact issue and the client or client system.</a:t>
            </a:r>
            <a:endParaRPr lang="en-US" sz="2080" dirty="0"/>
          </a:p>
        </p:txBody>
      </p:sp>
      <p:sp>
        <p:nvSpPr>
          <p:cNvPr id="11" name="Text 9"/>
          <p:cNvSpPr/>
          <p:nvPr/>
        </p:nvSpPr>
        <p:spPr>
          <a:xfrm>
            <a:off x="6629400" y="1874520"/>
            <a:ext cx="3886200" cy="438912"/>
          </a:xfrm>
          <a:prstGeom prst="rect">
            <a:avLst/>
          </a:prstGeom>
          <a:solidFill>
            <a:srgbClr val="FFFFFF"/>
          </a:solidFill>
          <a:ln w="10795">
            <a:solidFill>
              <a:srgbClr val="B84C45"/>
            </a:solidFill>
          </a:ln>
        </p:spPr>
        <p:txBody>
          <a:bodyPr wrap="square" lIns="508" tIns="508" rIns="508" bIns="508" rtlCol="0" anchor="ctr">
            <a:normAutofit/>
          </a:bodyPr>
          <a:lstStyle/>
          <a:p>
            <a:pPr algn="ctr" indent="0" marL="0">
              <a:buNone/>
            </a:pPr>
            <a:r>
              <a:rPr lang="en-US" sz="1220" b="1" dirty="0">
                <a:solidFill>
                  <a:srgbClr val="B84C45"/>
                </a:solidFill>
                <a:latin typeface="Aptos" pitchFamily="34" charset="0"/>
                <a:ea typeface="Aptos" pitchFamily="34" charset="-122"/>
                <a:cs typeface="Aptos" pitchFamily="34" charset="-120"/>
              </a:rPr>
              <a:t>Problem/People</a:t>
            </a:r>
            <a:endParaRPr lang="en-US" sz="1220" dirty="0"/>
          </a:p>
        </p:txBody>
      </p:sp>
      <p:sp>
        <p:nvSpPr>
          <p:cNvPr id="12" name="Text 10"/>
          <p:cNvSpPr/>
          <p:nvPr/>
        </p:nvSpPr>
        <p:spPr>
          <a:xfrm>
            <a:off x="6793992" y="2368296"/>
            <a:ext cx="3557016" cy="438912"/>
          </a:xfrm>
          <a:prstGeom prst="rect">
            <a:avLst/>
          </a:prstGeom>
          <a:solidFill>
            <a:srgbClr val="F7E7E5"/>
          </a:solidFill>
          <a:ln w="10795">
            <a:solidFill>
              <a:srgbClr val="D9E0E8"/>
            </a:solidFill>
          </a:ln>
        </p:spPr>
        <p:txBody>
          <a:bodyPr wrap="square" lIns="508" tIns="508" rIns="508" bIns="508" rtlCol="0" anchor="ctr">
            <a:normAutofit/>
          </a:bodyPr>
          <a:lstStyle/>
          <a:p>
            <a:pPr algn="ctr" indent="0" marL="0">
              <a:buNone/>
            </a:pPr>
            <a:r>
              <a:rPr lang="en-US" sz="1220" dirty="0">
                <a:solidFill>
                  <a:srgbClr val="1D2838"/>
                </a:solidFill>
                <a:latin typeface="Aptos" pitchFamily="34" charset="0"/>
                <a:ea typeface="Aptos" pitchFamily="34" charset="-122"/>
                <a:cs typeface="Aptos" pitchFamily="34" charset="-120"/>
              </a:rPr>
              <a:t>Role/Rules</a:t>
            </a:r>
            <a:endParaRPr lang="en-US" sz="1220" dirty="0"/>
          </a:p>
        </p:txBody>
      </p:sp>
      <p:sp>
        <p:nvSpPr>
          <p:cNvPr id="13" name="Text 11"/>
          <p:cNvSpPr/>
          <p:nvPr/>
        </p:nvSpPr>
        <p:spPr>
          <a:xfrm>
            <a:off x="6958584" y="2862072"/>
            <a:ext cx="3227832" cy="438912"/>
          </a:xfrm>
          <a:prstGeom prst="rect">
            <a:avLst/>
          </a:prstGeom>
          <a:solidFill>
            <a:srgbClr val="FFFFFF"/>
          </a:solidFill>
          <a:ln w="10795">
            <a:solidFill>
              <a:srgbClr val="D9E0E8"/>
            </a:solidFill>
          </a:ln>
        </p:spPr>
        <p:txBody>
          <a:bodyPr wrap="square" lIns="508" tIns="508" rIns="508" bIns="508" rtlCol="0" anchor="ctr">
            <a:normAutofit/>
          </a:bodyPr>
          <a:lstStyle/>
          <a:p>
            <a:pPr algn="ctr" indent="0" marL="0">
              <a:buNone/>
            </a:pPr>
            <a:r>
              <a:rPr lang="en-US" sz="1220" dirty="0">
                <a:solidFill>
                  <a:srgbClr val="1D2838"/>
                </a:solidFill>
                <a:latin typeface="Aptos" pitchFamily="34" charset="0"/>
                <a:ea typeface="Aptos" pitchFamily="34" charset="-122"/>
                <a:cs typeface="Aptos" pitchFamily="34" charset="-120"/>
              </a:rPr>
              <a:t>Obtain Facts</a:t>
            </a:r>
            <a:endParaRPr lang="en-US" sz="1220" dirty="0"/>
          </a:p>
        </p:txBody>
      </p:sp>
      <p:sp>
        <p:nvSpPr>
          <p:cNvPr id="14" name="Text 12"/>
          <p:cNvSpPr/>
          <p:nvPr/>
        </p:nvSpPr>
        <p:spPr>
          <a:xfrm>
            <a:off x="7123176" y="3355848"/>
            <a:ext cx="2898648" cy="438912"/>
          </a:xfrm>
          <a:prstGeom prst="rect">
            <a:avLst/>
          </a:prstGeom>
          <a:solidFill>
            <a:srgbClr val="F7E7E5"/>
          </a:solidFill>
          <a:ln w="10795">
            <a:solidFill>
              <a:srgbClr val="D9E0E8"/>
            </a:solidFill>
          </a:ln>
        </p:spPr>
        <p:txBody>
          <a:bodyPr wrap="square" lIns="508" tIns="508" rIns="508" bIns="508" rtlCol="0" anchor="ctr">
            <a:normAutofit/>
          </a:bodyPr>
          <a:lstStyle/>
          <a:p>
            <a:pPr algn="ctr" indent="0" marL="0">
              <a:buNone/>
            </a:pPr>
            <a:r>
              <a:rPr lang="en-US" sz="1220" dirty="0">
                <a:solidFill>
                  <a:srgbClr val="1D2838"/>
                </a:solidFill>
                <a:latin typeface="Aptos" pitchFamily="34" charset="0"/>
                <a:ea typeface="Aptos" pitchFamily="34" charset="-122"/>
                <a:cs typeface="Aptos" pitchFamily="34" charset="-120"/>
              </a:rPr>
              <a:t>Threat</a:t>
            </a:r>
            <a:endParaRPr lang="en-US" sz="1220" dirty="0"/>
          </a:p>
        </p:txBody>
      </p:sp>
      <p:sp>
        <p:nvSpPr>
          <p:cNvPr id="15" name="Text 13"/>
          <p:cNvSpPr/>
          <p:nvPr/>
        </p:nvSpPr>
        <p:spPr>
          <a:xfrm>
            <a:off x="7287768" y="3849624"/>
            <a:ext cx="2569464" cy="438912"/>
          </a:xfrm>
          <a:prstGeom prst="rect">
            <a:avLst/>
          </a:prstGeom>
          <a:solidFill>
            <a:srgbClr val="FFFFFF"/>
          </a:solidFill>
          <a:ln w="10795">
            <a:solidFill>
              <a:srgbClr val="D9E0E8"/>
            </a:solidFill>
          </a:ln>
        </p:spPr>
        <p:txBody>
          <a:bodyPr wrap="square" lIns="508" tIns="508" rIns="508" bIns="508" rtlCol="0" anchor="ctr">
            <a:normAutofit/>
          </a:bodyPr>
          <a:lstStyle/>
          <a:p>
            <a:pPr algn="ctr" indent="0" marL="0">
              <a:buNone/>
            </a:pPr>
            <a:r>
              <a:rPr lang="en-US" sz="1220" dirty="0">
                <a:solidFill>
                  <a:srgbClr val="1D2838"/>
                </a:solidFill>
                <a:latin typeface="Aptos" pitchFamily="34" charset="0"/>
                <a:ea typeface="Aptos" pitchFamily="34" charset="-122"/>
                <a:cs typeface="Aptos" pitchFamily="34" charset="-120"/>
              </a:rPr>
              <a:t>Ethical Options</a:t>
            </a:r>
            <a:endParaRPr lang="en-US" sz="1220" dirty="0"/>
          </a:p>
        </p:txBody>
      </p:sp>
      <p:sp>
        <p:nvSpPr>
          <p:cNvPr id="16" name="Text 14"/>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B84C45"/>
                </a:solidFill>
                <a:latin typeface="Aptos" pitchFamily="34" charset="0"/>
                <a:ea typeface="Aptos" pitchFamily="34" charset="-122"/>
                <a:cs typeface="Aptos" pitchFamily="34" charset="-120"/>
              </a:rPr>
              <a:t>✓</a:t>
            </a:r>
            <a:endParaRPr lang="en-US" sz="1500" dirty="0"/>
          </a:p>
        </p:txBody>
      </p:sp>
      <p:sp>
        <p:nvSpPr>
          <p:cNvPr id="17" name="Text 15"/>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R is role and rules: determine whether the LMFT is therapist, evaluator, consultant,…</a:t>
            </a:r>
            <a:endParaRPr lang="en-US" sz="1330" dirty="0"/>
          </a:p>
        </p:txBody>
      </p:sp>
      <p:sp>
        <p:nvSpPr>
          <p:cNvPr id="18" name="Text 16"/>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B84C45"/>
                </a:solidFill>
                <a:latin typeface="Aptos" pitchFamily="34" charset="0"/>
                <a:ea typeface="Aptos" pitchFamily="34" charset="-122"/>
                <a:cs typeface="Aptos" pitchFamily="34" charset="-120"/>
              </a:rPr>
              <a:t>✓</a:t>
            </a:r>
            <a:endParaRPr lang="en-US" sz="1500" dirty="0"/>
          </a:p>
        </p:txBody>
      </p:sp>
      <p:sp>
        <p:nvSpPr>
          <p:cNvPr id="19" name="Text 17"/>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T is take action and track through explanation, documentation, and follow-up.</a:t>
            </a:r>
            <a:endParaRPr lang="en-US" sz="1330" dirty="0"/>
          </a:p>
        </p:txBody>
      </p:sp>
      <p:sp>
        <p:nvSpPr>
          <p:cNvPr id="20" name="Text 18"/>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B84C45"/>
                </a:solidFill>
                <a:latin typeface="Aptos" pitchFamily="34" charset="0"/>
                <a:ea typeface="Aptos" pitchFamily="34" charset="-122"/>
                <a:cs typeface="Aptos" pitchFamily="34" charset="-120"/>
              </a:rPr>
              <a:t>✓</a:t>
            </a:r>
            <a:endParaRPr lang="en-US" sz="1500" dirty="0"/>
          </a:p>
        </p:txBody>
      </p:sp>
      <p:sp>
        <p:nvSpPr>
          <p:cNvPr id="21" name="Text 19"/>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Problem/People • Role/Rules • Obtain Facts • Threat • Ethical Options • Consult • Take/Track</a:t>
            </a:r>
            <a:endParaRPr lang="en-US" sz="1330" dirty="0"/>
          </a:p>
        </p:txBody>
      </p:sp>
      <p:sp>
        <p:nvSpPr>
          <p:cNvPr id="22" name="Text 20"/>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B84C45"/>
                </a:solidFill>
                <a:latin typeface="Aptos" pitchFamily="34" charset="0"/>
                <a:ea typeface="Aptos" pitchFamily="34" charset="-122"/>
                <a:cs typeface="Aptos" pitchFamily="34" charset="-120"/>
              </a:rPr>
              <a:t>STUDENT MOVE</a:t>
            </a:r>
            <a:endParaRPr lang="en-US" sz="940" dirty="0"/>
          </a:p>
        </p:txBody>
      </p:sp>
      <p:sp>
        <p:nvSpPr>
          <p:cNvPr id="23" name="Text 21"/>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T is take action and track through explanation, documentation, and follow-up.</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B84C45"/>
          </a:solidFill>
          <a:ln w="12700">
            <a:solidFill>
              <a:srgbClr val="B84C45">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B84C45"/>
                </a:solidFill>
                <a:latin typeface="Aptos" pitchFamily="34" charset="0"/>
                <a:ea typeface="Aptos" pitchFamily="34" charset="-122"/>
                <a:cs typeface="Aptos" pitchFamily="34" charset="-120"/>
              </a:rPr>
              <a:t>LMFT WORKBOOK 12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WB12 • 03/8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B84C45"/>
                </a:solidFill>
                <a:latin typeface="Aptos Display" pitchFamily="34" charset="0"/>
                <a:ea typeface="Aptos Display" pitchFamily="34" charset="-122"/>
                <a:cs typeface="Aptos Display" pitchFamily="34" charset="-120"/>
              </a:rPr>
              <a:t>03</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Clarify Consent, Client Status, and Information Authority</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Informed consent is ongoing and should be revisited when the treatment unit, participants, individual contacts, telehealth, fees, reports, or…</a:t>
            </a:r>
            <a:endParaRPr lang="en-US" sz="2080" dirty="0"/>
          </a:p>
        </p:txBody>
      </p:sp>
      <p:sp>
        <p:nvSpPr>
          <p:cNvPr id="11" name="Shape 9"/>
          <p:cNvSpPr/>
          <p:nvPr/>
        </p:nvSpPr>
        <p:spPr>
          <a:xfrm>
            <a:off x="6537960" y="2624328"/>
            <a:ext cx="4160520" cy="0"/>
          </a:xfrm>
          <a:prstGeom prst="line">
            <a:avLst/>
          </a:prstGeom>
          <a:noFill/>
          <a:ln w="13970">
            <a:solidFill>
              <a:srgbClr val="B84C45">
                <a:alpha val="75000"/>
              </a:srgbClr>
            </a:solidFill>
            <a:prstDash val="solid"/>
            <a:tailEnd type="triangle"/>
          </a:ln>
        </p:spPr>
      </p:sp>
      <p:sp>
        <p:nvSpPr>
          <p:cNvPr id="12" name="Text 10"/>
          <p:cNvSpPr/>
          <p:nvPr/>
        </p:nvSpPr>
        <p:spPr>
          <a:xfrm>
            <a:off x="6400800"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An individual</a:t>
            </a:r>
            <a:endParaRPr lang="en-US" sz="1140" dirty="0"/>
          </a:p>
        </p:txBody>
      </p:sp>
      <p:sp>
        <p:nvSpPr>
          <p:cNvPr id="13" name="Text 11"/>
          <p:cNvSpPr/>
          <p:nvPr/>
        </p:nvSpPr>
        <p:spPr>
          <a:xfrm>
            <a:off x="7320686"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couple</a:t>
            </a:r>
            <a:endParaRPr lang="en-US" sz="1140" dirty="0"/>
          </a:p>
        </p:txBody>
      </p:sp>
      <p:sp>
        <p:nvSpPr>
          <p:cNvPr id="14" name="Text 12"/>
          <p:cNvSpPr/>
          <p:nvPr/>
        </p:nvSpPr>
        <p:spPr>
          <a:xfrm>
            <a:off x="8240573"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family participant</a:t>
            </a:r>
            <a:endParaRPr lang="en-US" sz="1140" dirty="0"/>
          </a:p>
        </p:txBody>
      </p:sp>
      <p:sp>
        <p:nvSpPr>
          <p:cNvPr id="15" name="Text 13"/>
          <p:cNvSpPr/>
          <p:nvPr/>
        </p:nvSpPr>
        <p:spPr>
          <a:xfrm>
            <a:off x="9160459"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payer</a:t>
            </a:r>
            <a:endParaRPr lang="en-US" sz="1140" dirty="0"/>
          </a:p>
        </p:txBody>
      </p:sp>
      <p:sp>
        <p:nvSpPr>
          <p:cNvPr id="16" name="Text 14"/>
          <p:cNvSpPr/>
          <p:nvPr/>
        </p:nvSpPr>
        <p:spPr>
          <a:xfrm>
            <a:off x="10080346" y="2331720"/>
            <a:ext cx="755294" cy="594360"/>
          </a:xfrm>
          <a:prstGeom prst="rect">
            <a:avLst/>
          </a:prstGeom>
          <a:solidFill>
            <a:srgbClr val="B84C45"/>
          </a:solidFill>
          <a:ln w="10160">
            <a:solidFill>
              <a:srgbClr val="B84C45"/>
            </a:solidFill>
          </a:ln>
        </p:spPr>
        <p:txBody>
          <a:bodyPr wrap="square" lIns="508" tIns="508" rIns="508" bIns="508" rtlCol="0" anchor="ctr">
            <a:normAutofit/>
          </a:bodyPr>
          <a:lstStyle/>
          <a:p>
            <a:pPr algn="ctr" indent="0" marL="0">
              <a:buNone/>
            </a:pPr>
            <a:r>
              <a:rPr lang="en-US" sz="1140" b="1" dirty="0">
                <a:solidFill>
                  <a:srgbClr val="FFFFFF"/>
                </a:solidFill>
                <a:latin typeface="Aptos" pitchFamily="34" charset="0"/>
                <a:ea typeface="Aptos" pitchFamily="34" charset="-122"/>
                <a:cs typeface="Aptos" pitchFamily="34" charset="-120"/>
              </a:rPr>
              <a:t>referral source are…</a:t>
            </a:r>
            <a:endParaRPr lang="en-US" sz="1140" dirty="0"/>
          </a:p>
        </p:txBody>
      </p:sp>
      <p:sp>
        <p:nvSpPr>
          <p:cNvPr id="17" name="Text 15"/>
          <p:cNvSpPr/>
          <p:nvPr/>
        </p:nvSpPr>
        <p:spPr>
          <a:xfrm>
            <a:off x="7086600" y="3401568"/>
            <a:ext cx="3063240" cy="914400"/>
          </a:xfrm>
          <a:prstGeom prst="rect">
            <a:avLst/>
          </a:prstGeom>
          <a:solidFill>
            <a:srgbClr val="F7E7E5"/>
          </a:solidFill>
          <a:ln w="13970">
            <a:solidFill>
              <a:srgbClr val="B84C45">
                <a:alpha val="75000"/>
              </a:srgbClr>
            </a:solidFill>
          </a:ln>
        </p:spPr>
        <p:txBody>
          <a:bodyPr wrap="square" lIns="635" tIns="635" rIns="635" bIns="635" rtlCol="0" anchor="ctr">
            <a:normAutofit/>
          </a:bodyPr>
          <a:lstStyle/>
          <a:p>
            <a:pPr algn="ctr" indent="0" marL="0">
              <a:buNone/>
            </a:pPr>
            <a:r>
              <a:rPr lang="en-US" sz="2200" b="1" dirty="0">
                <a:solidFill>
                  <a:srgbClr val="B84C45"/>
                </a:solidFill>
                <a:latin typeface="Aptos Display" pitchFamily="34" charset="0"/>
                <a:ea typeface="Aptos Display" pitchFamily="34" charset="-122"/>
                <a:cs typeface="Aptos Display" pitchFamily="34" charset="-120"/>
              </a:rPr>
              <a:t>An individual</a:t>
            </a:r>
            <a:endParaRPr lang="en-US" sz="2200" dirty="0"/>
          </a:p>
        </p:txBody>
      </p:sp>
      <p:sp>
        <p:nvSpPr>
          <p:cNvPr id="18" name="Text 16"/>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B84C45"/>
                </a:solidFill>
                <a:latin typeface="Aptos" pitchFamily="34" charset="0"/>
                <a:ea typeface="Aptos" pitchFamily="34" charset="-122"/>
                <a:cs typeface="Aptos" pitchFamily="34" charset="-120"/>
              </a:rPr>
              <a:t>✓</a:t>
            </a:r>
            <a:endParaRPr lang="en-US" sz="1500" dirty="0"/>
          </a:p>
        </p:txBody>
      </p:sp>
      <p:sp>
        <p:nvSpPr>
          <p:cNvPr id="19" name="Text 17"/>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In multi-client treatment, clarify who is the client or client system, who may authorize…</a:t>
            </a:r>
            <a:endParaRPr lang="en-US" sz="1330" dirty="0"/>
          </a:p>
        </p:txBody>
      </p:sp>
      <p:sp>
        <p:nvSpPr>
          <p:cNvPr id="20" name="Text 18"/>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B84C45"/>
                </a:solidFill>
                <a:latin typeface="Aptos" pitchFamily="34" charset="0"/>
                <a:ea typeface="Aptos" pitchFamily="34" charset="-122"/>
                <a:cs typeface="Aptos" pitchFamily="34" charset="-120"/>
              </a:rPr>
              <a:t>✓</a:t>
            </a:r>
            <a:endParaRPr lang="en-US" sz="1500" dirty="0"/>
          </a:p>
        </p:txBody>
      </p:sp>
      <p:sp>
        <p:nvSpPr>
          <p:cNvPr id="21" name="Text 19"/>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Authorization is client-controlled permission with defined recipient, information, purpose,…</a:t>
            </a:r>
            <a:endParaRPr lang="en-US" sz="1330" dirty="0"/>
          </a:p>
        </p:txBody>
      </p:sp>
      <p:sp>
        <p:nvSpPr>
          <p:cNvPr id="22" name="Text 20"/>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B84C45"/>
                </a:solidFill>
                <a:latin typeface="Aptos" pitchFamily="34" charset="0"/>
                <a:ea typeface="Aptos" pitchFamily="34" charset="-122"/>
                <a:cs typeface="Aptos" pitchFamily="34" charset="-120"/>
              </a:rPr>
              <a:t>✓</a:t>
            </a:r>
            <a:endParaRPr lang="en-US" sz="1500" dirty="0"/>
          </a:p>
        </p:txBody>
      </p:sp>
      <p:sp>
        <p:nvSpPr>
          <p:cNvPr id="23" name="Text 21"/>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Participation or Payment Does Not Automatically Create Access</a:t>
            </a:r>
            <a:endParaRPr lang="en-US" sz="1330" dirty="0"/>
          </a:p>
        </p:txBody>
      </p:sp>
      <p:sp>
        <p:nvSpPr>
          <p:cNvPr id="24" name="Text 22"/>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B84C45"/>
                </a:solidFill>
                <a:latin typeface="Aptos" pitchFamily="34" charset="0"/>
                <a:ea typeface="Aptos" pitchFamily="34" charset="-122"/>
                <a:cs typeface="Aptos" pitchFamily="34" charset="-120"/>
              </a:rPr>
              <a:t>STUDENT MOVE</a:t>
            </a:r>
            <a:endParaRPr lang="en-US" sz="940" dirty="0"/>
          </a:p>
        </p:txBody>
      </p:sp>
      <p:sp>
        <p:nvSpPr>
          <p:cNvPr id="25" name="Text 23"/>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Authorization is client-controlled permission with defined recipient, information, purpose, duration, and revocation terms.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B84C45"/>
          </a:solidFill>
          <a:ln w="12700">
            <a:solidFill>
              <a:srgbClr val="B84C45">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B84C45"/>
                </a:solidFill>
                <a:latin typeface="Aptos" pitchFamily="34" charset="0"/>
                <a:ea typeface="Aptos" pitchFamily="34" charset="-122"/>
                <a:cs typeface="Aptos" pitchFamily="34" charset="-120"/>
              </a:rPr>
              <a:t>LMFT WORKBOOK 12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WB12 • 04/8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B84C45"/>
                </a:solidFill>
                <a:latin typeface="Aptos Display" pitchFamily="34" charset="0"/>
                <a:ea typeface="Aptos Display" pitchFamily="34" charset="-122"/>
                <a:cs typeface="Aptos Display" pitchFamily="34" charset="-120"/>
              </a:rPr>
              <a:t>04</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Protect Record Integrity, Boundaries, and Competence</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Documentation should be accurate, timely, relevant, and corrected transparently without deleting or disguising the original record.</a:t>
            </a:r>
            <a:endParaRPr lang="en-US" sz="2080" dirty="0"/>
          </a:p>
        </p:txBody>
      </p:sp>
      <p:sp>
        <p:nvSpPr>
          <p:cNvPr id="11" name="Shape 9"/>
          <p:cNvSpPr/>
          <p:nvPr/>
        </p:nvSpPr>
        <p:spPr>
          <a:xfrm>
            <a:off x="6537960" y="2624328"/>
            <a:ext cx="4160520" cy="0"/>
          </a:xfrm>
          <a:prstGeom prst="line">
            <a:avLst/>
          </a:prstGeom>
          <a:noFill/>
          <a:ln w="13970">
            <a:solidFill>
              <a:srgbClr val="B84C45">
                <a:alpha val="75000"/>
              </a:srgbClr>
            </a:solidFill>
            <a:prstDash val="solid"/>
            <a:tailEnd type="triangle"/>
          </a:ln>
        </p:spPr>
      </p:sp>
      <p:sp>
        <p:nvSpPr>
          <p:cNvPr id="12" name="Text 10"/>
          <p:cNvSpPr/>
          <p:nvPr/>
        </p:nvSpPr>
        <p:spPr>
          <a:xfrm>
            <a:off x="6400800" y="2331720"/>
            <a:ext cx="1368552"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Accurate</a:t>
            </a:r>
            <a:endParaRPr lang="en-US" sz="1140" dirty="0"/>
          </a:p>
        </p:txBody>
      </p:sp>
      <p:sp>
        <p:nvSpPr>
          <p:cNvPr id="13" name="Text 11"/>
          <p:cNvSpPr/>
          <p:nvPr/>
        </p:nvSpPr>
        <p:spPr>
          <a:xfrm>
            <a:off x="7933944" y="2331720"/>
            <a:ext cx="1368552"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Purposeful</a:t>
            </a:r>
            <a:endParaRPr lang="en-US" sz="1140" dirty="0"/>
          </a:p>
        </p:txBody>
      </p:sp>
      <p:sp>
        <p:nvSpPr>
          <p:cNvPr id="14" name="Text 12"/>
          <p:cNvSpPr/>
          <p:nvPr/>
        </p:nvSpPr>
        <p:spPr>
          <a:xfrm>
            <a:off x="9467088" y="2331720"/>
            <a:ext cx="1368552" cy="594360"/>
          </a:xfrm>
          <a:prstGeom prst="rect">
            <a:avLst/>
          </a:prstGeom>
          <a:solidFill>
            <a:srgbClr val="B84C45"/>
          </a:solidFill>
          <a:ln w="10160">
            <a:solidFill>
              <a:srgbClr val="B84C45"/>
            </a:solidFill>
          </a:ln>
        </p:spPr>
        <p:txBody>
          <a:bodyPr wrap="square" lIns="508" tIns="508" rIns="508" bIns="508" rtlCol="0" anchor="ctr">
            <a:normAutofit/>
          </a:bodyPr>
          <a:lstStyle/>
          <a:p>
            <a:pPr algn="ctr" indent="0" marL="0">
              <a:buNone/>
            </a:pPr>
            <a:r>
              <a:rPr lang="en-US" sz="1140" b="1" dirty="0">
                <a:solidFill>
                  <a:srgbClr val="FFFFFF"/>
                </a:solidFill>
                <a:latin typeface="Aptos" pitchFamily="34" charset="0"/>
                <a:ea typeface="Aptos" pitchFamily="34" charset="-122"/>
                <a:cs typeface="Aptos" pitchFamily="34" charset="-120"/>
              </a:rPr>
              <a:t>Within Competence</a:t>
            </a:r>
            <a:endParaRPr lang="en-US" sz="1140" dirty="0"/>
          </a:p>
        </p:txBody>
      </p:sp>
      <p:sp>
        <p:nvSpPr>
          <p:cNvPr id="15" name="Text 13"/>
          <p:cNvSpPr/>
          <p:nvPr/>
        </p:nvSpPr>
        <p:spPr>
          <a:xfrm>
            <a:off x="7086600" y="3401568"/>
            <a:ext cx="3063240" cy="914400"/>
          </a:xfrm>
          <a:prstGeom prst="rect">
            <a:avLst/>
          </a:prstGeom>
          <a:solidFill>
            <a:srgbClr val="F7E7E5"/>
          </a:solidFill>
          <a:ln w="13970">
            <a:solidFill>
              <a:srgbClr val="B84C45">
                <a:alpha val="75000"/>
              </a:srgbClr>
            </a:solidFill>
          </a:ln>
        </p:spPr>
        <p:txBody>
          <a:bodyPr wrap="square" lIns="635" tIns="635" rIns="635" bIns="635" rtlCol="0" anchor="ctr">
            <a:normAutofit/>
          </a:bodyPr>
          <a:lstStyle/>
          <a:p>
            <a:pPr algn="ctr" indent="0" marL="0">
              <a:buNone/>
            </a:pPr>
            <a:r>
              <a:rPr lang="en-US" sz="2200" b="1" dirty="0">
                <a:solidFill>
                  <a:srgbClr val="B84C45"/>
                </a:solidFill>
                <a:latin typeface="Aptos Display" pitchFamily="34" charset="0"/>
                <a:ea typeface="Aptos Display" pitchFamily="34" charset="-122"/>
                <a:cs typeface="Aptos Display" pitchFamily="34" charset="-120"/>
              </a:rPr>
              <a:t>Accurate</a:t>
            </a:r>
            <a:endParaRPr lang="en-US" sz="2200" dirty="0"/>
          </a:p>
        </p:txBody>
      </p:sp>
      <p:sp>
        <p:nvSpPr>
          <p:cNvPr id="16" name="Text 14"/>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B84C45"/>
                </a:solidFill>
                <a:latin typeface="Aptos" pitchFamily="34" charset="0"/>
                <a:ea typeface="Aptos" pitchFamily="34" charset="-122"/>
                <a:cs typeface="Aptos" pitchFamily="34" charset="-120"/>
              </a:rPr>
              <a:t>✓</a:t>
            </a:r>
            <a:endParaRPr lang="en-US" sz="1500" dirty="0"/>
          </a:p>
        </p:txBody>
      </p:sp>
      <p:sp>
        <p:nvSpPr>
          <p:cNvPr id="17" name="Text 15"/>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Boundary decisions consider power, vulnerability, clinical purpose, culture, community…</a:t>
            </a:r>
            <a:endParaRPr lang="en-US" sz="1330" dirty="0"/>
          </a:p>
        </p:txBody>
      </p:sp>
      <p:sp>
        <p:nvSpPr>
          <p:cNvPr id="18" name="Text 16"/>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B84C45"/>
                </a:solidFill>
                <a:latin typeface="Aptos" pitchFamily="34" charset="0"/>
                <a:ea typeface="Aptos" pitchFamily="34" charset="-122"/>
                <a:cs typeface="Aptos" pitchFamily="34" charset="-120"/>
              </a:rPr>
              <a:t>✓</a:t>
            </a:r>
            <a:endParaRPr lang="en-US" sz="1500" dirty="0"/>
          </a:p>
        </p:txBody>
      </p:sp>
      <p:sp>
        <p:nvSpPr>
          <p:cNvPr id="19" name="Text 17"/>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Impairment requires action to protect clients and continuity.</a:t>
            </a:r>
            <a:endParaRPr lang="en-US" sz="1330" dirty="0"/>
          </a:p>
        </p:txBody>
      </p:sp>
      <p:sp>
        <p:nvSpPr>
          <p:cNvPr id="20" name="Text 18"/>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B84C45"/>
                </a:solidFill>
                <a:latin typeface="Aptos" pitchFamily="34" charset="0"/>
                <a:ea typeface="Aptos" pitchFamily="34" charset="-122"/>
                <a:cs typeface="Aptos" pitchFamily="34" charset="-120"/>
              </a:rPr>
              <a:t>✓</a:t>
            </a:r>
            <a:endParaRPr lang="en-US" sz="1500" dirty="0"/>
          </a:p>
        </p:txBody>
      </p:sp>
      <p:sp>
        <p:nvSpPr>
          <p:cNvPr id="21" name="Text 19"/>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Accurate • Purposeful • Within Competence</a:t>
            </a:r>
            <a:endParaRPr lang="en-US" sz="1330" dirty="0"/>
          </a:p>
        </p:txBody>
      </p:sp>
      <p:sp>
        <p:nvSpPr>
          <p:cNvPr id="22" name="Text 20"/>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B84C45"/>
                </a:solidFill>
                <a:latin typeface="Aptos" pitchFamily="34" charset="0"/>
                <a:ea typeface="Aptos" pitchFamily="34" charset="-122"/>
                <a:cs typeface="Aptos" pitchFamily="34" charset="-120"/>
              </a:rPr>
              <a:t>STUDENT MOVE</a:t>
            </a:r>
            <a:endParaRPr lang="en-US" sz="940" dirty="0"/>
          </a:p>
        </p:txBody>
      </p:sp>
      <p:sp>
        <p:nvSpPr>
          <p:cNvPr id="23" name="Text 21"/>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Impairment requires action to protect clients and continuity.</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B84C45"/>
          </a:solidFill>
          <a:ln w="12700">
            <a:solidFill>
              <a:srgbClr val="B84C45">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B84C45"/>
                </a:solidFill>
                <a:latin typeface="Aptos" pitchFamily="34" charset="0"/>
                <a:ea typeface="Aptos" pitchFamily="34" charset="-122"/>
                <a:cs typeface="Aptos" pitchFamily="34" charset="-120"/>
              </a:rPr>
              <a:t>LMFT WORKBOOK 12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WB12 • 05/8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B84C45"/>
                </a:solidFill>
                <a:latin typeface="Aptos Display" pitchFamily="34" charset="0"/>
                <a:ea typeface="Aptos Display" pitchFamily="34" charset="-122"/>
                <a:cs typeface="Aptos Display" pitchFamily="34" charset="-120"/>
              </a:rPr>
              <a:t>05</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Apply the Same Reasoning to Technology, Third Parties, and Ending</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Telehealth and messaging require attention to identity, location, privacy, emergency procedures, platform risks, documentation, and applicable…</a:t>
            </a:r>
            <a:endParaRPr lang="en-US" sz="2080" dirty="0"/>
          </a:p>
        </p:txBody>
      </p:sp>
      <p:sp>
        <p:nvSpPr>
          <p:cNvPr id="11" name="Shape 9"/>
          <p:cNvSpPr/>
          <p:nvPr/>
        </p:nvSpPr>
        <p:spPr>
          <a:xfrm>
            <a:off x="6537960" y="2624328"/>
            <a:ext cx="4160520" cy="0"/>
          </a:xfrm>
          <a:prstGeom prst="line">
            <a:avLst/>
          </a:prstGeom>
          <a:noFill/>
          <a:ln w="13970">
            <a:solidFill>
              <a:srgbClr val="B84C45">
                <a:alpha val="75000"/>
              </a:srgbClr>
            </a:solidFill>
            <a:prstDash val="solid"/>
            <a:tailEnd type="triangle"/>
          </a:ln>
        </p:spPr>
      </p:sp>
      <p:sp>
        <p:nvSpPr>
          <p:cNvPr id="12" name="Text 10"/>
          <p:cNvSpPr/>
          <p:nvPr/>
        </p:nvSpPr>
        <p:spPr>
          <a:xfrm>
            <a:off x="6400800" y="2331720"/>
            <a:ext cx="985266"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Role</a:t>
            </a:r>
            <a:endParaRPr lang="en-US" sz="1140" dirty="0"/>
          </a:p>
        </p:txBody>
      </p:sp>
      <p:sp>
        <p:nvSpPr>
          <p:cNvPr id="13" name="Text 11"/>
          <p:cNvSpPr/>
          <p:nvPr/>
        </p:nvSpPr>
        <p:spPr>
          <a:xfrm>
            <a:off x="7550658" y="2331720"/>
            <a:ext cx="985266"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Jurisdiction</a:t>
            </a:r>
            <a:endParaRPr lang="en-US" sz="1140" dirty="0"/>
          </a:p>
        </p:txBody>
      </p:sp>
      <p:sp>
        <p:nvSpPr>
          <p:cNvPr id="14" name="Text 12"/>
          <p:cNvSpPr/>
          <p:nvPr/>
        </p:nvSpPr>
        <p:spPr>
          <a:xfrm>
            <a:off x="8700516" y="2331720"/>
            <a:ext cx="985266"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Information</a:t>
            </a:r>
            <a:endParaRPr lang="en-US" sz="1140" dirty="0"/>
          </a:p>
        </p:txBody>
      </p:sp>
      <p:sp>
        <p:nvSpPr>
          <p:cNvPr id="15" name="Text 13"/>
          <p:cNvSpPr/>
          <p:nvPr/>
        </p:nvSpPr>
        <p:spPr>
          <a:xfrm>
            <a:off x="9850374" y="2331720"/>
            <a:ext cx="985266" cy="594360"/>
          </a:xfrm>
          <a:prstGeom prst="rect">
            <a:avLst/>
          </a:prstGeom>
          <a:solidFill>
            <a:srgbClr val="B84C45"/>
          </a:solidFill>
          <a:ln w="10160">
            <a:solidFill>
              <a:srgbClr val="B84C45"/>
            </a:solidFill>
          </a:ln>
        </p:spPr>
        <p:txBody>
          <a:bodyPr wrap="square" lIns="508" tIns="508" rIns="508" bIns="508" rtlCol="0" anchor="ctr">
            <a:normAutofit/>
          </a:bodyPr>
          <a:lstStyle/>
          <a:p>
            <a:pPr algn="ctr" indent="0" marL="0">
              <a:buNone/>
            </a:pPr>
            <a:r>
              <a:rPr lang="en-US" sz="1140" b="1" dirty="0">
                <a:solidFill>
                  <a:srgbClr val="FFFFFF"/>
                </a:solidFill>
                <a:latin typeface="Aptos" pitchFamily="34" charset="0"/>
                <a:ea typeface="Aptos" pitchFamily="34" charset="-122"/>
                <a:cs typeface="Aptos" pitchFamily="34" charset="-120"/>
              </a:rPr>
              <a:t>Continuity</a:t>
            </a:r>
            <a:endParaRPr lang="en-US" sz="1140" dirty="0"/>
          </a:p>
        </p:txBody>
      </p:sp>
      <p:sp>
        <p:nvSpPr>
          <p:cNvPr id="16" name="Text 14"/>
          <p:cNvSpPr/>
          <p:nvPr/>
        </p:nvSpPr>
        <p:spPr>
          <a:xfrm>
            <a:off x="7086600" y="3401568"/>
            <a:ext cx="3063240" cy="914400"/>
          </a:xfrm>
          <a:prstGeom prst="rect">
            <a:avLst/>
          </a:prstGeom>
          <a:solidFill>
            <a:srgbClr val="F7E7E5"/>
          </a:solidFill>
          <a:ln w="13970">
            <a:solidFill>
              <a:srgbClr val="B84C45">
                <a:alpha val="75000"/>
              </a:srgbClr>
            </a:solidFill>
          </a:ln>
        </p:spPr>
        <p:txBody>
          <a:bodyPr wrap="square" lIns="635" tIns="635" rIns="635" bIns="635" rtlCol="0" anchor="ctr">
            <a:normAutofit/>
          </a:bodyPr>
          <a:lstStyle/>
          <a:p>
            <a:pPr algn="ctr" indent="0" marL="0">
              <a:buNone/>
            </a:pPr>
            <a:r>
              <a:rPr lang="en-US" sz="2200" b="1" dirty="0">
                <a:solidFill>
                  <a:srgbClr val="B84C45"/>
                </a:solidFill>
                <a:latin typeface="Aptos Display" pitchFamily="34" charset="0"/>
                <a:ea typeface="Aptos Display" pitchFamily="34" charset="-122"/>
                <a:cs typeface="Aptos Display" pitchFamily="34" charset="-120"/>
              </a:rPr>
              <a:t>Role</a:t>
            </a:r>
            <a:endParaRPr lang="en-US" sz="2200" dirty="0"/>
          </a:p>
        </p:txBody>
      </p:sp>
      <p:sp>
        <p:nvSpPr>
          <p:cNvPr id="17" name="Text 15"/>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B84C45"/>
                </a:solidFill>
                <a:latin typeface="Aptos" pitchFamily="34" charset="0"/>
                <a:ea typeface="Aptos" pitchFamily="34" charset="-122"/>
                <a:cs typeface="Aptos" pitchFamily="34" charset="-120"/>
              </a:rPr>
              <a:t>✓</a:t>
            </a:r>
            <a:endParaRPr lang="en-US" sz="1500" dirty="0"/>
          </a:p>
        </p:txBody>
      </p:sp>
      <p:sp>
        <p:nvSpPr>
          <p:cNvPr id="18" name="Text 16"/>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Third parties may pay, refer, investigate, request, or receive a limited report without…</a:t>
            </a:r>
            <a:endParaRPr lang="en-US" sz="1330" dirty="0"/>
          </a:p>
        </p:txBody>
      </p:sp>
      <p:sp>
        <p:nvSpPr>
          <p:cNvPr id="19" name="Text 17"/>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B84C45"/>
                </a:solidFill>
                <a:latin typeface="Aptos" pitchFamily="34" charset="0"/>
                <a:ea typeface="Aptos" pitchFamily="34" charset="-122"/>
                <a:cs typeface="Aptos" pitchFamily="34" charset="-120"/>
              </a:rPr>
              <a:t>✓</a:t>
            </a:r>
            <a:endParaRPr lang="en-US" sz="1500" dirty="0"/>
          </a:p>
        </p:txBody>
      </p:sp>
      <p:sp>
        <p:nvSpPr>
          <p:cNvPr id="20" name="Text 18"/>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Termination, transfer, coverage, or referral should assess risk and need, provide reasonable…</a:t>
            </a:r>
            <a:endParaRPr lang="en-US" sz="1330" dirty="0"/>
          </a:p>
        </p:txBody>
      </p:sp>
      <p:sp>
        <p:nvSpPr>
          <p:cNvPr id="21" name="Text 19"/>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B84C45"/>
                </a:solidFill>
                <a:latin typeface="Aptos" pitchFamily="34" charset="0"/>
                <a:ea typeface="Aptos" pitchFamily="34" charset="-122"/>
                <a:cs typeface="Aptos" pitchFamily="34" charset="-120"/>
              </a:rPr>
              <a:t>✓</a:t>
            </a:r>
            <a:endParaRPr lang="en-US" sz="1500" dirty="0"/>
          </a:p>
        </p:txBody>
      </p:sp>
      <p:sp>
        <p:nvSpPr>
          <p:cNvPr id="22" name="Text 20"/>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Role, Jurisdiction, Information, Continuity</a:t>
            </a:r>
            <a:endParaRPr lang="en-US" sz="1330" dirty="0"/>
          </a:p>
        </p:txBody>
      </p:sp>
      <p:sp>
        <p:nvSpPr>
          <p:cNvPr id="23" name="Text 21"/>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B84C45"/>
                </a:solidFill>
                <a:latin typeface="Aptos" pitchFamily="34" charset="0"/>
                <a:ea typeface="Aptos" pitchFamily="34" charset="-122"/>
                <a:cs typeface="Aptos" pitchFamily="34" charset="-120"/>
              </a:rPr>
              <a:t>STUDENT MOVE</a:t>
            </a:r>
            <a:endParaRPr lang="en-US" sz="940" dirty="0"/>
          </a:p>
        </p:txBody>
      </p:sp>
      <p:sp>
        <p:nvSpPr>
          <p:cNvPr id="24" name="Text 22"/>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Termination, transfer, coverage, or referral should assess risk and need, provide reasonable notice when possible, offer appropriate resources,…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B84C45"/>
          </a:solidFill>
          <a:ln w="12700">
            <a:solidFill>
              <a:srgbClr val="B84C45">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B84C45"/>
                </a:solidFill>
                <a:latin typeface="Aptos" pitchFamily="34" charset="0"/>
                <a:ea typeface="Aptos" pitchFamily="34" charset="-122"/>
                <a:cs typeface="Aptos" pitchFamily="34" charset="-120"/>
              </a:rPr>
              <a:t>LMFT WORKBOOK 12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WB12 • 06/8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B84C45"/>
                </a:solidFill>
                <a:latin typeface="Aptos Display" pitchFamily="34" charset="0"/>
                <a:ea typeface="Aptos Display" pitchFamily="34" charset="-122"/>
                <a:cs typeface="Aptos Display" pitchFamily="34" charset="-120"/>
              </a:rPr>
              <a:t>06</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Common Exam Traps</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Avoid assuming a payer can access records, treating a subpoena as automatic permission to disclose, confusing confidentiality with privilege,…</a:t>
            </a:r>
            <a:endParaRPr lang="en-US" sz="2080" dirty="0"/>
          </a:p>
        </p:txBody>
      </p:sp>
      <p:sp>
        <p:nvSpPr>
          <p:cNvPr id="11" name="Text 9"/>
          <p:cNvSpPr/>
          <p:nvPr/>
        </p:nvSpPr>
        <p:spPr>
          <a:xfrm>
            <a:off x="6446520" y="2011680"/>
            <a:ext cx="2103120" cy="1097280"/>
          </a:xfrm>
          <a:prstGeom prst="rect">
            <a:avLst/>
          </a:prstGeom>
          <a:solidFill>
            <a:srgbClr val="F7E7E5"/>
          </a:solidFill>
          <a:ln w="11430">
            <a:solidFill>
              <a:srgbClr val="B84C45"/>
            </a:solidFill>
          </a:ln>
        </p:spPr>
        <p:txBody>
          <a:bodyPr wrap="square" lIns="1016" tIns="1016" rIns="1016" bIns="1016" rtlCol="0" anchor="ctr">
            <a:normAutofit/>
          </a:bodyPr>
          <a:lstStyle/>
          <a:p>
            <a:pPr algn="ctr" indent="0" marL="0">
              <a:buNone/>
            </a:pPr>
            <a:r>
              <a:rPr lang="en-US" sz="1500" b="1" dirty="0">
                <a:solidFill>
                  <a:srgbClr val="B84C45"/>
                </a:solidFill>
                <a:latin typeface="Aptos Display" pitchFamily="34" charset="0"/>
                <a:ea typeface="Aptos Display" pitchFamily="34" charset="-122"/>
                <a:cs typeface="Aptos Display" pitchFamily="34" charset="-120"/>
              </a:rPr>
              <a:t>Trap cards show…</a:t>
            </a:r>
            <a:endParaRPr lang="en-US" sz="1500" dirty="0"/>
          </a:p>
        </p:txBody>
      </p:sp>
      <p:sp>
        <p:nvSpPr>
          <p:cNvPr id="12" name="Text 10"/>
          <p:cNvSpPr/>
          <p:nvPr/>
        </p:nvSpPr>
        <p:spPr>
          <a:xfrm>
            <a:off x="8686800" y="2011680"/>
            <a:ext cx="2103120" cy="1097280"/>
          </a:xfrm>
          <a:prstGeom prst="rect">
            <a:avLst/>
          </a:prstGeom>
          <a:solidFill>
            <a:srgbClr val="FFFFFF"/>
          </a:solidFill>
          <a:ln w="11430">
            <a:solidFill>
              <a:srgbClr val="D9E0E8"/>
            </a:solidFill>
          </a:ln>
        </p:spPr>
        <p:txBody>
          <a:bodyPr wrap="square" lIns="1016" tIns="1016" rIns="1016" bIns="1016" rtlCol="0" anchor="ctr">
            <a:normAutofit/>
          </a:bodyPr>
          <a:lstStyle/>
          <a:p>
            <a:pPr algn="ctr" indent="0" marL="0">
              <a:buNone/>
            </a:pPr>
            <a:r>
              <a:rPr lang="en-US" sz="1500" b="1" dirty="0">
                <a:solidFill>
                  <a:srgbClr val="1D2838"/>
                </a:solidFill>
                <a:latin typeface="Aptos Display" pitchFamily="34" charset="0"/>
                <a:ea typeface="Aptos Display" pitchFamily="34" charset="-122"/>
                <a:cs typeface="Aptos Display" pitchFamily="34" charset="-120"/>
              </a:rPr>
              <a:t>subpoena-equals-release</a:t>
            </a:r>
            <a:endParaRPr lang="en-US" sz="1500" dirty="0"/>
          </a:p>
        </p:txBody>
      </p:sp>
      <p:sp>
        <p:nvSpPr>
          <p:cNvPr id="13" name="Text 11"/>
          <p:cNvSpPr/>
          <p:nvPr/>
        </p:nvSpPr>
        <p:spPr>
          <a:xfrm>
            <a:off x="6446520" y="3246120"/>
            <a:ext cx="2103120" cy="1097280"/>
          </a:xfrm>
          <a:prstGeom prst="rect">
            <a:avLst/>
          </a:prstGeom>
          <a:solidFill>
            <a:srgbClr val="FFFFFF"/>
          </a:solidFill>
          <a:ln w="11430">
            <a:solidFill>
              <a:srgbClr val="D9E0E8"/>
            </a:solidFill>
          </a:ln>
        </p:spPr>
        <p:txBody>
          <a:bodyPr wrap="square" lIns="1016" tIns="1016" rIns="1016" bIns="1016" rtlCol="0" anchor="ctr">
            <a:normAutofit/>
          </a:bodyPr>
          <a:lstStyle/>
          <a:p>
            <a:pPr algn="ctr" indent="0" marL="0">
              <a:buNone/>
            </a:pPr>
            <a:r>
              <a:rPr lang="en-US" sz="1500" b="1" dirty="0">
                <a:solidFill>
                  <a:srgbClr val="1D2838"/>
                </a:solidFill>
                <a:latin typeface="Aptos Display" pitchFamily="34" charset="0"/>
                <a:ea typeface="Aptos Display" pitchFamily="34" charset="-122"/>
                <a:cs typeface="Aptos Display" pitchFamily="34" charset="-120"/>
              </a:rPr>
              <a:t>consent-equals-competence</a:t>
            </a:r>
            <a:endParaRPr lang="en-US" sz="1500" dirty="0"/>
          </a:p>
        </p:txBody>
      </p:sp>
      <p:sp>
        <p:nvSpPr>
          <p:cNvPr id="14" name="Text 12"/>
          <p:cNvSpPr/>
          <p:nvPr/>
        </p:nvSpPr>
        <p:spPr>
          <a:xfrm>
            <a:off x="8686800" y="3246120"/>
            <a:ext cx="2103120" cy="1097280"/>
          </a:xfrm>
          <a:prstGeom prst="rect">
            <a:avLst/>
          </a:prstGeom>
          <a:solidFill>
            <a:srgbClr val="FFFFFF"/>
          </a:solidFill>
          <a:ln w="11430">
            <a:solidFill>
              <a:srgbClr val="D9E0E8"/>
            </a:solidFill>
          </a:ln>
        </p:spPr>
        <p:txBody>
          <a:bodyPr wrap="square" lIns="1016" tIns="1016" rIns="1016" bIns="1016" rtlCol="0" anchor="ctr">
            <a:normAutofit/>
          </a:bodyPr>
          <a:lstStyle/>
          <a:p>
            <a:pPr algn="ctr" indent="0" marL="0">
              <a:buNone/>
            </a:pPr>
            <a:r>
              <a:rPr lang="en-US" sz="1500" b="1" dirty="0">
                <a:solidFill>
                  <a:srgbClr val="1D2838"/>
                </a:solidFill>
                <a:latin typeface="Aptos Display" pitchFamily="34" charset="0"/>
                <a:ea typeface="Aptos Display" pitchFamily="34" charset="-122"/>
                <a:cs typeface="Aptos Display" pitchFamily="34" charset="-120"/>
              </a:rPr>
              <a:t>policy-equals-law</a:t>
            </a:r>
            <a:endParaRPr lang="en-US" sz="1500" dirty="0"/>
          </a:p>
        </p:txBody>
      </p:sp>
      <p:sp>
        <p:nvSpPr>
          <p:cNvPr id="15" name="Text 13"/>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B84C45"/>
                </a:solidFill>
                <a:latin typeface="Aptos" pitchFamily="34" charset="0"/>
                <a:ea typeface="Aptos" pitchFamily="34" charset="-122"/>
                <a:cs typeface="Aptos" pitchFamily="34" charset="-120"/>
              </a:rPr>
              <a:t>✓</a:t>
            </a:r>
            <a:endParaRPr lang="en-US" sz="1500" dirty="0"/>
          </a:p>
        </p:txBody>
      </p:sp>
      <p:sp>
        <p:nvSpPr>
          <p:cNvPr id="16" name="Text 14"/>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Strong answers identify the exact authority and use the least intrusive lawful option that…</a:t>
            </a:r>
            <a:endParaRPr lang="en-US" sz="1330" dirty="0"/>
          </a:p>
        </p:txBody>
      </p:sp>
      <p:sp>
        <p:nvSpPr>
          <p:cNvPr id="17" name="Text 15"/>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B84C45"/>
                </a:solidFill>
                <a:latin typeface="Aptos" pitchFamily="34" charset="0"/>
                <a:ea typeface="Aptos" pitchFamily="34" charset="-122"/>
                <a:cs typeface="Aptos" pitchFamily="34" charset="-120"/>
              </a:rPr>
              <a:t>✓</a:t>
            </a:r>
            <a:endParaRPr lang="en-US" sz="1500" dirty="0"/>
          </a:p>
        </p:txBody>
      </p:sp>
      <p:sp>
        <p:nvSpPr>
          <p:cNvPr id="18" name="Text 16"/>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Strong answers identify the exact authority and use the least intrusive lawful option that…</a:t>
            </a:r>
            <a:endParaRPr lang="en-US" sz="1330" dirty="0"/>
          </a:p>
        </p:txBody>
      </p:sp>
      <p:sp>
        <p:nvSpPr>
          <p:cNvPr id="19" name="Text 17"/>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B84C45"/>
                </a:solidFill>
                <a:latin typeface="Aptos" pitchFamily="34" charset="0"/>
                <a:ea typeface="Aptos" pitchFamily="34" charset="-122"/>
                <a:cs typeface="Aptos" pitchFamily="34" charset="-120"/>
              </a:rPr>
              <a:t>✓</a:t>
            </a:r>
            <a:endParaRPr lang="en-US" sz="1500" dirty="0"/>
          </a:p>
        </p:txBody>
      </p:sp>
      <p:sp>
        <p:nvSpPr>
          <p:cNvPr id="20" name="Text 18"/>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Do Not Collapse Different Authorities</a:t>
            </a:r>
            <a:endParaRPr lang="en-US" sz="1330" dirty="0"/>
          </a:p>
        </p:txBody>
      </p:sp>
      <p:sp>
        <p:nvSpPr>
          <p:cNvPr id="21" name="Text 19"/>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B84C45"/>
                </a:solidFill>
                <a:latin typeface="Aptos" pitchFamily="34" charset="0"/>
                <a:ea typeface="Aptos" pitchFamily="34" charset="-122"/>
                <a:cs typeface="Aptos" pitchFamily="34" charset="-120"/>
              </a:rPr>
              <a:t>STUDENT MOVE</a:t>
            </a:r>
            <a:endParaRPr lang="en-US" sz="940" dirty="0"/>
          </a:p>
        </p:txBody>
      </p:sp>
      <p:sp>
        <p:nvSpPr>
          <p:cNvPr id="22" name="Text 20"/>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Strong answers identify the exact authority and use the least intrusive lawful option that protects care.</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B84C45"/>
          </a:solidFill>
          <a:ln w="12700">
            <a:solidFill>
              <a:srgbClr val="B84C45">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B84C45"/>
                </a:solidFill>
                <a:latin typeface="Aptos" pitchFamily="34" charset="0"/>
                <a:ea typeface="Aptos" pitchFamily="34" charset="-122"/>
                <a:cs typeface="Aptos" pitchFamily="34" charset="-120"/>
              </a:rPr>
              <a:t>LMFT WORKBOOK 12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WB12 • 07/8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B84C45"/>
                </a:solidFill>
                <a:latin typeface="Aptos Display" pitchFamily="34" charset="0"/>
                <a:ea typeface="Aptos Display" pitchFamily="34" charset="-122"/>
                <a:cs typeface="Aptos Display" pitchFamily="34" charset="-120"/>
              </a:rPr>
              <a:t>07</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Mini Scenario: Parent Pays for Adult Child’s Therapy</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A parent pays for an adult child’s therapy and requests weekly progress reports.</a:t>
            </a:r>
            <a:endParaRPr lang="en-US" sz="2080" dirty="0"/>
          </a:p>
        </p:txBody>
      </p:sp>
      <p:sp>
        <p:nvSpPr>
          <p:cNvPr id="11" name="Shape 9"/>
          <p:cNvSpPr/>
          <p:nvPr/>
        </p:nvSpPr>
        <p:spPr>
          <a:xfrm>
            <a:off x="6537960" y="2148840"/>
            <a:ext cx="4160520" cy="2743200"/>
          </a:xfrm>
          <a:prstGeom prst="rect">
            <a:avLst>
              <a:gd name="adj" fmla="val 3333"/>
            </a:avLst>
          </a:prstGeom>
          <a:solidFill>
            <a:srgbClr val="F7E7E5"/>
          </a:solidFill>
          <a:ln w="15240">
            <a:solidFill>
              <a:srgbClr val="B84C45">
                <a:alpha val="85000"/>
              </a:srgbClr>
            </a:solidFill>
            <a:prstDash val="solid"/>
          </a:ln>
        </p:spPr>
      </p:sp>
      <p:sp>
        <p:nvSpPr>
          <p:cNvPr id="12" name="Text 10"/>
          <p:cNvSpPr/>
          <p:nvPr/>
        </p:nvSpPr>
        <p:spPr>
          <a:xfrm>
            <a:off x="6766560" y="2350008"/>
            <a:ext cx="3703320" cy="228600"/>
          </a:xfrm>
          <a:prstGeom prst="rect">
            <a:avLst/>
          </a:prstGeom>
          <a:noFill/>
          <a:ln/>
        </p:spPr>
        <p:txBody>
          <a:bodyPr wrap="square" lIns="0" tIns="0" rIns="0" bIns="0" rtlCol="0" anchor="ctr"/>
          <a:lstStyle/>
          <a:p>
            <a:pPr indent="0" marL="0">
              <a:buNone/>
            </a:pPr>
            <a:r>
              <a:rPr lang="en-US" sz="1000" b="1" dirty="0">
                <a:solidFill>
                  <a:srgbClr val="B84C45"/>
                </a:solidFill>
                <a:latin typeface="Aptos" pitchFamily="34" charset="0"/>
                <a:ea typeface="Aptos" pitchFamily="34" charset="-122"/>
                <a:cs typeface="Aptos" pitchFamily="34" charset="-120"/>
              </a:rPr>
              <a:t>MINI SCENARIO</a:t>
            </a:r>
            <a:endParaRPr lang="en-US" sz="1000" dirty="0"/>
          </a:p>
        </p:txBody>
      </p:sp>
      <p:sp>
        <p:nvSpPr>
          <p:cNvPr id="13" name="Text 11"/>
          <p:cNvSpPr/>
          <p:nvPr/>
        </p:nvSpPr>
        <p:spPr>
          <a:xfrm>
            <a:off x="6766560" y="2770632"/>
            <a:ext cx="3703320" cy="713232"/>
          </a:xfrm>
          <a:prstGeom prst="rect">
            <a:avLst/>
          </a:prstGeom>
          <a:noFill/>
          <a:ln/>
        </p:spPr>
        <p:txBody>
          <a:bodyPr wrap="square" lIns="254" tIns="254" rIns="254" bIns="254" rtlCol="0" anchor="ctr">
            <a:normAutofit/>
          </a:bodyPr>
          <a:lstStyle/>
          <a:p>
            <a:pPr indent="0" marL="0">
              <a:buNone/>
            </a:pPr>
            <a:r>
              <a:rPr lang="en-US" sz="2000" b="1" dirty="0">
                <a:solidFill>
                  <a:srgbClr val="1D2838"/>
                </a:solidFill>
                <a:latin typeface="Aptos Display" pitchFamily="34" charset="0"/>
                <a:ea typeface="Aptos Display" pitchFamily="34" charset="-122"/>
                <a:cs typeface="Aptos Display" pitchFamily="34" charset="-120"/>
              </a:rPr>
              <a:t>Facts → Safety → Role → Next step</a:t>
            </a:r>
            <a:endParaRPr lang="en-US" sz="2000" dirty="0"/>
          </a:p>
        </p:txBody>
      </p:sp>
      <p:sp>
        <p:nvSpPr>
          <p:cNvPr id="14" name="Shape 12"/>
          <p:cNvSpPr/>
          <p:nvPr/>
        </p:nvSpPr>
        <p:spPr>
          <a:xfrm>
            <a:off x="6995160" y="3922776"/>
            <a:ext cx="3246120" cy="0"/>
          </a:xfrm>
          <a:prstGeom prst="line">
            <a:avLst/>
          </a:prstGeom>
          <a:noFill/>
          <a:ln w="13970">
            <a:solidFill>
              <a:srgbClr val="B84C45">
                <a:alpha val="75000"/>
              </a:srgbClr>
            </a:solidFill>
            <a:prstDash val="solid"/>
            <a:tailEnd type="triangle"/>
          </a:ln>
        </p:spPr>
      </p:sp>
      <p:sp>
        <p:nvSpPr>
          <p:cNvPr id="15" name="Text 13"/>
          <p:cNvSpPr/>
          <p:nvPr/>
        </p:nvSpPr>
        <p:spPr>
          <a:xfrm>
            <a:off x="6858000" y="3630168"/>
            <a:ext cx="756666"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Facts</a:t>
            </a:r>
            <a:endParaRPr lang="en-US" sz="1140" dirty="0"/>
          </a:p>
        </p:txBody>
      </p:sp>
      <p:sp>
        <p:nvSpPr>
          <p:cNvPr id="16" name="Text 14"/>
          <p:cNvSpPr/>
          <p:nvPr/>
        </p:nvSpPr>
        <p:spPr>
          <a:xfrm>
            <a:off x="7779258" y="3630168"/>
            <a:ext cx="756666"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Risk</a:t>
            </a:r>
            <a:endParaRPr lang="en-US" sz="1140" dirty="0"/>
          </a:p>
        </p:txBody>
      </p:sp>
      <p:sp>
        <p:nvSpPr>
          <p:cNvPr id="17" name="Text 15"/>
          <p:cNvSpPr/>
          <p:nvPr/>
        </p:nvSpPr>
        <p:spPr>
          <a:xfrm>
            <a:off x="8700516" y="3630168"/>
            <a:ext cx="756666"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Role</a:t>
            </a:r>
            <a:endParaRPr lang="en-US" sz="1140" dirty="0"/>
          </a:p>
        </p:txBody>
      </p:sp>
      <p:sp>
        <p:nvSpPr>
          <p:cNvPr id="18" name="Text 16"/>
          <p:cNvSpPr/>
          <p:nvPr/>
        </p:nvSpPr>
        <p:spPr>
          <a:xfrm>
            <a:off x="9621774" y="3630168"/>
            <a:ext cx="756666" cy="594360"/>
          </a:xfrm>
          <a:prstGeom prst="rect">
            <a:avLst/>
          </a:prstGeom>
          <a:solidFill>
            <a:srgbClr val="B84C45"/>
          </a:solidFill>
          <a:ln w="10160">
            <a:solidFill>
              <a:srgbClr val="B84C45"/>
            </a:solidFill>
          </a:ln>
        </p:spPr>
        <p:txBody>
          <a:bodyPr wrap="square" lIns="508" tIns="508" rIns="508" bIns="508" rtlCol="0" anchor="ctr">
            <a:normAutofit/>
          </a:bodyPr>
          <a:lstStyle/>
          <a:p>
            <a:pPr algn="ctr" indent="0" marL="0">
              <a:buNone/>
            </a:pPr>
            <a:r>
              <a:rPr lang="en-US" sz="1140" b="1" dirty="0">
                <a:solidFill>
                  <a:srgbClr val="FFFFFF"/>
                </a:solidFill>
                <a:latin typeface="Aptos" pitchFamily="34" charset="0"/>
                <a:ea typeface="Aptos" pitchFamily="34" charset="-122"/>
                <a:cs typeface="Aptos" pitchFamily="34" charset="-120"/>
              </a:rPr>
              <a:t>Action</a:t>
            </a:r>
            <a:endParaRPr lang="en-US" sz="1140" dirty="0"/>
          </a:p>
        </p:txBody>
      </p:sp>
      <p:sp>
        <p:nvSpPr>
          <p:cNvPr id="19" name="Text 17"/>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B84C45"/>
                </a:solidFill>
                <a:latin typeface="Aptos" pitchFamily="34" charset="0"/>
                <a:ea typeface="Aptos" pitchFamily="34" charset="-122"/>
                <a:cs typeface="Aptos" pitchFamily="34" charset="-120"/>
              </a:rPr>
              <a:t>✓</a:t>
            </a:r>
            <a:endParaRPr lang="en-US" sz="1500" dirty="0"/>
          </a:p>
        </p:txBody>
      </p:sp>
      <p:sp>
        <p:nvSpPr>
          <p:cNvPr id="20" name="Text 18"/>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The therapist should first identify the adult child as the client, review the informed-consent…</a:t>
            </a:r>
            <a:endParaRPr lang="en-US" sz="1330" dirty="0"/>
          </a:p>
        </p:txBody>
      </p:sp>
      <p:sp>
        <p:nvSpPr>
          <p:cNvPr id="21" name="Text 19"/>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B84C45"/>
                </a:solidFill>
                <a:latin typeface="Aptos" pitchFamily="34" charset="0"/>
                <a:ea typeface="Aptos" pitchFamily="34" charset="-122"/>
                <a:cs typeface="Aptos" pitchFamily="34" charset="-120"/>
              </a:rPr>
              <a:t>✓</a:t>
            </a:r>
            <a:endParaRPr lang="en-US" sz="1500" dirty="0"/>
          </a:p>
        </p:txBody>
      </p:sp>
      <p:sp>
        <p:nvSpPr>
          <p:cNvPr id="22" name="Text 20"/>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The response protects privacy, role clarity, autonomy, and continuity while leaving room for a…</a:t>
            </a:r>
            <a:endParaRPr lang="en-US" sz="1330" dirty="0"/>
          </a:p>
        </p:txBody>
      </p:sp>
      <p:sp>
        <p:nvSpPr>
          <p:cNvPr id="23" name="Text 21"/>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B84C45"/>
                </a:solidFill>
                <a:latin typeface="Aptos" pitchFamily="34" charset="0"/>
                <a:ea typeface="Aptos" pitchFamily="34" charset="-122"/>
                <a:cs typeface="Aptos" pitchFamily="34" charset="-120"/>
              </a:rPr>
              <a:t>✓</a:t>
            </a:r>
            <a:endParaRPr lang="en-US" sz="1500" dirty="0"/>
          </a:p>
        </p:txBody>
      </p:sp>
      <p:sp>
        <p:nvSpPr>
          <p:cNvPr id="24" name="Text 22"/>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Payment Alone Does Not Authorize Updates</a:t>
            </a:r>
            <a:endParaRPr lang="en-US" sz="1330" dirty="0"/>
          </a:p>
        </p:txBody>
      </p:sp>
      <p:sp>
        <p:nvSpPr>
          <p:cNvPr id="25" name="Text 23"/>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B84C45"/>
                </a:solidFill>
                <a:latin typeface="Aptos" pitchFamily="34" charset="0"/>
                <a:ea typeface="Aptos" pitchFamily="34" charset="-122"/>
                <a:cs typeface="Aptos" pitchFamily="34" charset="-120"/>
              </a:rPr>
              <a:t>STUDENT MOVE</a:t>
            </a:r>
            <a:endParaRPr lang="en-US" sz="940" dirty="0"/>
          </a:p>
        </p:txBody>
      </p:sp>
      <p:sp>
        <p:nvSpPr>
          <p:cNvPr id="26" name="Text 24"/>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The response protects privacy, role clarity, autonomy, and continuity while leaving room for a limited client-authorized communication if…</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B84C45"/>
          </a:solidFill>
          <a:ln w="12700">
            <a:solidFill>
              <a:srgbClr val="B84C45">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B84C45"/>
                </a:solidFill>
                <a:latin typeface="Aptos" pitchFamily="34" charset="0"/>
                <a:ea typeface="Aptos" pitchFamily="34" charset="-122"/>
                <a:cs typeface="Aptos" pitchFamily="34" charset="-120"/>
              </a:rPr>
              <a:t>LMFT WORKBOOK 12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WB12 • 08/8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B84C45"/>
                </a:solidFill>
                <a:latin typeface="Aptos Display" pitchFamily="34" charset="0"/>
                <a:ea typeface="Aptos Display" pitchFamily="34" charset="-122"/>
                <a:cs typeface="Aptos Display" pitchFamily="34" charset="-120"/>
              </a:rPr>
              <a:t>08</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Study Direction</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For each Workbook 12 vignette, identify the client or client system, therapist role, controlling authority, missing facts, urgency, least intrusive…</a:t>
            </a:r>
            <a:endParaRPr lang="en-US" sz="2080" dirty="0"/>
          </a:p>
        </p:txBody>
      </p:sp>
      <p:sp>
        <p:nvSpPr>
          <p:cNvPr id="11" name="Shape 9"/>
          <p:cNvSpPr/>
          <p:nvPr/>
        </p:nvSpPr>
        <p:spPr>
          <a:xfrm>
            <a:off x="6537960" y="2624328"/>
            <a:ext cx="4160520" cy="0"/>
          </a:xfrm>
          <a:prstGeom prst="line">
            <a:avLst/>
          </a:prstGeom>
          <a:noFill/>
          <a:ln w="13970">
            <a:solidFill>
              <a:srgbClr val="B84C45">
                <a:alpha val="75000"/>
              </a:srgbClr>
            </a:solidFill>
            <a:prstDash val="solid"/>
            <a:tailEnd type="triangle"/>
          </a:ln>
        </p:spPr>
      </p:sp>
      <p:sp>
        <p:nvSpPr>
          <p:cNvPr id="12" name="Text 10"/>
          <p:cNvSpPr/>
          <p:nvPr/>
        </p:nvSpPr>
        <p:spPr>
          <a:xfrm>
            <a:off x="6400800"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Client</a:t>
            </a:r>
            <a:endParaRPr lang="en-US" sz="1140" dirty="0"/>
          </a:p>
        </p:txBody>
      </p:sp>
      <p:sp>
        <p:nvSpPr>
          <p:cNvPr id="13" name="Text 11"/>
          <p:cNvSpPr/>
          <p:nvPr/>
        </p:nvSpPr>
        <p:spPr>
          <a:xfrm>
            <a:off x="7320686"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Role</a:t>
            </a:r>
            <a:endParaRPr lang="en-US" sz="1140" dirty="0"/>
          </a:p>
        </p:txBody>
      </p:sp>
      <p:sp>
        <p:nvSpPr>
          <p:cNvPr id="14" name="Text 12"/>
          <p:cNvSpPr/>
          <p:nvPr/>
        </p:nvSpPr>
        <p:spPr>
          <a:xfrm>
            <a:off x="8240573"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Authority</a:t>
            </a:r>
            <a:endParaRPr lang="en-US" sz="1140" dirty="0"/>
          </a:p>
        </p:txBody>
      </p:sp>
      <p:sp>
        <p:nvSpPr>
          <p:cNvPr id="15" name="Text 13"/>
          <p:cNvSpPr/>
          <p:nvPr/>
        </p:nvSpPr>
        <p:spPr>
          <a:xfrm>
            <a:off x="9160459"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Facts</a:t>
            </a:r>
            <a:endParaRPr lang="en-US" sz="1140" dirty="0"/>
          </a:p>
        </p:txBody>
      </p:sp>
      <p:sp>
        <p:nvSpPr>
          <p:cNvPr id="16" name="Text 14"/>
          <p:cNvSpPr/>
          <p:nvPr/>
        </p:nvSpPr>
        <p:spPr>
          <a:xfrm>
            <a:off x="10080346" y="2331720"/>
            <a:ext cx="755294" cy="594360"/>
          </a:xfrm>
          <a:prstGeom prst="rect">
            <a:avLst/>
          </a:prstGeom>
          <a:solidFill>
            <a:srgbClr val="B84C45"/>
          </a:solidFill>
          <a:ln w="10160">
            <a:solidFill>
              <a:srgbClr val="B84C45"/>
            </a:solidFill>
          </a:ln>
        </p:spPr>
        <p:txBody>
          <a:bodyPr wrap="square" lIns="508" tIns="508" rIns="508" bIns="508" rtlCol="0" anchor="ctr">
            <a:normAutofit/>
          </a:bodyPr>
          <a:lstStyle/>
          <a:p>
            <a:pPr algn="ctr" indent="0" marL="0">
              <a:buNone/>
            </a:pPr>
            <a:r>
              <a:rPr lang="en-US" sz="1140" b="1" dirty="0">
                <a:solidFill>
                  <a:srgbClr val="FFFFFF"/>
                </a:solidFill>
                <a:latin typeface="Aptos" pitchFamily="34" charset="0"/>
                <a:ea typeface="Aptos" pitchFamily="34" charset="-122"/>
                <a:cs typeface="Aptos" pitchFamily="34" charset="-120"/>
              </a:rPr>
              <a:t>Urgency</a:t>
            </a:r>
            <a:endParaRPr lang="en-US" sz="1140" dirty="0"/>
          </a:p>
        </p:txBody>
      </p:sp>
      <p:sp>
        <p:nvSpPr>
          <p:cNvPr id="17" name="Text 15"/>
          <p:cNvSpPr/>
          <p:nvPr/>
        </p:nvSpPr>
        <p:spPr>
          <a:xfrm>
            <a:off x="7086600" y="3401568"/>
            <a:ext cx="3063240" cy="914400"/>
          </a:xfrm>
          <a:prstGeom prst="rect">
            <a:avLst/>
          </a:prstGeom>
          <a:solidFill>
            <a:srgbClr val="F7E7E5"/>
          </a:solidFill>
          <a:ln w="13970">
            <a:solidFill>
              <a:srgbClr val="B84C45">
                <a:alpha val="75000"/>
              </a:srgbClr>
            </a:solidFill>
          </a:ln>
        </p:spPr>
        <p:txBody>
          <a:bodyPr wrap="square" lIns="635" tIns="635" rIns="635" bIns="635" rtlCol="0" anchor="ctr">
            <a:normAutofit/>
          </a:bodyPr>
          <a:lstStyle/>
          <a:p>
            <a:pPr algn="ctr" indent="0" marL="0">
              <a:buNone/>
            </a:pPr>
            <a:r>
              <a:rPr lang="en-US" sz="2200" b="1" dirty="0">
                <a:solidFill>
                  <a:srgbClr val="B84C45"/>
                </a:solidFill>
                <a:latin typeface="Aptos Display" pitchFamily="34" charset="0"/>
                <a:ea typeface="Aptos Display" pitchFamily="34" charset="-122"/>
                <a:cs typeface="Aptos Display" pitchFamily="34" charset="-120"/>
              </a:rPr>
              <a:t>Client</a:t>
            </a:r>
            <a:endParaRPr lang="en-US" sz="2200" dirty="0"/>
          </a:p>
        </p:txBody>
      </p:sp>
      <p:sp>
        <p:nvSpPr>
          <p:cNvPr id="18" name="Text 16"/>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B84C45"/>
                </a:solidFill>
                <a:latin typeface="Aptos" pitchFamily="34" charset="0"/>
                <a:ea typeface="Aptos" pitchFamily="34" charset="-122"/>
                <a:cs typeface="Aptos" pitchFamily="34" charset="-120"/>
              </a:rPr>
              <a:t>✓</a:t>
            </a:r>
            <a:endParaRPr lang="en-US" sz="1500" dirty="0"/>
          </a:p>
        </p:txBody>
      </p:sp>
      <p:sp>
        <p:nvSpPr>
          <p:cNvPr id="19" name="Text 17"/>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In your error log, mark role confusion, authority confusion, overdisclosure,…</a:t>
            </a:r>
            <a:endParaRPr lang="en-US" sz="1330" dirty="0"/>
          </a:p>
        </p:txBody>
      </p:sp>
      <p:sp>
        <p:nvSpPr>
          <p:cNvPr id="20" name="Text 18"/>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B84C45"/>
                </a:solidFill>
                <a:latin typeface="Aptos" pitchFamily="34" charset="0"/>
                <a:ea typeface="Aptos" pitchFamily="34" charset="-122"/>
                <a:cs typeface="Aptos" pitchFamily="34" charset="-120"/>
              </a:rPr>
              <a:t>✓</a:t>
            </a:r>
            <a:endParaRPr lang="en-US" sz="1500" dirty="0"/>
          </a:p>
        </p:txBody>
      </p:sp>
      <p:sp>
        <p:nvSpPr>
          <p:cNvPr id="21" name="Text 19"/>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Use the final workbook and CTA’s cited official sources for current legal details; use this…</a:t>
            </a:r>
            <a:endParaRPr lang="en-US" sz="1330" dirty="0"/>
          </a:p>
        </p:txBody>
      </p:sp>
      <p:sp>
        <p:nvSpPr>
          <p:cNvPr id="22" name="Text 20"/>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B84C45"/>
                </a:solidFill>
                <a:latin typeface="Aptos" pitchFamily="34" charset="0"/>
                <a:ea typeface="Aptos" pitchFamily="34" charset="-122"/>
                <a:cs typeface="Aptos" pitchFamily="34" charset="-120"/>
              </a:rPr>
              <a:t>✓</a:t>
            </a:r>
            <a:endParaRPr lang="en-US" sz="1500" dirty="0"/>
          </a:p>
        </p:txBody>
      </p:sp>
      <p:sp>
        <p:nvSpPr>
          <p:cNvPr id="23" name="Text 21"/>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Client • Role • Authority • Facts • Urgency • Action • Record</a:t>
            </a:r>
            <a:endParaRPr lang="en-US" sz="1330" dirty="0"/>
          </a:p>
        </p:txBody>
      </p:sp>
      <p:sp>
        <p:nvSpPr>
          <p:cNvPr id="24" name="Text 22"/>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B84C45"/>
                </a:solidFill>
                <a:latin typeface="Aptos" pitchFamily="34" charset="0"/>
                <a:ea typeface="Aptos" pitchFamily="34" charset="-122"/>
                <a:cs typeface="Aptos" pitchFamily="34" charset="-120"/>
              </a:rPr>
              <a:t>STUDENT MOVE</a:t>
            </a:r>
            <a:endParaRPr lang="en-US" sz="940" dirty="0"/>
          </a:p>
        </p:txBody>
      </p:sp>
      <p:sp>
        <p:nvSpPr>
          <p:cNvPr id="25" name="Text 23"/>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Use the final workbook and CTA’s cited official sources for current legal details; use this companion lesson for the reasoning sequence.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Clinical Training Academy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CTA LMFT Workbook 12 Companion: Workbook 12 Companion: California Legal, Ethical, and Professional Practice</dc:title>
  <dc:subject>LMFT Workbook 12 Companion</dc:subject>
  <dc:creator>Clinical Training Academy</dc:creator>
  <cp:lastModifiedBy>Clinical Training Academy</cp:lastModifiedBy>
  <cp:revision>1</cp:revision>
  <dcterms:created xsi:type="dcterms:W3CDTF">2026-07-25T22:10:42Z</dcterms:created>
  <dcterms:modified xsi:type="dcterms:W3CDTF">2026-07-25T22:10:42Z</dcterms:modified>
</cp:coreProperties>
</file>