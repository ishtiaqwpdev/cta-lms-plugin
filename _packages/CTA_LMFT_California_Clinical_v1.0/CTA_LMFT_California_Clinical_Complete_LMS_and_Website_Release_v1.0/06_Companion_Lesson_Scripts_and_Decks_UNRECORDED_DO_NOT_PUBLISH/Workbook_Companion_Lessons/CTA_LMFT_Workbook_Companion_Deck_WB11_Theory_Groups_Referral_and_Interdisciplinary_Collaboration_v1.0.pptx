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earns points when it improves formulation, intervention fit, sequencing, and evaluation. A named technique without a matching clinical target is not theory-informed practice. Use theory to organize relevant observations, explain what maintains the problem, select a target, guide an intervention, and predict an observable change. The exam may include familiar theory vocabulary, but the strongest answer identifies the dominant maintaining process and chooses the orientation that best explains and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target: what problem or relationship pattern needs to change? H is hypothesis: what maintains it? E is evidence: which facts support or challenge that hypothesis? O is orientation fit: which theory directly addresses the supported mechanism? R is readiness: does the intervention fit safety, stage, development, culture, preference, and access? Y is yield and review: what observable response should occur, and when will the therapist reconsider the formulation? THEORY prevents candidates from matching one vocabulary word to one school of therapy without examining the full vignette.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and subsystem-boundary problems may support structural work. Attempted solutions and reinforcement cycles may support strategic or behavioral-systemic work. Multigenerational triangles and cutoff may support Bowen concepts. Pursuit and withdrawal organized by attachment threat may support attachment-oriented work. Exceptions and preferred change may support solution-focused work. Avoidance and threat appraisal may support cognitive-behavioral work. Integration is appropriate when each method targets a relevant mechanism and follows a coherent sequence. Adding more techniques is not the same as improving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group treatment because its purpose and change process fit the client, not merely because clients share a diagnosis. G is goal or group purpose. R is readiness, including stability, communication capacity, risk, and access. O is organization: composition, size, open or closed structure, frequency, leadership, and emergency procedures. U is understanding of confidentiality limits, norms, expectations, and participation. P is process and safety. During formation, clarify purpose and norms. During conflict, name process and protect safety. During the working stage, deepen mutual aid and feedback. During termination, consolidate gains and plan continuation.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 when additional expertise can improve care while the LMFT remains responsible for judgment. Refer or add adjunctive care when the client needs a specialty service, medical evaluation, medication management, higher level of care, or intervention outside competence. Transfer when another provider must assume the primary role, while protecting continuity and avoiding abandonment. In interdisciplinary work, clarify each role, obtain appropriate authorization, share only relevant information, and maintain independent clinical, ethical, and legal judgment. Team consensus does not override client rights, safety, or professional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matching one word to one theory, combining unrelated techniques without a formulation, selecting group treatment from diagnosis alone, ignoring harmful group behavior in the name of process, referring to avoid ordinary clinical difficulty or difference, ending treatment automatically when adjunctive care is needed, sending broad records to a team, or following team consensus without independent judgment. Strong answers identify the target, treatment system, competence issue, consent basis, information boundary, and continuity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develops possible medication side effects and asks the LMFT whether to stop the medication. The therapist should assess current symptoms and urgency, remain within scope, and encourage prompt contact with the prescriber or medical service. With appropriate authorization, the therapist may coordinate relevant observations and continue psychotherapy for emotional and relational effects. The therapist should not direct dosing, abandon the client because medical care is needed, or send the complete record without a defined purpose. Collaboration is strongest when each professional role is clear and continuity is maintained.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11 vignette, identify the maintaining mechanism, the orientation that directly targets it, the predicted change, and the review point. When group treatment appears, add purpose, readiness, structure, limits, stage, and safety. When consultation or referral appears, add competence, role, consent, minimum information, and continuity. In your error log, mark vocabulary matching, technique shopping, weak group screening, role confusion, or referral without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6B4BA3"/>
                </a:solidFill>
                <a:latin typeface="Aptos" pitchFamily="34" charset="0"/>
                <a:ea typeface="Aptos" pitchFamily="34" charset="-122"/>
                <a:cs typeface="Aptos" pitchFamily="34" charset="-120"/>
              </a:rPr>
              <a:t>Workbook 11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Theory, Groups, Referral, and Interdisciplinary Collaboration</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Theory earns points when it improves formulation, intervention fit, sequencing, and evaluation.</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6B4BA3"/>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6B4BA3">
                <a:alpha val="75000"/>
              </a:srgbClr>
            </a:solidFill>
            <a:prstDash val="solid"/>
            <a:tailEnd type="triangle"/>
          </a:ln>
        </p:spPr>
      </p:sp>
      <p:sp>
        <p:nvSpPr>
          <p:cNvPr id="16" name="Text 14"/>
          <p:cNvSpPr/>
          <p:nvPr/>
        </p:nvSpPr>
        <p:spPr>
          <a:xfrm>
            <a:off x="658368"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Observations lead to a…</a:t>
            </a:r>
            <a:endParaRPr lang="en-US" sz="1140" dirty="0"/>
          </a:p>
        </p:txBody>
      </p:sp>
      <p:sp>
        <p:nvSpPr>
          <p:cNvPr id="17" name="Text 15"/>
          <p:cNvSpPr/>
          <p:nvPr/>
        </p:nvSpPr>
        <p:spPr>
          <a:xfrm>
            <a:off x="2116836"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target</a:t>
            </a:r>
            <a:endParaRPr lang="en-US" sz="1140" dirty="0"/>
          </a:p>
        </p:txBody>
      </p:sp>
      <p:sp>
        <p:nvSpPr>
          <p:cNvPr id="18" name="Text 16"/>
          <p:cNvSpPr/>
          <p:nvPr/>
        </p:nvSpPr>
        <p:spPr>
          <a:xfrm>
            <a:off x="3575304" y="3822192"/>
            <a:ext cx="129387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intervention</a:t>
            </a:r>
            <a:endParaRPr lang="en-US" sz="1140" dirty="0"/>
          </a:p>
        </p:txBody>
      </p:sp>
      <p:sp>
        <p:nvSpPr>
          <p:cNvPr id="19" name="Text 17"/>
          <p:cNvSpPr/>
          <p:nvPr/>
        </p:nvSpPr>
        <p:spPr>
          <a:xfrm>
            <a:off x="5033772" y="3822192"/>
            <a:ext cx="129387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response check.</a:t>
            </a:r>
            <a:endParaRPr lang="en-US" sz="1140" dirty="0"/>
          </a:p>
        </p:txBody>
      </p:sp>
      <p:sp>
        <p:nvSpPr>
          <p:cNvPr id="20" name="Text 18"/>
          <p:cNvSpPr/>
          <p:nvPr/>
        </p:nvSpPr>
        <p:spPr>
          <a:xfrm>
            <a:off x="7498080" y="3474720"/>
            <a:ext cx="1668780" cy="80010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Observations lead to a…</a:t>
            </a:r>
            <a:endParaRPr lang="en-US" sz="1500" dirty="0"/>
          </a:p>
        </p:txBody>
      </p:sp>
      <p:sp>
        <p:nvSpPr>
          <p:cNvPr id="21" name="Text 19"/>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target</a:t>
            </a:r>
            <a:endParaRPr lang="en-US" sz="1500" dirty="0"/>
          </a:p>
        </p:txBody>
      </p:sp>
      <p:sp>
        <p:nvSpPr>
          <p:cNvPr id="22" name="Text 20"/>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intervention</a:t>
            </a:r>
            <a:endParaRPr lang="en-US" sz="1500" dirty="0"/>
          </a:p>
        </p:txBody>
      </p:sp>
      <p:sp>
        <p:nvSpPr>
          <p:cNvPr id="23" name="Text 21"/>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response check.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THEORY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 is target: what problem or relationship pattern needs to change?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Target</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Hypothesis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Evidence</a:t>
            </a:r>
            <a:endParaRPr lang="en-US" sz="1220" dirty="0"/>
          </a:p>
        </p:txBody>
      </p:sp>
      <p:sp>
        <p:nvSpPr>
          <p:cNvPr id="14" name="Text 12"/>
          <p:cNvSpPr/>
          <p:nvPr/>
        </p:nvSpPr>
        <p:spPr>
          <a:xfrm>
            <a:off x="7123176" y="3355848"/>
            <a:ext cx="2898648"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Orientation Fit</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Readiness</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H is hypothesis: what maintains it?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THEORY prevents candidates from matching one vocabulary word to one school of therapy without…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Target • Hypothesis • Evidence • Orientation Fit • Readiness • Yield/Review</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THEORY prevents candidates from matching one vocabulary word to one school of therapy without examining the full vignette.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Dominant Mechanism and Integrate Coherently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Hierarchy and subsystem-boundary problems may support structural work.</a:t>
            </a:r>
            <a:endParaRPr lang="en-US" sz="2080" dirty="0"/>
          </a:p>
        </p:txBody>
      </p:sp>
      <p:sp>
        <p:nvSpPr>
          <p:cNvPr id="11" name="Text 9"/>
          <p:cNvSpPr/>
          <p:nvPr/>
        </p:nvSpPr>
        <p:spPr>
          <a:xfrm>
            <a:off x="6446520" y="2011680"/>
            <a:ext cx="2103120" cy="109728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Common patterns point to…</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strategic</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Bowen</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attachment</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Attempted solutions and reinforcement cycles may support strategic or behavioral-systemic work.</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Adding more techniques is not the same as improving treatment.</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Mechanism Determines Orientation</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Adding more techniques is not the same as improving treatment.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GROUP for Selection and Facilitation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Select group treatment because its purpose and change process fit the client, not merely because clients share a diagnosis.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6B4BA3"/>
            </a:solidFill>
          </a:ln>
        </p:spPr>
        <p:txBody>
          <a:bodyPr wrap="square" lIns="508" tIns="508" rIns="508" bIns="508" rtlCol="0" anchor="ctr">
            <a:normAutofit/>
          </a:bodyPr>
          <a:lstStyle/>
          <a:p>
            <a:pPr algn="ctr" indent="0" marL="0">
              <a:buNone/>
            </a:pPr>
            <a:r>
              <a:rPr lang="en-US" sz="1220" b="1" dirty="0">
                <a:solidFill>
                  <a:srgbClr val="6B4BA3"/>
                </a:solidFill>
                <a:latin typeface="Aptos" pitchFamily="34" charset="0"/>
                <a:ea typeface="Aptos" pitchFamily="34" charset="-122"/>
                <a:cs typeface="Aptos" pitchFamily="34" charset="-120"/>
              </a:rPr>
              <a:t>Goal</a:t>
            </a:r>
            <a:endParaRPr lang="en-US" sz="1220" dirty="0"/>
          </a:p>
        </p:txBody>
      </p:sp>
      <p:sp>
        <p:nvSpPr>
          <p:cNvPr id="12" name="Text 10"/>
          <p:cNvSpPr/>
          <p:nvPr/>
        </p:nvSpPr>
        <p:spPr>
          <a:xfrm>
            <a:off x="6793992" y="2368296"/>
            <a:ext cx="3557016"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Readiness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Organization</a:t>
            </a:r>
            <a:endParaRPr lang="en-US" sz="1220" dirty="0"/>
          </a:p>
        </p:txBody>
      </p:sp>
      <p:sp>
        <p:nvSpPr>
          <p:cNvPr id="14" name="Text 12"/>
          <p:cNvSpPr/>
          <p:nvPr/>
        </p:nvSpPr>
        <p:spPr>
          <a:xfrm>
            <a:off x="7123176" y="3355848"/>
            <a:ext cx="2898648" cy="438912"/>
          </a:xfrm>
          <a:prstGeom prst="rect">
            <a:avLst/>
          </a:prstGeom>
          <a:solidFill>
            <a:srgbClr val="EEE9F7"/>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Understanding Limits</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Process/Safety</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 is goal or group purpose.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During termination, consolidate gains and plan continuation.</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Goal • Readiness • Organization • Understanding Limits • Process/Safety</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During termination, consolidate gains and plan continuation.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Consult, Refer, and Collaborate With Continuity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Consult when additional expertise can improve care while the LMFT remains responsible for judgment.</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LMFT</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physician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psychiatrist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school</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specialist</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LMFT</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Refer or add adjunctive care when the client needs a specialty service, medical evaluation,…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Team consensus does not override client rights, safety, or professional responsibility.</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Consultation Supports—It Does Not Transfer—Responsibility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Team consensus does not override client rights, safety, or professional responsibility.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matching one word to one theory, combining unrelated techniques without a formulation, selecting group treatment from diagnosis alone,…</a:t>
            </a:r>
            <a:endParaRPr lang="en-US" sz="2080" dirty="0"/>
          </a:p>
        </p:txBody>
      </p:sp>
      <p:sp>
        <p:nvSpPr>
          <p:cNvPr id="11" name="Text 9"/>
          <p:cNvSpPr/>
          <p:nvPr/>
        </p:nvSpPr>
        <p:spPr>
          <a:xfrm>
            <a:off x="6446520" y="2011680"/>
            <a:ext cx="2103120" cy="1097280"/>
          </a:xfrm>
          <a:prstGeom prst="rect">
            <a:avLst/>
          </a:prstGeom>
          <a:solidFill>
            <a:srgbClr val="EEE9F7"/>
          </a:solidFill>
          <a:ln w="11430">
            <a:solidFill>
              <a:srgbClr val="6B4BA3"/>
            </a:solidFill>
          </a:ln>
        </p:spPr>
        <p:txBody>
          <a:bodyPr wrap="square" lIns="1016" tIns="1016" rIns="1016" bIns="1016" rtlCol="0" anchor="ctr">
            <a:normAutofit/>
          </a:bodyPr>
          <a:lstStyle/>
          <a:p>
            <a:pPr algn="ctr" indent="0" marL="0">
              <a:buNone/>
            </a:pPr>
            <a:r>
              <a:rPr lang="en-US" sz="1500" b="1" dirty="0">
                <a:solidFill>
                  <a:srgbClr val="6B4BA3"/>
                </a:solidFill>
                <a:latin typeface="Aptos Display" pitchFamily="34" charset="0"/>
                <a:ea typeface="Aptos Display" pitchFamily="34" charset="-122"/>
                <a:cs typeface="Aptos Display" pitchFamily="34" charset="-120"/>
              </a:rPr>
              <a:t>Name the Mechanism</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Purpose</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Role</a:t>
            </a:r>
            <a:endParaRPr lang="en-US" sz="1500" dirty="0"/>
          </a:p>
        </p:txBody>
      </p:sp>
      <p:sp>
        <p:nvSpPr>
          <p:cNvPr id="14" name="Text 12"/>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5" name="Text 13"/>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identify the target, treatment system, competence issue, consent basis,…</a:t>
            </a:r>
            <a:endParaRPr lang="en-US" sz="1330" dirty="0"/>
          </a:p>
        </p:txBody>
      </p:sp>
      <p:sp>
        <p:nvSpPr>
          <p:cNvPr id="16" name="Text 14"/>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identify the target, treatment system, competence issue, consent basis,…</a:t>
            </a:r>
            <a:endParaRPr lang="en-US" sz="133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Name the Mechanism, Purpose, and Role</a:t>
            </a:r>
            <a:endParaRPr lang="en-US" sz="1330" dirty="0"/>
          </a:p>
        </p:txBody>
      </p:sp>
      <p:sp>
        <p:nvSpPr>
          <p:cNvPr id="20" name="Text 18"/>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1" name="Text 19"/>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identify the target, treatment system, competence issue, consent basis, information boundary, and continuity plan.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Medication Effects and Team Coordination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client develops possible medication side effects and asks the LMFT whether to stop the medication.</a:t>
            </a:r>
            <a:endParaRPr lang="en-US" sz="2080" dirty="0"/>
          </a:p>
        </p:txBody>
      </p:sp>
      <p:sp>
        <p:nvSpPr>
          <p:cNvPr id="11" name="Shape 9"/>
          <p:cNvSpPr/>
          <p:nvPr/>
        </p:nvSpPr>
        <p:spPr>
          <a:xfrm>
            <a:off x="6537960" y="2148840"/>
            <a:ext cx="4160520" cy="2743200"/>
          </a:xfrm>
          <a:prstGeom prst="rect">
            <a:avLst>
              <a:gd name="adj" fmla="val 3333"/>
            </a:avLst>
          </a:prstGeom>
          <a:solidFill>
            <a:srgbClr val="EEE9F7"/>
          </a:solidFill>
          <a:ln w="15240">
            <a:solidFill>
              <a:srgbClr val="6B4BA3">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6B4BA3"/>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6B4BA3">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should assess current symptoms and urgency, remain within scope, and encourage…</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Collaboration is strongest when each professional role is clear and continuity is maintained.</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Urgency, Stay in Scope, Preserve the Therapy Role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Collaboration is strongest when each professional role is clear and continuity is maintained.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6B4BA3"/>
          </a:solidFill>
          <a:ln w="12700">
            <a:solidFill>
              <a:srgbClr val="6B4BA3">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6B4BA3"/>
                </a:solidFill>
                <a:latin typeface="Aptos" pitchFamily="34" charset="0"/>
                <a:ea typeface="Aptos" pitchFamily="34" charset="-122"/>
                <a:cs typeface="Aptos" pitchFamily="34" charset="-120"/>
              </a:rPr>
              <a:t>LMFT WORKBOOK 11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WB11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6B4BA3"/>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11 vignette, identify the maintaining mechanism, the orientation that directly targets it, the predicted change, and the review…</a:t>
            </a:r>
            <a:endParaRPr lang="en-US" sz="2080" dirty="0"/>
          </a:p>
        </p:txBody>
      </p:sp>
      <p:sp>
        <p:nvSpPr>
          <p:cNvPr id="11" name="Shape 9"/>
          <p:cNvSpPr/>
          <p:nvPr/>
        </p:nvSpPr>
        <p:spPr>
          <a:xfrm>
            <a:off x="6537960" y="2624328"/>
            <a:ext cx="4160520" cy="0"/>
          </a:xfrm>
          <a:prstGeom prst="line">
            <a:avLst/>
          </a:prstGeom>
          <a:noFill/>
          <a:ln w="13970">
            <a:solidFill>
              <a:srgbClr val="6B4BA3">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Mechanism</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Orientation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Group Fit</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6" name="Text 14"/>
          <p:cNvSpPr/>
          <p:nvPr/>
        </p:nvSpPr>
        <p:spPr>
          <a:xfrm>
            <a:off x="10080346" y="2331720"/>
            <a:ext cx="755294" cy="594360"/>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Continuity</a:t>
            </a:r>
            <a:endParaRPr lang="en-US" sz="1140" dirty="0"/>
          </a:p>
        </p:txBody>
      </p:sp>
      <p:sp>
        <p:nvSpPr>
          <p:cNvPr id="17" name="Text 15"/>
          <p:cNvSpPr/>
          <p:nvPr/>
        </p:nvSpPr>
        <p:spPr>
          <a:xfrm>
            <a:off x="7086600" y="3401568"/>
            <a:ext cx="3063240" cy="914400"/>
          </a:xfrm>
          <a:prstGeom prst="rect">
            <a:avLst/>
          </a:prstGeom>
          <a:solidFill>
            <a:srgbClr val="EEE9F7"/>
          </a:solidFill>
          <a:ln w="13970">
            <a:solidFill>
              <a:srgbClr val="6B4BA3">
                <a:alpha val="75000"/>
              </a:srgbClr>
            </a:solidFill>
          </a:ln>
        </p:spPr>
        <p:txBody>
          <a:bodyPr wrap="square" lIns="635" tIns="635" rIns="635" bIns="635"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Mechanism</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When group treatment appears, add purpose, readiness, structure, limits, stage, and safety.</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vocabulary matching, technique shopping, weak group screening, role…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6B4BA3"/>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Mechanism • Orientation • Group Fit • Role • Continuity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6B4BA3"/>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In your error log, mark vocabulary matching, technique shopping, weak group screening, role confusion, or referral without follow-up.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11 Companion: Workbook 11 Companion: Theory, Groups, Referral, and Interdisciplinary Collaboration</dc:title>
  <dc:subject>LMFT Workbook 11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