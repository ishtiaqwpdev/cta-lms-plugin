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Crisis items are difficult because several actions may be clinically important at the same time. The task is to determine what must happen first. Assess directly when the facts are incomplete. Act when immediate danger, medical instability, abuse, exploitation, or another controlling duty is already established. Stabilize before deeper processing. The strongest answer is not automatically hospitalization, reporting, or a safety plan. It is the least restrictive safe and lawful response supported by the current facts, followed by documentation, handoff, and continuity.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 means stabilize: determine whether anyone is in immediate danger or medically unstable and maintain contact while reducing immediate risk. A means assess directly: clarify thoughts, intent, plan, means, preparation, behavior, target, timing, location, and protective factors. F means formulate acuity by integrating historical, dynamic, protective, and current facts. E means execute the least restrictive safe and lawful response, such as a realistic safety plan, protective contact, required report, crisis team, medical care, emergency evaluation, or higher level of care. R means record and reconnect by documenting the facts and rationale and confirming handoff, support, transportation, access, and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Terms such as low, moderate, or high risk summarize judgment; they do not replace the evidence. Historical factors establish vulnerability. Dynamic factors such as current intent, agitation, intoxication, severe sleep loss, psychosis, loss, access to means, or escalating conflict often determine what must happen now. Protective factors matter only when they are credible, available, and usable. Acute warning signs such as a recent attempt, preparation, loaded weapon, farewell messages, targeted threat, severe withdrawal, or inability to meet basic needs may require immediate action even if the client later minimizes danger.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crisis questions are not solved by suicide assessment alone. Child, elder, or dependent-adult abuse may trigger reporting duties when the statutory facts are supported. Serious communicated threats toward an identifiable victim require a duty-to-protect analysis. Strangulation, coercive control, stalking, or retaliation fears may make conjoint treatment unsafe. Confusion, head injury, severe withdrawal, overdose, delirium, postpartum psychosis, mania, or grave disability may require urgent medical or psychiatric evaluation. Identify the controlling issue rather than defaulting to the most familiar crisis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safety plan is collaborative and concrete. It identifies warning signs, internal coping steps, safe people and places, professional and crisis resources, means-safety actions, transportation, caregiving needs, and follow-up. It is not a promise and may be insufficient when the person cannot use the plan or the environment is unsafe. Document the client’s statements, direct questions, observed behavior, collateral information, consultation, legal basis, actions, rationale, response, handoff, and follow-up. Good crisis care continues until responsibility is clearly transferred or the next step is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asking only for a promise, using guilt about loved ones, processing triggers before addressing danger, assuming a calm appearance rules out risk, treating historical risk as proof of current intent, using mutual-responsibility language in coercive violence, delaying a supported report to preserve rapport, or choosing hospitalization without assessing whether a less restrictive safe response is feasible. Another trap is creating a safety plan without checking whether the client has the capacity, privacy, transportation, and support to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telehealth, a client says, “Everyone would be better off without me,” and becomes silent. The therapist knows the client is at home but has not confirmed the exact location, intent, plan, means, recent behavior, or whether another safe person is present. The therapist should maintain contact, verify location and emergency contact information, and ask direct risk questions. The response then depends on the findings. A realistic collaborative plan may be sufficient in one case; emergency activation may be required in another. The therapist should not shift topics to preserve rapport or rely on a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Workbook 6 question, identify the crisis signal, the missing or established facts, the current acuity, the least restrictive safe response, and the required handoff or follow-up. In your error log, note whether you underreacted, overreacted, confused assessment with action, missed a medical or legal priority, or selected an unrealistic safety plan. Practice saying the SAFER steps aloud until they become automatic under timed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C99700"/>
          </a:solidFill>
          <a:ln w="12700">
            <a:solidFill>
              <a:srgbClr val="C99700">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C99700"/>
                </a:solidFill>
                <a:latin typeface="Aptos" pitchFamily="34" charset="0"/>
                <a:ea typeface="Aptos" pitchFamily="34" charset="-122"/>
                <a:cs typeface="Aptos" pitchFamily="34" charset="-120"/>
              </a:rPr>
              <a:t>LMFT WORKBOOK 06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WB06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C99700"/>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C99700"/>
                </a:solidFill>
                <a:latin typeface="Aptos" pitchFamily="34" charset="0"/>
                <a:ea typeface="Aptos" pitchFamily="34" charset="-122"/>
                <a:cs typeface="Aptos" pitchFamily="34" charset="-120"/>
              </a:rPr>
              <a:t>Workbook 6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Crisis, Abuse, and Safety</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Crisis items are difficult because several actions may be clinically important at the same time.</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C99700"/>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C99700">
                <a:alpha val="75000"/>
              </a:srgbClr>
            </a:solidFill>
            <a:prstDash val="solid"/>
            <a:tailEnd type="triangle"/>
          </a:ln>
        </p:spPr>
      </p:sp>
      <p:sp>
        <p:nvSpPr>
          <p:cNvPr id="16" name="Text 14"/>
          <p:cNvSpPr/>
          <p:nvPr/>
        </p:nvSpPr>
        <p:spPr>
          <a:xfrm>
            <a:off x="658368" y="3822192"/>
            <a:ext cx="178003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Clarify</a:t>
            </a:r>
            <a:endParaRPr lang="en-US" sz="1140" dirty="0"/>
          </a:p>
        </p:txBody>
      </p:sp>
      <p:sp>
        <p:nvSpPr>
          <p:cNvPr id="17" name="Text 15"/>
          <p:cNvSpPr/>
          <p:nvPr/>
        </p:nvSpPr>
        <p:spPr>
          <a:xfrm>
            <a:off x="2602992" y="3822192"/>
            <a:ext cx="178003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Assess</a:t>
            </a:r>
            <a:endParaRPr lang="en-US" sz="1140" dirty="0"/>
          </a:p>
        </p:txBody>
      </p:sp>
      <p:sp>
        <p:nvSpPr>
          <p:cNvPr id="18" name="Text 16"/>
          <p:cNvSpPr/>
          <p:nvPr/>
        </p:nvSpPr>
        <p:spPr>
          <a:xfrm>
            <a:off x="4547616" y="3822192"/>
            <a:ext cx="1780032" cy="594360"/>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Choose</a:t>
            </a:r>
            <a:endParaRPr lang="en-US" sz="1140" dirty="0"/>
          </a:p>
        </p:txBody>
      </p:sp>
      <p:sp>
        <p:nvSpPr>
          <p:cNvPr id="19" name="Text 17"/>
          <p:cNvSpPr/>
          <p:nvPr/>
        </p:nvSpPr>
        <p:spPr>
          <a:xfrm>
            <a:off x="7498080" y="3474720"/>
            <a:ext cx="1668780" cy="800100"/>
          </a:xfrm>
          <a:prstGeom prst="rect">
            <a:avLst/>
          </a:prstGeom>
          <a:solidFill>
            <a:srgbClr val="FFF6DD"/>
          </a:solidFill>
          <a:ln w="11430">
            <a:solidFill>
              <a:srgbClr val="C99700"/>
            </a:solidFill>
          </a:ln>
        </p:spPr>
        <p:txBody>
          <a:bodyPr wrap="square" lIns="1016" tIns="1016" rIns="1016" bIns="1016" rtlCol="0" anchor="ctr">
            <a:normAutofit/>
          </a:bodyPr>
          <a:lstStyle/>
          <a:p>
            <a:pPr algn="ctr" indent="0" marL="0">
              <a:buNone/>
            </a:pPr>
            <a:r>
              <a:rPr lang="en-US" sz="1500" b="1" dirty="0">
                <a:solidFill>
                  <a:srgbClr val="C99700"/>
                </a:solidFill>
                <a:latin typeface="Aptos Display" pitchFamily="34" charset="0"/>
                <a:ea typeface="Aptos Display" pitchFamily="34" charset="-122"/>
                <a:cs typeface="Aptos Display" pitchFamily="34" charset="-120"/>
              </a:rPr>
              <a:t>Clarify</a:t>
            </a:r>
            <a:endParaRPr lang="en-US" sz="1500" dirty="0"/>
          </a:p>
        </p:txBody>
      </p:sp>
      <p:sp>
        <p:nvSpPr>
          <p:cNvPr id="20" name="Text 18"/>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Assess</a:t>
            </a:r>
            <a:endParaRPr lang="en-US" sz="1500" dirty="0"/>
          </a:p>
        </p:txBody>
      </p:sp>
      <p:sp>
        <p:nvSpPr>
          <p:cNvPr id="21" name="Text 19"/>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Choose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C99700"/>
          </a:solidFill>
          <a:ln w="12700">
            <a:solidFill>
              <a:srgbClr val="C99700">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C99700"/>
                </a:solidFill>
                <a:latin typeface="Aptos" pitchFamily="34" charset="0"/>
                <a:ea typeface="Aptos" pitchFamily="34" charset="-122"/>
                <a:cs typeface="Aptos" pitchFamily="34" charset="-120"/>
              </a:rPr>
              <a:t>LMFT WORKBOOK 06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WB06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C99700"/>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the SAFER Crisis Sequence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S means stabilize: determine whether anyone is in immediate danger or medically unstable and maintain contact while reducing immediate risk.</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C99700"/>
            </a:solidFill>
          </a:ln>
        </p:spPr>
        <p:txBody>
          <a:bodyPr wrap="square" lIns="508" tIns="508" rIns="508" bIns="508" rtlCol="0" anchor="ctr">
            <a:normAutofit/>
          </a:bodyPr>
          <a:lstStyle/>
          <a:p>
            <a:pPr algn="ctr" indent="0" marL="0">
              <a:buNone/>
            </a:pPr>
            <a:r>
              <a:rPr lang="en-US" sz="1220" b="1" dirty="0">
                <a:solidFill>
                  <a:srgbClr val="C99700"/>
                </a:solidFill>
                <a:latin typeface="Aptos" pitchFamily="34" charset="0"/>
                <a:ea typeface="Aptos" pitchFamily="34" charset="-122"/>
                <a:cs typeface="Aptos" pitchFamily="34" charset="-120"/>
              </a:rPr>
              <a:t>Stabilize</a:t>
            </a:r>
            <a:endParaRPr lang="en-US" sz="1220" dirty="0"/>
          </a:p>
        </p:txBody>
      </p:sp>
      <p:sp>
        <p:nvSpPr>
          <p:cNvPr id="12" name="Text 10"/>
          <p:cNvSpPr/>
          <p:nvPr/>
        </p:nvSpPr>
        <p:spPr>
          <a:xfrm>
            <a:off x="6793992" y="2368296"/>
            <a:ext cx="3557016" cy="438912"/>
          </a:xfrm>
          <a:prstGeom prst="rect">
            <a:avLst/>
          </a:prstGeom>
          <a:solidFill>
            <a:srgbClr val="FFF6DD"/>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Assess</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Formulate</a:t>
            </a:r>
            <a:endParaRPr lang="en-US" sz="1220" dirty="0"/>
          </a:p>
        </p:txBody>
      </p:sp>
      <p:sp>
        <p:nvSpPr>
          <p:cNvPr id="14" name="Text 12"/>
          <p:cNvSpPr/>
          <p:nvPr/>
        </p:nvSpPr>
        <p:spPr>
          <a:xfrm>
            <a:off x="7123176" y="3355848"/>
            <a:ext cx="2898648" cy="438912"/>
          </a:xfrm>
          <a:prstGeom prst="rect">
            <a:avLst/>
          </a:prstGeom>
          <a:solidFill>
            <a:srgbClr val="FFF6DD"/>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Execute</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Record/Reconnect</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means assess directly: clarify thoughts, intent, plan, means, preparation, behavior, target,…</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 means record and reconnect by documenting the facts and rationale and confirming handoff,…</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Stabilize • Assess • Formulate • Execute • Record/Reconnect</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C99700"/>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R means record and reconnect by documenting the facts and rationale and confirming handoff, support, transportation, access, and follow-up.</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C99700"/>
          </a:solidFill>
          <a:ln w="12700">
            <a:solidFill>
              <a:srgbClr val="C99700">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C99700"/>
                </a:solidFill>
                <a:latin typeface="Aptos" pitchFamily="34" charset="0"/>
                <a:ea typeface="Aptos" pitchFamily="34" charset="-122"/>
                <a:cs typeface="Aptos" pitchFamily="34" charset="-120"/>
              </a:rPr>
              <a:t>LMFT WORKBOOK 06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WB06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C99700"/>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Move From Labels to Specific Risk Facts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Terms such as low, moderate, or high risk summarize judgment; they do not replace the evidence.</a:t>
            </a:r>
            <a:endParaRPr lang="en-US" sz="2080" dirty="0"/>
          </a:p>
        </p:txBody>
      </p:sp>
      <p:sp>
        <p:nvSpPr>
          <p:cNvPr id="11" name="Shape 9"/>
          <p:cNvSpPr/>
          <p:nvPr/>
        </p:nvSpPr>
        <p:spPr>
          <a:xfrm>
            <a:off x="6537960" y="2624328"/>
            <a:ext cx="4160520" cy="0"/>
          </a:xfrm>
          <a:prstGeom prst="line">
            <a:avLst/>
          </a:prstGeom>
          <a:noFill/>
          <a:ln w="13970">
            <a:solidFill>
              <a:srgbClr val="C99700">
                <a:alpha val="75000"/>
              </a:srgbClr>
            </a:solidFill>
            <a:prstDash val="solid"/>
            <a:tailEnd type="triangle"/>
          </a:ln>
        </p:spPr>
      </p:sp>
      <p:sp>
        <p:nvSpPr>
          <p:cNvPr id="12" name="Text 10"/>
          <p:cNvSpPr/>
          <p:nvPr/>
        </p:nvSpPr>
        <p:spPr>
          <a:xfrm>
            <a:off x="6400800"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 labels are replaced…</a:t>
            </a:r>
            <a:endParaRPr lang="en-US" sz="1140" dirty="0"/>
          </a:p>
        </p:txBody>
      </p:sp>
      <p:sp>
        <p:nvSpPr>
          <p:cNvPr id="13" name="Text 11"/>
          <p:cNvSpPr/>
          <p:nvPr/>
        </p:nvSpPr>
        <p:spPr>
          <a:xfrm>
            <a:off x="7550658"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dynamic</a:t>
            </a:r>
            <a:endParaRPr lang="en-US" sz="1140" dirty="0"/>
          </a:p>
        </p:txBody>
      </p:sp>
      <p:sp>
        <p:nvSpPr>
          <p:cNvPr id="14" name="Text 12"/>
          <p:cNvSpPr/>
          <p:nvPr/>
        </p:nvSpPr>
        <p:spPr>
          <a:xfrm>
            <a:off x="8700516" y="2331720"/>
            <a:ext cx="9852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protective</a:t>
            </a:r>
            <a:endParaRPr lang="en-US" sz="1140" dirty="0"/>
          </a:p>
        </p:txBody>
      </p:sp>
      <p:sp>
        <p:nvSpPr>
          <p:cNvPr id="15" name="Text 13"/>
          <p:cNvSpPr/>
          <p:nvPr/>
        </p:nvSpPr>
        <p:spPr>
          <a:xfrm>
            <a:off x="9850374" y="2331720"/>
            <a:ext cx="985266" cy="594360"/>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acute-warning facts.</a:t>
            </a:r>
            <a:endParaRPr lang="en-US" sz="1140" dirty="0"/>
          </a:p>
        </p:txBody>
      </p:sp>
      <p:sp>
        <p:nvSpPr>
          <p:cNvPr id="16" name="Text 14"/>
          <p:cNvSpPr/>
          <p:nvPr/>
        </p:nvSpPr>
        <p:spPr>
          <a:xfrm>
            <a:off x="7086600" y="3401568"/>
            <a:ext cx="3063240" cy="914400"/>
          </a:xfrm>
          <a:prstGeom prst="rect">
            <a:avLst/>
          </a:prstGeom>
          <a:solidFill>
            <a:srgbClr val="FFF6DD"/>
          </a:solidFill>
          <a:ln w="13970">
            <a:solidFill>
              <a:srgbClr val="C99700">
                <a:alpha val="75000"/>
              </a:srgbClr>
            </a:solidFill>
          </a:ln>
        </p:spPr>
        <p:txBody>
          <a:bodyPr wrap="square" lIns="635" tIns="635" rIns="635" bIns="635"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Risk labels are replaced…</a:t>
            </a:r>
            <a:endParaRPr lang="en-US" sz="2200" dirty="0"/>
          </a:p>
        </p:txBody>
      </p:sp>
      <p:sp>
        <p:nvSpPr>
          <p:cNvPr id="17" name="Text 15"/>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Historical factors establish vulnerability.</a:t>
            </a:r>
            <a:endParaRPr lang="en-US" sz="1330" dirty="0"/>
          </a:p>
        </p:txBody>
      </p:sp>
      <p:sp>
        <p:nvSpPr>
          <p:cNvPr id="19" name="Text 17"/>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Acute warning signs such as a recent attempt, preparation, loaded weapon, farewell messages,…</a:t>
            </a:r>
            <a:endParaRPr lang="en-US" sz="133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Facts Create the Formulation</a:t>
            </a:r>
            <a:endParaRPr lang="en-US" sz="1330" dirty="0"/>
          </a:p>
        </p:txBody>
      </p:sp>
      <p:sp>
        <p:nvSpPr>
          <p:cNvPr id="23" name="Text 21"/>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C99700"/>
                </a:solidFill>
                <a:latin typeface="Aptos" pitchFamily="34" charset="0"/>
                <a:ea typeface="Aptos" pitchFamily="34" charset="-122"/>
                <a:cs typeface="Aptos" pitchFamily="34" charset="-120"/>
              </a:rPr>
              <a:t>STUDENT MOVE</a:t>
            </a:r>
            <a:endParaRPr lang="en-US" sz="940" dirty="0"/>
          </a:p>
        </p:txBody>
      </p:sp>
      <p:sp>
        <p:nvSpPr>
          <p:cNvPr id="24" name="Text 22"/>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Acute warning signs such as a recent attempt, preparation, loaded weapon, farewell messages, targeted threat, severe withdrawal, or inability…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C99700"/>
          </a:solidFill>
          <a:ln w="12700">
            <a:solidFill>
              <a:srgbClr val="C99700">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C99700"/>
                </a:solidFill>
                <a:latin typeface="Aptos" pitchFamily="34" charset="0"/>
                <a:ea typeface="Aptos" pitchFamily="34" charset="-122"/>
                <a:cs typeface="Aptos" pitchFamily="34" charset="-120"/>
              </a:rPr>
              <a:t>LMFT WORKBOOK 06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WB06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C99700"/>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Recognize When the Crisis Is Legal, Medical, or Relational</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Some crisis questions are not solved by suicide assessment alone.</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C99700"/>
            </a:solidFill>
          </a:ln>
        </p:spPr>
        <p:txBody>
          <a:bodyPr wrap="square" lIns="508" tIns="508" rIns="508" bIns="508" rtlCol="0" anchor="ctr">
            <a:normAutofit/>
          </a:bodyPr>
          <a:lstStyle/>
          <a:p>
            <a:pPr algn="ctr" indent="0" marL="0">
              <a:buNone/>
            </a:pPr>
            <a:r>
              <a:rPr lang="en-US" sz="1220" b="1" dirty="0">
                <a:solidFill>
                  <a:srgbClr val="C99700"/>
                </a:solidFill>
                <a:latin typeface="Aptos" pitchFamily="34" charset="0"/>
                <a:ea typeface="Aptos" pitchFamily="34" charset="-122"/>
                <a:cs typeface="Aptos" pitchFamily="34" charset="-120"/>
              </a:rPr>
              <a:t>Four gates show…</a:t>
            </a:r>
            <a:endParaRPr lang="en-US" sz="1220" dirty="0"/>
          </a:p>
        </p:txBody>
      </p:sp>
      <p:sp>
        <p:nvSpPr>
          <p:cNvPr id="12" name="Text 10"/>
          <p:cNvSpPr/>
          <p:nvPr/>
        </p:nvSpPr>
        <p:spPr>
          <a:xfrm>
            <a:off x="6793992" y="2368296"/>
            <a:ext cx="3557016" cy="438912"/>
          </a:xfrm>
          <a:prstGeom prst="rect">
            <a:avLst/>
          </a:prstGeom>
          <a:solidFill>
            <a:srgbClr val="FFF6DD"/>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violence</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medical/substance emergency</a:t>
            </a:r>
            <a:endParaRPr lang="en-US" sz="1220" dirty="0"/>
          </a:p>
        </p:txBody>
      </p:sp>
      <p:sp>
        <p:nvSpPr>
          <p:cNvPr id="14" name="Text 12"/>
          <p:cNvSpPr/>
          <p:nvPr/>
        </p:nvSpPr>
        <p:spPr>
          <a:xfrm>
            <a:off x="7123176" y="3355848"/>
            <a:ext cx="2898648" cy="438912"/>
          </a:xfrm>
          <a:prstGeom prst="rect">
            <a:avLst/>
          </a:prstGeom>
          <a:solidFill>
            <a:srgbClr val="FFF6DD"/>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psychiatric emergency.</a:t>
            </a:r>
            <a:endParaRPr lang="en-US" sz="122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Child, elder, or dependent-adult abuse may trigger reporting duties when the statutory facts…</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Identify the controlling issue rather than defaulting to the most familiar crisis response.</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Controlling Duty Changes the Sequence</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C99700"/>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Identify the controlling issue rather than defaulting to the most familiar crisis response.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C99700"/>
          </a:solidFill>
          <a:ln w="12700">
            <a:solidFill>
              <a:srgbClr val="C99700">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C99700"/>
                </a:solidFill>
                <a:latin typeface="Aptos" pitchFamily="34" charset="0"/>
                <a:ea typeface="Aptos" pitchFamily="34" charset="-122"/>
                <a:cs typeface="Aptos" pitchFamily="34" charset="-120"/>
              </a:rPr>
              <a:t>LMFT WORKBOOK 06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WB06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C99700"/>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Stabilize, Plan Realistically, Document, and Follow Up</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 safety plan is collaborative and concrete.</a:t>
            </a:r>
            <a:endParaRPr lang="en-US" sz="2080" dirty="0"/>
          </a:p>
        </p:txBody>
      </p:sp>
      <p:sp>
        <p:nvSpPr>
          <p:cNvPr id="11" name="Shape 9"/>
          <p:cNvSpPr/>
          <p:nvPr/>
        </p:nvSpPr>
        <p:spPr>
          <a:xfrm>
            <a:off x="6537960" y="2624328"/>
            <a:ext cx="4160520" cy="0"/>
          </a:xfrm>
          <a:prstGeom prst="line">
            <a:avLst/>
          </a:prstGeom>
          <a:noFill/>
          <a:ln w="13970">
            <a:solidFill>
              <a:srgbClr val="C99700">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 safety plan connects…</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coping</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people</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professional resources</a:t>
            </a:r>
            <a:endParaRPr lang="en-US" sz="1140" dirty="0"/>
          </a:p>
        </p:txBody>
      </p:sp>
      <p:sp>
        <p:nvSpPr>
          <p:cNvPr id="16" name="Text 14"/>
          <p:cNvSpPr/>
          <p:nvPr/>
        </p:nvSpPr>
        <p:spPr>
          <a:xfrm>
            <a:off x="10080346" y="2331720"/>
            <a:ext cx="755294" cy="594360"/>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means safety</a:t>
            </a:r>
            <a:endParaRPr lang="en-US" sz="1140" dirty="0"/>
          </a:p>
        </p:txBody>
      </p:sp>
      <p:sp>
        <p:nvSpPr>
          <p:cNvPr id="17" name="Text 15"/>
          <p:cNvSpPr/>
          <p:nvPr/>
        </p:nvSpPr>
        <p:spPr>
          <a:xfrm>
            <a:off x="7086600" y="3401568"/>
            <a:ext cx="3063240" cy="914400"/>
          </a:xfrm>
          <a:prstGeom prst="rect">
            <a:avLst/>
          </a:prstGeom>
          <a:solidFill>
            <a:srgbClr val="FFF6DD"/>
          </a:solidFill>
          <a:ln w="13970">
            <a:solidFill>
              <a:srgbClr val="C99700">
                <a:alpha val="75000"/>
              </a:srgbClr>
            </a:solidFill>
          </a:ln>
        </p:spPr>
        <p:txBody>
          <a:bodyPr wrap="square" lIns="635" tIns="635" rIns="635" bIns="635"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A safety plan connects…</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It identifies warning signs, internal coping steps, safe people and places, professional and…</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Good crisis care continues until responsibility is clearly transferred or the next step is…</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Plan Must Be Usable</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C99700"/>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Good crisis care continues until responsibility is clearly transferred or the next step is confirmed.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C99700"/>
          </a:solidFill>
          <a:ln w="12700">
            <a:solidFill>
              <a:srgbClr val="C99700">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C99700"/>
                </a:solidFill>
                <a:latin typeface="Aptos" pitchFamily="34" charset="0"/>
                <a:ea typeface="Aptos" pitchFamily="34" charset="-122"/>
                <a:cs typeface="Aptos" pitchFamily="34" charset="-120"/>
              </a:rPr>
              <a:t>LMFT WORKBOOK 06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WB06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C99700"/>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Avoid asking only for a promise, using guilt about loved ones, processing triggers before addressing danger, assuming a calm appearance rules out…</a:t>
            </a:r>
            <a:endParaRPr lang="en-US" sz="2080" dirty="0"/>
          </a:p>
        </p:txBody>
      </p:sp>
      <p:sp>
        <p:nvSpPr>
          <p:cNvPr id="11" name="Text 9"/>
          <p:cNvSpPr/>
          <p:nvPr/>
        </p:nvSpPr>
        <p:spPr>
          <a:xfrm>
            <a:off x="6446520" y="2011680"/>
            <a:ext cx="2103120" cy="1097280"/>
          </a:xfrm>
          <a:prstGeom prst="rect">
            <a:avLst/>
          </a:prstGeom>
          <a:solidFill>
            <a:srgbClr val="FFF6DD"/>
          </a:solidFill>
          <a:ln w="11430">
            <a:solidFill>
              <a:srgbClr val="C99700"/>
            </a:solidFill>
          </a:ln>
        </p:spPr>
        <p:txBody>
          <a:bodyPr wrap="square" lIns="1016" tIns="1016" rIns="1016" bIns="1016" rtlCol="0" anchor="ctr">
            <a:normAutofit/>
          </a:bodyPr>
          <a:lstStyle/>
          <a:p>
            <a:pPr algn="ctr" indent="0" marL="0">
              <a:buNone/>
            </a:pPr>
            <a:r>
              <a:rPr lang="en-US" sz="1500" b="1" dirty="0">
                <a:solidFill>
                  <a:srgbClr val="C99700"/>
                </a:solidFill>
                <a:latin typeface="Aptos Display" pitchFamily="34" charset="0"/>
                <a:ea typeface="Aptos Display" pitchFamily="34" charset="-122"/>
                <a:cs typeface="Aptos Display" pitchFamily="34" charset="-120"/>
              </a:rPr>
              <a:t>Trap cards show no-harm…</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guilt</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processing before safety</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vague reporting</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Another trap is creating a safety plan without checking whether the client has the capacity,…</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Another trap is creating a safety plan without checking whether the client has the capacity,…</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Do Not Substitute Reassurance for Assessment</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C99700"/>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Another trap is creating a safety plan without checking whether the client has the capacity, privacy, transportation, and support to use it.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C99700"/>
          </a:solidFill>
          <a:ln w="12700">
            <a:solidFill>
              <a:srgbClr val="C99700">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C99700"/>
                </a:solidFill>
                <a:latin typeface="Aptos" pitchFamily="34" charset="0"/>
                <a:ea typeface="Aptos" pitchFamily="34" charset="-122"/>
                <a:cs typeface="Aptos" pitchFamily="34" charset="-120"/>
              </a:rPr>
              <a:t>LMFT WORKBOOK 06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WB06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C99700"/>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Telehealth Suicide Statement</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During telehealth, a client says, “Everyone would be better off without me,” and becomes silent.</a:t>
            </a:r>
            <a:endParaRPr lang="en-US" sz="2080" dirty="0"/>
          </a:p>
        </p:txBody>
      </p:sp>
      <p:sp>
        <p:nvSpPr>
          <p:cNvPr id="11" name="Shape 9"/>
          <p:cNvSpPr/>
          <p:nvPr/>
        </p:nvSpPr>
        <p:spPr>
          <a:xfrm>
            <a:off x="6537960" y="2148840"/>
            <a:ext cx="4160520" cy="2743200"/>
          </a:xfrm>
          <a:prstGeom prst="rect">
            <a:avLst>
              <a:gd name="adj" fmla="val 3333"/>
            </a:avLst>
          </a:prstGeom>
          <a:solidFill>
            <a:srgbClr val="FFF6DD"/>
          </a:solidFill>
          <a:ln w="15240">
            <a:solidFill>
              <a:srgbClr val="C99700">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C99700"/>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C99700">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therapist knows the client is at home but has not confirmed the exact location, intent,…</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therapist should not shift topics to preserve rapport or rely on a promise.</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Location and Direct Assessment Come First</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C99700"/>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therapist should not shift topics to preserve rapport or rely on a promise.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C99700"/>
          </a:solidFill>
          <a:ln w="12700">
            <a:solidFill>
              <a:srgbClr val="C99700">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C99700"/>
                </a:solidFill>
                <a:latin typeface="Aptos" pitchFamily="34" charset="0"/>
                <a:ea typeface="Aptos" pitchFamily="34" charset="-122"/>
                <a:cs typeface="Aptos" pitchFamily="34" charset="-120"/>
              </a:rPr>
              <a:t>LMFT WORKBOOK 06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WB06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C99700"/>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For each Workbook 6 question, identify the crisis signal, the missing or established facts, the current acuity, the least restrictive safe response,…</a:t>
            </a:r>
            <a:endParaRPr lang="en-US" sz="2080" dirty="0"/>
          </a:p>
        </p:txBody>
      </p:sp>
      <p:sp>
        <p:nvSpPr>
          <p:cNvPr id="11" name="Shape 9"/>
          <p:cNvSpPr/>
          <p:nvPr/>
        </p:nvSpPr>
        <p:spPr>
          <a:xfrm>
            <a:off x="6537960" y="2624328"/>
            <a:ext cx="4160520" cy="0"/>
          </a:xfrm>
          <a:prstGeom prst="line">
            <a:avLst/>
          </a:prstGeom>
          <a:noFill/>
          <a:ln w="13970">
            <a:solidFill>
              <a:srgbClr val="C99700">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Signal</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Acuity</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Action</a:t>
            </a:r>
            <a:endParaRPr lang="en-US" sz="1140" dirty="0"/>
          </a:p>
        </p:txBody>
      </p:sp>
      <p:sp>
        <p:nvSpPr>
          <p:cNvPr id="16" name="Text 14"/>
          <p:cNvSpPr/>
          <p:nvPr/>
        </p:nvSpPr>
        <p:spPr>
          <a:xfrm>
            <a:off x="10080346" y="2331720"/>
            <a:ext cx="755294" cy="594360"/>
          </a:xfrm>
          <a:prstGeom prst="rect">
            <a:avLst/>
          </a:prstGeom>
          <a:solidFill>
            <a:srgbClr val="C99700"/>
          </a:solidFill>
          <a:ln w="10160">
            <a:solidFill>
              <a:srgbClr val="C99700"/>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Handoff</a:t>
            </a:r>
            <a:endParaRPr lang="en-US" sz="1140" dirty="0"/>
          </a:p>
        </p:txBody>
      </p:sp>
      <p:sp>
        <p:nvSpPr>
          <p:cNvPr id="17" name="Text 15"/>
          <p:cNvSpPr/>
          <p:nvPr/>
        </p:nvSpPr>
        <p:spPr>
          <a:xfrm>
            <a:off x="7086600" y="3401568"/>
            <a:ext cx="3063240" cy="914400"/>
          </a:xfrm>
          <a:prstGeom prst="rect">
            <a:avLst/>
          </a:prstGeom>
          <a:solidFill>
            <a:srgbClr val="FFF6DD"/>
          </a:solidFill>
          <a:ln w="13970">
            <a:solidFill>
              <a:srgbClr val="C99700">
                <a:alpha val="75000"/>
              </a:srgbClr>
            </a:solidFill>
          </a:ln>
        </p:spPr>
        <p:txBody>
          <a:bodyPr wrap="square" lIns="635" tIns="635" rIns="635" bIns="635" rtlCol="0" anchor="ctr">
            <a:normAutofit/>
          </a:bodyPr>
          <a:lstStyle/>
          <a:p>
            <a:pPr algn="ctr" indent="0" marL="0">
              <a:buNone/>
            </a:pPr>
            <a:r>
              <a:rPr lang="en-US" sz="2200" b="1" dirty="0">
                <a:solidFill>
                  <a:srgbClr val="C99700"/>
                </a:solidFill>
                <a:latin typeface="Aptos Display" pitchFamily="34" charset="0"/>
                <a:ea typeface="Aptos Display" pitchFamily="34" charset="-122"/>
                <a:cs typeface="Aptos Display" pitchFamily="34" charset="-120"/>
              </a:rPr>
              <a:t>Signal</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In your error log, note whether you underreacted, overreacted, confused assessment with…</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Practice saying the SAFER steps aloud until they become automatic under timed conditions.</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C99700"/>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Signal • Facts • Acuity • Action • Handoff</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C99700"/>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Practice saying the SAFER steps aloud until they become automatic under timed conditions.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LMFT Workbook 06 Companion: Workbook 6 Companion: Crisis, Abuse, and Safety</dc:title>
  <dc:subject>LMFT Workbook 06 Companion</dc:subject>
  <dc:creator>Clinical Training Academy</dc:creator>
  <cp:lastModifiedBy>Clinical Training Academy</cp:lastModifiedBy>
  <cp:revision>1</cp:revision>
  <dcterms:created xsi:type="dcterms:W3CDTF">2026-07-25T22:10:42Z</dcterms:created>
  <dcterms:modified xsi:type="dcterms:W3CDTF">2026-07-25T22:10:42Z</dcterms:modified>
</cp:coreProperties>
</file>