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 9 is not a catalog of techniques. It teaches how to select an intervention for this target, this client or client system, at this stage, under these safety and scope conditions. Many exam distractors name a treatment that could be effective in general but is mistimed, mismatched, inaccessible, or outside competence. Before choosing a named method, identify the maintaining mechanism, determine whether safety or medical needs come first, define the target, check suitability, and decide how improvement will be recognized.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is formulation: what pattern and maintaining mechanism are supported? I is immediacy: does danger, medical risk, intoxication, withdrawal, severe instability, or higher level of care come first? T is target: what must change now—avoidance, belief, reinforcement, dysregulation, grief process, relationship cycle, skill deficit, or environmental barrier? S is suitability: does the method fit development, culture, language, readiness, preference, access, treatment unit, and therapist competence? Then define the response check: what observable change will show the intervention is helping, and when will the plan be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Acute disorientation during trauma disclosure calls for orientation, grounding, pacing, and restored choice before deeper processing. Avoidance after stabilization may support a competent exposure-based or behavioral plan. Catastrophic interpretation and reassurance seeking may call for cognitive and behavioral work. Intense emotion and impulsive behavior may call for chain analysis, distress tolerance, and interpersonal skills. Ambivalence may call for motivational interviewing. Grief may call for validation, meaning, routines, support, and monitoring rather than immediate pathologizing. The vignette should identify the target before the theory or method is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Children often need concrete language, play, modeling, caregiver coaching, routines, reinforcement, and school collaboration. Caregiver burnout may require respite, role negotiation, resource support, and couple or family work in addition to coping skills. Addiction care may include motivational interviewing, harm reduction, relapse prevention, recovery support, family psychoeducation, and level-of-care referral. Body image and eating concerns require attention to fainting, rapid weight change, restriction, purging, and medical instability. Relational involvement is useful only when safe, voluntary, clinically purposeful, and appropriately framed.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treatment is not working, do not add several unrelated methods or blame motivation. Reassess safety, medical and substance factors, diagnosis, formulation, alliance with each participant, whether the intervention was understood and practiced, access and cultural fit, treatment unit, and level of care. Determine whether the method targeted the actual maintaining process and whether the expected response occurred. Revision may mean repairing the alliance, simplifying the task, changing modality, increasing support, consulting, referring, or selecting a different evidence-supported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choosing a named technique before identifying the target, processing trauma during acute dysregulation, treating ambivalence as resistance, recruiting a partner to pressure change, using conjoint treatment simply because the problem affects a relationship, ignoring medical or specialty risk, using adult abstract methods with a young child, or continuing the same plan because the client is compliant. The strongest answer fits the stage, mechanism, client system, access, and response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with trauma-related panic repeatedly calls a partner for reassurance. The partner cancels work and remains physically present, which reduces distress briefly but increases long-term dependence and avoidance. After confirming safety and stabilization, the therapist can collaboratively identify the reassurance cycle, teach regulation, and develop graded independent coping. The partner is not blamed; the pattern is reframed as understandable and protective in the short term but maintaining in the long term. The response combines individual skill building and relational change because both are supported by the 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answering each Workbook 9 question, write one phrase for formulation, immediacy, target, suitability, and response measure. In the error log, mark whether you chose a familiar technique too soon, ignored readiness or access, missed a medical or safety priority, used the wrong treatment unit, or added methods without revising the formulation. Your goal is not to memorize which therapy goes with which diagnosis. It is to match a change process to the supported maintaining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LMFT WORKBOOK 09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WB09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3467A6"/>
                </a:solidFill>
                <a:latin typeface="Aptos" pitchFamily="34" charset="0"/>
                <a:ea typeface="Aptos" pitchFamily="34" charset="-122"/>
                <a:cs typeface="Aptos" pitchFamily="34" charset="-120"/>
              </a:rPr>
              <a:t>Workbook 9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Trauma, Psychological, Behavioral, and Recovery Interventions</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Workbook 9 is not a catalog of techniques.</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3467A6"/>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3467A6">
                <a:alpha val="75000"/>
              </a:srgbClr>
            </a:solidFill>
            <a:prstDash val="solid"/>
            <a:tailEnd type="triangle"/>
          </a:ln>
        </p:spPr>
      </p:sp>
      <p:sp>
        <p:nvSpPr>
          <p:cNvPr id="16" name="Text 14"/>
          <p:cNvSpPr/>
          <p:nvPr/>
        </p:nvSpPr>
        <p:spPr>
          <a:xfrm>
            <a:off x="658368" y="3822192"/>
            <a:ext cx="178003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What Should Change</a:t>
            </a:r>
            <a:endParaRPr lang="en-US" sz="1140" dirty="0"/>
          </a:p>
        </p:txBody>
      </p:sp>
      <p:sp>
        <p:nvSpPr>
          <p:cNvPr id="17" name="Text 15"/>
          <p:cNvSpPr/>
          <p:nvPr/>
        </p:nvSpPr>
        <p:spPr>
          <a:xfrm>
            <a:off x="2602992" y="3822192"/>
            <a:ext cx="178003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for Whom</a:t>
            </a:r>
            <a:endParaRPr lang="en-US" sz="1140" dirty="0"/>
          </a:p>
        </p:txBody>
      </p:sp>
      <p:sp>
        <p:nvSpPr>
          <p:cNvPr id="18" name="Text 16"/>
          <p:cNvSpPr/>
          <p:nvPr/>
        </p:nvSpPr>
        <p:spPr>
          <a:xfrm>
            <a:off x="4547616" y="3822192"/>
            <a:ext cx="1780032"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at This Stage?</a:t>
            </a:r>
            <a:endParaRPr lang="en-US" sz="1140" dirty="0"/>
          </a:p>
        </p:txBody>
      </p:sp>
      <p:sp>
        <p:nvSpPr>
          <p:cNvPr id="19" name="Text 17"/>
          <p:cNvSpPr/>
          <p:nvPr/>
        </p:nvSpPr>
        <p:spPr>
          <a:xfrm>
            <a:off x="7498080" y="3474720"/>
            <a:ext cx="1668780" cy="800100"/>
          </a:xfrm>
          <a:prstGeom prst="rect">
            <a:avLst/>
          </a:prstGeom>
          <a:solidFill>
            <a:srgbClr val="EAF0F8"/>
          </a:solidFill>
          <a:ln w="11430">
            <a:solidFill>
              <a:srgbClr val="3467A6"/>
            </a:solidFill>
          </a:ln>
        </p:spPr>
        <p:txBody>
          <a:bodyPr wrap="square" lIns="1016" tIns="1016" rIns="1016" bIns="1016" rtlCol="0" anchor="ctr">
            <a:normAutofit/>
          </a:bodyPr>
          <a:lstStyle/>
          <a:p>
            <a:pPr algn="ctr" indent="0" marL="0">
              <a:buNone/>
            </a:pPr>
            <a:r>
              <a:rPr lang="en-US" sz="1500" b="1" dirty="0">
                <a:solidFill>
                  <a:srgbClr val="3467A6"/>
                </a:solidFill>
                <a:latin typeface="Aptos Display" pitchFamily="34" charset="0"/>
                <a:ea typeface="Aptos Display" pitchFamily="34" charset="-122"/>
                <a:cs typeface="Aptos Display" pitchFamily="34" charset="-120"/>
              </a:rPr>
              <a:t>What Should Change</a:t>
            </a:r>
            <a:endParaRPr lang="en-US" sz="1500" dirty="0"/>
          </a:p>
        </p:txBody>
      </p:sp>
      <p:sp>
        <p:nvSpPr>
          <p:cNvPr id="20" name="Text 18"/>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for Whom</a:t>
            </a:r>
            <a:endParaRPr lang="en-US" sz="1500" dirty="0"/>
          </a:p>
        </p:txBody>
      </p:sp>
      <p:sp>
        <p:nvSpPr>
          <p:cNvPr id="21" name="Text 19"/>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at This Stage?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LMFT WORKBOOK 09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WB09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FITS Sequence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 is formulation: what pattern and maintaining mechanism are supported?</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3467A6"/>
            </a:solidFill>
          </a:ln>
        </p:spPr>
        <p:txBody>
          <a:bodyPr wrap="square" lIns="508" tIns="508" rIns="508" bIns="508" rtlCol="0" anchor="ctr">
            <a:normAutofit/>
          </a:bodyPr>
          <a:lstStyle/>
          <a:p>
            <a:pPr algn="ctr" indent="0" marL="0">
              <a:buNone/>
            </a:pPr>
            <a:r>
              <a:rPr lang="en-US" sz="1220" b="1" dirty="0">
                <a:solidFill>
                  <a:srgbClr val="3467A6"/>
                </a:solidFill>
                <a:latin typeface="Aptos" pitchFamily="34" charset="0"/>
                <a:ea typeface="Aptos" pitchFamily="34" charset="-122"/>
                <a:cs typeface="Aptos" pitchFamily="34" charset="-120"/>
              </a:rPr>
              <a:t>Formulation</a:t>
            </a:r>
            <a:endParaRPr lang="en-US" sz="1220" dirty="0"/>
          </a:p>
        </p:txBody>
      </p:sp>
      <p:sp>
        <p:nvSpPr>
          <p:cNvPr id="12" name="Text 10"/>
          <p:cNvSpPr/>
          <p:nvPr/>
        </p:nvSpPr>
        <p:spPr>
          <a:xfrm>
            <a:off x="6793992" y="2368296"/>
            <a:ext cx="3557016" cy="438912"/>
          </a:xfrm>
          <a:prstGeom prst="rect">
            <a:avLst/>
          </a:prstGeom>
          <a:solidFill>
            <a:srgbClr val="EAF0F8"/>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Immediacy</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Target</a:t>
            </a:r>
            <a:endParaRPr lang="en-US" sz="1220" dirty="0"/>
          </a:p>
        </p:txBody>
      </p:sp>
      <p:sp>
        <p:nvSpPr>
          <p:cNvPr id="14" name="Text 12"/>
          <p:cNvSpPr/>
          <p:nvPr/>
        </p:nvSpPr>
        <p:spPr>
          <a:xfrm>
            <a:off x="7123176" y="3355848"/>
            <a:ext cx="2898648" cy="438912"/>
          </a:xfrm>
          <a:prstGeom prst="rect">
            <a:avLst/>
          </a:prstGeom>
          <a:solidFill>
            <a:srgbClr val="EAF0F8"/>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Suitability</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Response Check</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 is immediacy: does danger, medical risk, intoxication, withdrawal, severe instability, or…</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Then define the response check: what observable change will show the intervention is helping,…</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Formulation • Immediacy • Target • Suitability • Response Check</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Then define the response check: what observable change will show the intervention is helping, and when will the plan be reviewed?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LMFT WORKBOOK 09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WB09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Match the Method to the Maintaining Mechanism</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Acute disorientation during trauma disclosure calls for orientation, grounding, pacing, and restored choice before deeper processing.</a:t>
            </a:r>
            <a:endParaRPr lang="en-US" sz="2080" dirty="0"/>
          </a:p>
        </p:txBody>
      </p:sp>
      <p:sp>
        <p:nvSpPr>
          <p:cNvPr id="11" name="Shape 9"/>
          <p:cNvSpPr/>
          <p:nvPr/>
        </p:nvSpPr>
        <p:spPr>
          <a:xfrm>
            <a:off x="6537960" y="2624328"/>
            <a:ext cx="4160520" cy="0"/>
          </a:xfrm>
          <a:prstGeom prst="line">
            <a:avLst/>
          </a:prstGeom>
          <a:noFill/>
          <a:ln w="13970">
            <a:solidFill>
              <a:srgbClr val="3467A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Mechanisms connect to…</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CBT</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emotion regulation</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motivational interviewing</a:t>
            </a:r>
            <a:endParaRPr lang="en-US" sz="1140" dirty="0"/>
          </a:p>
        </p:txBody>
      </p:sp>
      <p:sp>
        <p:nvSpPr>
          <p:cNvPr id="16" name="Text 14"/>
          <p:cNvSpPr/>
          <p:nvPr/>
        </p:nvSpPr>
        <p:spPr>
          <a:xfrm>
            <a:off x="10080346" y="2331720"/>
            <a:ext cx="755294"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grief work.</a:t>
            </a:r>
            <a:endParaRPr lang="en-US" sz="1140" dirty="0"/>
          </a:p>
        </p:txBody>
      </p:sp>
      <p:sp>
        <p:nvSpPr>
          <p:cNvPr id="17" name="Text 15"/>
          <p:cNvSpPr/>
          <p:nvPr/>
        </p:nvSpPr>
        <p:spPr>
          <a:xfrm>
            <a:off x="7086600" y="3401568"/>
            <a:ext cx="3063240" cy="914400"/>
          </a:xfrm>
          <a:prstGeom prst="rect">
            <a:avLst/>
          </a:prstGeom>
          <a:solidFill>
            <a:srgbClr val="EAF0F8"/>
          </a:solidFill>
          <a:ln w="13970">
            <a:solidFill>
              <a:srgbClr val="3467A6">
                <a:alpha val="75000"/>
              </a:srgbClr>
            </a:solidFill>
          </a:ln>
        </p:spPr>
        <p:txBody>
          <a:bodyPr wrap="square" lIns="635" tIns="635" rIns="635" bIns="635"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Mechanisms connect to…</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Avoidance after stabilization may support a competent exposure-based or behavioral plan.</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vignette should identify the target before the theory or method is selected.</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Mechanism Before Technique Name</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vignette should identify the target before the theory or method is selected.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LMFT WORKBOOK 09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WB09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Adapt for Development, Relationships, Recovery, and Medical Risk</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Children often need concrete language, play, modeling, caregiver coaching, routines, reinforcement, and school collaboration.</a:t>
            </a:r>
            <a:endParaRPr lang="en-US" sz="2080" dirty="0"/>
          </a:p>
        </p:txBody>
      </p:sp>
      <p:sp>
        <p:nvSpPr>
          <p:cNvPr id="11" name="Shape 9"/>
          <p:cNvSpPr/>
          <p:nvPr/>
        </p:nvSpPr>
        <p:spPr>
          <a:xfrm>
            <a:off x="6537960" y="2624328"/>
            <a:ext cx="4160520" cy="0"/>
          </a:xfrm>
          <a:prstGeom prst="line">
            <a:avLst/>
          </a:prstGeom>
          <a:noFill/>
          <a:ln w="13970">
            <a:solidFill>
              <a:srgbClr val="3467A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Children</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caregivers</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couples</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addiction recovery</a:t>
            </a:r>
            <a:endParaRPr lang="en-US" sz="1140" dirty="0"/>
          </a:p>
        </p:txBody>
      </p:sp>
      <p:sp>
        <p:nvSpPr>
          <p:cNvPr id="16" name="Text 14"/>
          <p:cNvSpPr/>
          <p:nvPr/>
        </p:nvSpPr>
        <p:spPr>
          <a:xfrm>
            <a:off x="10080346" y="2331720"/>
            <a:ext cx="755294"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medical risk appear in an…</a:t>
            </a:r>
            <a:endParaRPr lang="en-US" sz="1140" dirty="0"/>
          </a:p>
        </p:txBody>
      </p:sp>
      <p:sp>
        <p:nvSpPr>
          <p:cNvPr id="17" name="Text 15"/>
          <p:cNvSpPr/>
          <p:nvPr/>
        </p:nvSpPr>
        <p:spPr>
          <a:xfrm>
            <a:off x="7086600" y="3401568"/>
            <a:ext cx="3063240" cy="914400"/>
          </a:xfrm>
          <a:prstGeom prst="rect">
            <a:avLst/>
          </a:prstGeom>
          <a:solidFill>
            <a:srgbClr val="EAF0F8"/>
          </a:solidFill>
          <a:ln w="13970">
            <a:solidFill>
              <a:srgbClr val="3467A6">
                <a:alpha val="75000"/>
              </a:srgbClr>
            </a:solidFill>
          </a:ln>
        </p:spPr>
        <p:txBody>
          <a:bodyPr wrap="square" lIns="635" tIns="635" rIns="635" bIns="635"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Children</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Caregiver burnout may require respite, role negotiation, resource support, and couple or…</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Relational involvement is useful only when safe, voluntary, clinically purposeful, and…</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Fit the Person and the System</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Relational involvement is useful only when safe, voluntary, clinically purposeful, and appropriately framed.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LMFT WORKBOOK 09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WB09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Respond to Nonresponse by Reassessing</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When treatment is not working, do not add several unrelated methods or blame motivation.</a:t>
            </a:r>
            <a:endParaRPr lang="en-US" sz="2080" dirty="0"/>
          </a:p>
        </p:txBody>
      </p:sp>
      <p:sp>
        <p:nvSpPr>
          <p:cNvPr id="11" name="Shape 9"/>
          <p:cNvSpPr/>
          <p:nvPr/>
        </p:nvSpPr>
        <p:spPr>
          <a:xfrm>
            <a:off x="6537960" y="2624328"/>
            <a:ext cx="4160520" cy="0"/>
          </a:xfrm>
          <a:prstGeom prst="line">
            <a:avLst/>
          </a:prstGeom>
          <a:noFill/>
          <a:ln w="13970">
            <a:solidFill>
              <a:srgbClr val="3467A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 review loop examines…</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diagnosis</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alliance</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implementation</a:t>
            </a:r>
            <a:endParaRPr lang="en-US" sz="1140" dirty="0"/>
          </a:p>
        </p:txBody>
      </p:sp>
      <p:sp>
        <p:nvSpPr>
          <p:cNvPr id="16" name="Text 14"/>
          <p:cNvSpPr/>
          <p:nvPr/>
        </p:nvSpPr>
        <p:spPr>
          <a:xfrm>
            <a:off x="10080346" y="2331720"/>
            <a:ext cx="755294"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access</a:t>
            </a:r>
            <a:endParaRPr lang="en-US" sz="1140" dirty="0"/>
          </a:p>
        </p:txBody>
      </p:sp>
      <p:sp>
        <p:nvSpPr>
          <p:cNvPr id="17" name="Text 15"/>
          <p:cNvSpPr/>
          <p:nvPr/>
        </p:nvSpPr>
        <p:spPr>
          <a:xfrm>
            <a:off x="7086600" y="3401568"/>
            <a:ext cx="3063240" cy="914400"/>
          </a:xfrm>
          <a:prstGeom prst="rect">
            <a:avLst/>
          </a:prstGeom>
          <a:solidFill>
            <a:srgbClr val="EAF0F8"/>
          </a:solidFill>
          <a:ln w="13970">
            <a:solidFill>
              <a:srgbClr val="3467A6">
                <a:alpha val="75000"/>
              </a:srgbClr>
            </a:solidFill>
          </a:ln>
        </p:spPr>
        <p:txBody>
          <a:bodyPr wrap="square" lIns="635" tIns="635" rIns="635" bIns="635"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A review loop examines…</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Reassess safety, medical and substance factors, diagnosis, formulation, alliance with each…</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Revision may mean repairing the alliance, simplifying the task, changing modality, increasing…</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Do Not Technique-Shop</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Revision may mean repairing the alliance, simplifying the task, changing modality, increasing support, consulting, referring, or selecting 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LMFT WORKBOOK 09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WB09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Avoid choosing a named technique before identifying the target, processing trauma during acute dysregulation, treating ambivalence as resistance,…</a:t>
            </a:r>
            <a:endParaRPr lang="en-US" sz="2080" dirty="0"/>
          </a:p>
        </p:txBody>
      </p:sp>
      <p:sp>
        <p:nvSpPr>
          <p:cNvPr id="11" name="Text 9"/>
          <p:cNvSpPr/>
          <p:nvPr/>
        </p:nvSpPr>
        <p:spPr>
          <a:xfrm>
            <a:off x="6446520" y="2011680"/>
            <a:ext cx="2103120" cy="1097280"/>
          </a:xfrm>
          <a:prstGeom prst="rect">
            <a:avLst/>
          </a:prstGeom>
          <a:solidFill>
            <a:srgbClr val="EAF0F8"/>
          </a:solidFill>
          <a:ln w="11430">
            <a:solidFill>
              <a:srgbClr val="3467A6"/>
            </a:solidFill>
          </a:ln>
        </p:spPr>
        <p:txBody>
          <a:bodyPr wrap="square" lIns="1016" tIns="1016" rIns="1016" bIns="1016" rtlCol="0" anchor="ctr">
            <a:normAutofit/>
          </a:bodyPr>
          <a:lstStyle/>
          <a:p>
            <a:pPr algn="ctr" indent="0" marL="0">
              <a:buNone/>
            </a:pPr>
            <a:r>
              <a:rPr lang="en-US" sz="1500" b="1" dirty="0">
                <a:solidFill>
                  <a:srgbClr val="3467A6"/>
                </a:solidFill>
                <a:latin typeface="Aptos Display" pitchFamily="34" charset="0"/>
                <a:ea typeface="Aptos Display" pitchFamily="34" charset="-122"/>
                <a:cs typeface="Aptos Display" pitchFamily="34" charset="-120"/>
              </a:rPr>
              <a:t>Trap cards show trauma…</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confrontation of ambivalence</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automatic conjoint work</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ignored medical risk</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strongest answer fits the stage, mechanism, client system, access, and response data.</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strongest answer fits the stage, mechanism, client system, access, and response data.</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Good Technique Can Still Be the Wrong Answer</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strongest answer fits the stage, mechanism, client system, access, and response data.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LMFT WORKBOOK 09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WB09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Trauma and Reassurance Cycle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client with trauma-related panic repeatedly calls a partner for reassurance.</a:t>
            </a:r>
            <a:endParaRPr lang="en-US" sz="2080" dirty="0"/>
          </a:p>
        </p:txBody>
      </p:sp>
      <p:sp>
        <p:nvSpPr>
          <p:cNvPr id="11" name="Shape 9"/>
          <p:cNvSpPr/>
          <p:nvPr/>
        </p:nvSpPr>
        <p:spPr>
          <a:xfrm>
            <a:off x="6537960" y="2148840"/>
            <a:ext cx="4160520" cy="2743200"/>
          </a:xfrm>
          <a:prstGeom prst="rect">
            <a:avLst>
              <a:gd name="adj" fmla="val 3333"/>
            </a:avLst>
          </a:prstGeom>
          <a:solidFill>
            <a:srgbClr val="EAF0F8"/>
          </a:solidFill>
          <a:ln w="15240">
            <a:solidFill>
              <a:srgbClr val="3467A6">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3467A6"/>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3467A6">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partner cancels work and remains physically present, which reduces distress briefly but…</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response combines individual skill building and relational change because both are…</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Validate the Protection, Change the Maintaining Cycle</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response combines individual skill building and relational change because both are supported by the formulation.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467A6"/>
          </a:solidFill>
          <a:ln w="12700">
            <a:solidFill>
              <a:srgbClr val="3467A6">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467A6"/>
                </a:solidFill>
                <a:latin typeface="Aptos" pitchFamily="34" charset="0"/>
                <a:ea typeface="Aptos" pitchFamily="34" charset="-122"/>
                <a:cs typeface="Aptos" pitchFamily="34" charset="-120"/>
              </a:rPr>
              <a:t>LMFT WORKBOOK 09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WB09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467A6"/>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Before answering each Workbook 9 question, write one phrase for formulation, immediacy, target, suitability, and response measure.</a:t>
            </a:r>
            <a:endParaRPr lang="en-US" sz="2080" dirty="0"/>
          </a:p>
        </p:txBody>
      </p:sp>
      <p:sp>
        <p:nvSpPr>
          <p:cNvPr id="11" name="Shape 9"/>
          <p:cNvSpPr/>
          <p:nvPr/>
        </p:nvSpPr>
        <p:spPr>
          <a:xfrm>
            <a:off x="6537960" y="2624328"/>
            <a:ext cx="4160520" cy="0"/>
          </a:xfrm>
          <a:prstGeom prst="line">
            <a:avLst/>
          </a:prstGeom>
          <a:noFill/>
          <a:ln w="13970">
            <a:solidFill>
              <a:srgbClr val="3467A6">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Formulation</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Urgency</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Target</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Fit</a:t>
            </a:r>
            <a:endParaRPr lang="en-US" sz="1140" dirty="0"/>
          </a:p>
        </p:txBody>
      </p:sp>
      <p:sp>
        <p:nvSpPr>
          <p:cNvPr id="16" name="Text 14"/>
          <p:cNvSpPr/>
          <p:nvPr/>
        </p:nvSpPr>
        <p:spPr>
          <a:xfrm>
            <a:off x="10080346" y="2331720"/>
            <a:ext cx="755294" cy="594360"/>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Measure</a:t>
            </a:r>
            <a:endParaRPr lang="en-US" sz="1140" dirty="0"/>
          </a:p>
        </p:txBody>
      </p:sp>
      <p:sp>
        <p:nvSpPr>
          <p:cNvPr id="17" name="Text 15"/>
          <p:cNvSpPr/>
          <p:nvPr/>
        </p:nvSpPr>
        <p:spPr>
          <a:xfrm>
            <a:off x="7086600" y="3401568"/>
            <a:ext cx="3063240" cy="914400"/>
          </a:xfrm>
          <a:prstGeom prst="rect">
            <a:avLst/>
          </a:prstGeom>
          <a:solidFill>
            <a:srgbClr val="EAF0F8"/>
          </a:solidFill>
          <a:ln w="13970">
            <a:solidFill>
              <a:srgbClr val="3467A6">
                <a:alpha val="75000"/>
              </a:srgbClr>
            </a:solidFill>
          </a:ln>
        </p:spPr>
        <p:txBody>
          <a:bodyPr wrap="square" lIns="635" tIns="635" rIns="635" bIns="635"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Formulation</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the error log, mark whether you chose a familiar technique too soon, ignored readiness or…</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is to match a change process to the supported maintaining mechanism.</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467A6"/>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Formulation • Urgency • Target • Fit • Measure</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467A6"/>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It is to match a change process to the supported maintaining mechanism.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Workbook 09 Companion: Workbook 9 Companion: Trauma, Psychological, Behavioral, and Recovery Interventions</dc:title>
  <dc:subject>LMFT Workbook 09 Companion</dc:subject>
  <dc:creator>Clinical Training Academy</dc:creator>
  <cp:lastModifiedBy>Clinical Training Academy</cp:lastModifiedBy>
  <cp:revision>1</cp:revision>
  <dcterms:created xsi:type="dcterms:W3CDTF">2026-07-25T22:10:42Z</dcterms:created>
  <dcterms:modified xsi:type="dcterms:W3CDTF">2026-07-25T22:10:42Z</dcterms:modified>
</cp:coreProperties>
</file>