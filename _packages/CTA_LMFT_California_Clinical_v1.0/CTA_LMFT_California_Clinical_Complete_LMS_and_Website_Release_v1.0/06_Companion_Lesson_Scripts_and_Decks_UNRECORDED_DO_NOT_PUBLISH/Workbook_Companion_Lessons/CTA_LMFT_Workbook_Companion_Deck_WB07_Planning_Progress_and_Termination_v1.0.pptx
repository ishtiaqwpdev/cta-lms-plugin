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treatment plan is not a list of techniques. It is a defensible chain from assessment and systemic formulation to priority, goal, intervention, outcome measure, review, revision, and termination. The plan should identify what needs to change, why the selected action is expected to help, who will participate, how progress will be observed, and when the plan will be reviewed. Workbook 7 helps you avoid two common exam errors: choosing an intervention before defining the target and continuing an ineffective plan without reassessment.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means prioritize what requires attention first, including safety, impairment, relational disruption, and client priorities. L means link the target to a systemic or clinical formulation. A means agree on the client or client system, roles, readiness, and collaborative goals. N means name a specific action, responsible participant, time frame, and observable outcome. E means evaluate symptoms, functioning, interaction, alliance, implementation, and barriers. R means revise by reassessing, repairing, modifying, consulting, referring, changing intensity, or preparing for closure. The sequence keeps the plan connected to evidence and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“Communicate more,” “stop fighting,” or “feel less anxious” are too vague for strong exam reasoning. A useful goal names the behavior, context, frequency, time frame, and functional or relational outcome. A couple may use a structured ten-minute check-in twice weekly without criticism or withdrawal. Parents may maintain a coordinated response to limit-setting in four of five identified situations. The plan should reflect the client system’s priorities and developmental, cultural, access, and readiness factors. Measurable does not mean rigid; it means the therapist and client can recognize whether change is occurring.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unit of treatment and modality deliberately. An individual symptom may be maintained by a couple cycle, family hierarchy, caregiving burden, or environmental barrier. A relational problem may still require individual safety assessment or specialty care. Match the intervention to the theory’s mechanism of change: boundaries and hierarchy for structural work, avoidance and reinforcement for cognitive-behavioral work, attachment responses for emotionally focused work, or meaning and exceptions for postmodern approaches. Safety, medical need, competence, and level of care always limit the available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begins when the plan is written. Review symptoms, functioning, target interactions, alliance, attendance, between-session practice, access barriers, and client feedback. Lack of progress calls for reassessing formulation, diagnosis, safety, treatment unit, readiness, implementation, and fit—not automatic continuation or blame. When ending is appropriate, use CLOSE. Confirm progress, risks, and remaining needs. Look at the alliance and meaning of ending. Organize aftercare, referrals, transfer, and support. Summarize gains, strategies, warning signs, and relapse plans. End transparently with appropriate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traps include treating every problem as equal, using the referral label to define the treatment unit permanently, imposing one person’s goal on the system, naming a theory without linking it to the maintaining pattern, creating a list of interventions without an outcome measure, repeating the same plan because the client attends, escalating homework without assessing barriers, labeling the family resistant, or terminating abruptly to avoid dependence. Strong answers keep the plan collaborative, coherent, measurable, and open to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bring a child for school refusal. Assessment shows that parental conflict about discipline escalates before the child’s symptoms, and the child becomes involved in the dispute. A weak plan treats only the child’s anxiety because the child was the referral target. A stronger plan revisits the treatment unit, clarifies each parent’s goals, formulates the conflict and boundary pattern, and develops observable parent and child goals. The therapist may still support the child individually, but the systemic plan addresses the pattern maintaining the symptom and defines how progress will be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Workbook 7 question, write the priority, the formulation, the client system, the goal, the intervention, the outcome measure, and the review point. For missed items, identify whether you chose a technique without a target, accepted the referral unit without reassessment, ignored alliance or access, or failed to revise after nonresponse. Practice the CLOSE steps before the termination questions so you remember that endings require planning, continuity, and clinical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01/8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01</a:t>
            </a:r>
            <a:endParaRPr lang="en-US" sz="3200" dirty="0"/>
          </a:p>
        </p:txBody>
      </p:sp>
      <p:sp>
        <p:nvSpPr>
          <p:cNvPr id="9" name="Text 7"/>
          <p:cNvSpPr/>
          <p:nvPr/>
        </p:nvSpPr>
        <p:spPr>
          <a:xfrm>
            <a:off x="566928" y="914400"/>
            <a:ext cx="3840480" cy="310896"/>
          </a:xfrm>
          <a:prstGeom prst="rect">
            <a:avLst/>
          </a:prstGeom>
          <a:noFill/>
          <a:ln/>
        </p:spPr>
        <p:txBody>
          <a:bodyPr wrap="square" lIns="0" tIns="0" rIns="0" bIns="0" rtlCol="0" anchor="ctr"/>
          <a:lstStyle/>
          <a:p>
            <a:pPr indent="0" marL="0">
              <a:buNone/>
            </a:pPr>
            <a:r>
              <a:rPr lang="en-US" sz="1420" b="1" dirty="0">
                <a:solidFill>
                  <a:srgbClr val="D66B4A"/>
                </a:solidFill>
                <a:latin typeface="Aptos" pitchFamily="34" charset="0"/>
                <a:ea typeface="Aptos" pitchFamily="34" charset="-122"/>
                <a:cs typeface="Aptos" pitchFamily="34" charset="-120"/>
              </a:rPr>
              <a:t>Workbook 7 Companion</a:t>
            </a:r>
            <a:endParaRPr lang="en-US" sz="1420" dirty="0"/>
          </a:p>
        </p:txBody>
      </p:sp>
      <p:sp>
        <p:nvSpPr>
          <p:cNvPr id="10" name="Text 8"/>
          <p:cNvSpPr/>
          <p:nvPr/>
        </p:nvSpPr>
        <p:spPr>
          <a:xfrm>
            <a:off x="566928" y="1298448"/>
            <a:ext cx="6583680" cy="1024128"/>
          </a:xfrm>
          <a:prstGeom prst="rect">
            <a:avLst/>
          </a:prstGeom>
          <a:noFill/>
          <a:ln/>
        </p:spPr>
        <p:txBody>
          <a:bodyPr wrap="square" lIns="127" tIns="127" rIns="127" bIns="127" rtlCol="0" anchor="ctr">
            <a:normAutofit/>
          </a:bodyPr>
          <a:lstStyle/>
          <a:p>
            <a:pPr indent="0" marL="0">
              <a:buNone/>
            </a:pPr>
            <a:r>
              <a:rPr lang="en-US" sz="3100" b="1" dirty="0">
                <a:solidFill>
                  <a:srgbClr val="10263F"/>
                </a:solidFill>
                <a:latin typeface="Aptos Display" pitchFamily="34" charset="0"/>
                <a:ea typeface="Aptos Display" pitchFamily="34" charset="-122"/>
                <a:cs typeface="Aptos Display" pitchFamily="34" charset="-120"/>
              </a:rPr>
              <a:t>Planning, Progress, and Termination</a:t>
            </a:r>
            <a:endParaRPr lang="en-US" sz="3100" dirty="0"/>
          </a:p>
        </p:txBody>
      </p:sp>
      <p:sp>
        <p:nvSpPr>
          <p:cNvPr id="11" name="Text 9"/>
          <p:cNvSpPr/>
          <p:nvPr/>
        </p:nvSpPr>
        <p:spPr>
          <a:xfrm>
            <a:off x="585216" y="2432304"/>
            <a:ext cx="5852160" cy="310896"/>
          </a:xfrm>
          <a:prstGeom prst="rect">
            <a:avLst/>
          </a:prstGeom>
          <a:noFill/>
          <a:ln/>
        </p:spPr>
        <p:txBody>
          <a:bodyPr wrap="square" lIns="0" tIns="0" rIns="0" bIns="0" rtlCol="0" anchor="ctr"/>
          <a:lstStyle/>
          <a:p>
            <a:pPr indent="0" marL="0">
              <a:buNone/>
            </a:pPr>
            <a:r>
              <a:rPr lang="en-US" sz="1320" dirty="0">
                <a:solidFill>
                  <a:srgbClr val="5A6675"/>
                </a:solidFill>
                <a:latin typeface="Aptos" pitchFamily="34" charset="0"/>
                <a:ea typeface="Aptos" pitchFamily="34" charset="-122"/>
                <a:cs typeface="Aptos" pitchFamily="34" charset="-120"/>
              </a:rPr>
              <a:t>Ready-to-record CTA workbook companion deck</a:t>
            </a:r>
            <a:endParaRPr lang="en-US" sz="1320" dirty="0"/>
          </a:p>
        </p:txBody>
      </p:sp>
      <p:sp>
        <p:nvSpPr>
          <p:cNvPr id="12" name="Text 10"/>
          <p:cNvSpPr/>
          <p:nvPr/>
        </p:nvSpPr>
        <p:spPr>
          <a:xfrm>
            <a:off x="7571232" y="1810512"/>
            <a:ext cx="3429000" cy="1188720"/>
          </a:xfrm>
          <a:prstGeom prst="rect">
            <a:avLst/>
          </a:prstGeom>
          <a:noFill/>
          <a:ln/>
        </p:spPr>
        <p:txBody>
          <a:bodyPr wrap="square" lIns="254" tIns="254" rIns="254" bIns="254" rtlCol="0" anchor="ctr">
            <a:normAutofit/>
          </a:bodyPr>
          <a:lstStyle/>
          <a:p>
            <a:pPr indent="0" marL="0">
              <a:buNone/>
            </a:pPr>
            <a:r>
              <a:rPr lang="en-US" sz="1960" b="1" dirty="0">
                <a:solidFill>
                  <a:srgbClr val="1D2838"/>
                </a:solidFill>
                <a:latin typeface="Aptos Display" pitchFamily="34" charset="0"/>
                <a:ea typeface="Aptos Display" pitchFamily="34" charset="-122"/>
                <a:cs typeface="Aptos Display" pitchFamily="34" charset="-120"/>
              </a:rPr>
              <a:t>A treatment plan is not a list of techniques.</a:t>
            </a:r>
            <a:endParaRPr lang="en-US" sz="1960" dirty="0"/>
          </a:p>
        </p:txBody>
      </p:sp>
      <p:sp>
        <p:nvSpPr>
          <p:cNvPr id="13" name="Text 11"/>
          <p:cNvSpPr/>
          <p:nvPr/>
        </p:nvSpPr>
        <p:spPr>
          <a:xfrm>
            <a:off x="7552944" y="5468112"/>
            <a:ext cx="3520440" cy="384048"/>
          </a:xfrm>
          <a:prstGeom prst="rect">
            <a:avLst/>
          </a:prstGeom>
          <a:noFill/>
          <a:ln/>
        </p:spPr>
        <p:txBody>
          <a:bodyPr wrap="square" lIns="0" tIns="0" rIns="0" bIns="0" rtlCol="0" anchor="ctr">
            <a:normAutofit/>
          </a:bodyPr>
          <a:lstStyle/>
          <a:p>
            <a:pPr indent="0" marL="0">
              <a:buNone/>
            </a:pPr>
            <a:r>
              <a:rPr lang="en-US" sz="1220" dirty="0">
                <a:solidFill>
                  <a:srgbClr val="5A6675"/>
                </a:solidFill>
                <a:latin typeface="Aptos" pitchFamily="34" charset="0"/>
                <a:ea typeface="Aptos" pitchFamily="34" charset="-122"/>
                <a:cs typeface="Aptos" pitchFamily="34" charset="-120"/>
              </a:rPr>
              <a:t>Speaker notes are synchronized with the Word narration script.</a:t>
            </a:r>
            <a:endParaRPr lang="en-US" sz="1220" dirty="0"/>
          </a:p>
        </p:txBody>
      </p:sp>
      <p:sp>
        <p:nvSpPr>
          <p:cNvPr id="14" name="Text 12"/>
          <p:cNvSpPr/>
          <p:nvPr/>
        </p:nvSpPr>
        <p:spPr>
          <a:xfrm>
            <a:off x="585216" y="5340096"/>
            <a:ext cx="3429000" cy="301752"/>
          </a:xfrm>
          <a:prstGeom prst="rect">
            <a:avLst/>
          </a:prstGeom>
          <a:solidFill>
            <a:srgbClr val="D66B4A"/>
          </a:solidFill>
          <a:ln/>
        </p:spPr>
        <p:txBody>
          <a:bodyPr wrap="square" lIns="254" tIns="254" rIns="254" bIns="254" rtlCol="0" anchor="ctr"/>
          <a:lstStyle/>
          <a:p>
            <a:pPr algn="ctr" indent="0" marL="0">
              <a:buNone/>
            </a:pPr>
            <a:r>
              <a:rPr lang="en-US" sz="1030" b="1" dirty="0">
                <a:solidFill>
                  <a:srgbClr val="FFFFFF"/>
                </a:solidFill>
                <a:latin typeface="Aptos" pitchFamily="34" charset="0"/>
                <a:ea typeface="Aptos" pitchFamily="34" charset="-122"/>
                <a:cs typeface="Aptos" pitchFamily="34" charset="-120"/>
              </a:rPr>
              <a:t>8–10 MINUTE COMPANION LESSON</a:t>
            </a:r>
            <a:endParaRPr lang="en-US" sz="1030" dirty="0"/>
          </a:p>
        </p:txBody>
      </p:sp>
      <p:sp>
        <p:nvSpPr>
          <p:cNvPr id="15" name="Shape 13"/>
          <p:cNvSpPr/>
          <p:nvPr/>
        </p:nvSpPr>
        <p:spPr>
          <a:xfrm>
            <a:off x="795528" y="4114800"/>
            <a:ext cx="5394960" cy="0"/>
          </a:xfrm>
          <a:prstGeom prst="line">
            <a:avLst/>
          </a:prstGeom>
          <a:noFill/>
          <a:ln w="13970">
            <a:solidFill>
              <a:srgbClr val="D66B4A">
                <a:alpha val="75000"/>
              </a:srgbClr>
            </a:solidFill>
            <a:prstDash val="solid"/>
            <a:tailEnd type="triangle"/>
          </a:ln>
        </p:spPr>
      </p:sp>
      <p:sp>
        <p:nvSpPr>
          <p:cNvPr id="16" name="Text 14"/>
          <p:cNvSpPr/>
          <p:nvPr/>
        </p:nvSpPr>
        <p:spPr>
          <a:xfrm>
            <a:off x="658368"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Assessment</a:t>
            </a:r>
            <a:endParaRPr lang="en-US" sz="1140" dirty="0"/>
          </a:p>
        </p:txBody>
      </p:sp>
      <p:sp>
        <p:nvSpPr>
          <p:cNvPr id="17" name="Text 15"/>
          <p:cNvSpPr/>
          <p:nvPr/>
        </p:nvSpPr>
        <p:spPr>
          <a:xfrm>
            <a:off x="1825142"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Formulation</a:t>
            </a:r>
            <a:endParaRPr lang="en-US" sz="1140" dirty="0"/>
          </a:p>
        </p:txBody>
      </p:sp>
      <p:sp>
        <p:nvSpPr>
          <p:cNvPr id="18" name="Text 16"/>
          <p:cNvSpPr/>
          <p:nvPr/>
        </p:nvSpPr>
        <p:spPr>
          <a:xfrm>
            <a:off x="2991917"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Goal</a:t>
            </a:r>
            <a:endParaRPr lang="en-US" sz="1140" dirty="0"/>
          </a:p>
        </p:txBody>
      </p:sp>
      <p:sp>
        <p:nvSpPr>
          <p:cNvPr id="19" name="Text 17"/>
          <p:cNvSpPr/>
          <p:nvPr/>
        </p:nvSpPr>
        <p:spPr>
          <a:xfrm>
            <a:off x="4158691" y="3822192"/>
            <a:ext cx="100218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Action</a:t>
            </a:r>
            <a:endParaRPr lang="en-US" sz="1140" dirty="0"/>
          </a:p>
        </p:txBody>
      </p:sp>
      <p:sp>
        <p:nvSpPr>
          <p:cNvPr id="20" name="Text 18"/>
          <p:cNvSpPr/>
          <p:nvPr/>
        </p:nvSpPr>
        <p:spPr>
          <a:xfrm>
            <a:off x="5325466" y="3822192"/>
            <a:ext cx="1002182"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Review</a:t>
            </a:r>
            <a:endParaRPr lang="en-US" sz="1140" dirty="0"/>
          </a:p>
        </p:txBody>
      </p:sp>
      <p:sp>
        <p:nvSpPr>
          <p:cNvPr id="21" name="Text 19"/>
          <p:cNvSpPr/>
          <p:nvPr/>
        </p:nvSpPr>
        <p:spPr>
          <a:xfrm>
            <a:off x="7498080" y="3474720"/>
            <a:ext cx="1668780" cy="800100"/>
          </a:xfrm>
          <a:prstGeom prst="rect">
            <a:avLst/>
          </a:prstGeom>
          <a:solidFill>
            <a:srgbClr val="F9EAE5"/>
          </a:solidFill>
          <a:ln w="11430">
            <a:solidFill>
              <a:srgbClr val="D66B4A"/>
            </a:solidFill>
          </a:ln>
        </p:spPr>
        <p:txBody>
          <a:bodyPr wrap="square" lIns="1016" tIns="1016" rIns="1016" bIns="1016" rtlCol="0" anchor="ctr">
            <a:normAutofit/>
          </a:bodyPr>
          <a:lstStyle/>
          <a:p>
            <a:pPr algn="ctr" indent="0" marL="0">
              <a:buNone/>
            </a:pPr>
            <a:r>
              <a:rPr lang="en-US" sz="1500" b="1" dirty="0">
                <a:solidFill>
                  <a:srgbClr val="D66B4A"/>
                </a:solidFill>
                <a:latin typeface="Aptos Display" pitchFamily="34" charset="0"/>
                <a:ea typeface="Aptos Display" pitchFamily="34" charset="-122"/>
                <a:cs typeface="Aptos Display" pitchFamily="34" charset="-120"/>
              </a:rPr>
              <a:t>Assessment</a:t>
            </a:r>
            <a:endParaRPr lang="en-US" sz="1500" dirty="0"/>
          </a:p>
        </p:txBody>
      </p:sp>
      <p:sp>
        <p:nvSpPr>
          <p:cNvPr id="22" name="Text 20"/>
          <p:cNvSpPr/>
          <p:nvPr/>
        </p:nvSpPr>
        <p:spPr>
          <a:xfrm>
            <a:off x="9304020" y="347472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Formulation</a:t>
            </a:r>
            <a:endParaRPr lang="en-US" sz="1500" dirty="0"/>
          </a:p>
        </p:txBody>
      </p:sp>
      <p:sp>
        <p:nvSpPr>
          <p:cNvPr id="23" name="Text 21"/>
          <p:cNvSpPr/>
          <p:nvPr/>
        </p:nvSpPr>
        <p:spPr>
          <a:xfrm>
            <a:off x="749808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Goal</a:t>
            </a:r>
            <a:endParaRPr lang="en-US" sz="1500" dirty="0"/>
          </a:p>
        </p:txBody>
      </p:sp>
      <p:sp>
        <p:nvSpPr>
          <p:cNvPr id="24" name="Text 22"/>
          <p:cNvSpPr/>
          <p:nvPr/>
        </p:nvSpPr>
        <p:spPr>
          <a:xfrm>
            <a:off x="9304020" y="4411980"/>
            <a:ext cx="1668780" cy="80010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Action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02/8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02</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Use the PLAN-ER Sequence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 means prioritize what requires attention first, including safety, impairment, relational disruption, and client priorities.</a:t>
            </a:r>
            <a:endParaRPr lang="en-US" sz="2080" dirty="0"/>
          </a:p>
        </p:txBody>
      </p:sp>
      <p:sp>
        <p:nvSpPr>
          <p:cNvPr id="11" name="Text 9"/>
          <p:cNvSpPr/>
          <p:nvPr/>
        </p:nvSpPr>
        <p:spPr>
          <a:xfrm>
            <a:off x="6629400" y="1874520"/>
            <a:ext cx="3886200" cy="438912"/>
          </a:xfrm>
          <a:prstGeom prst="rect">
            <a:avLst/>
          </a:prstGeom>
          <a:solidFill>
            <a:srgbClr val="FFFFFF"/>
          </a:solidFill>
          <a:ln w="10795">
            <a:solidFill>
              <a:srgbClr val="D66B4A"/>
            </a:solidFill>
          </a:ln>
        </p:spPr>
        <p:txBody>
          <a:bodyPr wrap="square" lIns="508" tIns="508" rIns="508" bIns="508" rtlCol="0" anchor="ctr">
            <a:normAutofit/>
          </a:bodyPr>
          <a:lstStyle/>
          <a:p>
            <a:pPr algn="ctr" indent="0" marL="0">
              <a:buNone/>
            </a:pPr>
            <a:r>
              <a:rPr lang="en-US" sz="1220" b="1" dirty="0">
                <a:solidFill>
                  <a:srgbClr val="D66B4A"/>
                </a:solidFill>
                <a:latin typeface="Aptos" pitchFamily="34" charset="0"/>
                <a:ea typeface="Aptos" pitchFamily="34" charset="-122"/>
                <a:cs typeface="Aptos" pitchFamily="34" charset="-120"/>
              </a:rPr>
              <a:t>Prioritize</a:t>
            </a:r>
            <a:endParaRPr lang="en-US" sz="1220" dirty="0"/>
          </a:p>
        </p:txBody>
      </p:sp>
      <p:sp>
        <p:nvSpPr>
          <p:cNvPr id="12" name="Text 10"/>
          <p:cNvSpPr/>
          <p:nvPr/>
        </p:nvSpPr>
        <p:spPr>
          <a:xfrm>
            <a:off x="6793992" y="2368296"/>
            <a:ext cx="3557016" cy="438912"/>
          </a:xfrm>
          <a:prstGeom prst="rect">
            <a:avLst/>
          </a:prstGeom>
          <a:solidFill>
            <a:srgbClr val="F9EA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Link</a:t>
            </a:r>
            <a:endParaRPr lang="en-US" sz="1220" dirty="0"/>
          </a:p>
        </p:txBody>
      </p:sp>
      <p:sp>
        <p:nvSpPr>
          <p:cNvPr id="13" name="Text 11"/>
          <p:cNvSpPr/>
          <p:nvPr/>
        </p:nvSpPr>
        <p:spPr>
          <a:xfrm>
            <a:off x="6958584" y="2862072"/>
            <a:ext cx="3227832"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Agree</a:t>
            </a:r>
            <a:endParaRPr lang="en-US" sz="1220" dirty="0"/>
          </a:p>
        </p:txBody>
      </p:sp>
      <p:sp>
        <p:nvSpPr>
          <p:cNvPr id="14" name="Text 12"/>
          <p:cNvSpPr/>
          <p:nvPr/>
        </p:nvSpPr>
        <p:spPr>
          <a:xfrm>
            <a:off x="7123176" y="3355848"/>
            <a:ext cx="2898648" cy="438912"/>
          </a:xfrm>
          <a:prstGeom prst="rect">
            <a:avLst/>
          </a:prstGeom>
          <a:solidFill>
            <a:srgbClr val="F9EAE5"/>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Name</a:t>
            </a:r>
            <a:endParaRPr lang="en-US" sz="1220" dirty="0"/>
          </a:p>
        </p:txBody>
      </p:sp>
      <p:sp>
        <p:nvSpPr>
          <p:cNvPr id="15" name="Text 13"/>
          <p:cNvSpPr/>
          <p:nvPr/>
        </p:nvSpPr>
        <p:spPr>
          <a:xfrm>
            <a:off x="7287768" y="3849624"/>
            <a:ext cx="2569464" cy="438912"/>
          </a:xfrm>
          <a:prstGeom prst="rect">
            <a:avLst/>
          </a:prstGeom>
          <a:solidFill>
            <a:srgbClr val="FFFFFF"/>
          </a:solidFill>
          <a:ln w="10795">
            <a:solidFill>
              <a:srgbClr val="D9E0E8"/>
            </a:solidFill>
          </a:ln>
        </p:spPr>
        <p:txBody>
          <a:bodyPr wrap="square" lIns="508" tIns="508" rIns="508" bIns="508" rtlCol="0" anchor="ctr">
            <a:normAutofit/>
          </a:bodyPr>
          <a:lstStyle/>
          <a:p>
            <a:pPr algn="ctr" indent="0" marL="0">
              <a:buNone/>
            </a:pPr>
            <a:r>
              <a:rPr lang="en-US" sz="1220" dirty="0">
                <a:solidFill>
                  <a:srgbClr val="1D2838"/>
                </a:solidFill>
                <a:latin typeface="Aptos" pitchFamily="34" charset="0"/>
                <a:ea typeface="Aptos" pitchFamily="34" charset="-122"/>
                <a:cs typeface="Aptos" pitchFamily="34" charset="-120"/>
              </a:rPr>
              <a:t>Evaluate</a:t>
            </a:r>
            <a:endParaRPr lang="en-US" sz="122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L means link the target to a systemic or clinical formulation.</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sequence keeps the plan connected to evidence and response.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Prioritize • Link • Agree • Name • Evaluate • Revise</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sequence keeps the plan connected to evidence and response.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03/8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03</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Make Goals Collaborative and Measurable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“Communicate more,” “stop fighting,” or “feel less anxious” are too vague for strong exam reasoning.</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Clarify</a:t>
            </a:r>
            <a:endParaRPr lang="en-US" sz="1140" dirty="0"/>
          </a:p>
        </p:txBody>
      </p:sp>
      <p:sp>
        <p:nvSpPr>
          <p:cNvPr id="13" name="Text 11"/>
          <p:cNvSpPr/>
          <p:nvPr/>
        </p:nvSpPr>
        <p:spPr>
          <a:xfrm>
            <a:off x="7933944" y="2331720"/>
            <a:ext cx="1368552"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Assess</a:t>
            </a:r>
            <a:endParaRPr lang="en-US" sz="1140" dirty="0"/>
          </a:p>
        </p:txBody>
      </p:sp>
      <p:sp>
        <p:nvSpPr>
          <p:cNvPr id="14" name="Text 12"/>
          <p:cNvSpPr/>
          <p:nvPr/>
        </p:nvSpPr>
        <p:spPr>
          <a:xfrm>
            <a:off x="9467088" y="2331720"/>
            <a:ext cx="1368552"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Choose</a:t>
            </a:r>
            <a:endParaRPr lang="en-US" sz="1140" dirty="0"/>
          </a:p>
        </p:txBody>
      </p:sp>
      <p:sp>
        <p:nvSpPr>
          <p:cNvPr id="15" name="Text 13"/>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Clarify</a:t>
            </a:r>
            <a:endParaRPr lang="en-US" sz="2200" dirty="0"/>
          </a:p>
        </p:txBody>
      </p:sp>
      <p:sp>
        <p:nvSpPr>
          <p:cNvPr id="16" name="Text 14"/>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7" name="Text 15"/>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useful goal names the behavior, context, frequency, time frame, and functional or relational…</a:t>
            </a:r>
            <a:endParaRPr lang="en-US" sz="1330" dirty="0"/>
          </a:p>
        </p:txBody>
      </p:sp>
      <p:sp>
        <p:nvSpPr>
          <p:cNvPr id="18" name="Text 16"/>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Measurable does not mean rigid; it means the therapist and client can recognize whether change…</a:t>
            </a:r>
            <a:endParaRPr lang="en-US" sz="1330" dirty="0"/>
          </a:p>
        </p:txBody>
      </p:sp>
      <p:sp>
        <p:nvSpPr>
          <p:cNvPr id="20" name="Text 18"/>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Specific Enough to Recognize Progress</a:t>
            </a:r>
            <a:endParaRPr lang="en-US" sz="1330" dirty="0"/>
          </a:p>
        </p:txBody>
      </p:sp>
      <p:sp>
        <p:nvSpPr>
          <p:cNvPr id="22" name="Text 20"/>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3" name="Text 21"/>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Measurable does not mean rigid; it means the therapist and client can recognize whether change is occurring.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04/8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04</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Match the Unit, Theory, Modality, and Level of Care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Choose the unit of treatment and modality deliberately.</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 formulation points to…</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couple</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family</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group</a:t>
            </a:r>
            <a:endParaRPr lang="en-US" sz="1140" dirty="0"/>
          </a:p>
        </p:txBody>
      </p:sp>
      <p:sp>
        <p:nvSpPr>
          <p:cNvPr id="16" name="Text 14"/>
          <p:cNvSpPr/>
          <p:nvPr/>
        </p:nvSpPr>
        <p:spPr>
          <a:xfrm>
            <a:off x="10080346" y="2331720"/>
            <a:ext cx="755294"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coordinated</a:t>
            </a:r>
            <a:endParaRPr lang="en-US" sz="1140" dirty="0"/>
          </a:p>
        </p:txBody>
      </p:sp>
      <p:sp>
        <p:nvSpPr>
          <p:cNvPr id="17" name="Text 15"/>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A formulation points to…</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An individual symptom may be maintained by a couple cycle, family hierarchy, caregiving…</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Safety, medical need, competence, and level of care always limit the available options.</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Plan Must Fit the Maintaining Pattern</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Safety, medical need, competence, and level of care always limit the available options.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05/8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05</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Monitor Progress, Repair, and Terminate With CLOSE</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Monitoring begins when the plan is written.</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Confirm</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Look</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Organize</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Summarize</a:t>
            </a:r>
            <a:endParaRPr lang="en-US" sz="1140" dirty="0"/>
          </a:p>
        </p:txBody>
      </p:sp>
      <p:sp>
        <p:nvSpPr>
          <p:cNvPr id="16" name="Text 14"/>
          <p:cNvSpPr/>
          <p:nvPr/>
        </p:nvSpPr>
        <p:spPr>
          <a:xfrm>
            <a:off x="10080346" y="2331720"/>
            <a:ext cx="755294"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End</a:t>
            </a:r>
            <a:endParaRPr lang="en-US" sz="1140" dirty="0"/>
          </a:p>
        </p:txBody>
      </p:sp>
      <p:sp>
        <p:nvSpPr>
          <p:cNvPr id="17" name="Text 15"/>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Confirm</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Review symptoms, functioning, target interactions, alliance, attendance, between-session…</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End transparently with appropriate documentation.</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Confirm • Look • Organize • Summarize • End</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End transparently with appropriate documentation.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06/8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06</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Common Exam Traps</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Common traps include treating every problem as equal, using the referral label to define the treatment unit permanently, imposing one person’s goal…</a:t>
            </a:r>
            <a:endParaRPr lang="en-US" sz="2080" dirty="0"/>
          </a:p>
        </p:txBody>
      </p:sp>
      <p:sp>
        <p:nvSpPr>
          <p:cNvPr id="11" name="Text 9"/>
          <p:cNvSpPr/>
          <p:nvPr/>
        </p:nvSpPr>
        <p:spPr>
          <a:xfrm>
            <a:off x="6446520" y="2011680"/>
            <a:ext cx="2103120" cy="1097280"/>
          </a:xfrm>
          <a:prstGeom prst="rect">
            <a:avLst/>
          </a:prstGeom>
          <a:solidFill>
            <a:srgbClr val="F9EAE5"/>
          </a:solidFill>
          <a:ln w="11430">
            <a:solidFill>
              <a:srgbClr val="D66B4A"/>
            </a:solidFill>
          </a:ln>
        </p:spPr>
        <p:txBody>
          <a:bodyPr wrap="square" lIns="1016" tIns="1016" rIns="1016" bIns="1016" rtlCol="0" anchor="ctr">
            <a:normAutofit/>
          </a:bodyPr>
          <a:lstStyle/>
          <a:p>
            <a:pPr algn="ctr" indent="0" marL="0">
              <a:buNone/>
            </a:pPr>
            <a:r>
              <a:rPr lang="en-US" sz="1500" b="1" dirty="0">
                <a:solidFill>
                  <a:srgbClr val="D66B4A"/>
                </a:solidFill>
                <a:latin typeface="Aptos Display" pitchFamily="34" charset="0"/>
                <a:ea typeface="Aptos Display" pitchFamily="34" charset="-122"/>
                <a:cs typeface="Aptos Display" pitchFamily="34" charset="-120"/>
              </a:rPr>
              <a:t>Trap cards show vague goals</a:t>
            </a:r>
            <a:endParaRPr lang="en-US" sz="1500" dirty="0"/>
          </a:p>
        </p:txBody>
      </p:sp>
      <p:sp>
        <p:nvSpPr>
          <p:cNvPr id="12" name="Text 10"/>
          <p:cNvSpPr/>
          <p:nvPr/>
        </p:nvSpPr>
        <p:spPr>
          <a:xfrm>
            <a:off x="8686800" y="201168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technique lists</a:t>
            </a:r>
            <a:endParaRPr lang="en-US" sz="1500" dirty="0"/>
          </a:p>
        </p:txBody>
      </p:sp>
      <p:sp>
        <p:nvSpPr>
          <p:cNvPr id="13" name="Text 11"/>
          <p:cNvSpPr/>
          <p:nvPr/>
        </p:nvSpPr>
        <p:spPr>
          <a:xfrm>
            <a:off x="644652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fixed referral unit</a:t>
            </a:r>
            <a:endParaRPr lang="en-US" sz="1500" dirty="0"/>
          </a:p>
        </p:txBody>
      </p:sp>
      <p:sp>
        <p:nvSpPr>
          <p:cNvPr id="14" name="Text 12"/>
          <p:cNvSpPr/>
          <p:nvPr/>
        </p:nvSpPr>
        <p:spPr>
          <a:xfrm>
            <a:off x="8686800" y="3246120"/>
            <a:ext cx="2103120" cy="1097280"/>
          </a:xfrm>
          <a:prstGeom prst="rect">
            <a:avLst/>
          </a:prstGeom>
          <a:solidFill>
            <a:srgbClr val="FFFFFF"/>
          </a:solidFill>
          <a:ln w="11430">
            <a:solidFill>
              <a:srgbClr val="D9E0E8"/>
            </a:solidFill>
          </a:ln>
        </p:spPr>
        <p:txBody>
          <a:bodyPr wrap="square" lIns="1016" tIns="1016" rIns="1016" bIns="1016" rtlCol="0" anchor="ctr">
            <a:normAutofit/>
          </a:bodyPr>
          <a:lstStyle/>
          <a:p>
            <a:pPr algn="ctr" indent="0" marL="0">
              <a:buNone/>
            </a:pPr>
            <a:r>
              <a:rPr lang="en-US" sz="1500" b="1" dirty="0">
                <a:solidFill>
                  <a:srgbClr val="1D2838"/>
                </a:solidFill>
                <a:latin typeface="Aptos Display" pitchFamily="34" charset="0"/>
                <a:ea typeface="Aptos Display" pitchFamily="34" charset="-122"/>
                <a:cs typeface="Aptos Display" pitchFamily="34" charset="-120"/>
              </a:rPr>
              <a:t>no outcome measure</a:t>
            </a:r>
            <a:endParaRPr lang="en-US" sz="1500" dirty="0"/>
          </a:p>
        </p:txBody>
      </p:sp>
      <p:sp>
        <p:nvSpPr>
          <p:cNvPr id="15" name="Text 13"/>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6" name="Text 14"/>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keep the plan collaborative, coherent, measurable, and open to revision.</a:t>
            </a:r>
            <a:endParaRPr lang="en-US" sz="1330" dirty="0"/>
          </a:p>
        </p:txBody>
      </p:sp>
      <p:sp>
        <p:nvSpPr>
          <p:cNvPr id="17" name="Text 15"/>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8" name="Text 16"/>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Strong answers keep the plan collaborative, coherent, measurable, and open to revision.</a:t>
            </a:r>
            <a:endParaRPr lang="en-US" sz="1330" dirty="0"/>
          </a:p>
        </p:txBody>
      </p:sp>
      <p:sp>
        <p:nvSpPr>
          <p:cNvPr id="19" name="Text 17"/>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 Plan Must Be Testable and Revisable</a:t>
            </a:r>
            <a:endParaRPr lang="en-US" sz="1330" dirty="0"/>
          </a:p>
        </p:txBody>
      </p:sp>
      <p:sp>
        <p:nvSpPr>
          <p:cNvPr id="21" name="Text 19"/>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2" name="Text 20"/>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Strong answers keep the plan collaborative, coherent, measurable, and open to revision.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07/8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07</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Mini Scenario: Child Referral and Parent Conflict</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Parents bring a child for school refusal.</a:t>
            </a:r>
            <a:endParaRPr lang="en-US" sz="2080" dirty="0"/>
          </a:p>
        </p:txBody>
      </p:sp>
      <p:sp>
        <p:nvSpPr>
          <p:cNvPr id="11" name="Shape 9"/>
          <p:cNvSpPr/>
          <p:nvPr/>
        </p:nvSpPr>
        <p:spPr>
          <a:xfrm>
            <a:off x="6537960" y="2148840"/>
            <a:ext cx="4160520" cy="2743200"/>
          </a:xfrm>
          <a:prstGeom prst="rect">
            <a:avLst>
              <a:gd name="adj" fmla="val 3333"/>
            </a:avLst>
          </a:prstGeom>
          <a:solidFill>
            <a:srgbClr val="F9EAE5"/>
          </a:solidFill>
          <a:ln w="15240">
            <a:solidFill>
              <a:srgbClr val="D66B4A">
                <a:alpha val="85000"/>
              </a:srgbClr>
            </a:solidFill>
            <a:prstDash val="solid"/>
          </a:ln>
        </p:spPr>
      </p:sp>
      <p:sp>
        <p:nvSpPr>
          <p:cNvPr id="12" name="Text 10"/>
          <p:cNvSpPr/>
          <p:nvPr/>
        </p:nvSpPr>
        <p:spPr>
          <a:xfrm>
            <a:off x="6766560" y="2350008"/>
            <a:ext cx="3703320" cy="228600"/>
          </a:xfrm>
          <a:prstGeom prst="rect">
            <a:avLst/>
          </a:prstGeom>
          <a:noFill/>
          <a:ln/>
        </p:spPr>
        <p:txBody>
          <a:bodyPr wrap="square" lIns="0" tIns="0" rIns="0" bIns="0" rtlCol="0" anchor="ctr"/>
          <a:lstStyle/>
          <a:p>
            <a:pPr indent="0" marL="0">
              <a:buNone/>
            </a:pPr>
            <a:r>
              <a:rPr lang="en-US" sz="1000" b="1" dirty="0">
                <a:solidFill>
                  <a:srgbClr val="D66B4A"/>
                </a:solidFill>
                <a:latin typeface="Aptos" pitchFamily="34" charset="0"/>
                <a:ea typeface="Aptos" pitchFamily="34" charset="-122"/>
                <a:cs typeface="Aptos" pitchFamily="34" charset="-120"/>
              </a:rPr>
              <a:t>MINI SCENARIO</a:t>
            </a:r>
            <a:endParaRPr lang="en-US" sz="1000" dirty="0"/>
          </a:p>
        </p:txBody>
      </p:sp>
      <p:sp>
        <p:nvSpPr>
          <p:cNvPr id="13" name="Text 11"/>
          <p:cNvSpPr/>
          <p:nvPr/>
        </p:nvSpPr>
        <p:spPr>
          <a:xfrm>
            <a:off x="6766560" y="2770632"/>
            <a:ext cx="3703320" cy="713232"/>
          </a:xfrm>
          <a:prstGeom prst="rect">
            <a:avLst/>
          </a:prstGeom>
          <a:noFill/>
          <a:ln/>
        </p:spPr>
        <p:txBody>
          <a:bodyPr wrap="square" lIns="254" tIns="254" rIns="254" bIns="254" rtlCol="0" anchor="ctr">
            <a:normAutofit/>
          </a:bodyPr>
          <a:lstStyle/>
          <a:p>
            <a:pPr indent="0" marL="0">
              <a:buNone/>
            </a:pPr>
            <a:r>
              <a:rPr lang="en-US" sz="2000" b="1" dirty="0">
                <a:solidFill>
                  <a:srgbClr val="1D2838"/>
                </a:solidFill>
                <a:latin typeface="Aptos Display" pitchFamily="34" charset="0"/>
                <a:ea typeface="Aptos Display" pitchFamily="34" charset="-122"/>
                <a:cs typeface="Aptos Display" pitchFamily="34" charset="-120"/>
              </a:rPr>
              <a:t>Facts → Safety → Role → Next step</a:t>
            </a:r>
            <a:endParaRPr lang="en-US" sz="2000" dirty="0"/>
          </a:p>
        </p:txBody>
      </p:sp>
      <p:sp>
        <p:nvSpPr>
          <p:cNvPr id="14" name="Shape 12"/>
          <p:cNvSpPr/>
          <p:nvPr/>
        </p:nvSpPr>
        <p:spPr>
          <a:xfrm>
            <a:off x="6995160" y="3922776"/>
            <a:ext cx="3246120" cy="0"/>
          </a:xfrm>
          <a:prstGeom prst="line">
            <a:avLst/>
          </a:prstGeom>
          <a:noFill/>
          <a:ln w="13970">
            <a:solidFill>
              <a:srgbClr val="D66B4A">
                <a:alpha val="75000"/>
              </a:srgbClr>
            </a:solidFill>
            <a:prstDash val="solid"/>
            <a:tailEnd type="triangle"/>
          </a:ln>
        </p:spPr>
      </p:sp>
      <p:sp>
        <p:nvSpPr>
          <p:cNvPr id="15" name="Text 13"/>
          <p:cNvSpPr/>
          <p:nvPr/>
        </p:nvSpPr>
        <p:spPr>
          <a:xfrm>
            <a:off x="6858000"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Facts</a:t>
            </a:r>
            <a:endParaRPr lang="en-US" sz="1140" dirty="0"/>
          </a:p>
        </p:txBody>
      </p:sp>
      <p:sp>
        <p:nvSpPr>
          <p:cNvPr id="16" name="Text 14"/>
          <p:cNvSpPr/>
          <p:nvPr/>
        </p:nvSpPr>
        <p:spPr>
          <a:xfrm>
            <a:off x="7779258"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Risk</a:t>
            </a:r>
            <a:endParaRPr lang="en-US" sz="1140" dirty="0"/>
          </a:p>
        </p:txBody>
      </p:sp>
      <p:sp>
        <p:nvSpPr>
          <p:cNvPr id="17" name="Text 15"/>
          <p:cNvSpPr/>
          <p:nvPr/>
        </p:nvSpPr>
        <p:spPr>
          <a:xfrm>
            <a:off x="8700516" y="3630168"/>
            <a:ext cx="756666"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Role</a:t>
            </a:r>
            <a:endParaRPr lang="en-US" sz="1140" dirty="0"/>
          </a:p>
        </p:txBody>
      </p:sp>
      <p:sp>
        <p:nvSpPr>
          <p:cNvPr id="18" name="Text 16"/>
          <p:cNvSpPr/>
          <p:nvPr/>
        </p:nvSpPr>
        <p:spPr>
          <a:xfrm>
            <a:off x="9621774" y="3630168"/>
            <a:ext cx="756666"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Action</a:t>
            </a:r>
            <a:endParaRPr lang="en-US" sz="1140" dirty="0"/>
          </a:p>
        </p:txBody>
      </p:sp>
      <p:sp>
        <p:nvSpPr>
          <p:cNvPr id="19" name="Text 17"/>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0" name="Text 18"/>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Assessment shows that parental conflict about discipline escalates before the child’s…</a:t>
            </a:r>
            <a:endParaRPr lang="en-US" sz="1330" dirty="0"/>
          </a:p>
        </p:txBody>
      </p:sp>
      <p:sp>
        <p:nvSpPr>
          <p:cNvPr id="21" name="Text 19"/>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2" name="Text 20"/>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The therapist may still support the child individually, but the systemic plan addresses the…</a:t>
            </a:r>
            <a:endParaRPr lang="en-US" sz="1330" dirty="0"/>
          </a:p>
        </p:txBody>
      </p:sp>
      <p:sp>
        <p:nvSpPr>
          <p:cNvPr id="23" name="Text 21"/>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4" name="Text 22"/>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Revisit the Unit of Treatment</a:t>
            </a:r>
            <a:endParaRPr lang="en-US" sz="1330" dirty="0"/>
          </a:p>
        </p:txBody>
      </p:sp>
      <p:sp>
        <p:nvSpPr>
          <p:cNvPr id="25" name="Text 23"/>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6" name="Text 24"/>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The therapist may still support the child individually, but the systemic plan addresses the pattern maintaining the symptom and defines how…</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12064" y="274320"/>
            <a:ext cx="3566160" cy="201168"/>
          </a:xfrm>
          <a:prstGeom prst="rect">
            <a:avLst/>
          </a:prstGeom>
          <a:noFill/>
          <a:ln/>
        </p:spPr>
        <p:txBody>
          <a:bodyPr wrap="square" lIns="0" tIns="0" rIns="0" bIns="0" rtlCol="0" anchor="ctr"/>
          <a:lstStyle/>
          <a:p>
            <a:pPr indent="0" marL="0">
              <a:buNone/>
            </a:pPr>
            <a:r>
              <a:rPr lang="en-US" sz="930" b="1" dirty="0">
                <a:solidFill>
                  <a:srgbClr val="10263F"/>
                </a:solidFill>
                <a:latin typeface="Aptos" pitchFamily="34" charset="0"/>
                <a:ea typeface="Aptos" pitchFamily="34" charset="-122"/>
                <a:cs typeface="Aptos" pitchFamily="34" charset="-120"/>
              </a:rPr>
              <a:t>CLINICAL TRAINING ACADEMY</a:t>
            </a:r>
            <a:endParaRPr lang="en-US" sz="930" dirty="0"/>
          </a:p>
        </p:txBody>
      </p:sp>
      <p:sp>
        <p:nvSpPr>
          <p:cNvPr id="3" name="Shape 1"/>
          <p:cNvSpPr/>
          <p:nvPr/>
        </p:nvSpPr>
        <p:spPr>
          <a:xfrm>
            <a:off x="512064" y="548640"/>
            <a:ext cx="1261872" cy="50292"/>
          </a:xfrm>
          <a:prstGeom prst="rect">
            <a:avLst/>
          </a:prstGeom>
          <a:solidFill>
            <a:srgbClr val="D66B4A"/>
          </a:solidFill>
          <a:ln w="12700">
            <a:solidFill>
              <a:srgbClr val="D66B4A">
                <a:alpha val="0"/>
              </a:srgbClr>
            </a:solidFill>
            <a:prstDash val="solid"/>
          </a:ln>
        </p:spPr>
      </p:sp>
      <p:sp>
        <p:nvSpPr>
          <p:cNvPr id="4" name="Text 2"/>
          <p:cNvSpPr/>
          <p:nvPr/>
        </p:nvSpPr>
        <p:spPr>
          <a:xfrm>
            <a:off x="7498080" y="274320"/>
            <a:ext cx="4206240" cy="219456"/>
          </a:xfrm>
          <a:prstGeom prst="rect">
            <a:avLst/>
          </a:prstGeom>
          <a:noFill/>
          <a:ln/>
        </p:spPr>
        <p:txBody>
          <a:bodyPr wrap="square" lIns="0" tIns="0" rIns="0" bIns="0" rtlCol="0" anchor="ctr"/>
          <a:lstStyle/>
          <a:p>
            <a:pPr algn="r" indent="0" marL="0">
              <a:buNone/>
            </a:pPr>
            <a:r>
              <a:rPr lang="en-US" sz="930" b="1" dirty="0">
                <a:solidFill>
                  <a:srgbClr val="D66B4A"/>
                </a:solidFill>
                <a:latin typeface="Aptos" pitchFamily="34" charset="0"/>
                <a:ea typeface="Aptos" pitchFamily="34" charset="-122"/>
                <a:cs typeface="Aptos" pitchFamily="34" charset="-120"/>
              </a:rPr>
              <a:t>LMFT WORKBOOK 07 COMPANION</a:t>
            </a:r>
            <a:endParaRPr lang="en-US" sz="930" dirty="0"/>
          </a:p>
        </p:txBody>
      </p:sp>
      <p:sp>
        <p:nvSpPr>
          <p:cNvPr id="5" name="Shape 3"/>
          <p:cNvSpPr/>
          <p:nvPr/>
        </p:nvSpPr>
        <p:spPr>
          <a:xfrm>
            <a:off x="502920" y="6419088"/>
            <a:ext cx="11173968" cy="0"/>
          </a:xfrm>
          <a:prstGeom prst="line">
            <a:avLst/>
          </a:prstGeom>
          <a:noFill/>
          <a:ln w="9525">
            <a:solidFill>
              <a:srgbClr val="D9E0E8"/>
            </a:solidFill>
            <a:prstDash val="solid"/>
          </a:ln>
        </p:spPr>
      </p:sp>
      <p:sp>
        <p:nvSpPr>
          <p:cNvPr id="6" name="Text 4"/>
          <p:cNvSpPr/>
          <p:nvPr/>
        </p:nvSpPr>
        <p:spPr>
          <a:xfrm>
            <a:off x="566928" y="6473952"/>
            <a:ext cx="3108960" cy="201168"/>
          </a:xfrm>
          <a:prstGeom prst="rect">
            <a:avLst/>
          </a:prstGeom>
          <a:noFill/>
          <a:ln/>
        </p:spPr>
        <p:txBody>
          <a:bodyPr wrap="square" lIns="0" tIns="0" rIns="0" bIns="0" rtlCol="0" anchor="ctr"/>
          <a:lstStyle/>
          <a:p>
            <a:pPr indent="0" marL="0">
              <a:buNone/>
            </a:pPr>
            <a:r>
              <a:rPr lang="en-US" sz="840" dirty="0">
                <a:solidFill>
                  <a:srgbClr val="5A6675"/>
                </a:solidFill>
                <a:latin typeface="Aptos" pitchFamily="34" charset="0"/>
                <a:ea typeface="Aptos" pitchFamily="34" charset="-122"/>
                <a:cs typeface="Aptos" pitchFamily="34" charset="-120"/>
              </a:rPr>
              <a:t>Clinical Training Academy</a:t>
            </a:r>
            <a:endParaRPr lang="en-US" sz="840" dirty="0"/>
          </a:p>
        </p:txBody>
      </p:sp>
      <p:sp>
        <p:nvSpPr>
          <p:cNvPr id="7" name="Text 5"/>
          <p:cNvSpPr/>
          <p:nvPr/>
        </p:nvSpPr>
        <p:spPr>
          <a:xfrm>
            <a:off x="9418320" y="6473952"/>
            <a:ext cx="2240280" cy="201168"/>
          </a:xfrm>
          <a:prstGeom prst="rect">
            <a:avLst/>
          </a:prstGeom>
          <a:noFill/>
          <a:ln/>
        </p:spPr>
        <p:txBody>
          <a:bodyPr wrap="square" lIns="0" tIns="0" rIns="0" bIns="0" rtlCol="0" anchor="ctr"/>
          <a:lstStyle/>
          <a:p>
            <a:pPr algn="r" indent="0" marL="0">
              <a:buNone/>
            </a:pPr>
            <a:r>
              <a:rPr lang="en-US" sz="840" dirty="0">
                <a:solidFill>
                  <a:srgbClr val="5A6675"/>
                </a:solidFill>
                <a:latin typeface="Aptos" pitchFamily="34" charset="0"/>
                <a:ea typeface="Aptos" pitchFamily="34" charset="-122"/>
                <a:cs typeface="Aptos" pitchFamily="34" charset="-120"/>
              </a:rPr>
              <a:t>WB07 • 08/8</a:t>
            </a:r>
            <a:endParaRPr lang="en-US" sz="840" dirty="0"/>
          </a:p>
        </p:txBody>
      </p:sp>
      <p:sp>
        <p:nvSpPr>
          <p:cNvPr id="8" name="Text 6"/>
          <p:cNvSpPr/>
          <p:nvPr/>
        </p:nvSpPr>
        <p:spPr>
          <a:xfrm>
            <a:off x="10195560" y="868680"/>
            <a:ext cx="1051560" cy="548640"/>
          </a:xfrm>
          <a:prstGeom prst="rect">
            <a:avLst/>
          </a:prstGeom>
          <a:noFill/>
          <a:ln/>
        </p:spPr>
        <p:txBody>
          <a:bodyPr wrap="square" lIns="0" tIns="0" rIns="0" bIns="0" rtlCol="0" anchor="ctr"/>
          <a:lstStyle/>
          <a:p>
            <a:pPr algn="r" indent="0" marL="0">
              <a:buNone/>
            </a:pPr>
            <a:r>
              <a:rPr lang="en-US" sz="3200" b="1" dirty="0">
                <a:solidFill>
                  <a:srgbClr val="D66B4A"/>
                </a:solidFill>
                <a:latin typeface="Aptos Display" pitchFamily="34" charset="0"/>
                <a:ea typeface="Aptos Display" pitchFamily="34" charset="-122"/>
                <a:cs typeface="Aptos Display" pitchFamily="34" charset="-120"/>
              </a:rPr>
              <a:t>08</a:t>
            </a:r>
            <a:endParaRPr lang="en-US" sz="3200" dirty="0"/>
          </a:p>
        </p:txBody>
      </p:sp>
      <p:sp>
        <p:nvSpPr>
          <p:cNvPr id="9" name="Text 7"/>
          <p:cNvSpPr/>
          <p:nvPr/>
        </p:nvSpPr>
        <p:spPr>
          <a:xfrm>
            <a:off x="566928" y="941832"/>
            <a:ext cx="8183880" cy="676656"/>
          </a:xfrm>
          <a:prstGeom prst="rect">
            <a:avLst/>
          </a:prstGeom>
          <a:noFill/>
          <a:ln/>
        </p:spPr>
        <p:txBody>
          <a:bodyPr wrap="square" lIns="254" tIns="254" rIns="254" bIns="254" rtlCol="0" anchor="ctr">
            <a:normAutofit/>
          </a:bodyPr>
          <a:lstStyle/>
          <a:p>
            <a:pPr indent="0" marL="0">
              <a:buNone/>
            </a:pPr>
            <a:r>
              <a:rPr lang="en-US" sz="2820" b="1" dirty="0">
                <a:solidFill>
                  <a:srgbClr val="10263F"/>
                </a:solidFill>
                <a:latin typeface="Aptos Display" pitchFamily="34" charset="0"/>
                <a:ea typeface="Aptos Display" pitchFamily="34" charset="-122"/>
                <a:cs typeface="Aptos Display" pitchFamily="34" charset="-120"/>
              </a:rPr>
              <a:t>Study Direction</a:t>
            </a:r>
            <a:endParaRPr lang="en-US" sz="2820" dirty="0"/>
          </a:p>
        </p:txBody>
      </p:sp>
      <p:sp>
        <p:nvSpPr>
          <p:cNvPr id="10" name="Text 8"/>
          <p:cNvSpPr/>
          <p:nvPr/>
        </p:nvSpPr>
        <p:spPr>
          <a:xfrm>
            <a:off x="621792" y="1783080"/>
            <a:ext cx="5349240" cy="1060704"/>
          </a:xfrm>
          <a:prstGeom prst="rect">
            <a:avLst/>
          </a:prstGeom>
          <a:noFill/>
          <a:ln/>
        </p:spPr>
        <p:txBody>
          <a:bodyPr wrap="square" lIns="254" tIns="254" rIns="254" bIns="254" rtlCol="0" anchor="ctr">
            <a:normAutofit/>
          </a:bodyPr>
          <a:lstStyle/>
          <a:p>
            <a:pPr indent="0" marL="0">
              <a:buNone/>
            </a:pPr>
            <a:r>
              <a:rPr lang="en-US" sz="2080" b="1" dirty="0">
                <a:solidFill>
                  <a:srgbClr val="1D2838"/>
                </a:solidFill>
                <a:latin typeface="Aptos Display" pitchFamily="34" charset="0"/>
                <a:ea typeface="Aptos Display" pitchFamily="34" charset="-122"/>
                <a:cs typeface="Aptos Display" pitchFamily="34" charset="-120"/>
              </a:rPr>
              <a:t>For each Workbook 7 question, write the priority, the formulation, the client system, the goal, the intervention, the outcome measure, and the…</a:t>
            </a:r>
            <a:endParaRPr lang="en-US" sz="2080" dirty="0"/>
          </a:p>
        </p:txBody>
      </p:sp>
      <p:sp>
        <p:nvSpPr>
          <p:cNvPr id="11" name="Shape 9"/>
          <p:cNvSpPr/>
          <p:nvPr/>
        </p:nvSpPr>
        <p:spPr>
          <a:xfrm>
            <a:off x="6537960" y="2624328"/>
            <a:ext cx="4160520" cy="0"/>
          </a:xfrm>
          <a:prstGeom prst="line">
            <a:avLst/>
          </a:prstGeom>
          <a:noFill/>
          <a:ln w="13970">
            <a:solidFill>
              <a:srgbClr val="D66B4A">
                <a:alpha val="75000"/>
              </a:srgbClr>
            </a:solidFill>
            <a:prstDash val="solid"/>
            <a:tailEnd type="triangle"/>
          </a:ln>
        </p:spPr>
      </p:sp>
      <p:sp>
        <p:nvSpPr>
          <p:cNvPr id="12" name="Text 10"/>
          <p:cNvSpPr/>
          <p:nvPr/>
        </p:nvSpPr>
        <p:spPr>
          <a:xfrm>
            <a:off x="6400800"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Priority</a:t>
            </a:r>
            <a:endParaRPr lang="en-US" sz="1140" dirty="0"/>
          </a:p>
        </p:txBody>
      </p:sp>
      <p:sp>
        <p:nvSpPr>
          <p:cNvPr id="13" name="Text 11"/>
          <p:cNvSpPr/>
          <p:nvPr/>
        </p:nvSpPr>
        <p:spPr>
          <a:xfrm>
            <a:off x="7320686"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Formulation</a:t>
            </a:r>
            <a:endParaRPr lang="en-US" sz="1140" dirty="0"/>
          </a:p>
        </p:txBody>
      </p:sp>
      <p:sp>
        <p:nvSpPr>
          <p:cNvPr id="14" name="Text 12"/>
          <p:cNvSpPr/>
          <p:nvPr/>
        </p:nvSpPr>
        <p:spPr>
          <a:xfrm>
            <a:off x="8240573"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Goal</a:t>
            </a:r>
            <a:endParaRPr lang="en-US" sz="1140" dirty="0"/>
          </a:p>
        </p:txBody>
      </p:sp>
      <p:sp>
        <p:nvSpPr>
          <p:cNvPr id="15" name="Text 13"/>
          <p:cNvSpPr/>
          <p:nvPr/>
        </p:nvSpPr>
        <p:spPr>
          <a:xfrm>
            <a:off x="9160459" y="2331720"/>
            <a:ext cx="755294" cy="594360"/>
          </a:xfrm>
          <a:prstGeom prst="rect">
            <a:avLst/>
          </a:prstGeom>
          <a:solidFill>
            <a:srgbClr val="FFFFFF"/>
          </a:solidFill>
          <a:ln w="10160">
            <a:solidFill>
              <a:srgbClr val="D9E0E8"/>
            </a:solidFill>
          </a:ln>
        </p:spPr>
        <p:txBody>
          <a:bodyPr wrap="square" lIns="508" tIns="508" rIns="508" bIns="508" rtlCol="0" anchor="ctr">
            <a:normAutofit/>
          </a:bodyPr>
          <a:lstStyle/>
          <a:p>
            <a:pPr algn="ctr" indent="0" marL="0">
              <a:buNone/>
            </a:pPr>
            <a:r>
              <a:rPr lang="en-US" sz="1140" b="1" dirty="0">
                <a:solidFill>
                  <a:srgbClr val="1D2838"/>
                </a:solidFill>
                <a:latin typeface="Aptos" pitchFamily="34" charset="0"/>
                <a:ea typeface="Aptos" pitchFamily="34" charset="-122"/>
                <a:cs typeface="Aptos" pitchFamily="34" charset="-120"/>
              </a:rPr>
              <a:t>Action</a:t>
            </a:r>
            <a:endParaRPr lang="en-US" sz="1140" dirty="0"/>
          </a:p>
        </p:txBody>
      </p:sp>
      <p:sp>
        <p:nvSpPr>
          <p:cNvPr id="16" name="Text 14"/>
          <p:cNvSpPr/>
          <p:nvPr/>
        </p:nvSpPr>
        <p:spPr>
          <a:xfrm>
            <a:off x="10080346" y="2331720"/>
            <a:ext cx="755294" cy="594360"/>
          </a:xfrm>
          <a:prstGeom prst="rect">
            <a:avLst/>
          </a:prstGeom>
          <a:solidFill>
            <a:srgbClr val="D66B4A"/>
          </a:solidFill>
          <a:ln w="10160">
            <a:solidFill>
              <a:srgbClr val="D66B4A"/>
            </a:solidFill>
          </a:ln>
        </p:spPr>
        <p:txBody>
          <a:bodyPr wrap="square" lIns="508" tIns="508" rIns="508" bIns="508" rtlCol="0" anchor="ctr">
            <a:normAutofit/>
          </a:bodyPr>
          <a:lstStyle/>
          <a:p>
            <a:pPr algn="ctr" indent="0" marL="0">
              <a:buNone/>
            </a:pPr>
            <a:r>
              <a:rPr lang="en-US" sz="1140" b="1" dirty="0">
                <a:solidFill>
                  <a:srgbClr val="FFFFFF"/>
                </a:solidFill>
                <a:latin typeface="Aptos" pitchFamily="34" charset="0"/>
                <a:ea typeface="Aptos" pitchFamily="34" charset="-122"/>
                <a:cs typeface="Aptos" pitchFamily="34" charset="-120"/>
              </a:rPr>
              <a:t>Measure</a:t>
            </a:r>
            <a:endParaRPr lang="en-US" sz="1140" dirty="0"/>
          </a:p>
        </p:txBody>
      </p:sp>
      <p:sp>
        <p:nvSpPr>
          <p:cNvPr id="17" name="Text 15"/>
          <p:cNvSpPr/>
          <p:nvPr/>
        </p:nvSpPr>
        <p:spPr>
          <a:xfrm>
            <a:off x="7086600" y="3401568"/>
            <a:ext cx="3063240" cy="914400"/>
          </a:xfrm>
          <a:prstGeom prst="rect">
            <a:avLst/>
          </a:prstGeom>
          <a:solidFill>
            <a:srgbClr val="F9EAE5"/>
          </a:solidFill>
          <a:ln w="13970">
            <a:solidFill>
              <a:srgbClr val="D66B4A">
                <a:alpha val="75000"/>
              </a:srgbClr>
            </a:solidFill>
          </a:ln>
        </p:spPr>
        <p:txBody>
          <a:bodyPr wrap="square" lIns="635" tIns="635" rIns="635" bIns="635" rtlCol="0" anchor="ctr">
            <a:normAutofit/>
          </a:bodyPr>
          <a:lstStyle/>
          <a:p>
            <a:pPr algn="ctr" indent="0" marL="0">
              <a:buNone/>
            </a:pPr>
            <a:r>
              <a:rPr lang="en-US" sz="2200" b="1" dirty="0">
                <a:solidFill>
                  <a:srgbClr val="D66B4A"/>
                </a:solidFill>
                <a:latin typeface="Aptos Display" pitchFamily="34" charset="0"/>
                <a:ea typeface="Aptos Display" pitchFamily="34" charset="-122"/>
                <a:cs typeface="Aptos Display" pitchFamily="34" charset="-120"/>
              </a:rPr>
              <a:t>Priority</a:t>
            </a:r>
            <a:endParaRPr lang="en-US" sz="2200" dirty="0"/>
          </a:p>
        </p:txBody>
      </p:sp>
      <p:sp>
        <p:nvSpPr>
          <p:cNvPr id="18" name="Text 16"/>
          <p:cNvSpPr/>
          <p:nvPr/>
        </p:nvSpPr>
        <p:spPr>
          <a:xfrm>
            <a:off x="658368" y="321868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19" name="Text 17"/>
          <p:cNvSpPr/>
          <p:nvPr/>
        </p:nvSpPr>
        <p:spPr>
          <a:xfrm>
            <a:off x="1042416" y="320040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For missed items, identify whether you chose a technique without a target, accepted the…</a:t>
            </a:r>
            <a:endParaRPr lang="en-US" sz="1330" dirty="0"/>
          </a:p>
        </p:txBody>
      </p:sp>
      <p:sp>
        <p:nvSpPr>
          <p:cNvPr id="20" name="Text 18"/>
          <p:cNvSpPr/>
          <p:nvPr/>
        </p:nvSpPr>
        <p:spPr>
          <a:xfrm>
            <a:off x="658368" y="381304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1" name="Text 19"/>
          <p:cNvSpPr/>
          <p:nvPr/>
        </p:nvSpPr>
        <p:spPr>
          <a:xfrm>
            <a:off x="1042416" y="379476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Practice the CLOSE steps before the termination questions so you remember that endings require…</a:t>
            </a:r>
            <a:endParaRPr lang="en-US" sz="1330" dirty="0"/>
          </a:p>
        </p:txBody>
      </p:sp>
      <p:sp>
        <p:nvSpPr>
          <p:cNvPr id="22" name="Text 20"/>
          <p:cNvSpPr/>
          <p:nvPr/>
        </p:nvSpPr>
        <p:spPr>
          <a:xfrm>
            <a:off x="658368" y="4407408"/>
            <a:ext cx="256032" cy="256032"/>
          </a:xfrm>
          <a:prstGeom prst="rect">
            <a:avLst/>
          </a:prstGeom>
          <a:noFill/>
          <a:ln/>
        </p:spPr>
        <p:txBody>
          <a:bodyPr wrap="square" lIns="0" tIns="0" rIns="0" bIns="0" rtlCol="0" anchor="ctr"/>
          <a:lstStyle/>
          <a:p>
            <a:pPr indent="0" marL="0">
              <a:buNone/>
            </a:pPr>
            <a:r>
              <a:rPr lang="en-US" sz="1500" b="1" dirty="0">
                <a:solidFill>
                  <a:srgbClr val="D66B4A"/>
                </a:solidFill>
                <a:latin typeface="Aptos" pitchFamily="34" charset="0"/>
                <a:ea typeface="Aptos" pitchFamily="34" charset="-122"/>
                <a:cs typeface="Aptos" pitchFamily="34" charset="-120"/>
              </a:rPr>
              <a:t>✓</a:t>
            </a:r>
            <a:endParaRPr lang="en-US" sz="1500" dirty="0"/>
          </a:p>
        </p:txBody>
      </p:sp>
      <p:sp>
        <p:nvSpPr>
          <p:cNvPr id="23" name="Text 21"/>
          <p:cNvSpPr/>
          <p:nvPr/>
        </p:nvSpPr>
        <p:spPr>
          <a:xfrm>
            <a:off x="1042416" y="4389120"/>
            <a:ext cx="4800600" cy="402336"/>
          </a:xfrm>
          <a:prstGeom prst="rect">
            <a:avLst/>
          </a:prstGeom>
          <a:noFill/>
          <a:ln/>
        </p:spPr>
        <p:txBody>
          <a:bodyPr wrap="square" lIns="127" tIns="127" rIns="127" bIns="127" rtlCol="0" anchor="ctr">
            <a:normAutofit/>
          </a:bodyPr>
          <a:lstStyle/>
          <a:p>
            <a:pPr indent="0" marL="0">
              <a:buNone/>
            </a:pPr>
            <a:r>
              <a:rPr lang="en-US" sz="1330" dirty="0">
                <a:solidFill>
                  <a:srgbClr val="1D2838"/>
                </a:solidFill>
                <a:latin typeface="Aptos" pitchFamily="34" charset="0"/>
                <a:ea typeface="Aptos" pitchFamily="34" charset="-122"/>
                <a:cs typeface="Aptos" pitchFamily="34" charset="-120"/>
              </a:rPr>
              <a:t>Priority • Formulation • Goal • Action • Measure • Review</a:t>
            </a:r>
            <a:endParaRPr lang="en-US" sz="1330" dirty="0"/>
          </a:p>
        </p:txBody>
      </p:sp>
      <p:sp>
        <p:nvSpPr>
          <p:cNvPr id="24" name="Text 22"/>
          <p:cNvSpPr/>
          <p:nvPr/>
        </p:nvSpPr>
        <p:spPr>
          <a:xfrm>
            <a:off x="621792" y="5623560"/>
            <a:ext cx="1417320" cy="228600"/>
          </a:xfrm>
          <a:prstGeom prst="rect">
            <a:avLst/>
          </a:prstGeom>
          <a:noFill/>
          <a:ln/>
        </p:spPr>
        <p:txBody>
          <a:bodyPr wrap="square" lIns="0" tIns="0" rIns="0" bIns="0" rtlCol="0" anchor="ctr"/>
          <a:lstStyle/>
          <a:p>
            <a:pPr indent="0" marL="0">
              <a:buNone/>
            </a:pPr>
            <a:r>
              <a:rPr lang="en-US" sz="940" b="1" dirty="0">
                <a:solidFill>
                  <a:srgbClr val="D66B4A"/>
                </a:solidFill>
                <a:latin typeface="Aptos" pitchFamily="34" charset="0"/>
                <a:ea typeface="Aptos" pitchFamily="34" charset="-122"/>
                <a:cs typeface="Aptos" pitchFamily="34" charset="-120"/>
              </a:rPr>
              <a:t>STUDENT MOVE</a:t>
            </a:r>
            <a:endParaRPr lang="en-US" sz="940" dirty="0"/>
          </a:p>
        </p:txBody>
      </p:sp>
      <p:sp>
        <p:nvSpPr>
          <p:cNvPr id="25" name="Text 23"/>
          <p:cNvSpPr/>
          <p:nvPr/>
        </p:nvSpPr>
        <p:spPr>
          <a:xfrm>
            <a:off x="2240280" y="5559552"/>
            <a:ext cx="8595360" cy="438912"/>
          </a:xfrm>
          <a:prstGeom prst="rect">
            <a:avLst/>
          </a:prstGeom>
          <a:noFill/>
          <a:ln/>
        </p:spPr>
        <p:txBody>
          <a:bodyPr wrap="square" lIns="0" tIns="0" rIns="0" bIns="0" rtlCol="0" anchor="ctr">
            <a:normAutofit/>
          </a:bodyPr>
          <a:lstStyle/>
          <a:p>
            <a:pPr indent="0" marL="0">
              <a:buNone/>
            </a:pPr>
            <a:r>
              <a:rPr lang="en-US" sz="1300" dirty="0">
                <a:solidFill>
                  <a:srgbClr val="1D2838"/>
                </a:solidFill>
                <a:latin typeface="Aptos" pitchFamily="34" charset="0"/>
                <a:ea typeface="Aptos" pitchFamily="34" charset="-122"/>
                <a:cs typeface="Aptos" pitchFamily="34" charset="-120"/>
              </a:rPr>
              <a:t>Practice the CLOSE steps before the termination questions so you remember that endings require planning, continuity, and clinical review.</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CTA LMFT Workbook 07 Companion: Workbook 7 Companion: Planning, Progress, and Termination</dc:title>
  <dc:subject>LMFT Workbook 07 Companion</dc:subject>
  <dc:creator>Clinical Training Academy</dc:creator>
  <cp:lastModifiedBy>Clinical Training Academy</cp:lastModifiedBy>
  <cp:revision>1</cp:revision>
  <dcterms:created xsi:type="dcterms:W3CDTF">2026-07-25T22:10:42Z</dcterms:created>
  <dcterms:modified xsi:type="dcterms:W3CDTF">2026-07-25T22:10:42Z</dcterms:modified>
</cp:coreProperties>
</file>