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 common exam trap is the answer that would be clinically reasonable later, but is not appropriate yet. These distractors are tempting because they sound helpful, ethical, or decisive. The problem is timing. The exam is testing whether you can identify the action that fits the current stage, not whether you recognize every action that might eventually be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An answer is premature when a prerequisite has not been completed. Before referring, the clinician may need to clarify the problem and the reason for referral. Before involving another person, the clinician may need consent or a safety-based exception. Before changing treatment, the clinician may need to evaluate what is not working. Ask what must happen before the option could be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Premature escalation occurs when an answer jumps to emergency action, hospitalization, reporting, termination, or another high-intensity response without facts that support it. Strong clinical judgment is proportional. Choose the level of response that matches the risk and information provided. More intensive does not automatically mean safer or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Referral may be appropriate when the client needs a service outside the clinician’s competence, when a different level of care is indicated, or when treatment fit cannot be improved. But immediate referral may be premature if the clinician has not explored the concern, assessed the need, considered consultation, or discussed options with the client. Referral should solve an identified problem, not replace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Involving family members, partners, schools, employers, or other providers can be helpful. It can also be premature when the stem does not establish consent, a legal basis, an emergency, or a clear treatment need. Before choosing collaboration, identify the client’s preferences, the clinician’s role, and the rules governing information sharing. Helpful coordination still requires appropriate authorization and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 diagnosis, interpretation, or case formulation may be premature when the stem lacks duration, impairment, exclusions, developmental context, or competing explanations. Do not select a label because one symptom sounds familiar. First determine whether the necessary evidence is present. The same principle applies to interpretations of resistance, motivation, family roles, or personality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 specific technique can be a distractor when the question has not yet established the target, readiness, safety, diagnosis, treatment goal, or client preference. The technique may be evidence-based and still be premature. First identify the problem the technique is intended to address and whether the stem supports using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Documentation and consultation are important, but they are not always the first answer. If a client is in immediate danger, the clinician addresses safety before completing routine documentation. If the clinician can take an appropriate action within competence, consultation may support the decision rather than replace it. Ask whether the option responds to the client’s immediate need or merely describes an important professional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Imagine a client asks to stop the current treatment and begin a very different approach. Immediate agreement, refusal, termination, or referral may all be premature. The clinician should first explore the client’s reasons, goals, experience of the current treatment, expectations, and relevant risks. Once the concern is understood, the clinician can collaboratively decide whether to modify, continue, consult, or 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Suppose conflict escalates during a family session. Immediately ending family treatment, assigning blame, or removing one member may be premature unless safety requires it. The clinician first manages the immediate interaction, assesses safety, clarifies what occurred, and restores enough structure to determine the next step. Major treatment decisions should follow the assessment of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the now-or-later test. For each tempting option, ask whether it could be appropriate after more assessment, consent, stabilization, collaboration, or evaluation. If the answer is yes, the option may be a later step rather than the current answer. Then identify what must happen now to make that later step clinically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When several options are plausible, prefer the effective step that requires the fewest unsupported assumptions. That does not mean always choosing the least intensive response. It means choosing the action justified by the facts. If danger is established, act decisively. If key facts are missing, clarify them. If the stage is evaluation, review outcomes before changing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Before choosing a strong-sounding answer, run this checklist. Has the prerequisite been completed? Are there enough facts? Is this the correct stage? Does the option fit the clinician’s role and the client’s consent or safety needs? Is the response proportional to the situation? If one of those questions is unanswered, the option may be premature.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During your next practice set, mark any missed item caused by choosing a later step too soon. Write what needed to happen first and when the tempting option would become appropriate. This turns a missed question into a reusable sequencing rule instead of a memorized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01</a:t>
            </a:r>
            <a:endParaRPr lang="en-US" sz="3600" dirty="0"/>
          </a:p>
        </p:txBody>
      </p:sp>
      <p:sp>
        <p:nvSpPr>
          <p:cNvPr id="6" name="Text 4"/>
          <p:cNvSpPr/>
          <p:nvPr/>
        </p:nvSpPr>
        <p:spPr>
          <a:xfrm>
            <a:off x="566928" y="1005840"/>
            <a:ext cx="7132320" cy="932688"/>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How to Eliminate Plausible but Premature Answers</a:t>
            </a:r>
            <a:endParaRPr lang="en-US" sz="3300" dirty="0"/>
          </a:p>
        </p:txBody>
      </p:sp>
      <p:sp>
        <p:nvSpPr>
          <p:cNvPr id="7" name="Text 5"/>
          <p:cNvSpPr/>
          <p:nvPr/>
        </p:nvSpPr>
        <p:spPr>
          <a:xfrm>
            <a:off x="585216" y="1938528"/>
            <a:ext cx="6537960" cy="292608"/>
          </a:xfrm>
          <a:prstGeom prst="rect">
            <a:avLst/>
          </a:prstGeom>
          <a:noFill/>
          <a:ln/>
        </p:spPr>
        <p:txBody>
          <a:bodyPr wrap="square" lIns="0" tIns="0" rIns="0" bIns="0" rtlCol="0" anchor="ctr"/>
          <a:lstStyle/>
          <a:p>
            <a:pPr indent="0" marL="0">
              <a:buNone/>
            </a:pPr>
            <a:r>
              <a:rPr lang="en-US" sz="1350" dirty="0">
                <a:solidFill>
                  <a:srgbClr val="5A6675"/>
                </a:solidFill>
                <a:latin typeface="Aptos" pitchFamily="34" charset="0"/>
                <a:ea typeface="Aptos" pitchFamily="34" charset="-122"/>
                <a:cs typeface="Aptos" pitchFamily="34" charset="-120"/>
              </a:rPr>
              <a:t>Shared LMFT &amp; LCSW Multimedia Script 05</a:t>
            </a:r>
            <a:endParaRPr lang="en-US" sz="1350" dirty="0"/>
          </a:p>
        </p:txBody>
      </p:sp>
      <p:sp>
        <p:nvSpPr>
          <p:cNvPr id="8" name="Shape 6"/>
          <p:cNvSpPr/>
          <p:nvPr/>
        </p:nvSpPr>
        <p:spPr>
          <a:xfrm>
            <a:off x="621792" y="2743200"/>
            <a:ext cx="6858000" cy="0"/>
          </a:xfrm>
          <a:prstGeom prst="line">
            <a:avLst/>
          </a:prstGeom>
          <a:noFill/>
          <a:ln w="27940">
            <a:solidFill>
              <a:srgbClr val="D66B4A"/>
            </a:solidFill>
            <a:prstDash val="solid"/>
            <a:tailEnd type="triangle"/>
          </a:ln>
        </p:spPr>
      </p:sp>
      <p:sp>
        <p:nvSpPr>
          <p:cNvPr id="9" name="Shape 7"/>
          <p:cNvSpPr/>
          <p:nvPr/>
        </p:nvSpPr>
        <p:spPr>
          <a:xfrm>
            <a:off x="1124712" y="3557016"/>
            <a:ext cx="5715000" cy="0"/>
          </a:xfrm>
          <a:prstGeom prst="line">
            <a:avLst/>
          </a:prstGeom>
          <a:noFill/>
          <a:ln w="17780">
            <a:solidFill>
              <a:srgbClr val="D66B4A">
                <a:alpha val="82000"/>
              </a:srgbClr>
            </a:solidFill>
            <a:prstDash val="solid"/>
            <a:tailEnd type="triangle"/>
          </a:ln>
        </p:spPr>
      </p:sp>
      <p:sp>
        <p:nvSpPr>
          <p:cNvPr id="10" name="Text 8"/>
          <p:cNvSpPr/>
          <p:nvPr/>
        </p:nvSpPr>
        <p:spPr>
          <a:xfrm>
            <a:off x="804672" y="3246120"/>
            <a:ext cx="136931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1" name="Text 9"/>
          <p:cNvSpPr/>
          <p:nvPr/>
        </p:nvSpPr>
        <p:spPr>
          <a:xfrm>
            <a:off x="2466594" y="3246120"/>
            <a:ext cx="136931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2" name="Text 10"/>
          <p:cNvSpPr/>
          <p:nvPr/>
        </p:nvSpPr>
        <p:spPr>
          <a:xfrm>
            <a:off x="4128516" y="3246120"/>
            <a:ext cx="136931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13" name="Text 11"/>
          <p:cNvSpPr/>
          <p:nvPr/>
        </p:nvSpPr>
        <p:spPr>
          <a:xfrm>
            <a:off x="5790438" y="3246120"/>
            <a:ext cx="136931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14" name="Text 12"/>
          <p:cNvSpPr/>
          <p:nvPr/>
        </p:nvSpPr>
        <p:spPr>
          <a:xfrm>
            <a:off x="7818120" y="2404872"/>
            <a:ext cx="3337560" cy="1298448"/>
          </a:xfrm>
          <a:prstGeom prst="rect">
            <a:avLst/>
          </a:prstGeom>
          <a:noFill/>
          <a:ln/>
        </p:spPr>
        <p:txBody>
          <a:bodyPr wrap="square" lIns="1016" tIns="1016" rIns="1016" bIns="1016"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A common exam trap is the answer that would be clinically reasonable later, but is not appropriate yet.</a:t>
            </a:r>
            <a:endParaRPr lang="en-US" sz="2050" dirty="0"/>
          </a:p>
        </p:txBody>
      </p:sp>
      <p:sp>
        <p:nvSpPr>
          <p:cNvPr id="15" name="Text 13"/>
          <p:cNvSpPr/>
          <p:nvPr/>
        </p:nvSpPr>
        <p:spPr>
          <a:xfrm>
            <a:off x="7827264" y="3968496"/>
            <a:ext cx="3200400" cy="658368"/>
          </a:xfrm>
          <a:prstGeom prst="rect">
            <a:avLst/>
          </a:prstGeom>
          <a:noFill/>
          <a:ln/>
        </p:spPr>
        <p:txBody>
          <a:bodyPr wrap="square" lIns="254" tIns="254" rIns="254" bIns="254" rtlCol="0" anchor="ctr">
            <a:normAutofit/>
          </a:bodyPr>
          <a:lstStyle/>
          <a:p>
            <a:pPr indent="0" marL="0">
              <a:buNone/>
            </a:pPr>
            <a:r>
              <a:rPr lang="en-US" sz="1300" dirty="0">
                <a:solidFill>
                  <a:srgbClr val="5A6675"/>
                </a:solidFill>
                <a:latin typeface="Aptos" pitchFamily="34" charset="0"/>
                <a:ea typeface="Aptos" pitchFamily="34" charset="-122"/>
                <a:cs typeface="Aptos" pitchFamily="34" charset="-120"/>
              </a:rPr>
              <a:t>This deck uses the script narration verbatim in speaker notes.</a:t>
            </a:r>
            <a:endParaRPr lang="en-US" sz="1300" dirty="0"/>
          </a:p>
        </p:txBody>
      </p:sp>
      <p:sp>
        <p:nvSpPr>
          <p:cNvPr id="16" name="Text 14"/>
          <p:cNvSpPr/>
          <p:nvPr/>
        </p:nvSpPr>
        <p:spPr>
          <a:xfrm>
            <a:off x="621792" y="5358384"/>
            <a:ext cx="2514600" cy="301752"/>
          </a:xfrm>
          <a:prstGeom prst="rect">
            <a:avLst/>
          </a:prstGeom>
          <a:solidFill>
            <a:srgbClr val="D66B4A"/>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7" name="Shape 15"/>
          <p:cNvSpPr/>
          <p:nvPr/>
        </p:nvSpPr>
        <p:spPr>
          <a:xfrm>
            <a:off x="502920" y="6419088"/>
            <a:ext cx="11155680" cy="0"/>
          </a:xfrm>
          <a:prstGeom prst="line">
            <a:avLst/>
          </a:prstGeom>
          <a:noFill/>
          <a:ln w="9525">
            <a:solidFill>
              <a:srgbClr val="D8DDE5"/>
            </a:solidFill>
            <a:prstDash val="solid"/>
          </a:ln>
        </p:spPr>
      </p:sp>
      <p:sp>
        <p:nvSpPr>
          <p:cNvPr id="18" name="Text 16"/>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19" name="Text 17"/>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01/14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02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Premature Means the Prerequisite Is Missing</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An answer is premature when a prerequisite has not been completed.</a:t>
            </a:r>
            <a:endParaRPr lang="en-US" sz="2200" dirty="0"/>
          </a:p>
        </p:txBody>
      </p:sp>
      <p:sp>
        <p:nvSpPr>
          <p:cNvPr id="8" name="Shape 6"/>
          <p:cNvSpPr/>
          <p:nvPr/>
        </p:nvSpPr>
        <p:spPr>
          <a:xfrm>
            <a:off x="6830568" y="2414016"/>
            <a:ext cx="3611880" cy="0"/>
          </a:xfrm>
          <a:prstGeom prst="line">
            <a:avLst/>
          </a:prstGeom>
          <a:noFill/>
          <a:ln w="17780">
            <a:solidFill>
              <a:srgbClr val="D66B4A">
                <a:alpha val="82000"/>
              </a:srgbClr>
            </a:solidFill>
            <a:prstDash val="solid"/>
            <a:tailEnd type="triangle"/>
          </a:ln>
        </p:spPr>
      </p:sp>
      <p:sp>
        <p:nvSpPr>
          <p:cNvPr id="9" name="Text 7"/>
          <p:cNvSpPr/>
          <p:nvPr/>
        </p:nvSpPr>
        <p:spPr>
          <a:xfrm>
            <a:off x="6510528"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0" name="Text 8"/>
          <p:cNvSpPr/>
          <p:nvPr/>
        </p:nvSpPr>
        <p:spPr>
          <a:xfrm>
            <a:off x="7646670"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1" name="Text 9"/>
          <p:cNvSpPr/>
          <p:nvPr/>
        </p:nvSpPr>
        <p:spPr>
          <a:xfrm>
            <a:off x="8782812"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12" name="Text 10"/>
          <p:cNvSpPr/>
          <p:nvPr/>
        </p:nvSpPr>
        <p:spPr>
          <a:xfrm>
            <a:off x="9918954" y="2103120"/>
            <a:ext cx="8435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13" name="Text 11"/>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Before referring, the clinician may need to clarify the problem and the reason for referral.</a:t>
            </a:r>
            <a:endParaRPr lang="en-US" sz="1420" dirty="0"/>
          </a:p>
        </p:txBody>
      </p:sp>
      <p:sp>
        <p:nvSpPr>
          <p:cNvPr id="15" name="Text 13"/>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Ask what must happen before the option could be appropriate.</a:t>
            </a:r>
            <a:endParaRPr lang="en-US" sz="1420" dirty="0"/>
          </a:p>
        </p:txBody>
      </p:sp>
      <p:sp>
        <p:nvSpPr>
          <p:cNvPr id="17" name="Text 15"/>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what must happen before the option could be appropriate.</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02/14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03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Premature Escalation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Premature escalation occurs when an answer jumps to emergency action, hospitalization, reporting, termination, or another high-intensity response without…</a:t>
            </a:r>
            <a:endParaRPr lang="en-US" sz="2200" dirty="0"/>
          </a:p>
        </p:txBody>
      </p:sp>
      <p:sp>
        <p:nvSpPr>
          <p:cNvPr id="8" name="Shape 6"/>
          <p:cNvSpPr/>
          <p:nvPr/>
        </p:nvSpPr>
        <p:spPr>
          <a:xfrm>
            <a:off x="6830568" y="2414016"/>
            <a:ext cx="3611880" cy="0"/>
          </a:xfrm>
          <a:prstGeom prst="line">
            <a:avLst/>
          </a:prstGeom>
          <a:noFill/>
          <a:ln w="17780">
            <a:solidFill>
              <a:srgbClr val="D66B4A">
                <a:alpha val="82000"/>
              </a:srgbClr>
            </a:solidFill>
            <a:prstDash val="solid"/>
            <a:tailEnd type="triangle"/>
          </a:ln>
        </p:spPr>
      </p:sp>
      <p:sp>
        <p:nvSpPr>
          <p:cNvPr id="9" name="Text 7"/>
          <p:cNvSpPr/>
          <p:nvPr/>
        </p:nvSpPr>
        <p:spPr>
          <a:xfrm>
            <a:off x="6510528"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0" name="Text 8"/>
          <p:cNvSpPr/>
          <p:nvPr/>
        </p:nvSpPr>
        <p:spPr>
          <a:xfrm>
            <a:off x="7646670"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1" name="Text 9"/>
          <p:cNvSpPr/>
          <p:nvPr/>
        </p:nvSpPr>
        <p:spPr>
          <a:xfrm>
            <a:off x="8782812"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12" name="Text 10"/>
          <p:cNvSpPr/>
          <p:nvPr/>
        </p:nvSpPr>
        <p:spPr>
          <a:xfrm>
            <a:off x="9918954" y="2103120"/>
            <a:ext cx="8435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13" name="Text 11"/>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Strong clinical judgment is proportional.</a:t>
            </a:r>
            <a:endParaRPr lang="en-US" sz="1420" dirty="0"/>
          </a:p>
        </p:txBody>
      </p:sp>
      <p:sp>
        <p:nvSpPr>
          <p:cNvPr id="15" name="Text 13"/>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More intensive does not automatically mean safer or better.</a:t>
            </a:r>
            <a:endParaRPr lang="en-US" sz="1420" dirty="0"/>
          </a:p>
        </p:txBody>
      </p:sp>
      <p:sp>
        <p:nvSpPr>
          <p:cNvPr id="17" name="Text 15"/>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More intensive does not automatically mean safer or better.</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03/14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04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Premature Referral</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Referral may be appropriate when the client needs a service outside the clinician’s competence, when a different level of care is indicated, or when…</a:t>
            </a:r>
            <a:endParaRPr lang="en-US" sz="2200" dirty="0"/>
          </a:p>
        </p:txBody>
      </p:sp>
      <p:sp>
        <p:nvSpPr>
          <p:cNvPr id="8" name="Shape 6"/>
          <p:cNvSpPr/>
          <p:nvPr/>
        </p:nvSpPr>
        <p:spPr>
          <a:xfrm>
            <a:off x="6830568" y="2414016"/>
            <a:ext cx="3611880" cy="0"/>
          </a:xfrm>
          <a:prstGeom prst="line">
            <a:avLst/>
          </a:prstGeom>
          <a:noFill/>
          <a:ln w="17780">
            <a:solidFill>
              <a:srgbClr val="D66B4A">
                <a:alpha val="82000"/>
              </a:srgbClr>
            </a:solidFill>
            <a:prstDash val="solid"/>
            <a:tailEnd type="triangle"/>
          </a:ln>
        </p:spPr>
      </p:sp>
      <p:sp>
        <p:nvSpPr>
          <p:cNvPr id="9" name="Text 7"/>
          <p:cNvSpPr/>
          <p:nvPr/>
        </p:nvSpPr>
        <p:spPr>
          <a:xfrm>
            <a:off x="6510528"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0" name="Text 8"/>
          <p:cNvSpPr/>
          <p:nvPr/>
        </p:nvSpPr>
        <p:spPr>
          <a:xfrm>
            <a:off x="7646670"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1" name="Text 9"/>
          <p:cNvSpPr/>
          <p:nvPr/>
        </p:nvSpPr>
        <p:spPr>
          <a:xfrm>
            <a:off x="8782812"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12" name="Text 10"/>
          <p:cNvSpPr/>
          <p:nvPr/>
        </p:nvSpPr>
        <p:spPr>
          <a:xfrm>
            <a:off x="9918954" y="2103120"/>
            <a:ext cx="8435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13" name="Text 11"/>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But immediate referral may be premature if the clinician has not explored the concern, assessed the…</a:t>
            </a:r>
            <a:endParaRPr lang="en-US" sz="1420" dirty="0"/>
          </a:p>
        </p:txBody>
      </p:sp>
      <p:sp>
        <p:nvSpPr>
          <p:cNvPr id="15" name="Text 13"/>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Referral should solve an identified problem, not replace assessment.</a:t>
            </a:r>
            <a:endParaRPr lang="en-US" sz="1420" dirty="0"/>
          </a:p>
        </p:txBody>
      </p:sp>
      <p:sp>
        <p:nvSpPr>
          <p:cNvPr id="17" name="Text 15"/>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Referral should solve an identified problem, not replace assessment.</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04/14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05</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Premature Involvement of Others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Involving family members, partners, schools, employers, or other providers can be helpful.</a:t>
            </a:r>
            <a:endParaRPr lang="en-US" sz="2200" dirty="0"/>
          </a:p>
        </p:txBody>
      </p:sp>
      <p:sp>
        <p:nvSpPr>
          <p:cNvPr id="8" name="Shape 6"/>
          <p:cNvSpPr/>
          <p:nvPr/>
        </p:nvSpPr>
        <p:spPr>
          <a:xfrm>
            <a:off x="6830568" y="2414016"/>
            <a:ext cx="3611880" cy="0"/>
          </a:xfrm>
          <a:prstGeom prst="line">
            <a:avLst/>
          </a:prstGeom>
          <a:noFill/>
          <a:ln w="17780">
            <a:solidFill>
              <a:srgbClr val="D66B4A">
                <a:alpha val="82000"/>
              </a:srgbClr>
            </a:solidFill>
            <a:prstDash val="solid"/>
            <a:tailEnd type="triangle"/>
          </a:ln>
        </p:spPr>
      </p:sp>
      <p:sp>
        <p:nvSpPr>
          <p:cNvPr id="9" name="Text 7"/>
          <p:cNvSpPr/>
          <p:nvPr/>
        </p:nvSpPr>
        <p:spPr>
          <a:xfrm>
            <a:off x="6510528"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0" name="Text 8"/>
          <p:cNvSpPr/>
          <p:nvPr/>
        </p:nvSpPr>
        <p:spPr>
          <a:xfrm>
            <a:off x="7646670"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1" name="Text 9"/>
          <p:cNvSpPr/>
          <p:nvPr/>
        </p:nvSpPr>
        <p:spPr>
          <a:xfrm>
            <a:off x="8782812"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12" name="Text 10"/>
          <p:cNvSpPr/>
          <p:nvPr/>
        </p:nvSpPr>
        <p:spPr>
          <a:xfrm>
            <a:off x="9918954" y="2103120"/>
            <a:ext cx="8435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13" name="Text 11"/>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can also be premature when the stem does not establish consent, a legal basis, an emergency, or a…</a:t>
            </a:r>
            <a:endParaRPr lang="en-US" sz="1420" dirty="0"/>
          </a:p>
        </p:txBody>
      </p:sp>
      <p:sp>
        <p:nvSpPr>
          <p:cNvPr id="15" name="Text 13"/>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Helpful coordination still requires appropriate authorization and timing.</a:t>
            </a:r>
            <a:endParaRPr lang="en-US" sz="1420" dirty="0"/>
          </a:p>
        </p:txBody>
      </p:sp>
      <p:sp>
        <p:nvSpPr>
          <p:cNvPr id="17" name="Text 15"/>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Helpful coordination still requires appropriate authorization and timing.</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05/14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06</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Premature Diagnosis or Interpretation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 diagnosis, interpretation, or case formulation may be premature when the stem lacks duration, impairment, exclusions, developmental context, or…</a:t>
            </a:r>
            <a:endParaRPr lang="en-US" sz="2200" dirty="0"/>
          </a:p>
        </p:txBody>
      </p:sp>
      <p:sp>
        <p:nvSpPr>
          <p:cNvPr id="8" name="Shape 6"/>
          <p:cNvSpPr/>
          <p:nvPr/>
        </p:nvSpPr>
        <p:spPr>
          <a:xfrm>
            <a:off x="6830568" y="2414016"/>
            <a:ext cx="3611880" cy="0"/>
          </a:xfrm>
          <a:prstGeom prst="line">
            <a:avLst/>
          </a:prstGeom>
          <a:noFill/>
          <a:ln w="17780">
            <a:solidFill>
              <a:srgbClr val="D66B4A">
                <a:alpha val="82000"/>
              </a:srgbClr>
            </a:solidFill>
            <a:prstDash val="solid"/>
            <a:tailEnd type="triangle"/>
          </a:ln>
        </p:spPr>
      </p:sp>
      <p:sp>
        <p:nvSpPr>
          <p:cNvPr id="9" name="Text 7"/>
          <p:cNvSpPr/>
          <p:nvPr/>
        </p:nvSpPr>
        <p:spPr>
          <a:xfrm>
            <a:off x="6510528"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0" name="Text 8"/>
          <p:cNvSpPr/>
          <p:nvPr/>
        </p:nvSpPr>
        <p:spPr>
          <a:xfrm>
            <a:off x="7646670"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1" name="Text 9"/>
          <p:cNvSpPr/>
          <p:nvPr/>
        </p:nvSpPr>
        <p:spPr>
          <a:xfrm>
            <a:off x="8782812"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12" name="Text 10"/>
          <p:cNvSpPr/>
          <p:nvPr/>
        </p:nvSpPr>
        <p:spPr>
          <a:xfrm>
            <a:off x="9918954" y="2103120"/>
            <a:ext cx="8435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13" name="Text 11"/>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Do not select a label because one symptom sounds familiar.</a:t>
            </a:r>
            <a:endParaRPr lang="en-US" sz="1420" dirty="0"/>
          </a:p>
        </p:txBody>
      </p:sp>
      <p:sp>
        <p:nvSpPr>
          <p:cNvPr id="15" name="Text 13"/>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same principle applies to interpretations of resistance, motivation, family roles, or…</a:t>
            </a:r>
            <a:endParaRPr lang="en-US" sz="1420" dirty="0"/>
          </a:p>
        </p:txBody>
      </p:sp>
      <p:sp>
        <p:nvSpPr>
          <p:cNvPr id="17" name="Text 15"/>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same principle applies to interpretations of resistance, motivation, family roles, or personality patterns.</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06/14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07</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Premature Technique Selection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 specific technique can be a distractor when the question has not yet established the target, readiness, safety, diagnosis, treatment goal, or client…</a:t>
            </a:r>
            <a:endParaRPr lang="en-US" sz="2200" dirty="0"/>
          </a:p>
        </p:txBody>
      </p:sp>
      <p:sp>
        <p:nvSpPr>
          <p:cNvPr id="8" name="Shape 6"/>
          <p:cNvSpPr/>
          <p:nvPr/>
        </p:nvSpPr>
        <p:spPr>
          <a:xfrm>
            <a:off x="6830568" y="2414016"/>
            <a:ext cx="3611880" cy="0"/>
          </a:xfrm>
          <a:prstGeom prst="line">
            <a:avLst/>
          </a:prstGeom>
          <a:noFill/>
          <a:ln w="17780">
            <a:solidFill>
              <a:srgbClr val="D66B4A">
                <a:alpha val="82000"/>
              </a:srgbClr>
            </a:solidFill>
            <a:prstDash val="solid"/>
            <a:tailEnd type="triangle"/>
          </a:ln>
        </p:spPr>
      </p:sp>
      <p:sp>
        <p:nvSpPr>
          <p:cNvPr id="9" name="Text 7"/>
          <p:cNvSpPr/>
          <p:nvPr/>
        </p:nvSpPr>
        <p:spPr>
          <a:xfrm>
            <a:off x="6510528"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0" name="Text 8"/>
          <p:cNvSpPr/>
          <p:nvPr/>
        </p:nvSpPr>
        <p:spPr>
          <a:xfrm>
            <a:off x="7646670"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1" name="Text 9"/>
          <p:cNvSpPr/>
          <p:nvPr/>
        </p:nvSpPr>
        <p:spPr>
          <a:xfrm>
            <a:off x="8782812"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12" name="Text 10"/>
          <p:cNvSpPr/>
          <p:nvPr/>
        </p:nvSpPr>
        <p:spPr>
          <a:xfrm>
            <a:off x="9918954" y="2103120"/>
            <a:ext cx="8435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13" name="Text 11"/>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technique may be evidence-based and still be premature.</a:t>
            </a:r>
            <a:endParaRPr lang="en-US" sz="1420" dirty="0"/>
          </a:p>
        </p:txBody>
      </p:sp>
      <p:sp>
        <p:nvSpPr>
          <p:cNvPr id="15" name="Text 13"/>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First identify the problem the technique is intended to address and whether the stem supports using…</a:t>
            </a:r>
            <a:endParaRPr lang="en-US" sz="1420" dirty="0"/>
          </a:p>
        </p:txBody>
      </p:sp>
      <p:sp>
        <p:nvSpPr>
          <p:cNvPr id="17" name="Text 15"/>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First identify the problem the technique is intended to address and whether the stem supports using it now.</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07/14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08</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Premature Documentation or Consultation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Documentation and consultation are important, but they are not always the first answer.</a:t>
            </a:r>
            <a:endParaRPr lang="en-US" sz="2200" dirty="0"/>
          </a:p>
        </p:txBody>
      </p:sp>
      <p:sp>
        <p:nvSpPr>
          <p:cNvPr id="8" name="Shape 6"/>
          <p:cNvSpPr/>
          <p:nvPr/>
        </p:nvSpPr>
        <p:spPr>
          <a:xfrm>
            <a:off x="6830568" y="2414016"/>
            <a:ext cx="3611880" cy="0"/>
          </a:xfrm>
          <a:prstGeom prst="line">
            <a:avLst/>
          </a:prstGeom>
          <a:noFill/>
          <a:ln w="17780">
            <a:solidFill>
              <a:srgbClr val="D66B4A">
                <a:alpha val="82000"/>
              </a:srgbClr>
            </a:solidFill>
            <a:prstDash val="solid"/>
            <a:tailEnd type="triangle"/>
          </a:ln>
        </p:spPr>
      </p:sp>
      <p:sp>
        <p:nvSpPr>
          <p:cNvPr id="9" name="Text 7"/>
          <p:cNvSpPr/>
          <p:nvPr/>
        </p:nvSpPr>
        <p:spPr>
          <a:xfrm>
            <a:off x="6510528"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0" name="Text 8"/>
          <p:cNvSpPr/>
          <p:nvPr/>
        </p:nvSpPr>
        <p:spPr>
          <a:xfrm>
            <a:off x="7646670"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1" name="Text 9"/>
          <p:cNvSpPr/>
          <p:nvPr/>
        </p:nvSpPr>
        <p:spPr>
          <a:xfrm>
            <a:off x="8782812"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12" name="Text 10"/>
          <p:cNvSpPr/>
          <p:nvPr/>
        </p:nvSpPr>
        <p:spPr>
          <a:xfrm>
            <a:off x="9918954" y="2103120"/>
            <a:ext cx="8435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13" name="Text 11"/>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If a client is in immediate danger, the clinician addresses safety before completing routine…</a:t>
            </a:r>
            <a:endParaRPr lang="en-US" sz="1420" dirty="0"/>
          </a:p>
        </p:txBody>
      </p:sp>
      <p:sp>
        <p:nvSpPr>
          <p:cNvPr id="15" name="Text 13"/>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Ask whether the option responds to the client’s immediate need or merely describes an important…</a:t>
            </a:r>
            <a:endParaRPr lang="en-US" sz="1420" dirty="0"/>
          </a:p>
        </p:txBody>
      </p:sp>
      <p:sp>
        <p:nvSpPr>
          <p:cNvPr id="17" name="Text 15"/>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whether the option responds to the client’s immediate need or merely describes an important professional task.</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08/14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09</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Example: Client Requests a Major Change</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Imagine a client asks to stop the current treatment and begin a very different approach.</a:t>
            </a:r>
            <a:endParaRPr lang="en-US" sz="2200" dirty="0"/>
          </a:p>
        </p:txBody>
      </p:sp>
      <p:sp>
        <p:nvSpPr>
          <p:cNvPr id="8" name="Text 6"/>
          <p:cNvSpPr/>
          <p:nvPr/>
        </p:nvSpPr>
        <p:spPr>
          <a:xfrm>
            <a:off x="6583680" y="1901952"/>
            <a:ext cx="3474720" cy="320040"/>
          </a:xfrm>
          <a:prstGeom prst="rect">
            <a:avLst/>
          </a:prstGeom>
          <a:noFill/>
          <a:ln/>
        </p:spPr>
        <p:txBody>
          <a:bodyPr wrap="square" lIns="0" tIns="0" rIns="0" bIns="0" rtlCol="0" anchor="ctr"/>
          <a:lstStyle/>
          <a:p>
            <a:pPr indent="0" marL="0">
              <a:buNone/>
            </a:pPr>
            <a:r>
              <a:rPr lang="en-US" sz="1250" b="1" dirty="0">
                <a:solidFill>
                  <a:srgbClr val="D66B4A"/>
                </a:solidFill>
                <a:latin typeface="Aptos" pitchFamily="34" charset="0"/>
                <a:ea typeface="Aptos" pitchFamily="34" charset="-122"/>
                <a:cs typeface="Aptos" pitchFamily="34" charset="-120"/>
              </a:rPr>
              <a:t>Scenario lens</a:t>
            </a:r>
            <a:endParaRPr lang="en-US" sz="1250" dirty="0"/>
          </a:p>
        </p:txBody>
      </p:sp>
      <p:sp>
        <p:nvSpPr>
          <p:cNvPr id="9" name="Shape 7"/>
          <p:cNvSpPr/>
          <p:nvPr/>
        </p:nvSpPr>
        <p:spPr>
          <a:xfrm>
            <a:off x="6858000" y="2734056"/>
            <a:ext cx="3520440" cy="0"/>
          </a:xfrm>
          <a:prstGeom prst="line">
            <a:avLst/>
          </a:prstGeom>
          <a:noFill/>
          <a:ln w="17780">
            <a:solidFill>
              <a:srgbClr val="D66B4A">
                <a:alpha val="82000"/>
              </a:srgbClr>
            </a:solidFill>
            <a:prstDash val="solid"/>
            <a:tailEnd type="triangle"/>
          </a:ln>
        </p:spPr>
      </p:sp>
      <p:sp>
        <p:nvSpPr>
          <p:cNvPr id="10" name="Text 8"/>
          <p:cNvSpPr/>
          <p:nvPr/>
        </p:nvSpPr>
        <p:spPr>
          <a:xfrm>
            <a:off x="6537960" y="2423160"/>
            <a:ext cx="1191768"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Facts</a:t>
            </a:r>
            <a:endParaRPr lang="en-US" sz="1250" dirty="0"/>
          </a:p>
        </p:txBody>
      </p:sp>
      <p:sp>
        <p:nvSpPr>
          <p:cNvPr id="11" name="Text 9"/>
          <p:cNvSpPr/>
          <p:nvPr/>
        </p:nvSpPr>
        <p:spPr>
          <a:xfrm>
            <a:off x="8022336" y="2423160"/>
            <a:ext cx="1191768"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Stage</a:t>
            </a:r>
            <a:endParaRPr lang="en-US" sz="1250" dirty="0"/>
          </a:p>
        </p:txBody>
      </p:sp>
      <p:sp>
        <p:nvSpPr>
          <p:cNvPr id="12" name="Text 10"/>
          <p:cNvSpPr/>
          <p:nvPr/>
        </p:nvSpPr>
        <p:spPr>
          <a:xfrm>
            <a:off x="9506712" y="2423160"/>
            <a:ext cx="1191768"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Best next step</a:t>
            </a:r>
            <a:endParaRPr lang="en-US" sz="1250" dirty="0"/>
          </a:p>
        </p:txBody>
      </p:sp>
      <p:sp>
        <p:nvSpPr>
          <p:cNvPr id="13" name="Text 11"/>
          <p:cNvSpPr/>
          <p:nvPr/>
        </p:nvSpPr>
        <p:spPr>
          <a:xfrm>
            <a:off x="658368" y="333756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3192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Immediate agreement, refusal, termination, or referral may all be premature.</a:t>
            </a:r>
            <a:endParaRPr lang="en-US" sz="1420" dirty="0"/>
          </a:p>
        </p:txBody>
      </p:sp>
      <p:sp>
        <p:nvSpPr>
          <p:cNvPr id="15" name="Text 13"/>
          <p:cNvSpPr/>
          <p:nvPr/>
        </p:nvSpPr>
        <p:spPr>
          <a:xfrm>
            <a:off x="658368" y="390448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8862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Name what the stem already establishes.</a:t>
            </a:r>
            <a:endParaRPr lang="en-US" sz="1420" dirty="0"/>
          </a:p>
        </p:txBody>
      </p:sp>
      <p:sp>
        <p:nvSpPr>
          <p:cNvPr id="17" name="Text 15"/>
          <p:cNvSpPr/>
          <p:nvPr/>
        </p:nvSpPr>
        <p:spPr>
          <a:xfrm>
            <a:off x="658368" y="447141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4531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Do not add missing facts to make an option work.</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Once the concern is understood, the clinician can collaboratively decide whether to modify, continue, consult, or refer.</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09/14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10</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Example: Conflict in a Family Session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Suppose conflict escalates during a family session.</a:t>
            </a:r>
            <a:endParaRPr lang="en-US" sz="2200" dirty="0"/>
          </a:p>
        </p:txBody>
      </p:sp>
      <p:sp>
        <p:nvSpPr>
          <p:cNvPr id="8" name="Text 6"/>
          <p:cNvSpPr/>
          <p:nvPr/>
        </p:nvSpPr>
        <p:spPr>
          <a:xfrm>
            <a:off x="6583680" y="1901952"/>
            <a:ext cx="3474720" cy="320040"/>
          </a:xfrm>
          <a:prstGeom prst="rect">
            <a:avLst/>
          </a:prstGeom>
          <a:noFill/>
          <a:ln/>
        </p:spPr>
        <p:txBody>
          <a:bodyPr wrap="square" lIns="0" tIns="0" rIns="0" bIns="0" rtlCol="0" anchor="ctr"/>
          <a:lstStyle/>
          <a:p>
            <a:pPr indent="0" marL="0">
              <a:buNone/>
            </a:pPr>
            <a:r>
              <a:rPr lang="en-US" sz="1250" b="1" dirty="0">
                <a:solidFill>
                  <a:srgbClr val="D66B4A"/>
                </a:solidFill>
                <a:latin typeface="Aptos" pitchFamily="34" charset="0"/>
                <a:ea typeface="Aptos" pitchFamily="34" charset="-122"/>
                <a:cs typeface="Aptos" pitchFamily="34" charset="-120"/>
              </a:rPr>
              <a:t>Scenario lens</a:t>
            </a:r>
            <a:endParaRPr lang="en-US" sz="1250" dirty="0"/>
          </a:p>
        </p:txBody>
      </p:sp>
      <p:sp>
        <p:nvSpPr>
          <p:cNvPr id="9" name="Shape 7"/>
          <p:cNvSpPr/>
          <p:nvPr/>
        </p:nvSpPr>
        <p:spPr>
          <a:xfrm>
            <a:off x="6858000" y="2734056"/>
            <a:ext cx="3520440" cy="0"/>
          </a:xfrm>
          <a:prstGeom prst="line">
            <a:avLst/>
          </a:prstGeom>
          <a:noFill/>
          <a:ln w="17780">
            <a:solidFill>
              <a:srgbClr val="D66B4A">
                <a:alpha val="82000"/>
              </a:srgbClr>
            </a:solidFill>
            <a:prstDash val="solid"/>
            <a:tailEnd type="triangle"/>
          </a:ln>
        </p:spPr>
      </p:sp>
      <p:sp>
        <p:nvSpPr>
          <p:cNvPr id="10" name="Text 8"/>
          <p:cNvSpPr/>
          <p:nvPr/>
        </p:nvSpPr>
        <p:spPr>
          <a:xfrm>
            <a:off x="6537960" y="2423160"/>
            <a:ext cx="1191768"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Facts</a:t>
            </a:r>
            <a:endParaRPr lang="en-US" sz="1250" dirty="0"/>
          </a:p>
        </p:txBody>
      </p:sp>
      <p:sp>
        <p:nvSpPr>
          <p:cNvPr id="11" name="Text 9"/>
          <p:cNvSpPr/>
          <p:nvPr/>
        </p:nvSpPr>
        <p:spPr>
          <a:xfrm>
            <a:off x="8022336" y="2423160"/>
            <a:ext cx="1191768"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Stage</a:t>
            </a:r>
            <a:endParaRPr lang="en-US" sz="1250" dirty="0"/>
          </a:p>
        </p:txBody>
      </p:sp>
      <p:sp>
        <p:nvSpPr>
          <p:cNvPr id="12" name="Text 10"/>
          <p:cNvSpPr/>
          <p:nvPr/>
        </p:nvSpPr>
        <p:spPr>
          <a:xfrm>
            <a:off x="9506712" y="2423160"/>
            <a:ext cx="1191768"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Best next step</a:t>
            </a:r>
            <a:endParaRPr lang="en-US" sz="1250" dirty="0"/>
          </a:p>
        </p:txBody>
      </p:sp>
      <p:sp>
        <p:nvSpPr>
          <p:cNvPr id="13" name="Text 11"/>
          <p:cNvSpPr/>
          <p:nvPr/>
        </p:nvSpPr>
        <p:spPr>
          <a:xfrm>
            <a:off x="658368" y="333756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3192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Immediately ending family treatment, assigning blame, or removing one member may be premature unless…</a:t>
            </a:r>
            <a:endParaRPr lang="en-US" sz="1420" dirty="0"/>
          </a:p>
        </p:txBody>
      </p:sp>
      <p:sp>
        <p:nvSpPr>
          <p:cNvPr id="15" name="Text 13"/>
          <p:cNvSpPr/>
          <p:nvPr/>
        </p:nvSpPr>
        <p:spPr>
          <a:xfrm>
            <a:off x="658368" y="390448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8862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Name what the stem already establishes.</a:t>
            </a:r>
            <a:endParaRPr lang="en-US" sz="1420" dirty="0"/>
          </a:p>
        </p:txBody>
      </p:sp>
      <p:sp>
        <p:nvSpPr>
          <p:cNvPr id="17" name="Text 15"/>
          <p:cNvSpPr/>
          <p:nvPr/>
        </p:nvSpPr>
        <p:spPr>
          <a:xfrm>
            <a:off x="658368" y="447141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4531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Do not add missing facts to make an option work.</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Major treatment decisions should follow the assessment of the event.</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10/14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11</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the “Now or Later?” Test</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the now-or-later test.</a:t>
            </a:r>
            <a:endParaRPr lang="en-US" sz="2200" dirty="0"/>
          </a:p>
        </p:txBody>
      </p:sp>
      <p:sp>
        <p:nvSpPr>
          <p:cNvPr id="8" name="Shape 6"/>
          <p:cNvSpPr/>
          <p:nvPr/>
        </p:nvSpPr>
        <p:spPr>
          <a:xfrm>
            <a:off x="6830568" y="2414016"/>
            <a:ext cx="3611880" cy="0"/>
          </a:xfrm>
          <a:prstGeom prst="line">
            <a:avLst/>
          </a:prstGeom>
          <a:noFill/>
          <a:ln w="17780">
            <a:solidFill>
              <a:srgbClr val="D66B4A">
                <a:alpha val="82000"/>
              </a:srgbClr>
            </a:solidFill>
            <a:prstDash val="solid"/>
            <a:tailEnd type="triangle"/>
          </a:ln>
        </p:spPr>
      </p:sp>
      <p:sp>
        <p:nvSpPr>
          <p:cNvPr id="9" name="Text 7"/>
          <p:cNvSpPr/>
          <p:nvPr/>
        </p:nvSpPr>
        <p:spPr>
          <a:xfrm>
            <a:off x="6510528"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0" name="Text 8"/>
          <p:cNvSpPr/>
          <p:nvPr/>
        </p:nvSpPr>
        <p:spPr>
          <a:xfrm>
            <a:off x="7646670"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1" name="Text 9"/>
          <p:cNvSpPr/>
          <p:nvPr/>
        </p:nvSpPr>
        <p:spPr>
          <a:xfrm>
            <a:off x="8782812" y="2103120"/>
            <a:ext cx="8435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12" name="Text 10"/>
          <p:cNvSpPr/>
          <p:nvPr/>
        </p:nvSpPr>
        <p:spPr>
          <a:xfrm>
            <a:off x="9918954" y="2103120"/>
            <a:ext cx="8435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13" name="Text 11"/>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For each tempting option, ask whether it could be appropriate after more assessment, consent,…</a:t>
            </a:r>
            <a:endParaRPr lang="en-US" sz="1420" dirty="0"/>
          </a:p>
        </p:txBody>
      </p:sp>
      <p:sp>
        <p:nvSpPr>
          <p:cNvPr id="15" name="Text 13"/>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Then identify what must happen now to make that later step clinically sound.</a:t>
            </a:r>
            <a:endParaRPr lang="en-US" sz="1420" dirty="0"/>
          </a:p>
        </p:txBody>
      </p:sp>
      <p:sp>
        <p:nvSpPr>
          <p:cNvPr id="17" name="Text 15"/>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Then identify what must happen now to make that later step clinically sound.</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11/14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12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the Least Assumptive Effective Step</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When several options are plausible, prefer the effective step that requires the fewest unsupported assumptions.</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That does not mean always choosing the least intensive response.</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If the stage is evaluation, review outcomes before changing the plan.</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D66B4A">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20" name="Text 18"/>
          <p:cNvSpPr/>
          <p:nvPr/>
        </p:nvSpPr>
        <p:spPr>
          <a:xfrm>
            <a:off x="4825746" y="4023360"/>
            <a:ext cx="10721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If the stage is evaluation, review outcomes before changing the plan.</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12/14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13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The Premature-Answer Checklist</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Before choosing a strong-sounding answer, run this checklist.</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Has the prerequisite been completed?</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If one of those questions is unanswered, the option may be premature.</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D66B4A">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20" name="Text 18"/>
          <p:cNvSpPr/>
          <p:nvPr/>
        </p:nvSpPr>
        <p:spPr>
          <a:xfrm>
            <a:off x="4825746" y="4023360"/>
            <a:ext cx="10721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If one of those questions is unanswered, the option may be premature.</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13/14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D66B4A"/>
                </a:solidFill>
                <a:latin typeface="Aptos" pitchFamily="34" charset="0"/>
                <a:ea typeface="Aptos" pitchFamily="34" charset="-122"/>
                <a:cs typeface="Aptos" pitchFamily="34" charset="-120"/>
              </a:rPr>
              <a:t>TIMING DISCIPLINE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D66B4A"/>
                </a:solidFill>
                <a:latin typeface="Aptos Display" pitchFamily="34" charset="0"/>
                <a:ea typeface="Aptos Display" pitchFamily="34" charset="-122"/>
                <a:cs typeface="Aptos Display" pitchFamily="34" charset="-120"/>
              </a:rPr>
              <a:t>14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Your Next Step</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During your next practice set, mark any missed item caused by choosing a later step too soon.</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Write what needed to happen first and when the tempting option would become appropriate.</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This turns a missed question into a reusable sequencing rule instead of a memorized answer.</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D66B4A"/>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D66B4A">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Sounds helpful</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facts</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Check timing</a:t>
            </a:r>
            <a:endParaRPr lang="en-US" sz="1250" dirty="0"/>
          </a:p>
        </p:txBody>
      </p:sp>
      <p:sp>
        <p:nvSpPr>
          <p:cNvPr id="20" name="Text 18"/>
          <p:cNvSpPr/>
          <p:nvPr/>
        </p:nvSpPr>
        <p:spPr>
          <a:xfrm>
            <a:off x="4825746" y="4023360"/>
            <a:ext cx="1072134" cy="676656"/>
          </a:xfrm>
          <a:prstGeom prst="rect">
            <a:avLst/>
          </a:prstGeom>
          <a:solidFill>
            <a:srgbClr val="D66B4A"/>
          </a:solidFill>
          <a:ln w="10160">
            <a:solidFill>
              <a:srgbClr val="D66B4A"/>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Choose now</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This turns a missed question into a reusable sequencing rule instead of a memorized answer.</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05  •  14/14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Shared Multimedia Script 05: How to Eliminate Plausible but Premature Answers</dc:title>
  <dc:subject>Shared LMFT &amp; LCSW Multimedia Script 05</dc:subject>
  <dc:creator>Clinical Training Academy</dc:creator>
  <cp:lastModifiedBy>Clinical Training Academy</cp:lastModifiedBy>
  <cp:revision>1</cp:revision>
  <dcterms:created xsi:type="dcterms:W3CDTF">2026-07-25T19:26:30Z</dcterms:created>
  <dcterms:modified xsi:type="dcterms:W3CDTF">2026-07-25T19:26:30Z</dcterms:modified>
</cp:coreProperties>
</file>