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Welcome to the Clinical Training Academy Exam Success System. You are beginning a structured, self-paced program designed to help you strengthen clinical reasoning, build confidence, and prepare to make sound decisions under exam conditions. Whether you are preparing for the LMFT clinical exam or the LCSW clinical exam, you will be guided through a clear sequence of content review, practice, feedback, remediation, and full-length simulation.
Visual direction:
CTA logo, program title, calm animated entrance.
On-screen text:
Welcome to the CTA Exam Success System
LMFT &amp; LCSW Clinical Exam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This program is built to fit real life. You may complete it entirely online, download and print the materials, or combine both approaches. You might watch a strategy lesson online, print a workbook for notes, complete a question bank on the website, and listen to an audio review while commuting. The format can change from day to day. The learning sequence stays the same.
Visual direction:
Three icons: laptop, printed workbook, headphones.
On-screen text:
Study Online
Download &amp; Print
Use a Hybrid Approach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Your program includes twelve focused workbooks, one seventeen-question bank for each workbook, and two comprehensive simulation exams. Form A helps identify remaining gaps after you complete the core curriculum. Form B is reserved for your final readiness check after targeted review. The system is designed so that every stage has a purpose. You are not simply collecting scores. You are learning how to think through the questions.
Visual direction:
Simple horizontal pathway with 12 workbook blocks leading to Form A and Form B.
On-screen text:
12 Workbooks
12 Question Banks
Form A
Targeted Review
Form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The CTA Study Cycle has five parts. First, learn the content and the decision rules. Second, practice without looking at the answers. Third, review every rationale, including the options you did not choose. Fourth, remediate by returning to the concept or reasoning error that caused the miss. Finally, simulate the exam under realistic conditions. Repeating this cycle is more effective than rereading material without testing your decisions.
Visual direction:
Circular diagram: Learn → Practice → Review → Remediate → Simulate.
On-screen text:
Learn → Practice → Review → Remediate → Simulate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You are expected to miss some practice questions. A missed question is not proof that you cannot pass. It is a diagnostic clue. It may show a content gap, a sequencing error, a missed task word, or a tendency to choose an answer that is reasonable but premature. Your job is to identify the pattern and correct it. That is how practice becomes progress.
Visual direction:
Error log graphic with categories: content, sequence, task word, premature action.
On-screen text:
A missed question is a diagnostic clue.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The rationales are a central part of the program. Do not review only whether your answer was right or wrong. Study why the best answer fits the question, why each alternative is weaker, and what clue should guide you next time. The CTA Exam Strategy section turns each item into a short coaching lesson. That is where you build repeatable decision-making habits.
Visual direction:
Question card beside rationale card and CTA Exam Strategy callout.
On-screen text:
Correct Answer
Why It Is Best
Why the Others Are Weaker
CTA Exam Strategy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Confidence does not require feeling certain about every topic. It comes from having a process you can trust. You will learn to slow down enough to identify what the question is asking, choose the right stage of clinical action, eliminate weaker options, and move forward. With repetition, that process becomes faster and more dependable.
Visual direction:
Progress bar moving from unsure to prepared.
On-screen text:
Confidence = Repeated, Evidence-Based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Narration:
Your next step is to open the Student Program Roadmap, choose the study schedule that fits your timeline, and complete the orientation lesson on how to use the twelve workbooks and question banks. Begin with the pace you can sustain. Consistent, thoughtful practice will take you farther than an unrealistic plan that you cannot maintain. Welcome to the program. Let’s get started.
Visual direction:
CTA roadmap and Start Here button.
On-screen text:
Next: Choose Your Study Schedule and Begin the Orientation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474720" y="502920"/>
            <a:ext cx="5212080" cy="1143000"/>
          </a:xfrm>
          <a:prstGeom prst="rect">
            <a:avLst/>
          </a:prstGeom>
        </p:spPr>
      </p:pic>
      <p:sp>
        <p:nvSpPr>
          <p:cNvPr id="3" name="Text 0"/>
          <p:cNvSpPr/>
          <p:nvPr/>
        </p:nvSpPr>
        <p:spPr>
          <a:xfrm>
            <a:off x="960120" y="1828800"/>
            <a:ext cx="10287000" cy="713232"/>
          </a:xfrm>
          <a:prstGeom prst="rect">
            <a:avLst/>
          </a:prstGeom>
          <a:noFill/>
          <a:ln/>
        </p:spPr>
        <p:txBody>
          <a:bodyPr wrap="square" lIns="254" tIns="254" rIns="254" bIns="254" rtlCol="0" anchor="ctr">
            <a:normAutofit/>
          </a:bodyPr>
          <a:lstStyle/>
          <a:p>
            <a:pPr algn="ctr" indent="0" marL="0">
              <a:buNone/>
            </a:pPr>
            <a:r>
              <a:rPr lang="en-US" sz="3100" b="1" dirty="0">
                <a:solidFill>
                  <a:srgbClr val="17365D"/>
                </a:solidFill>
                <a:latin typeface="Aptos Display" pitchFamily="34" charset="0"/>
                <a:ea typeface="Aptos Display" pitchFamily="34" charset="-122"/>
                <a:cs typeface="Aptos Display" pitchFamily="34" charset="-120"/>
              </a:rPr>
              <a:t>Welcome to the CTA Exam Success System</a:t>
            </a:r>
            <a:endParaRPr lang="en-US" sz="3100" dirty="0"/>
          </a:p>
        </p:txBody>
      </p:sp>
      <p:sp>
        <p:nvSpPr>
          <p:cNvPr id="4" name="Text 1"/>
          <p:cNvSpPr/>
          <p:nvPr/>
        </p:nvSpPr>
        <p:spPr>
          <a:xfrm>
            <a:off x="1737360" y="2615184"/>
            <a:ext cx="8732520" cy="320040"/>
          </a:xfrm>
          <a:prstGeom prst="rect">
            <a:avLst/>
          </a:prstGeom>
          <a:noFill/>
          <a:ln/>
        </p:spPr>
        <p:txBody>
          <a:bodyPr wrap="square" lIns="254" tIns="254" rIns="254" bIns="254" rtlCol="0" anchor="ctr"/>
          <a:lstStyle/>
          <a:p>
            <a:pPr algn="ctr" indent="0" marL="0">
              <a:buNone/>
            </a:pPr>
            <a:r>
              <a:rPr lang="en-US" sz="1300" b="1" dirty="0">
                <a:solidFill>
                  <a:srgbClr val="2AA7D6"/>
                </a:solidFill>
                <a:latin typeface="Aptos" pitchFamily="34" charset="0"/>
                <a:ea typeface="Aptos" pitchFamily="34" charset="-122"/>
                <a:cs typeface="Aptos" pitchFamily="34" charset="-120"/>
              </a:rPr>
              <a:t>Multimedia Script 01</a:t>
            </a:r>
            <a:endParaRPr lang="en-US" sz="1300" dirty="0"/>
          </a:p>
        </p:txBody>
      </p:sp>
      <p:sp>
        <p:nvSpPr>
          <p:cNvPr id="5" name="Text 2"/>
          <p:cNvSpPr/>
          <p:nvPr/>
        </p:nvSpPr>
        <p:spPr>
          <a:xfrm>
            <a:off x="1234440" y="3429000"/>
            <a:ext cx="9738360" cy="502920"/>
          </a:xfrm>
          <a:prstGeom prst="rect">
            <a:avLst/>
          </a:prstGeom>
          <a:solidFill>
            <a:srgbClr val="FFFFFF">
              <a:alpha val="96000"/>
            </a:srgbClr>
          </a:solidFill>
          <a:ln>
            <a:solidFill>
              <a:srgbClr val="DCEFF6"/>
            </a:solidFill>
          </a:ln>
        </p:spPr>
        <p:txBody>
          <a:bodyPr wrap="square" lIns="635" tIns="635" rIns="635" bIns="635" rtlCol="0" anchor="ctr"/>
          <a:lstStyle/>
          <a:p>
            <a:pPr algn="ctr" indent="0" marL="0">
              <a:buNone/>
            </a:pPr>
            <a:r>
              <a:rPr lang="en-US" sz="1400" dirty="0">
                <a:solidFill>
                  <a:srgbClr val="243B53"/>
                </a:solidFill>
                <a:latin typeface="Aptos" pitchFamily="34" charset="0"/>
                <a:ea typeface="Aptos" pitchFamily="34" charset="-122"/>
                <a:cs typeface="Aptos" pitchFamily="34" charset="-120"/>
              </a:rPr>
              <a:t>Welcome to the CTA Exam Success System   •   LMFT &amp; LCSW Clinical Exam Preparation</a:t>
            </a:r>
            <a:endParaRPr lang="en-US" sz="1400" dirty="0"/>
          </a:p>
        </p:txBody>
      </p:sp>
      <p:sp>
        <p:nvSpPr>
          <p:cNvPr id="6" name="Text 3"/>
          <p:cNvSpPr/>
          <p:nvPr/>
        </p:nvSpPr>
        <p:spPr>
          <a:xfrm>
            <a:off x="2331720" y="6016752"/>
            <a:ext cx="7543800" cy="228600"/>
          </a:xfrm>
          <a:prstGeom prst="rect">
            <a:avLst/>
          </a:prstGeom>
          <a:noFill/>
          <a:ln/>
        </p:spPr>
        <p:txBody>
          <a:bodyPr wrap="square" lIns="254" tIns="254" rIns="254" bIns="254" rtlCol="0" anchor="ctr"/>
          <a:lstStyle/>
          <a:p>
            <a:pPr algn="ctr" indent="0" marL="0">
              <a:buNone/>
            </a:pPr>
            <a:r>
              <a:rPr lang="en-US" sz="850" dirty="0">
                <a:solidFill>
                  <a:srgbClr val="6B7280"/>
                </a:solidFill>
                <a:latin typeface="Aptos" pitchFamily="34" charset="0"/>
                <a:ea typeface="Aptos" pitchFamily="34" charset="-122"/>
                <a:cs typeface="Aptos" pitchFamily="34" charset="-120"/>
              </a:rPr>
              <a:t>Ready-to-record slide deck with synchronized speaker notes</a:t>
            </a:r>
            <a:endParaRPr lang="en-US" sz="850" dirty="0"/>
          </a:p>
        </p:txBody>
      </p:sp>
      <p:sp>
        <p:nvSpPr>
          <p:cNvPr id="7" name="Text 4"/>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1/8</a:t>
            </a:r>
            <a:endParaRPr lang="en-US" sz="7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This Program Is Built for Real Life</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Welcome to the CTA Exam Success System</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2/8</a:t>
            </a:r>
            <a:endParaRPr lang="en-US" sz="750" dirty="0"/>
          </a:p>
        </p:txBody>
      </p:sp>
      <p:sp>
        <p:nvSpPr>
          <p:cNvPr id="7" name="Text 4"/>
          <p:cNvSpPr/>
          <p:nvPr/>
        </p:nvSpPr>
        <p:spPr>
          <a:xfrm>
            <a:off x="822960" y="2057400"/>
            <a:ext cx="2514600" cy="11430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Study Online</a:t>
            </a:r>
            <a:endParaRPr lang="en-US" sz="1600" dirty="0"/>
          </a:p>
        </p:txBody>
      </p:sp>
      <p:sp>
        <p:nvSpPr>
          <p:cNvPr id="8" name="Text 5"/>
          <p:cNvSpPr/>
          <p:nvPr/>
        </p:nvSpPr>
        <p:spPr>
          <a:xfrm>
            <a:off x="3657600" y="2057400"/>
            <a:ext cx="2514600" cy="11430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Download &amp; Print</a:t>
            </a:r>
            <a:endParaRPr lang="en-US" sz="1600" dirty="0"/>
          </a:p>
        </p:txBody>
      </p:sp>
      <p:sp>
        <p:nvSpPr>
          <p:cNvPr id="9" name="Text 6"/>
          <p:cNvSpPr/>
          <p:nvPr/>
        </p:nvSpPr>
        <p:spPr>
          <a:xfrm>
            <a:off x="6492240" y="2057400"/>
            <a:ext cx="2514600" cy="114300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600" b="1" dirty="0">
                <a:solidFill>
                  <a:srgbClr val="17365D"/>
                </a:solidFill>
                <a:latin typeface="Aptos" pitchFamily="34" charset="0"/>
                <a:ea typeface="Aptos" pitchFamily="34" charset="-122"/>
                <a:cs typeface="Aptos" pitchFamily="34" charset="-120"/>
              </a:rPr>
              <a:t>Use a Hybrid Approach</a:t>
            </a:r>
            <a:endParaRPr lang="en-US" sz="1600" dirty="0"/>
          </a:p>
        </p:txBody>
      </p:sp>
      <p:sp>
        <p:nvSpPr>
          <p:cNvPr id="10" name="Text 7"/>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You might watch a strategy lesson online, print a workbook for notes, complete a question bank on the website, and listen to an audio review while commuting.</a:t>
            </a:r>
            <a:endParaRPr lang="en-US" sz="13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What You Will Work Through</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Welcome to the CTA Exam Success System</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3/8</a:t>
            </a:r>
            <a:endParaRPr lang="en-US" sz="750" dirty="0"/>
          </a:p>
        </p:txBody>
      </p:sp>
      <p:sp>
        <p:nvSpPr>
          <p:cNvPr id="7" name="Text 4"/>
          <p:cNvSpPr/>
          <p:nvPr/>
        </p:nvSpPr>
        <p:spPr>
          <a:xfrm>
            <a:off x="685800" y="2057400"/>
            <a:ext cx="2035454"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1. 12 Workbooks</a:t>
            </a:r>
            <a:endParaRPr lang="en-US" sz="1320" dirty="0"/>
          </a:p>
        </p:txBody>
      </p:sp>
      <p:sp>
        <p:nvSpPr>
          <p:cNvPr id="8" name="Text 5"/>
          <p:cNvSpPr/>
          <p:nvPr/>
        </p:nvSpPr>
        <p:spPr>
          <a:xfrm>
            <a:off x="2885846" y="2057400"/>
            <a:ext cx="2035454" cy="9144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2. 12 Question Banks</a:t>
            </a:r>
            <a:endParaRPr lang="en-US" sz="1320" dirty="0"/>
          </a:p>
        </p:txBody>
      </p:sp>
      <p:sp>
        <p:nvSpPr>
          <p:cNvPr id="9" name="Text 6"/>
          <p:cNvSpPr/>
          <p:nvPr/>
        </p:nvSpPr>
        <p:spPr>
          <a:xfrm>
            <a:off x="5085893" y="2057400"/>
            <a:ext cx="2035454"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3. Form A</a:t>
            </a:r>
            <a:endParaRPr lang="en-US" sz="1320" dirty="0"/>
          </a:p>
        </p:txBody>
      </p:sp>
      <p:sp>
        <p:nvSpPr>
          <p:cNvPr id="10" name="Text 7"/>
          <p:cNvSpPr/>
          <p:nvPr/>
        </p:nvSpPr>
        <p:spPr>
          <a:xfrm>
            <a:off x="7285939" y="2057400"/>
            <a:ext cx="2035454" cy="9144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4. Targeted Review</a:t>
            </a:r>
            <a:endParaRPr lang="en-US" sz="1320" dirty="0"/>
          </a:p>
        </p:txBody>
      </p:sp>
      <p:sp>
        <p:nvSpPr>
          <p:cNvPr id="11" name="Text 8"/>
          <p:cNvSpPr/>
          <p:nvPr/>
        </p:nvSpPr>
        <p:spPr>
          <a:xfrm>
            <a:off x="9485986" y="2057400"/>
            <a:ext cx="2035454"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5. Form B</a:t>
            </a:r>
            <a:endParaRPr lang="en-US" sz="1320" dirty="0"/>
          </a:p>
        </p:txBody>
      </p:sp>
      <p:sp>
        <p:nvSpPr>
          <p:cNvPr id="12" name="Text 9"/>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You are learning how to think through the questions.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The CTA Study Cycle</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Welcome to the CTA Exam Success System</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4/8</a:t>
            </a:r>
            <a:endParaRPr lang="en-US" sz="750" dirty="0"/>
          </a:p>
        </p:txBody>
      </p:sp>
      <p:sp>
        <p:nvSpPr>
          <p:cNvPr id="7" name="Text 4"/>
          <p:cNvSpPr/>
          <p:nvPr/>
        </p:nvSpPr>
        <p:spPr>
          <a:xfrm>
            <a:off x="685800" y="2057400"/>
            <a:ext cx="2035454"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1. Learn</a:t>
            </a:r>
            <a:endParaRPr lang="en-US" sz="1320" dirty="0"/>
          </a:p>
        </p:txBody>
      </p:sp>
      <p:sp>
        <p:nvSpPr>
          <p:cNvPr id="8" name="Text 5"/>
          <p:cNvSpPr/>
          <p:nvPr/>
        </p:nvSpPr>
        <p:spPr>
          <a:xfrm>
            <a:off x="2885846" y="2057400"/>
            <a:ext cx="2035454" cy="9144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2. Practice</a:t>
            </a:r>
            <a:endParaRPr lang="en-US" sz="1320" dirty="0"/>
          </a:p>
        </p:txBody>
      </p:sp>
      <p:sp>
        <p:nvSpPr>
          <p:cNvPr id="9" name="Text 6"/>
          <p:cNvSpPr/>
          <p:nvPr/>
        </p:nvSpPr>
        <p:spPr>
          <a:xfrm>
            <a:off x="5085893" y="2057400"/>
            <a:ext cx="2035454"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3. Review</a:t>
            </a:r>
            <a:endParaRPr lang="en-US" sz="1320" dirty="0"/>
          </a:p>
        </p:txBody>
      </p:sp>
      <p:sp>
        <p:nvSpPr>
          <p:cNvPr id="10" name="Text 7"/>
          <p:cNvSpPr/>
          <p:nvPr/>
        </p:nvSpPr>
        <p:spPr>
          <a:xfrm>
            <a:off x="7285939" y="2057400"/>
            <a:ext cx="2035454" cy="914400"/>
          </a:xfrm>
          <a:prstGeom prst="rect">
            <a:avLst/>
          </a:prstGeom>
          <a:solidFill>
            <a:srgbClr val="EAF6FA"/>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4. Remediate</a:t>
            </a:r>
            <a:endParaRPr lang="en-US" sz="1320" dirty="0"/>
          </a:p>
        </p:txBody>
      </p:sp>
      <p:sp>
        <p:nvSpPr>
          <p:cNvPr id="11" name="Text 8"/>
          <p:cNvSpPr/>
          <p:nvPr/>
        </p:nvSpPr>
        <p:spPr>
          <a:xfrm>
            <a:off x="9485986" y="2057400"/>
            <a:ext cx="2035454" cy="91440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320" b="1" dirty="0">
                <a:solidFill>
                  <a:srgbClr val="17365D"/>
                </a:solidFill>
                <a:latin typeface="Aptos" pitchFamily="34" charset="0"/>
                <a:ea typeface="Aptos" pitchFamily="34" charset="-122"/>
                <a:cs typeface="Aptos" pitchFamily="34" charset="-120"/>
              </a:rPr>
              <a:t>5. Simulate</a:t>
            </a:r>
            <a:endParaRPr lang="en-US" sz="1320" dirty="0"/>
          </a:p>
        </p:txBody>
      </p:sp>
      <p:sp>
        <p:nvSpPr>
          <p:cNvPr id="12" name="Text 9"/>
          <p:cNvSpPr/>
          <p:nvPr/>
        </p:nvSpPr>
        <p:spPr>
          <a:xfrm>
            <a:off x="1828800" y="4069080"/>
            <a:ext cx="8549640" cy="777240"/>
          </a:xfrm>
          <a:prstGeom prst="rect">
            <a:avLst/>
          </a:prstGeom>
          <a:solidFill>
            <a:srgbClr val="DCEFF6"/>
          </a:solidFill>
          <a:ln>
            <a:solidFill>
              <a:srgbClr val="DCEFF6"/>
            </a:solidFill>
          </a:ln>
        </p:spPr>
        <p:txBody>
          <a:bodyPr wrap="square" lIns="1524" tIns="1524" rIns="1524" bIns="1524" rtlCol="0" anchor="ctr">
            <a:normAutofit/>
          </a:bodyPr>
          <a:lstStyle/>
          <a:p>
            <a:pPr algn="ctr" indent="0" marL="0">
              <a:buNone/>
            </a:pPr>
            <a:r>
              <a:rPr lang="en-US" sz="1350" b="1" dirty="0">
                <a:solidFill>
                  <a:srgbClr val="243B53"/>
                </a:solidFill>
                <a:latin typeface="Aptos" pitchFamily="34" charset="0"/>
                <a:ea typeface="Aptos" pitchFamily="34" charset="-122"/>
                <a:cs typeface="Aptos" pitchFamily="34" charset="-120"/>
              </a:rPr>
              <a:t>Repeating this cycle is more effective than rereading material without testing your decisions.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Mistakes Are Information</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Welcome to the CTA Exam Success System</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5/8</a:t>
            </a:r>
            <a:endParaRPr lang="en-US" sz="750" dirty="0"/>
          </a:p>
        </p:txBody>
      </p:sp>
      <p:sp>
        <p:nvSpPr>
          <p:cNvPr id="7" name="Text 4"/>
          <p:cNvSpPr/>
          <p:nvPr/>
        </p:nvSpPr>
        <p:spPr>
          <a:xfrm>
            <a:off x="960120" y="1508760"/>
            <a:ext cx="10287000" cy="1143000"/>
          </a:xfrm>
          <a:prstGeom prst="rect">
            <a:avLst/>
          </a:prstGeom>
          <a:solidFill>
            <a:srgbClr val="EAF6FA"/>
          </a:solidFill>
          <a:ln>
            <a:solidFill>
              <a:srgbClr val="DCEFF6"/>
            </a:solidFill>
          </a:ln>
        </p:spPr>
        <p:txBody>
          <a:bodyPr wrap="square" lIns="1016" tIns="1016" rIns="1016" bIns="1016" rtlCol="0" anchor="ctr">
            <a:normAutofit/>
          </a:bodyPr>
          <a:lstStyle/>
          <a:p>
            <a:pPr algn="ctr" indent="0" marL="0">
              <a:buNone/>
            </a:pPr>
            <a:r>
              <a:rPr lang="en-US" sz="2800" b="1" dirty="0">
                <a:solidFill>
                  <a:srgbClr val="17365D"/>
                </a:solidFill>
                <a:latin typeface="Aptos Display" pitchFamily="34" charset="0"/>
                <a:ea typeface="Aptos Display" pitchFamily="34" charset="-122"/>
                <a:cs typeface="Aptos Display" pitchFamily="34" charset="-120"/>
              </a:rPr>
              <a:t>A missed question is a diagnostic clue.</a:t>
            </a:r>
            <a:endParaRPr lang="en-US" sz="2800" dirty="0"/>
          </a:p>
        </p:txBody>
      </p:sp>
      <p:sp>
        <p:nvSpPr>
          <p:cNvPr id="8" name="Text 5"/>
          <p:cNvSpPr/>
          <p:nvPr/>
        </p:nvSpPr>
        <p:spPr>
          <a:xfrm>
            <a:off x="1828800" y="3794760"/>
            <a:ext cx="8549640" cy="86868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Your job is to identify the pattern and correct it.</a:t>
            </a:r>
            <a:endParaRPr lang="en-US" sz="14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Use the Rationales as Coaching</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Welcome to the CTA Exam Success System</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6/8</a:t>
            </a:r>
            <a:endParaRPr lang="en-US" sz="750" dirty="0"/>
          </a:p>
        </p:txBody>
      </p:sp>
      <p:sp>
        <p:nvSpPr>
          <p:cNvPr id="7" name="Text 4"/>
          <p:cNvSpPr/>
          <p:nvPr/>
        </p:nvSpPr>
        <p:spPr>
          <a:xfrm>
            <a:off x="960120" y="1508760"/>
            <a:ext cx="10287000" cy="1143000"/>
          </a:xfrm>
          <a:prstGeom prst="rect">
            <a:avLst/>
          </a:prstGeom>
          <a:solidFill>
            <a:srgbClr val="EAF6FA"/>
          </a:solidFill>
          <a:ln>
            <a:solidFill>
              <a:srgbClr val="DCEFF6"/>
            </a:solidFill>
          </a:ln>
        </p:spPr>
        <p:txBody>
          <a:bodyPr wrap="square" lIns="1016" tIns="1016" rIns="1016" bIns="1016" rtlCol="0" anchor="ctr">
            <a:normAutofit/>
          </a:bodyPr>
          <a:lstStyle/>
          <a:p>
            <a:pPr algn="ctr" indent="0" marL="0">
              <a:buNone/>
            </a:pPr>
            <a:r>
              <a:rPr lang="en-US" sz="2800" b="1" dirty="0">
                <a:solidFill>
                  <a:srgbClr val="17365D"/>
                </a:solidFill>
                <a:latin typeface="Aptos Display" pitchFamily="34" charset="0"/>
                <a:ea typeface="Aptos Display" pitchFamily="34" charset="-122"/>
                <a:cs typeface="Aptos Display" pitchFamily="34" charset="-120"/>
              </a:rPr>
              <a:t>Correct Answer</a:t>
            </a:r>
            <a:endParaRPr lang="en-US" sz="2800" dirty="0"/>
          </a:p>
          <a:p>
            <a:pPr algn="ctr" indent="0" marL="0">
              <a:buNone/>
            </a:pPr>
            <a:r>
              <a:rPr lang="en-US" sz="2800" b="1" dirty="0">
                <a:solidFill>
                  <a:srgbClr val="17365D"/>
                </a:solidFill>
                <a:latin typeface="Aptos Display" pitchFamily="34" charset="0"/>
                <a:ea typeface="Aptos Display" pitchFamily="34" charset="-122"/>
                <a:cs typeface="Aptos Display" pitchFamily="34" charset="-120"/>
              </a:rPr>
              <a:t>Why It Is Best</a:t>
            </a:r>
            <a:endParaRPr lang="en-US" sz="2800" dirty="0"/>
          </a:p>
          <a:p>
            <a:pPr algn="ctr" indent="0" marL="0">
              <a:buNone/>
            </a:pPr>
            <a:r>
              <a:rPr lang="en-US" sz="2800" b="1" dirty="0">
                <a:solidFill>
                  <a:srgbClr val="17365D"/>
                </a:solidFill>
                <a:latin typeface="Aptos Display" pitchFamily="34" charset="0"/>
                <a:ea typeface="Aptos Display" pitchFamily="34" charset="-122"/>
                <a:cs typeface="Aptos Display" pitchFamily="34" charset="-120"/>
              </a:rPr>
              <a:t>Why the Others Are Weaker</a:t>
            </a:r>
            <a:endParaRPr lang="en-US" sz="2800" dirty="0"/>
          </a:p>
          <a:p>
            <a:pPr algn="ctr" indent="0" marL="0">
              <a:buNone/>
            </a:pPr>
            <a:r>
              <a:rPr lang="en-US" sz="2800" b="1" dirty="0">
                <a:solidFill>
                  <a:srgbClr val="17365D"/>
                </a:solidFill>
                <a:latin typeface="Aptos Display" pitchFamily="34" charset="0"/>
                <a:ea typeface="Aptos Display" pitchFamily="34" charset="-122"/>
                <a:cs typeface="Aptos Display" pitchFamily="34" charset="-120"/>
              </a:rPr>
              <a:t>CTA Exam Strategy</a:t>
            </a:r>
            <a:endParaRPr lang="en-US" sz="2800" dirty="0"/>
          </a:p>
        </p:txBody>
      </p:sp>
      <p:sp>
        <p:nvSpPr>
          <p:cNvPr id="8" name="Text 5"/>
          <p:cNvSpPr/>
          <p:nvPr/>
        </p:nvSpPr>
        <p:spPr>
          <a:xfrm>
            <a:off x="1828800" y="3794760"/>
            <a:ext cx="8549640" cy="86868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That is where you build repeatable decision-making habits.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Confidence Comes from a Process</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Welcome to the CTA Exam Success System</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7/8</a:t>
            </a:r>
            <a:endParaRPr lang="en-US" sz="750" dirty="0"/>
          </a:p>
        </p:txBody>
      </p:sp>
      <p:sp>
        <p:nvSpPr>
          <p:cNvPr id="7" name="Text 4"/>
          <p:cNvSpPr/>
          <p:nvPr/>
        </p:nvSpPr>
        <p:spPr>
          <a:xfrm>
            <a:off x="960120" y="1508760"/>
            <a:ext cx="10287000" cy="1143000"/>
          </a:xfrm>
          <a:prstGeom prst="rect">
            <a:avLst/>
          </a:prstGeom>
          <a:solidFill>
            <a:srgbClr val="EAF6FA"/>
          </a:solidFill>
          <a:ln>
            <a:solidFill>
              <a:srgbClr val="DCEFF6"/>
            </a:solidFill>
          </a:ln>
        </p:spPr>
        <p:txBody>
          <a:bodyPr wrap="square" lIns="1016" tIns="1016" rIns="1016" bIns="1016" rtlCol="0" anchor="ctr">
            <a:normAutofit/>
          </a:bodyPr>
          <a:lstStyle/>
          <a:p>
            <a:pPr algn="ctr" indent="0" marL="0">
              <a:buNone/>
            </a:pPr>
            <a:r>
              <a:rPr lang="en-US" sz="2800" b="1" dirty="0">
                <a:solidFill>
                  <a:srgbClr val="17365D"/>
                </a:solidFill>
                <a:latin typeface="Aptos Display" pitchFamily="34" charset="0"/>
                <a:ea typeface="Aptos Display" pitchFamily="34" charset="-122"/>
                <a:cs typeface="Aptos Display" pitchFamily="34" charset="-120"/>
              </a:rPr>
              <a:t>Confidence = Repeated, Evidence-Based Practice</a:t>
            </a:r>
            <a:endParaRPr lang="en-US" sz="2800" dirty="0"/>
          </a:p>
        </p:txBody>
      </p:sp>
      <p:sp>
        <p:nvSpPr>
          <p:cNvPr id="8" name="Text 5"/>
          <p:cNvSpPr/>
          <p:nvPr/>
        </p:nvSpPr>
        <p:spPr>
          <a:xfrm>
            <a:off x="1828800" y="3794760"/>
            <a:ext cx="8549640" cy="86868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With repetition, that process becomes faster and more dependable.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AFD"/>
        </a:solidFill>
      </p:bgPr>
    </p:bg>
    <p:spTree>
      <p:nvGrpSpPr>
        <p:cNvPr id="1" name=""/>
        <p:cNvGrpSpPr/>
        <p:nvPr/>
      </p:nvGrpSpPr>
      <p:grpSpPr>
        <a:xfrm>
          <a:off x="0" y="0"/>
          <a:ext cx="0" cy="0"/>
          <a:chOff x="0" y="0"/>
          <a:chExt cx="0" cy="0"/>
        </a:xfrm>
      </p:grpSpPr>
      <p:pic>
        <p:nvPicPr>
          <p:cNvPr id="2" name="Image 0" descr="/mnt/data/CTA_Horizontal_Logo.png">    </p:cNvPr>
          <p:cNvPicPr>
            <a:picLocks noChangeAspect="1"/>
          </p:cNvPicPr>
          <p:nvPr/>
        </p:nvPicPr>
        <p:blipFill>
          <a:blip r:embed="rId1"/>
          <a:stretch>
            <a:fillRect/>
          </a:stretch>
        </p:blipFill>
        <p:spPr>
          <a:xfrm>
            <a:off x="329184" y="201168"/>
            <a:ext cx="1417320" cy="311810"/>
          </a:xfrm>
          <a:prstGeom prst="rect">
            <a:avLst/>
          </a:prstGeom>
        </p:spPr>
      </p:pic>
      <p:sp>
        <p:nvSpPr>
          <p:cNvPr id="3" name="Text 0"/>
          <p:cNvSpPr/>
          <p:nvPr/>
        </p:nvSpPr>
        <p:spPr>
          <a:xfrm>
            <a:off x="1920240" y="164592"/>
            <a:ext cx="9006840" cy="320040"/>
          </a:xfrm>
          <a:prstGeom prst="rect">
            <a:avLst/>
          </a:prstGeom>
          <a:noFill/>
          <a:ln/>
        </p:spPr>
        <p:txBody>
          <a:bodyPr wrap="square" lIns="254" tIns="254" rIns="254" bIns="254" rtlCol="0" anchor="ctr">
            <a:normAutofit/>
          </a:bodyPr>
          <a:lstStyle/>
          <a:p>
            <a:pPr indent="0" marL="0">
              <a:buNone/>
            </a:pPr>
            <a:r>
              <a:rPr lang="en-US" sz="1900" b="1" dirty="0">
                <a:solidFill>
                  <a:srgbClr val="17365D"/>
                </a:solidFill>
                <a:latin typeface="Aptos Display" pitchFamily="34" charset="0"/>
                <a:ea typeface="Aptos Display" pitchFamily="34" charset="-122"/>
                <a:cs typeface="Aptos Display" pitchFamily="34" charset="-120"/>
              </a:rPr>
              <a:t>Your Next Step</a:t>
            </a:r>
            <a:endParaRPr lang="en-US" sz="1900" dirty="0"/>
          </a:p>
        </p:txBody>
      </p:sp>
      <p:sp>
        <p:nvSpPr>
          <p:cNvPr id="4" name="Text 1"/>
          <p:cNvSpPr/>
          <p:nvPr/>
        </p:nvSpPr>
        <p:spPr>
          <a:xfrm>
            <a:off x="1920240" y="512064"/>
            <a:ext cx="8961120" cy="201168"/>
          </a:xfrm>
          <a:prstGeom prst="rect">
            <a:avLst/>
          </a:prstGeom>
          <a:noFill/>
          <a:ln/>
        </p:spPr>
        <p:txBody>
          <a:bodyPr wrap="square" lIns="254" tIns="254" rIns="254" bIns="254" rtlCol="0" anchor="ctr"/>
          <a:lstStyle/>
          <a:p>
            <a:pPr indent="0" marL="0">
              <a:buNone/>
            </a:pPr>
            <a:r>
              <a:rPr lang="en-US" sz="850" dirty="0">
                <a:solidFill>
                  <a:srgbClr val="6B7280"/>
                </a:solidFill>
                <a:latin typeface="Aptos" pitchFamily="34" charset="0"/>
                <a:ea typeface="Aptos" pitchFamily="34" charset="-122"/>
                <a:cs typeface="Aptos" pitchFamily="34" charset="-120"/>
              </a:rPr>
              <a:t>Welcome to the CTA Exam Success System</a:t>
            </a:r>
            <a:endParaRPr lang="en-US" sz="850" dirty="0"/>
          </a:p>
        </p:txBody>
      </p:sp>
      <p:sp>
        <p:nvSpPr>
          <p:cNvPr id="5" name="Text 2"/>
          <p:cNvSpPr/>
          <p:nvPr/>
        </p:nvSpPr>
        <p:spPr>
          <a:xfrm>
            <a:off x="411480" y="822960"/>
            <a:ext cx="11384280" cy="18288"/>
          </a:xfrm>
          <a:prstGeom prst="rect">
            <a:avLst/>
          </a:prstGeom>
          <a:solidFill>
            <a:srgbClr val="DCEFF6"/>
          </a:solidFill>
          <a:ln>
            <a:solidFill>
              <a:srgbClr val="DCEFF6">
                <a:alpha val="0"/>
              </a:srgbClr>
            </a:solidFill>
          </a:ln>
        </p:spPr>
        <p:txBody>
          <a:bodyPr wrap="square" lIns="0" tIns="0" rIns="0" bIns="0" rtlCol="0" anchor="ctr"/>
          <a:lstStyle/>
          <a:p>
            <a:pPr indent="0" marL="0">
              <a:buNone/>
            </a:pPr>
            <a:endParaRPr lang="en-US" dirty="0"/>
          </a:p>
        </p:txBody>
      </p:sp>
      <p:sp>
        <p:nvSpPr>
          <p:cNvPr id="6" name="Text 3"/>
          <p:cNvSpPr/>
          <p:nvPr/>
        </p:nvSpPr>
        <p:spPr>
          <a:xfrm>
            <a:off x="411480" y="6473952"/>
            <a:ext cx="11338560" cy="164592"/>
          </a:xfrm>
          <a:prstGeom prst="rect">
            <a:avLst/>
          </a:prstGeom>
          <a:noFill/>
          <a:ln/>
        </p:spPr>
        <p:txBody>
          <a:bodyPr wrap="square" lIns="0" tIns="0" rIns="0" bIns="0" rtlCol="0" anchor="ctr"/>
          <a:lstStyle/>
          <a:p>
            <a:pPr algn="r" indent="0" marL="0">
              <a:buNone/>
            </a:pPr>
            <a:r>
              <a:rPr lang="en-US" sz="750" dirty="0">
                <a:solidFill>
                  <a:srgbClr val="6B7280"/>
                </a:solidFill>
                <a:latin typeface="Aptos" pitchFamily="34" charset="0"/>
                <a:ea typeface="Aptos" pitchFamily="34" charset="-122"/>
                <a:cs typeface="Aptos" pitchFamily="34" charset="-120"/>
              </a:rPr>
              <a:t>Clinical Training Academy  |  8/8</a:t>
            </a:r>
            <a:endParaRPr lang="en-US" sz="750" dirty="0"/>
          </a:p>
        </p:txBody>
      </p:sp>
      <p:sp>
        <p:nvSpPr>
          <p:cNvPr id="7" name="Text 4"/>
          <p:cNvSpPr/>
          <p:nvPr/>
        </p:nvSpPr>
        <p:spPr>
          <a:xfrm>
            <a:off x="960120" y="1508760"/>
            <a:ext cx="10287000" cy="1143000"/>
          </a:xfrm>
          <a:prstGeom prst="rect">
            <a:avLst/>
          </a:prstGeom>
          <a:solidFill>
            <a:srgbClr val="EAF6FA"/>
          </a:solidFill>
          <a:ln>
            <a:solidFill>
              <a:srgbClr val="DCEFF6"/>
            </a:solidFill>
          </a:ln>
        </p:spPr>
        <p:txBody>
          <a:bodyPr wrap="square" lIns="1016" tIns="1016" rIns="1016" bIns="1016" rtlCol="0" anchor="ctr">
            <a:normAutofit/>
          </a:bodyPr>
          <a:lstStyle/>
          <a:p>
            <a:pPr algn="ctr" indent="0" marL="0">
              <a:buNone/>
            </a:pPr>
            <a:r>
              <a:rPr lang="en-US" sz="2800" b="1" dirty="0">
                <a:solidFill>
                  <a:srgbClr val="17365D"/>
                </a:solidFill>
                <a:latin typeface="Aptos Display" pitchFamily="34" charset="0"/>
                <a:ea typeface="Aptos Display" pitchFamily="34" charset="-122"/>
                <a:cs typeface="Aptos Display" pitchFamily="34" charset="-120"/>
              </a:rPr>
              <a:t>Next: Choose Your Study Schedule and Begin the Orientation</a:t>
            </a:r>
            <a:endParaRPr lang="en-US" sz="2800" dirty="0"/>
          </a:p>
        </p:txBody>
      </p:sp>
      <p:sp>
        <p:nvSpPr>
          <p:cNvPr id="8" name="Text 5"/>
          <p:cNvSpPr/>
          <p:nvPr/>
        </p:nvSpPr>
        <p:spPr>
          <a:xfrm>
            <a:off x="1828800" y="3794760"/>
            <a:ext cx="8549640" cy="868680"/>
          </a:xfrm>
          <a:prstGeom prst="rect">
            <a:avLst/>
          </a:prstGeom>
          <a:solidFill>
            <a:srgbClr val="FFFFFF"/>
          </a:solidFill>
          <a:ln>
            <a:solidFill>
              <a:srgbClr val="DCEFF6"/>
            </a:solidFill>
          </a:ln>
        </p:spPr>
        <p:txBody>
          <a:bodyPr wrap="square" lIns="1524" tIns="1524" rIns="1524" bIns="1524" rtlCol="0" anchor="ctr">
            <a:normAutofit/>
          </a:bodyPr>
          <a:lstStyle/>
          <a:p>
            <a:pPr algn="ctr" indent="0" marL="0">
              <a:buNone/>
            </a:pPr>
            <a:r>
              <a:rPr lang="en-US" sz="1450" b="1" dirty="0">
                <a:solidFill>
                  <a:srgbClr val="243B53"/>
                </a:solidFill>
                <a:latin typeface="Aptos" pitchFamily="34" charset="0"/>
                <a:ea typeface="Aptos" pitchFamily="34" charset="-122"/>
                <a:cs typeface="Aptos" pitchFamily="34" charset="-120"/>
              </a:rPr>
              <a:t>Consistent, thoughtful practice will take you farther than an unrealistic plan that you cannot maintain.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Clinical Training Academy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CTA Exam Success System</dc:title>
  <dc:subject>Shared LMFT &amp; LCSW Multimedia Script 01</dc:subject>
  <dc:creator>Clinical Training Academy</dc:creator>
  <cp:lastModifiedBy>Clinical Training Academy</cp:lastModifiedBy>
  <cp:revision>1</cp:revision>
  <dcterms:created xsi:type="dcterms:W3CDTF">2026-07-25T17:39:51Z</dcterms:created>
  <dcterms:modified xsi:type="dcterms:W3CDTF">2026-07-25T17:39:51Z</dcterms:modified>
</cp:coreProperties>
</file>