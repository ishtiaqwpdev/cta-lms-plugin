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 practice question is not complete when you select an answer. The learning happens when you review why the best answer fits, why the distractors are weaker, and what decision rule you can use again. The rationale is not merely an answer key. It is the coaching portion of the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Review items you answered correctly as well as items you missed. A correct answer may come from strong reasoning, partial knowledge, guessing, or eliminating options for the wrong reason. Ask yourself whether you could explain the answer without seeing the rationale. If not, the item still has something to teach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Begin with the explanation of the best answer. Identify the fact, task word, stage, role, or priority that makes it strongest. Then review every other option. Finish with the CTA Exam Strategy and convert the explanation into a short rule you can apply to a new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Distractors often reveal exactly what the question is testing. One may be premature. Another may assume facts not provided. Another may be outside the clinician’s role, too broad, overly intensive, or appropriate at a different stage. Learning the reason each distractor fails helps you recognize the same pattern when the content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An error log turns individual misses into patterns. Record the item or topic, what you chose, the best answer, the type of error, the corrected decision rule, and the date you will review it. The log should help you see whether your main problem is content knowledge, sequencing, task words, over-assumption, pacing, or something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the content-gap category when you did not know, remember, or accurately distinguish the tested concept. The remedy is targeted review. Return to the relevant workbook section, restate the rule in your own words, and create a brief retrieval prompt. Do not reread the entire workbook when one specific distinction caused the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task-word error when you missed what FIRST, NEXT, BEST, or MOST required. Use stage error when you confused assessment, planning, intervention, evaluation, or follow-up. The remedy is to rewrite the question as a sequence. State what has already happened and what must occur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premature action when you selected a step that could be appropriate later but not yet. Use over-assumption when you added danger, diagnosis, consent, motivation, or history that the stem did not provide. The remedy is to identify the missing prerequisite or unsupported fact and replace it with a rule grounded in the actual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this category when the answer ignored the clinician’s role, the client’s self-determination, consent, confidentiality, competence, or a required professional duty. The remedy is to state whose decision it is, what authorization is needed, and whether any safety or legal exception changes the usual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Some misses are caused by test behavior rather than content. You may rush past a task word, spend too long on one item, change a well-reasoned answer without new evidence, or become less accurate when anxious. Record the behavior and the correction. For example: pause for the task word, use a time limit, or change an answer only when you can identify a specific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Avoid vague notes such as read carefully or do not overthink. Write a rule that tells you what to do. For example: when risk is unclear, assess severity before choosing the level of care. Or: when the stem says assessment is complete, move to the next clinical stage. A useful rule is specific enough to guide a different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Review the log soon after the practice set, again during your weekly review, and before Forms A and B. Cover the corrected rule and try to retrieve it from the error category. Then explain how the tempting distractor could become appropriate under different facts. Retrieval is stronger than simply rereading the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When you repeat an item, do not measure progress by whether you remember the answer letter. Explain the rule before looking at the options. Better yet, apply the same rule to a new scenario. The goal is transfer. You want the reasoning to remain available when the names, symptoms, setting, and answer order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At the end of each week, group your errors by pattern. Choose the two or three patterns that repeat most often and build the next review session around them. Ten unrelated misses may feel overwhelming. Three repeated decision errors are manageable. The log helps you focus effort where it will improve the most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Open the CTA error log before your next question bank. After submission, review every option and record each miss using a clear error category and corrected rule. Then select one pattern for immediate remediation. That process is how practice scores become stronger exam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01</a:t>
            </a:r>
            <a:endParaRPr lang="en-US" sz="3600" dirty="0"/>
          </a:p>
        </p:txBody>
      </p:sp>
      <p:sp>
        <p:nvSpPr>
          <p:cNvPr id="6" name="Text 4"/>
          <p:cNvSpPr/>
          <p:nvPr/>
        </p:nvSpPr>
        <p:spPr>
          <a:xfrm>
            <a:off x="566928" y="1005840"/>
            <a:ext cx="7132320" cy="932688"/>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How to Use Rationales and Build an Error Log</a:t>
            </a:r>
            <a:endParaRPr lang="en-US" sz="3300" dirty="0"/>
          </a:p>
        </p:txBody>
      </p:sp>
      <p:sp>
        <p:nvSpPr>
          <p:cNvPr id="7" name="Text 5"/>
          <p:cNvSpPr/>
          <p:nvPr/>
        </p:nvSpPr>
        <p:spPr>
          <a:xfrm>
            <a:off x="585216" y="1938528"/>
            <a:ext cx="6537960" cy="292608"/>
          </a:xfrm>
          <a:prstGeom prst="rect">
            <a:avLst/>
          </a:prstGeom>
          <a:noFill/>
          <a:ln/>
        </p:spPr>
        <p:txBody>
          <a:bodyPr wrap="square" lIns="0" tIns="0" rIns="0" bIns="0" rtlCol="0" anchor="ctr"/>
          <a:lstStyle/>
          <a:p>
            <a:pPr indent="0" marL="0">
              <a:buNone/>
            </a:pPr>
            <a:r>
              <a:rPr lang="en-US" sz="1350" dirty="0">
                <a:solidFill>
                  <a:srgbClr val="5A6675"/>
                </a:solidFill>
                <a:latin typeface="Aptos" pitchFamily="34" charset="0"/>
                <a:ea typeface="Aptos" pitchFamily="34" charset="-122"/>
                <a:cs typeface="Aptos" pitchFamily="34" charset="-120"/>
              </a:rPr>
              <a:t>Shared LMFT &amp; LCSW Multimedia Script 06</a:t>
            </a:r>
            <a:endParaRPr lang="en-US" sz="1350" dirty="0"/>
          </a:p>
        </p:txBody>
      </p:sp>
      <p:sp>
        <p:nvSpPr>
          <p:cNvPr id="8" name="Shape 6"/>
          <p:cNvSpPr/>
          <p:nvPr/>
        </p:nvSpPr>
        <p:spPr>
          <a:xfrm>
            <a:off x="621792" y="2743200"/>
            <a:ext cx="6858000" cy="0"/>
          </a:xfrm>
          <a:prstGeom prst="line">
            <a:avLst/>
          </a:prstGeom>
          <a:noFill/>
          <a:ln w="27940">
            <a:solidFill>
              <a:srgbClr val="6B4BA3"/>
            </a:solidFill>
            <a:prstDash val="solid"/>
            <a:tailEnd type="triangle"/>
          </a:ln>
        </p:spPr>
      </p:sp>
      <p:sp>
        <p:nvSpPr>
          <p:cNvPr id="9" name="Shape 7"/>
          <p:cNvSpPr/>
          <p:nvPr/>
        </p:nvSpPr>
        <p:spPr>
          <a:xfrm>
            <a:off x="1124712" y="3557016"/>
            <a:ext cx="5715000" cy="0"/>
          </a:xfrm>
          <a:prstGeom prst="line">
            <a:avLst/>
          </a:prstGeom>
          <a:noFill/>
          <a:ln w="17780">
            <a:solidFill>
              <a:srgbClr val="6B4BA3">
                <a:alpha val="82000"/>
              </a:srgbClr>
            </a:solidFill>
            <a:prstDash val="solid"/>
            <a:tailEnd type="triangle"/>
          </a:ln>
        </p:spPr>
      </p:sp>
      <p:sp>
        <p:nvSpPr>
          <p:cNvPr id="10" name="Text 8"/>
          <p:cNvSpPr/>
          <p:nvPr/>
        </p:nvSpPr>
        <p:spPr>
          <a:xfrm>
            <a:off x="804672"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1" name="Text 9"/>
          <p:cNvSpPr/>
          <p:nvPr/>
        </p:nvSpPr>
        <p:spPr>
          <a:xfrm>
            <a:off x="2134210"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2" name="Text 10"/>
          <p:cNvSpPr/>
          <p:nvPr/>
        </p:nvSpPr>
        <p:spPr>
          <a:xfrm>
            <a:off x="3463747"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13" name="Text 11"/>
          <p:cNvSpPr/>
          <p:nvPr/>
        </p:nvSpPr>
        <p:spPr>
          <a:xfrm>
            <a:off x="4793285"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Rule</a:t>
            </a:r>
            <a:endParaRPr lang="en-US" sz="1250" dirty="0"/>
          </a:p>
        </p:txBody>
      </p:sp>
      <p:sp>
        <p:nvSpPr>
          <p:cNvPr id="14" name="Text 12"/>
          <p:cNvSpPr/>
          <p:nvPr/>
        </p:nvSpPr>
        <p:spPr>
          <a:xfrm>
            <a:off x="6122822" y="3246120"/>
            <a:ext cx="1036930"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Retest</a:t>
            </a:r>
            <a:endParaRPr lang="en-US" sz="1250" dirty="0"/>
          </a:p>
        </p:txBody>
      </p:sp>
      <p:sp>
        <p:nvSpPr>
          <p:cNvPr id="15" name="Text 13"/>
          <p:cNvSpPr/>
          <p:nvPr/>
        </p:nvSpPr>
        <p:spPr>
          <a:xfrm>
            <a:off x="7818120" y="2404872"/>
            <a:ext cx="3337560" cy="1298448"/>
          </a:xfrm>
          <a:prstGeom prst="rect">
            <a:avLst/>
          </a:prstGeom>
          <a:noFill/>
          <a:ln/>
        </p:spPr>
        <p:txBody>
          <a:bodyPr wrap="square" lIns="1016" tIns="1016" rIns="1016" bIns="1016"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A practice question is not complete when you select an answer.</a:t>
            </a:r>
            <a:endParaRPr lang="en-US" sz="2050" dirty="0"/>
          </a:p>
        </p:txBody>
      </p:sp>
      <p:sp>
        <p:nvSpPr>
          <p:cNvPr id="16" name="Text 14"/>
          <p:cNvSpPr/>
          <p:nvPr/>
        </p:nvSpPr>
        <p:spPr>
          <a:xfrm>
            <a:off x="7827264" y="3968496"/>
            <a:ext cx="3200400" cy="658368"/>
          </a:xfrm>
          <a:prstGeom prst="rect">
            <a:avLst/>
          </a:prstGeom>
          <a:noFill/>
          <a:ln/>
        </p:spPr>
        <p:txBody>
          <a:bodyPr wrap="square" lIns="254" tIns="254" rIns="254" bIns="254" rtlCol="0" anchor="ctr">
            <a:normAutofit/>
          </a:bodyPr>
          <a:lstStyle/>
          <a:p>
            <a:pPr indent="0" marL="0">
              <a:buNone/>
            </a:pPr>
            <a:r>
              <a:rPr lang="en-US" sz="1300" dirty="0">
                <a:solidFill>
                  <a:srgbClr val="5A6675"/>
                </a:solidFill>
                <a:latin typeface="Aptos" pitchFamily="34" charset="0"/>
                <a:ea typeface="Aptos" pitchFamily="34" charset="-122"/>
                <a:cs typeface="Aptos" pitchFamily="34" charset="-120"/>
              </a:rPr>
              <a:t>This deck uses the script narration verbatim in speaker notes.</a:t>
            </a:r>
            <a:endParaRPr lang="en-US" sz="1300" dirty="0"/>
          </a:p>
        </p:txBody>
      </p:sp>
      <p:sp>
        <p:nvSpPr>
          <p:cNvPr id="17" name="Text 15"/>
          <p:cNvSpPr/>
          <p:nvPr/>
        </p:nvSpPr>
        <p:spPr>
          <a:xfrm>
            <a:off x="621792" y="5358384"/>
            <a:ext cx="2514600" cy="301752"/>
          </a:xfrm>
          <a:prstGeom prst="rect">
            <a:avLst/>
          </a:prstGeom>
          <a:solidFill>
            <a:srgbClr val="6B4BA3"/>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8" name="Shape 16"/>
          <p:cNvSpPr/>
          <p:nvPr/>
        </p:nvSpPr>
        <p:spPr>
          <a:xfrm>
            <a:off x="502920" y="6419088"/>
            <a:ext cx="11155680" cy="0"/>
          </a:xfrm>
          <a:prstGeom prst="line">
            <a:avLst/>
          </a:prstGeom>
          <a:noFill/>
          <a:ln w="9525">
            <a:solidFill>
              <a:srgbClr val="D8DDE5"/>
            </a:solidFill>
            <a:prstDash val="solid"/>
          </a:ln>
        </p:spPr>
      </p:sp>
      <p:sp>
        <p:nvSpPr>
          <p:cNvPr id="19" name="Text 17"/>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0" name="Text 18"/>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01/15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02</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Review Correct Answers Too</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Review items you answered correctly as well as items you missed.</a:t>
            </a:r>
            <a:endParaRPr lang="en-US" sz="2200" dirty="0"/>
          </a:p>
        </p:txBody>
      </p:sp>
      <p:sp>
        <p:nvSpPr>
          <p:cNvPr id="8" name="Shape 6"/>
          <p:cNvSpPr/>
          <p:nvPr/>
        </p:nvSpPr>
        <p:spPr>
          <a:xfrm>
            <a:off x="6830568" y="2414016"/>
            <a:ext cx="3611880" cy="0"/>
          </a:xfrm>
          <a:prstGeom prst="line">
            <a:avLst/>
          </a:prstGeom>
          <a:noFill/>
          <a:ln w="17780">
            <a:solidFill>
              <a:srgbClr val="6B4BA3">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Rule</a:t>
            </a:r>
            <a:endParaRPr lang="en-US" sz="1250" dirty="0"/>
          </a:p>
        </p:txBody>
      </p:sp>
      <p:sp>
        <p:nvSpPr>
          <p:cNvPr id="13" name="Text 11"/>
          <p:cNvSpPr/>
          <p:nvPr/>
        </p:nvSpPr>
        <p:spPr>
          <a:xfrm>
            <a:off x="10146182" y="2103120"/>
            <a:ext cx="616306"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Retest</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 correct answer may come from strong reasoning, partial knowledge, guessing, or eliminating options…</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If not, the item still has something to teach you.</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If not, the item still has something to teach you.</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02/15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03</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Read the Best-Answer Explanation First</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Begin with the explanation of the best answer.</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Identify the fact, task word, stage, role, or priority that makes it strongest.</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Finish with the CTA Exam Strategy and convert the explanation into a short rule you can apply to a…</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6B4BA3">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20" name="Text 18"/>
          <p:cNvSpPr/>
          <p:nvPr/>
        </p:nvSpPr>
        <p:spPr>
          <a:xfrm>
            <a:off x="4825746" y="4023360"/>
            <a:ext cx="1072134"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Rule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Finish with the CTA Exam Strategy and convert the explanation into a short rule you can apply to a new question.</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03/15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04</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Study Why Each Distractor Fails</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Distractors often reveal exactly what the question is testing.</a:t>
            </a:r>
            <a:endParaRPr lang="en-US" sz="2200" dirty="0"/>
          </a:p>
        </p:txBody>
      </p:sp>
      <p:sp>
        <p:nvSpPr>
          <p:cNvPr id="8" name="Shape 6"/>
          <p:cNvSpPr/>
          <p:nvPr/>
        </p:nvSpPr>
        <p:spPr>
          <a:xfrm>
            <a:off x="6830568" y="2414016"/>
            <a:ext cx="3611880" cy="0"/>
          </a:xfrm>
          <a:prstGeom prst="line">
            <a:avLst/>
          </a:prstGeom>
          <a:noFill/>
          <a:ln w="17780">
            <a:solidFill>
              <a:srgbClr val="6B4BA3">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Rule</a:t>
            </a:r>
            <a:endParaRPr lang="en-US" sz="1250" dirty="0"/>
          </a:p>
        </p:txBody>
      </p:sp>
      <p:sp>
        <p:nvSpPr>
          <p:cNvPr id="13" name="Text 11"/>
          <p:cNvSpPr/>
          <p:nvPr/>
        </p:nvSpPr>
        <p:spPr>
          <a:xfrm>
            <a:off x="10146182" y="2103120"/>
            <a:ext cx="616306"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Retest</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One may be premature.</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Learning the reason each distractor fails helps you recognize the same pattern when the content…</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Learning the reason each distractor fails helps you recognize the same pattern when the content changes.</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04/15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05</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Use an Error Log for Patterns</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An error log turns individual misses into patterns.</a:t>
            </a:r>
            <a:endParaRPr lang="en-US" sz="2200" dirty="0"/>
          </a:p>
        </p:txBody>
      </p:sp>
      <p:sp>
        <p:nvSpPr>
          <p:cNvPr id="8" name="Shape 6"/>
          <p:cNvSpPr/>
          <p:nvPr/>
        </p:nvSpPr>
        <p:spPr>
          <a:xfrm>
            <a:off x="6830568" y="2414016"/>
            <a:ext cx="3611880" cy="0"/>
          </a:xfrm>
          <a:prstGeom prst="line">
            <a:avLst/>
          </a:prstGeom>
          <a:noFill/>
          <a:ln w="17780">
            <a:solidFill>
              <a:srgbClr val="6B4BA3">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Rule</a:t>
            </a:r>
            <a:endParaRPr lang="en-US" sz="1250" dirty="0"/>
          </a:p>
        </p:txBody>
      </p:sp>
      <p:sp>
        <p:nvSpPr>
          <p:cNvPr id="13" name="Text 11"/>
          <p:cNvSpPr/>
          <p:nvPr/>
        </p:nvSpPr>
        <p:spPr>
          <a:xfrm>
            <a:off x="10146182" y="2103120"/>
            <a:ext cx="616306"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Retest</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item or topic, what you chose, the best answer, the type of error, the corrected decision…</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log should help you see whether your main problem is content knowledge, sequencing, task words,…</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log should help you see whether your main problem is content knowledge, sequencing, task words, over-assumption, pacing, or something else.</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05/15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06</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Error Type: Content Gap</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Use the content-gap category when you did not know, remember, or accurately distinguish the tested concept.</a:t>
            </a:r>
            <a:endParaRPr lang="en-US" sz="2200" dirty="0"/>
          </a:p>
        </p:txBody>
      </p:sp>
      <p:sp>
        <p:nvSpPr>
          <p:cNvPr id="8" name="Shape 6"/>
          <p:cNvSpPr/>
          <p:nvPr/>
        </p:nvSpPr>
        <p:spPr>
          <a:xfrm>
            <a:off x="6830568" y="2414016"/>
            <a:ext cx="3611880" cy="0"/>
          </a:xfrm>
          <a:prstGeom prst="line">
            <a:avLst/>
          </a:prstGeom>
          <a:noFill/>
          <a:ln w="17780">
            <a:solidFill>
              <a:srgbClr val="6B4BA3">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Rule</a:t>
            </a:r>
            <a:endParaRPr lang="en-US" sz="1250" dirty="0"/>
          </a:p>
        </p:txBody>
      </p:sp>
      <p:sp>
        <p:nvSpPr>
          <p:cNvPr id="13" name="Text 11"/>
          <p:cNvSpPr/>
          <p:nvPr/>
        </p:nvSpPr>
        <p:spPr>
          <a:xfrm>
            <a:off x="10146182" y="2103120"/>
            <a:ext cx="616306"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Retest</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remedy is targeted review.</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Do not reread the entire workbook when one specific distinction caused the miss.</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 not reread the entire workbook when one specific distinction caused the miss.</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06/15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07</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Error Type: Task-Word or Stage Error</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Use task-word error when you missed what FIRST, NEXT, BEST, or MOST required.</a:t>
            </a:r>
            <a:endParaRPr lang="en-US" sz="2200" dirty="0"/>
          </a:p>
        </p:txBody>
      </p:sp>
      <p:sp>
        <p:nvSpPr>
          <p:cNvPr id="8" name="Shape 6"/>
          <p:cNvSpPr/>
          <p:nvPr/>
        </p:nvSpPr>
        <p:spPr>
          <a:xfrm>
            <a:off x="6830568" y="2414016"/>
            <a:ext cx="3611880" cy="0"/>
          </a:xfrm>
          <a:prstGeom prst="line">
            <a:avLst/>
          </a:prstGeom>
          <a:noFill/>
          <a:ln w="17780">
            <a:solidFill>
              <a:srgbClr val="6B4BA3">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Rule</a:t>
            </a:r>
            <a:endParaRPr lang="en-US" sz="1250" dirty="0"/>
          </a:p>
        </p:txBody>
      </p:sp>
      <p:sp>
        <p:nvSpPr>
          <p:cNvPr id="13" name="Text 11"/>
          <p:cNvSpPr/>
          <p:nvPr/>
        </p:nvSpPr>
        <p:spPr>
          <a:xfrm>
            <a:off x="10146182" y="2103120"/>
            <a:ext cx="616306"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Retest</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stage error when you confused assessment, planning, intervention, evaluation, or follow-up.</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State what has already happened and what must occur next.</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State what has already happened and what must occur next.</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07/15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08</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Error Type: Premature Action or Over-Assumption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Use premature action when you selected a step that could be appropriate later but not yet.</a:t>
            </a:r>
            <a:endParaRPr lang="en-US" sz="2200" dirty="0"/>
          </a:p>
        </p:txBody>
      </p:sp>
      <p:sp>
        <p:nvSpPr>
          <p:cNvPr id="8" name="Shape 6"/>
          <p:cNvSpPr/>
          <p:nvPr/>
        </p:nvSpPr>
        <p:spPr>
          <a:xfrm>
            <a:off x="6830568" y="2414016"/>
            <a:ext cx="3611880" cy="0"/>
          </a:xfrm>
          <a:prstGeom prst="line">
            <a:avLst/>
          </a:prstGeom>
          <a:noFill/>
          <a:ln w="17780">
            <a:solidFill>
              <a:srgbClr val="6B4BA3">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Rule</a:t>
            </a:r>
            <a:endParaRPr lang="en-US" sz="1250" dirty="0"/>
          </a:p>
        </p:txBody>
      </p:sp>
      <p:sp>
        <p:nvSpPr>
          <p:cNvPr id="13" name="Text 11"/>
          <p:cNvSpPr/>
          <p:nvPr/>
        </p:nvSpPr>
        <p:spPr>
          <a:xfrm>
            <a:off x="10146182" y="2103120"/>
            <a:ext cx="616306"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Retest</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over-assumption when you added danger, diagnosis, consent, motivation, or history that the stem…</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remedy is to identify the missing prerequisite or unsupported fact and replace it with a rule…</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remedy is to identify the missing prerequisite or unsupported fact and replace it with a rule grounded in the actual scenario.</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08/15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09</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Error Type: Role, Ethics, or Collaboration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Use this category when the answer ignored the clinician’s role, the client’s self-determination, consent, confidentiality, competence, or a required…</a:t>
            </a:r>
            <a:endParaRPr lang="en-US" sz="2200" dirty="0"/>
          </a:p>
        </p:txBody>
      </p:sp>
      <p:sp>
        <p:nvSpPr>
          <p:cNvPr id="8" name="Shape 6"/>
          <p:cNvSpPr/>
          <p:nvPr/>
        </p:nvSpPr>
        <p:spPr>
          <a:xfrm>
            <a:off x="6830568" y="2414016"/>
            <a:ext cx="3611880" cy="0"/>
          </a:xfrm>
          <a:prstGeom prst="line">
            <a:avLst/>
          </a:prstGeom>
          <a:noFill/>
          <a:ln w="17780">
            <a:solidFill>
              <a:srgbClr val="6B4BA3">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Rule</a:t>
            </a:r>
            <a:endParaRPr lang="en-US" sz="1250" dirty="0"/>
          </a:p>
        </p:txBody>
      </p:sp>
      <p:sp>
        <p:nvSpPr>
          <p:cNvPr id="13" name="Text 11"/>
          <p:cNvSpPr/>
          <p:nvPr/>
        </p:nvSpPr>
        <p:spPr>
          <a:xfrm>
            <a:off x="10146182" y="2103120"/>
            <a:ext cx="616306"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Retest</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remedy is to state whose decision it is, what authorization is needed, and whether any safety or…</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remedy is to state whose decision it is, what authorization is needed, and whether any safety or…</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remedy is to state whose decision it is, what authorization is needed, and whether any safety or legal exception changes the usual process.</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09/15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10</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Error Type: Test Behavior</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Some misses are caused by test behavior rather than content.</a:t>
            </a:r>
            <a:endParaRPr lang="en-US" sz="2200" dirty="0"/>
          </a:p>
        </p:txBody>
      </p:sp>
      <p:sp>
        <p:nvSpPr>
          <p:cNvPr id="8" name="Shape 6"/>
          <p:cNvSpPr/>
          <p:nvPr/>
        </p:nvSpPr>
        <p:spPr>
          <a:xfrm>
            <a:off x="6830568" y="2414016"/>
            <a:ext cx="3611880" cy="0"/>
          </a:xfrm>
          <a:prstGeom prst="line">
            <a:avLst/>
          </a:prstGeom>
          <a:noFill/>
          <a:ln w="17780">
            <a:solidFill>
              <a:srgbClr val="6B4BA3">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Rule</a:t>
            </a:r>
            <a:endParaRPr lang="en-US" sz="1250" dirty="0"/>
          </a:p>
        </p:txBody>
      </p:sp>
      <p:sp>
        <p:nvSpPr>
          <p:cNvPr id="13" name="Text 11"/>
          <p:cNvSpPr/>
          <p:nvPr/>
        </p:nvSpPr>
        <p:spPr>
          <a:xfrm>
            <a:off x="10146182" y="2103120"/>
            <a:ext cx="616306"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Retest</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You may rush past a task word, spend too long on one item, change a well-reasoned answer without new…</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For example: pause for the task word, use a time limit, or change an answer only when you can…</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For example: pause for the task word, use a time limit, or change an answer only when you can identify a specific reason.</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10/15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11</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Write a Useful Corrected Rule</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Avoid vague notes such as read carefully or do not overthink.</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Write a rule that tells you what to do.</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 useful rule is specific enough to guide a different question.</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6B4BA3">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20" name="Text 18"/>
          <p:cNvSpPr/>
          <p:nvPr/>
        </p:nvSpPr>
        <p:spPr>
          <a:xfrm>
            <a:off x="4825746" y="4023360"/>
            <a:ext cx="1072134"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Rule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useful rule is specific enough to guide a different question.</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11/15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12</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Review the Log on a Schedule</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Review the log soon after the practice set, again during your weekly review, and before Forms A and B.</a:t>
            </a:r>
            <a:endParaRPr lang="en-US" sz="2200" dirty="0"/>
          </a:p>
        </p:txBody>
      </p:sp>
      <p:sp>
        <p:nvSpPr>
          <p:cNvPr id="8" name="Shape 6"/>
          <p:cNvSpPr/>
          <p:nvPr/>
        </p:nvSpPr>
        <p:spPr>
          <a:xfrm>
            <a:off x="6830568" y="2414016"/>
            <a:ext cx="3611880" cy="0"/>
          </a:xfrm>
          <a:prstGeom prst="line">
            <a:avLst/>
          </a:prstGeom>
          <a:noFill/>
          <a:ln w="17780">
            <a:solidFill>
              <a:srgbClr val="6B4BA3">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Rule</a:t>
            </a:r>
            <a:endParaRPr lang="en-US" sz="1250" dirty="0"/>
          </a:p>
        </p:txBody>
      </p:sp>
      <p:sp>
        <p:nvSpPr>
          <p:cNvPr id="13" name="Text 11"/>
          <p:cNvSpPr/>
          <p:nvPr/>
        </p:nvSpPr>
        <p:spPr>
          <a:xfrm>
            <a:off x="10146182" y="2103120"/>
            <a:ext cx="616306"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Retest</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Cover the corrected rule and try to retrieve it from the error category.</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Retrieval is stronger than simply rereading the entry.</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Retrieval is stronger than simply rereading the entry.</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12/15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13</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Retest the Rule, Not the Letter</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When you repeat an item, do not measure progress by whether you remember the answer letter.</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Explain the rule before looking at the options.</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You want the reasoning to remain available when the names, symptoms, setting, and answer order change.</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6B4BA3">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20" name="Text 18"/>
          <p:cNvSpPr/>
          <p:nvPr/>
        </p:nvSpPr>
        <p:spPr>
          <a:xfrm>
            <a:off x="4825746" y="4023360"/>
            <a:ext cx="1072134"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Rule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You want the reasoning to remain available when the names, symptoms, setting, and answer order change.</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13/15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14</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Use the Log to Plan Remediation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At the end of each week, group your errors by pattern.</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Choose the two or three patterns that repeat most often and build the next review session around them.</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log helps you focus effort where it will improve the most questions.</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6B4BA3">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20" name="Text 18"/>
          <p:cNvSpPr/>
          <p:nvPr/>
        </p:nvSpPr>
        <p:spPr>
          <a:xfrm>
            <a:off x="4825746" y="4023360"/>
            <a:ext cx="1072134"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Rule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log helps you focus effort where it will improve the most questions.</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14/15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6B4BA3"/>
                </a:solidFill>
                <a:latin typeface="Aptos" pitchFamily="34" charset="0"/>
                <a:ea typeface="Aptos" pitchFamily="34" charset="-122"/>
                <a:cs typeface="Aptos" pitchFamily="34" charset="-120"/>
              </a:rPr>
              <a:t>REVIEW SYSTEM</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6B4BA3"/>
                </a:solidFill>
                <a:latin typeface="Aptos Display" pitchFamily="34" charset="0"/>
                <a:ea typeface="Aptos Display" pitchFamily="34" charset="-122"/>
                <a:cs typeface="Aptos Display" pitchFamily="34" charset="-120"/>
              </a:rPr>
              <a:t>15</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Your Next Step</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Open the CTA error log before your next question bank.</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After submission, review every option and record each miss using a clear error category and…</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That process is how practice scores become stronger exam decisions.</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6B4BA3"/>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6B4BA3">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Rationale</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Error type</a:t>
            </a:r>
            <a:endParaRPr lang="en-US" sz="1250" dirty="0"/>
          </a:p>
        </p:txBody>
      </p:sp>
      <p:sp>
        <p:nvSpPr>
          <p:cNvPr id="20" name="Text 18"/>
          <p:cNvSpPr/>
          <p:nvPr/>
        </p:nvSpPr>
        <p:spPr>
          <a:xfrm>
            <a:off x="4825746" y="4023360"/>
            <a:ext cx="1072134" cy="676656"/>
          </a:xfrm>
          <a:prstGeom prst="rect">
            <a:avLst/>
          </a:prstGeom>
          <a:solidFill>
            <a:srgbClr val="6B4BA3"/>
          </a:solidFill>
          <a:ln w="10160">
            <a:solidFill>
              <a:srgbClr val="6B4BA3"/>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Rule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That process is how practice scores become stronger exam decisions.</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06  •  15/15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Shared Multimedia Script 06: How to Use Rationales and Build an Error Log</dc:title>
  <dc:subject>Shared LMFT &amp; LCSW Multimedia Script 06</dc:subject>
  <dc:creator>Clinical Training Academy</dc:creator>
  <cp:lastModifiedBy>Clinical Training Academy</cp:lastModifiedBy>
  <cp:revision>1</cp:revision>
  <dcterms:created xsi:type="dcterms:W3CDTF">2026-07-25T19:26:30Z</dcterms:created>
  <dcterms:modified xsi:type="dcterms:W3CDTF">2026-07-25T19:26:30Z</dcterms:modified>
</cp:coreProperties>
</file>