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LMFT questions often become clearer when you shift from asking who is the problem to asking what pattern is happening, who is affected, and what keeps the pattern going. Relational thinking does not ignore individual symptoms. It places those symptoms within interactions, development, culture, stress, resources, and safety. The best exam answer often gathers multiple perspectives and clarifies the sequence before choosing a technique or accepting the referral label as the final formulation.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identifying the treatment unit. The person in the room may be an individual, but the clinically relevant unit may include a couple, parent-child relationship, family, caregiver network, or other system. Ask who requested treatment, who is participating, whose goals are being represented, and who may be affected by change. The exam may test whether you preserve the client’s voice while still assessing the relationships and systems that shape the presenting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systemic formulation tracks what happens before, during, and after the problem behavior. One partner pursues, the other withdraws, the first intensifies, and the second shuts down further. A child escalates, a caregiver gives in, the immediate conflict stops, and the pattern becomes more likely next time. The task is not to decide who started it. The task is to understand the sequence, the function of each response, and the points where the cycle can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Systemic thinking recognizes reciprocal influence, but it does not mean every participant is equally responsible. A frightened partner’s accommodation may affect a coercive pattern, but the person using threats remains responsible for the threats. A child’s behavior may influence family stress, but adults retain caregiving responsibility. On the exam, reject answers that use systems language to minimize abuse, excuse exploitation, or pressure a less powerful person into unsafe conjoint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patterns do not occur in a vacuum. Developmental stage, culture, migration, disability, health, finances, housing, discrimination, caregiving demands, and community support can shape what a behavior means and what intervention is feasible. A quiet adolescent may be anxious, culturally deferential, depressed, frightened, or simply waiting for space to speak. Good assessment describes what is observed, asks how the family understands it, and avoids turning one cultural assumption into a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how responsibilities and influence are organized. Are boundaries overly rigid or diffuse? Is a child carrying an adult role? Are two family members aligned against a third? Does one person speak for everyone? These observations are hypotheses, not verdicts. The first response is usually to invite perspectives, clarify the interaction, and assess functioning and safety rather than announcing a structural label or immediately reorganizing the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Systemic assessment also identifies strengths. Ask when the problem is less intense, how the family has managed previous stress, who can help, and what interactions already support connection or regulation. Exceptions reveal possible leverage points. They also prevent the formulation from becoming a list of deficits. On the exam, a collaborative answer that identifies resources and effective exceptions is often stronger than an answer that defines the system only by dysfunction.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couple and family work, different accounts do not automatically mean someone is lying. Each person may notice different events, meanings, or consequences. The therapist can validate the importance of each perspective without agreeing that every conclusion is accurate. When accounts conflict, clarify specific behavior, timing, impact, and context. Avoid taking sides too early, but do not use neutrality to avoid responding to clear danger, coercion, or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relational approach does not require conjoint treatment. If one partner fears retaliation, if violence or coercive control is present, or if disclosure may increase danger, assess safety and treatment suitability before facilitating open discussion. The correct answer may involve separate assessment, safety planning, consultation, referral, or a different level of care. The treatment format must fit the power and risk conditions, not simply the therapist’s preference for working with the whole system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 couple in which one partner repeatedly demands reassurance and the other becomes silent. A premature answer labels one person needy or the other avoidant and immediately assigns a communication exercise. A stronger first step clarifies triggers, emotions, meanings, escalation, repair attempts, safety, and each partner’s goals. Once the cycle is understood, the therapist can select an intervention that slows the sequence and creates a different response rather than simply correcting one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imagine parents who describe their teenager as the cause of every family problem while the teenager remains silent. The exam may tempt you to accept the identified-patient frame or to exclude the teenager because of limited participation. A better response invites each person’s perspective, assesses the teenager directly in a developmentally appropriate way, evaluates safety and functioning, and maps the family sequence. The teenager may have genuine symptoms, but those symptoms should not become the only explanation for the system’s distress.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for four traps. First, locating the entire problem inside one person. Second, confusing reciprocal influence with equal responsibility. Third, selecting a couple or family technique before assessing safety, motivation, and the sequence. Fourth, ignoring developmental, cultural, medical, or environmental context. An answer can sound relational and still be unsafe or premature. The strongest option usually preserves complexity while identifying the next clinically necessary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systemic reasoning check. What is the treatment unit? What sequence is repeating? What individual, relational, developmental, cultural, and environmental factors matter? Is power unequal or safety uncertain? What strengths or exceptions are available? What information is still missing before choosing an intervention? This check helps you reject answers that are blaming, overly certain, or disconnected from the client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your next LMFT question bank, pause before selecting an answer and map the pattern in one sentence. Identify the treatment unit, the repeated sequence, the context, and any safety or power concern. Then choose the option that gathers the needed relational information or changes the most relevant part of the cycle. Add any blame-based or premature-modality error to your CTA error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Thinking Relationally and Systemically</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LMFT-Specific Multimedia Script 01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LMFT questions often become clearer when you shift from asking who is the problem to asking what pattern is happening, who is affected, and what keeps the pattern…</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0E7C86"/>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0E7C86">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single person problem label…</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context</a:t>
            </a:r>
            <a:endParaRPr lang="en-US" sz="1180" dirty="0"/>
          </a:p>
        </p:txBody>
      </p:sp>
      <p:sp>
        <p:nvSpPr>
          <p:cNvPr id="17" name="Text 15"/>
          <p:cNvSpPr/>
          <p:nvPr/>
        </p:nvSpPr>
        <p:spPr>
          <a:xfrm>
            <a:off x="5090160" y="3273552"/>
            <a:ext cx="193243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recurring interactions.</a:t>
            </a:r>
            <a:endParaRPr lang="en-US" sz="1180" dirty="0"/>
          </a:p>
        </p:txBody>
      </p:sp>
      <p:sp>
        <p:nvSpPr>
          <p:cNvPr id="18" name="Text 16"/>
          <p:cNvSpPr/>
          <p:nvPr/>
        </p:nvSpPr>
        <p:spPr>
          <a:xfrm>
            <a:off x="7635240" y="3364992"/>
            <a:ext cx="1687068" cy="758952"/>
          </a:xfrm>
          <a:prstGeom prst="rect">
            <a:avLst/>
          </a:prstGeom>
          <a:solidFill>
            <a:srgbClr val="E5F3F4"/>
          </a:solidFill>
          <a:ln w="10160">
            <a:solidFill>
              <a:srgbClr val="D9E0E8"/>
            </a:solidFill>
          </a:ln>
        </p:spPr>
        <p:txBody>
          <a:bodyPr wrap="square" lIns="1270" tIns="1270" rIns="1270" bIns="1270" rtlCol="0" anchor="ctr">
            <a:normAutofit/>
          </a:bodyPr>
          <a:lstStyle/>
          <a:p>
            <a:pPr indent="0" marL="0">
              <a:buNone/>
            </a:pPr>
            <a:r>
              <a:rPr lang="en-US" sz="1400" b="1" dirty="0">
                <a:solidFill>
                  <a:srgbClr val="0E7C86"/>
                </a:solidFill>
                <a:latin typeface="Aptos" pitchFamily="34" charset="0"/>
                <a:ea typeface="Aptos" pitchFamily="34" charset="-122"/>
                <a:cs typeface="Aptos" pitchFamily="34" charset="-120"/>
              </a:rPr>
              <a:t>single person problem label…</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context</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recurring interactions.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Identify the Treatment Unit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Start by identifying the treatment unit.</a:t>
            </a:r>
            <a:endParaRPr lang="en-US" sz="2120" dirty="0"/>
          </a:p>
        </p:txBody>
      </p:sp>
      <p:sp>
        <p:nvSpPr>
          <p:cNvPr id="11" name="Text 9"/>
          <p:cNvSpPr/>
          <p:nvPr/>
        </p:nvSpPr>
        <p:spPr>
          <a:xfrm>
            <a:off x="6629400" y="1901952"/>
            <a:ext cx="3931920" cy="475488"/>
          </a:xfrm>
          <a:prstGeom prst="rect">
            <a:avLst/>
          </a:prstGeom>
          <a:solidFill>
            <a:srgbClr val="E5F3F4"/>
          </a:solidFill>
          <a:ln w="15240">
            <a:solidFill>
              <a:srgbClr val="0E7C86">
                <a:alpha val="82000"/>
              </a:srgbClr>
            </a:solidFill>
          </a:ln>
        </p:spPr>
        <p:txBody>
          <a:bodyPr wrap="square" lIns="508" tIns="508" rIns="508" bIns="508" rtlCol="0" anchor="ctr">
            <a:normAutofit/>
          </a:bodyPr>
          <a:lstStyle/>
          <a:p>
            <a:pPr indent="0" marL="0">
              <a:buNone/>
            </a:pPr>
            <a:r>
              <a:rPr lang="en-US" sz="1320" b="1" dirty="0">
                <a:solidFill>
                  <a:srgbClr val="0E7C86"/>
                </a:solidFill>
                <a:latin typeface="Aptos" pitchFamily="34" charset="0"/>
                <a:ea typeface="Aptos" pitchFamily="34" charset="-122"/>
                <a:cs typeface="Aptos" pitchFamily="34" charset="-120"/>
              </a:rPr>
              <a:t>Nested circles labeled…</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couple</a:t>
            </a:r>
            <a:endParaRPr lang="en-US" sz="1320" dirty="0"/>
          </a:p>
        </p:txBody>
      </p:sp>
      <p:sp>
        <p:nvSpPr>
          <p:cNvPr id="13" name="Text 11"/>
          <p:cNvSpPr/>
          <p:nvPr/>
        </p:nvSpPr>
        <p:spPr>
          <a:xfrm>
            <a:off x="6629400" y="3218688"/>
            <a:ext cx="3931920" cy="475488"/>
          </a:xfrm>
          <a:prstGeom prst="rect">
            <a:avLst/>
          </a:prstGeom>
          <a:solidFill>
            <a:srgbClr val="E5F3F4"/>
          </a:solidFill>
          <a:ln w="9525">
            <a:solidFill>
              <a:srgbClr val="0E7C8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family</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larger system.</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person in the room may be an individual, but the clinically relevant unit may include a…</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may test whether you preserve the client’s voice while still assessing the…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Who Is the Client System?</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exam may test whether you preserve the client’s voice while still assessing the relationships and systems that shape the presenting concern.</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Track Sequences, Not Isolated Moments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systemic formulation tracks what happens before, during, and after the problem behavior.</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circular sequence</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cue</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response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counterresponse</a:t>
            </a:r>
            <a:endParaRPr lang="en-US" sz="1180" dirty="0"/>
          </a:p>
        </p:txBody>
      </p:sp>
      <p:sp>
        <p:nvSpPr>
          <p:cNvPr id="16" name="Text 14"/>
          <p:cNvSpPr/>
          <p:nvPr/>
        </p:nvSpPr>
        <p:spPr>
          <a:xfrm>
            <a:off x="10116922" y="2148840"/>
            <a:ext cx="718718"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escalation</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One partner pursues, the other withdraws, the first intensifies, and the second shuts down…</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task is to understand the sequence, the function of each response, and the points where…</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Cue → Response → Counterresponse → Repeat</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task is to understand the sequence, the function of each response, and the points where the cycle can change.</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Reciprocal Influence Is Not Equal Blame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Systemic thinking recognizes reciprocal influence, but it does not mean every participant is equally responsible.</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frightened partner’s accommodation may affect a coercive pattern, but the person using…</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 the exam, reject answers that use systems language to minimize abuse, excuse exploitation,…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Mutual Influence ≠ Equal Responsibility</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On the exam, reject answers that use systems language to minimize abuse, excuse exploitation, or pressure a less powerful person into unsafe…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Include Development, Culture, and Context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Relational patterns do not occur in a vacuum.</a:t>
            </a:r>
            <a:endParaRPr lang="en-US" sz="2120" dirty="0"/>
          </a:p>
        </p:txBody>
      </p:sp>
      <p:sp>
        <p:nvSpPr>
          <p:cNvPr id="11" name="Text 9"/>
          <p:cNvSpPr/>
          <p:nvPr/>
        </p:nvSpPr>
        <p:spPr>
          <a:xfrm>
            <a:off x="6629400" y="1901952"/>
            <a:ext cx="3931920" cy="475488"/>
          </a:xfrm>
          <a:prstGeom prst="rect">
            <a:avLst/>
          </a:prstGeom>
          <a:solidFill>
            <a:srgbClr val="E5F3F4"/>
          </a:solidFill>
          <a:ln w="15240">
            <a:solidFill>
              <a:srgbClr val="0E7C86">
                <a:alpha val="82000"/>
              </a:srgbClr>
            </a:solidFill>
          </a:ln>
        </p:spPr>
        <p:txBody>
          <a:bodyPr wrap="square" lIns="508" tIns="508" rIns="508" bIns="508" rtlCol="0" anchor="ctr">
            <a:normAutofit/>
          </a:bodyPr>
          <a:lstStyle/>
          <a:p>
            <a:pPr indent="0" marL="0">
              <a:buNone/>
            </a:pPr>
            <a:r>
              <a:rPr lang="en-US" sz="1320" b="1" dirty="0">
                <a:solidFill>
                  <a:srgbClr val="0E7C86"/>
                </a:solidFill>
                <a:latin typeface="Aptos" pitchFamily="34" charset="0"/>
                <a:ea typeface="Aptos" pitchFamily="34" charset="-122"/>
                <a:cs typeface="Aptos" pitchFamily="34" charset="-120"/>
              </a:rPr>
              <a:t>Context layers around a family</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development</a:t>
            </a:r>
            <a:endParaRPr lang="en-US" sz="1320" dirty="0"/>
          </a:p>
        </p:txBody>
      </p:sp>
      <p:sp>
        <p:nvSpPr>
          <p:cNvPr id="13" name="Text 11"/>
          <p:cNvSpPr/>
          <p:nvPr/>
        </p:nvSpPr>
        <p:spPr>
          <a:xfrm>
            <a:off x="6629400" y="3218688"/>
            <a:ext cx="3931920" cy="475488"/>
          </a:xfrm>
          <a:prstGeom prst="rect">
            <a:avLst/>
          </a:prstGeom>
          <a:solidFill>
            <a:srgbClr val="E5F3F4"/>
          </a:solidFill>
          <a:ln w="9525">
            <a:solidFill>
              <a:srgbClr val="0E7C8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culture</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health</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Developmental stage, culture, migration, disability, health, finances, housing,…</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Good assessment describes what is observed, asks how the family understands it, and avoids…</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Patterns Occur in Context</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Good assessment describes what is observed, asks how the family understands it, and avoids turning one cultural assumption into a diagnosis.</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Assess Roles, Boundaries, and Alliances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Look for how responsibilities and influence are organized.</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Family map showing roles</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boundaries</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coalitions</a:t>
            </a:r>
            <a:endParaRPr lang="en-US" sz="1180" dirty="0"/>
          </a:p>
        </p:txBody>
      </p:sp>
      <p:sp>
        <p:nvSpPr>
          <p:cNvPr id="15" name="Text 13"/>
          <p:cNvSpPr/>
          <p:nvPr/>
        </p:nvSpPr>
        <p:spPr>
          <a:xfrm>
            <a:off x="9884664" y="2148840"/>
            <a:ext cx="950976"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cross generational tension.</a:t>
            </a:r>
            <a:endParaRPr lang="en-US" sz="1180" dirty="0"/>
          </a:p>
        </p:txBody>
      </p:sp>
      <p:sp>
        <p:nvSpPr>
          <p:cNvPr id="16" name="Text 14"/>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Family map showing roles</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Are boundaries overly rigid or diffuse?</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first response is usually to invite perspectives, clarify the interaction, and assess…</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Roles • Boundaries • Alliances • Hierarchy</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first response is usually to invite perspectives, clarify the interaction, and assess functioning and safety rather than announcing a…</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Find Strengths and Exceptions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Systemic assessment also identifies strengths.</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when the problem is less intense, how the family has managed previous stress, who can…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 the exam, a collaborative answer that identifies resources and effective exceptions is…</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Already Works?</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On the exam, a collaborative answer that identifies resources and effective exceptions is often stronger than an answer that defines the system…</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Hold Multiple Perspectives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In couple and family work, different accounts do not automatically mean someone is lying.</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Each person may notice different events, meanings, or consequences.</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 taking sides too early, but do not use neutrality to avoid responding to clear danger,…</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Different Views Can All Contain Data</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Avoid taking sides too early, but do not use neutrality to avoid responding to clear danger, coercion, or exploitation.</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Safety and Power Can Change the Format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relational approach does not require conjoint treatment.</a:t>
            </a:r>
            <a:endParaRPr lang="en-US" sz="2120" dirty="0"/>
          </a:p>
        </p:txBody>
      </p:sp>
      <p:sp>
        <p:nvSpPr>
          <p:cNvPr id="11" name="Text 9"/>
          <p:cNvSpPr/>
          <p:nvPr/>
        </p:nvSpPr>
        <p:spPr>
          <a:xfrm>
            <a:off x="6446520" y="1874520"/>
            <a:ext cx="2098548" cy="1092708"/>
          </a:xfrm>
          <a:prstGeom prst="rect">
            <a:avLst/>
          </a:prstGeom>
          <a:solidFill>
            <a:srgbClr val="E5F3F4"/>
          </a:solidFill>
          <a:ln w="10160">
            <a:solidFill>
              <a:srgbClr val="D9E0E8"/>
            </a:solidFill>
          </a:ln>
        </p:spPr>
        <p:txBody>
          <a:bodyPr wrap="square" lIns="1270" tIns="1270" rIns="1270" bIns="1270" rtlCol="0" anchor="ctr">
            <a:normAutofit/>
          </a:bodyPr>
          <a:lstStyle/>
          <a:p>
            <a:pPr indent="0" marL="0">
              <a:buNone/>
            </a:pPr>
            <a:r>
              <a:rPr lang="en-US" sz="1400" b="1" dirty="0">
                <a:solidFill>
                  <a:srgbClr val="0E7C86"/>
                </a:solidFill>
                <a:latin typeface="Aptos" pitchFamily="34" charset="0"/>
                <a:ea typeface="Aptos" pitchFamily="34" charset="-122"/>
                <a:cs typeface="Aptos" pitchFamily="34" charset="-120"/>
              </a:rPr>
              <a:t>Clarify</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If one partner fears retaliation, if violence or coercive control is present, or if…</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treatment format must fit the power and risk conditions, not simply the therapist’s…</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Assess Safety Before Conjoint Disclosure</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treatment format must fit the power and risk conditions, not simply the therapist’s preference for working with the whole system together.</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Pursue and Withdraw</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Consider a couple in which one partner repeatedly demands reassurance and the other becomes silent.</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premature answer labels one person needy or the other avoidant and immediately assigns a…</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Once the cycle is understood, the therapist can select an intervention that slows the…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Name the Cycle Before Choosing the Technique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Once the cycle is understood, the therapist can select an intervention that slows the sequence and creates a different response rather than…</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The Identified Patient</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Now imagine parents who describe their teenager as the cause of every family problem while the teenager remains silent.</a:t>
            </a:r>
            <a:endParaRPr lang="en-US" sz="2120" dirty="0"/>
          </a:p>
        </p:txBody>
      </p:sp>
      <p:sp>
        <p:nvSpPr>
          <p:cNvPr id="11" name="Shape 9"/>
          <p:cNvSpPr/>
          <p:nvPr/>
        </p:nvSpPr>
        <p:spPr>
          <a:xfrm>
            <a:off x="6629400" y="2441448"/>
            <a:ext cx="3977640" cy="0"/>
          </a:xfrm>
          <a:prstGeom prst="line">
            <a:avLst/>
          </a:prstGeom>
          <a:noFill/>
          <a:ln w="15240">
            <a:solidFill>
              <a:srgbClr val="0E7C86">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0E7C86"/>
          </a:solidFill>
          <a:ln w="10160">
            <a:solidFill>
              <a:srgbClr val="0E7C86"/>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5F3F4"/>
          </a:solidFill>
          <a:ln w="13970">
            <a:solidFill>
              <a:srgbClr val="0E7C86">
                <a:alpha val="75000"/>
              </a:srgbClr>
            </a:solidFill>
          </a:ln>
        </p:spPr>
        <p:txBody>
          <a:bodyPr wrap="square" lIns="1016" tIns="1016" rIns="1016" bIns="1016" rtlCol="0" anchor="ctr">
            <a:normAutofit/>
          </a:bodyPr>
          <a:lstStyle/>
          <a:p>
            <a:pPr algn="ctr" indent="0" marL="0">
              <a:buNone/>
            </a:pPr>
            <a:r>
              <a:rPr lang="en-US" sz="2200" b="1" dirty="0">
                <a:solidFill>
                  <a:srgbClr val="0E7C86"/>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exam may tempt you to accept the identified-patient frame or to exclude the teenager…</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teenager may have genuine symptoms, but those symptoms should not become the only…</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Referral Label Is Not the Formulation</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teenager may have genuine symptoms, but those symptoms should not become the only explanation for the system’s distress.</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Systemic Reasoning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Watch for four traps.</a:t>
            </a:r>
            <a:endParaRPr lang="en-US" sz="2120" dirty="0"/>
          </a:p>
        </p:txBody>
      </p:sp>
      <p:sp>
        <p:nvSpPr>
          <p:cNvPr id="11" name="Text 9"/>
          <p:cNvSpPr/>
          <p:nvPr/>
        </p:nvSpPr>
        <p:spPr>
          <a:xfrm>
            <a:off x="6629400" y="1901952"/>
            <a:ext cx="3931920" cy="475488"/>
          </a:xfrm>
          <a:prstGeom prst="rect">
            <a:avLst/>
          </a:prstGeom>
          <a:solidFill>
            <a:srgbClr val="E5F3F4"/>
          </a:solidFill>
          <a:ln w="15240">
            <a:solidFill>
              <a:srgbClr val="0E7C86">
                <a:alpha val="82000"/>
              </a:srgbClr>
            </a:solidFill>
          </a:ln>
        </p:spPr>
        <p:txBody>
          <a:bodyPr wrap="square" lIns="508" tIns="508" rIns="508" bIns="508" rtlCol="0" anchor="ctr">
            <a:normAutofit/>
          </a:bodyPr>
          <a:lstStyle/>
          <a:p>
            <a:pPr indent="0" marL="0">
              <a:buNone/>
            </a:pPr>
            <a:r>
              <a:rPr lang="en-US" sz="1320" b="1" dirty="0">
                <a:solidFill>
                  <a:srgbClr val="0E7C86"/>
                </a:solidFill>
                <a:latin typeface="Aptos" pitchFamily="34" charset="0"/>
                <a:ea typeface="Aptos" pitchFamily="34" charset="-122"/>
                <a:cs typeface="Aptos" pitchFamily="34" charset="-120"/>
              </a:rPr>
              <a:t>Four trap cards</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blame one person</a:t>
            </a:r>
            <a:endParaRPr lang="en-US" sz="1320" dirty="0"/>
          </a:p>
        </p:txBody>
      </p:sp>
      <p:sp>
        <p:nvSpPr>
          <p:cNvPr id="13" name="Text 11"/>
          <p:cNvSpPr/>
          <p:nvPr/>
        </p:nvSpPr>
        <p:spPr>
          <a:xfrm>
            <a:off x="6629400" y="3218688"/>
            <a:ext cx="3931920" cy="475488"/>
          </a:xfrm>
          <a:prstGeom prst="rect">
            <a:avLst/>
          </a:prstGeom>
          <a:solidFill>
            <a:srgbClr val="E5F3F4"/>
          </a:solidFill>
          <a:ln w="9525">
            <a:solidFill>
              <a:srgbClr val="0E7C8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equalize power</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intervene too soon</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First, locating the entire problem inside one person.</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strongest option usually preserves complexity while identifying the next clinically…</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Blame • False Equivalence • Premature Technique • Context Blindness</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The strongest option usually preserves complexity while identifying the next clinically necessary step.</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the Systemic Reasoning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Use this systemic reasoning check.</a:t>
            </a:r>
            <a:endParaRPr lang="en-US" sz="2120" dirty="0"/>
          </a:p>
        </p:txBody>
      </p:sp>
      <p:sp>
        <p:nvSpPr>
          <p:cNvPr id="11" name="Text 9"/>
          <p:cNvSpPr/>
          <p:nvPr/>
        </p:nvSpPr>
        <p:spPr>
          <a:xfrm>
            <a:off x="6629400" y="1901952"/>
            <a:ext cx="3931920" cy="475488"/>
          </a:xfrm>
          <a:prstGeom prst="rect">
            <a:avLst/>
          </a:prstGeom>
          <a:solidFill>
            <a:srgbClr val="E5F3F4"/>
          </a:solidFill>
          <a:ln w="15240">
            <a:solidFill>
              <a:srgbClr val="0E7C86">
                <a:alpha val="82000"/>
              </a:srgbClr>
            </a:solidFill>
          </a:ln>
        </p:spPr>
        <p:txBody>
          <a:bodyPr wrap="square" lIns="508" tIns="508" rIns="508" bIns="508" rtlCol="0" anchor="ctr">
            <a:normAutofit/>
          </a:bodyPr>
          <a:lstStyle/>
          <a:p>
            <a:pPr indent="0" marL="0">
              <a:buNone/>
            </a:pPr>
            <a:r>
              <a:rPr lang="en-US" sz="1320" b="1" dirty="0">
                <a:solidFill>
                  <a:srgbClr val="0E7C86"/>
                </a:solidFill>
                <a:latin typeface="Aptos" pitchFamily="34" charset="0"/>
                <a:ea typeface="Aptos" pitchFamily="34" charset="-122"/>
                <a:cs typeface="Aptos" pitchFamily="34" charset="-120"/>
              </a:rPr>
              <a:t>Clarify</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Sequence</a:t>
            </a:r>
            <a:endParaRPr lang="en-US" sz="1320" dirty="0"/>
          </a:p>
        </p:txBody>
      </p:sp>
      <p:sp>
        <p:nvSpPr>
          <p:cNvPr id="13" name="Text 11"/>
          <p:cNvSpPr/>
          <p:nvPr/>
        </p:nvSpPr>
        <p:spPr>
          <a:xfrm>
            <a:off x="6629400" y="3218688"/>
            <a:ext cx="3931920" cy="475488"/>
          </a:xfrm>
          <a:prstGeom prst="rect">
            <a:avLst/>
          </a:prstGeom>
          <a:solidFill>
            <a:srgbClr val="E5F3F4"/>
          </a:solidFill>
          <a:ln w="9525">
            <a:solidFill>
              <a:srgbClr val="0E7C8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Choose</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is the treatment unit?</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check helps you reject answers that are blaming, overly certain, or disconnected from…</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Unit • Pattern • Context • Power • Strengths • Next Step</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check helps you reject answers that are blaming, overly certain, or disconnected from the client system.</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0E7C86"/>
          </a:solidFill>
          <a:ln w="12700">
            <a:solidFill>
              <a:srgbClr val="0E7C86">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0E7C86"/>
                </a:solidFill>
                <a:latin typeface="Aptos" pitchFamily="34" charset="0"/>
                <a:ea typeface="Aptos" pitchFamily="34" charset="-122"/>
                <a:cs typeface="Aptos" pitchFamily="34" charset="-120"/>
              </a:rPr>
              <a:t>SYSTEMIC LENS</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LMFT-Specific Script 01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0E7C86"/>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Next Step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During your next LMFT question bank, pause before selecting an answer and map the pattern in one sentence.</a:t>
            </a:r>
            <a:endParaRPr lang="en-US" sz="2120" dirty="0"/>
          </a:p>
        </p:txBody>
      </p:sp>
      <p:sp>
        <p:nvSpPr>
          <p:cNvPr id="11" name="Text 9"/>
          <p:cNvSpPr/>
          <p:nvPr/>
        </p:nvSpPr>
        <p:spPr>
          <a:xfrm>
            <a:off x="6629400" y="1901952"/>
            <a:ext cx="3931920" cy="475488"/>
          </a:xfrm>
          <a:prstGeom prst="rect">
            <a:avLst/>
          </a:prstGeom>
          <a:solidFill>
            <a:srgbClr val="E5F3F4"/>
          </a:solidFill>
          <a:ln w="15240">
            <a:solidFill>
              <a:srgbClr val="0E7C86">
                <a:alpha val="82000"/>
              </a:srgbClr>
            </a:solidFill>
          </a:ln>
        </p:spPr>
        <p:txBody>
          <a:bodyPr wrap="square" lIns="508" tIns="508" rIns="508" bIns="508" rtlCol="0" anchor="ctr">
            <a:normAutofit/>
          </a:bodyPr>
          <a:lstStyle/>
          <a:p>
            <a:pPr indent="0" marL="0">
              <a:buNone/>
            </a:pPr>
            <a:r>
              <a:rPr lang="en-US" sz="1320" b="1" dirty="0">
                <a:solidFill>
                  <a:srgbClr val="0E7C86"/>
                </a:solidFill>
                <a:latin typeface="Aptos" pitchFamily="34" charset="0"/>
                <a:ea typeface="Aptos" pitchFamily="34" charset="-122"/>
                <a:cs typeface="Aptos" pitchFamily="34" charset="-120"/>
              </a:rPr>
              <a:t>Clarify</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Sequence</a:t>
            </a:r>
            <a:endParaRPr lang="en-US" sz="1320" dirty="0"/>
          </a:p>
        </p:txBody>
      </p:sp>
      <p:sp>
        <p:nvSpPr>
          <p:cNvPr id="13" name="Text 11"/>
          <p:cNvSpPr/>
          <p:nvPr/>
        </p:nvSpPr>
        <p:spPr>
          <a:xfrm>
            <a:off x="6629400" y="3218688"/>
            <a:ext cx="3931920" cy="475488"/>
          </a:xfrm>
          <a:prstGeom prst="rect">
            <a:avLst/>
          </a:prstGeom>
          <a:solidFill>
            <a:srgbClr val="E5F3F4"/>
          </a:solidFill>
          <a:ln w="9525">
            <a:solidFill>
              <a:srgbClr val="0E7C86"/>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Choose</a:t>
            </a:r>
            <a:endParaRPr lang="en-US" sz="132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Identify the treatment unit, the repeated sequence, the context, and any safety or power…</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Add any blame-based or premature-modality error to your CTA error log.</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0E7C86"/>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Next: Map the Pattern Before Choosing</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0E7C86"/>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Add any blame-based or premature-modality error to your CTA error log.</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Multimedia Script 01: Thinking Relationally and Systemically</dc:title>
  <dc:subject>LMFT-Specific Multimedia Script 01</dc:subject>
  <dc:creator>Clinical Training Academy</dc:creator>
  <cp:lastModifiedBy>Clinical Training Academy</cp:lastModifiedBy>
  <cp:revision>1</cp:revision>
  <dcterms:created xsi:type="dcterms:W3CDTF">2026-07-25T20:25:46Z</dcterms:created>
  <dcterms:modified xsi:type="dcterms:W3CDTF">2026-07-25T20:25:46Z</dcterms:modified>
</cp:coreProperties>
</file>