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couple, family, and group interventions can all be valuable. The exam does not ask which modality is best in general. It asks which format and technique fit the assessed pattern, safety conditions, treatment goals, developmental needs, culture, access, and client preference. A correct intervention is connected to the formulation and timed for the client’s current capacity and level of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work may fit when the primary target involves personal symptoms, coping, trauma processing, private assessment, substance use, identity, readiness, or safety concerns that make conjoint work inappropriate. It can also prepare a client for later relational work. Individual treatment should not automatically ignore important family or couple context. The therapist can assess relational patterns and coordinate appropriate involvement while preserving the client’s treatment role and confidentiality.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Couple intervention fits when both partners can participate voluntarily and safely, the problem is meaningfully maintained in the relationship, and there is a workable shared treatment goal. The therapist may target escalation, attachment insecurity, communication, intimacy, parenting coordination, or adaptation to stress. Couple work is not the first choice when coercion, retaliation risk, severe instability, or incompatible roles make open participation unsafe or misleading.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Family intervention may fit when a child or adolescent’s functioning is connected to caregiving responses, family transitions, roles, boundaries, conflict, grief, illness, or a repeated interactional cycle. The therapist should create developmentally appropriate ways for each person to participate and avoid treating the identified patient as the only source of the problem. Family involvement should have a clear clinical purpose and respect consent, privacy, safety, and the treatment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treatment can provide normalization, interpersonal learning, skills practice, support, accountability, and efficient access to care. Assess whether the group’s purpose matches the client’s needs, whether the client can participate safely, and whether confidentiality limits, readiness, language, culture, accessibility, and acute risk have been addressed. A group referral is not complete until fit, availability, and follow-through are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cases require more than one modality. A client may need individual stabilization before couple work, a family may need parenting support alongside a child’s individual treatment, or a trauma survivor may use individual therapy plus a skills group. Sequence the services so they support rather than contradict one another. Clarify roles, consent, information sharing, goals, and responsibility for coordination.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Conjoint work may be inappropriate when one participant fears retaliation, cannot speak freely, is being coerced, or faces severe power imbalance. It may also be premature during acute intoxication, psychosis, uncontrolled violence, or a medical emergency. The therapist should assess safety and voluntariness, choose a safer format, and make necessary referrals. A communication exercise does not correct conditions in which one person cannot safely communicate.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modality is selected, match the technique to the maintaining factor. Avoidance may call for gradual exposure. Low activity and withdrawal may call for behavioral activation. Escalation may require arousal regulation and structured turn taking. Attachment injury may require carefully paced emotional processing. Parenting inconsistency may require developmentally appropriate structure and reinforcement. The exam often includes a technique that is credible but does not address the mechanism described.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Intervention fit includes development, culture, language, identity, disability, family norms, client preference, and readiness. It also includes whether the service can actually be used. Consider cost, insurance, transportation, schedule, caregiving, technology, location, and provider availability. A theoretically strong intervention that is inaccessible or unacceptable is not the best plan. Adapt the delivery, address barriers, and confirm follow-through rather than treating a referral as complete when a name is provided.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interventions within the therapist’s competence and supported by evidence, clinical judgment, client characteristics, and informed consent. Consultation or training may expand safe practice, but it does not justify experimenting beyond competence in a high-risk case. Refer or collaborate when another provider, medical service, substance-use program, or higher level of care is needed. Continue monitoring whether the intervention is effective and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two examples. First, an adolescent's symptoms intensify during escalating parent conflict and the family treats the adolescent as the sole problem. Individual support may help, but family assessment and carefully structured family work may be needed to change the maintaining sequence. Second, a couple requests communication treatment while one partner has severe trauma symptoms and becomes overwhelmed during conflict. The therapist may need stabilization and individual trauma treatment before, or alongside, carefully paced couple work. In both cases, the best format follows the pattern, safety, readiness, and treatment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for four traps. First, choosing the therapist’s preferred approach instead of the best fit. Second, selecting the wrong treatment unit or format. Third, using an intense or insight-oriented technique before safety, stabilization, or readiness. Fourth, recommending a service without confirming access and follow-through. The strongest answer explains how the intervention matches the mechanism, client system, timing, and practical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modality selection check. What is the treatment target and maintaining factor? Who needs to participate? Can everyone participate safely and voluntarily? What is the client’s readiness and preference? Does the approach fit development and culture? Is it accessible? Is the therapist competent to provide it? Are other services needed, and how will they be coordinated? How will effectiveness be monitored?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your next LMFT question bank, explain why the selected format is safer, better timed, and more directly connected to the maintaining factor than the strongest distractor. If you miss the item, record whether the error involved the treatment unit, safety, readiness, access, competence, or technique fit. Add that pattern to your CTA error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Selecting Individual, Couple, Family, and Group Interventions</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LMFT-Specific Multimedia Script 06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Individual, couple, family, and group interventions can all be valuable.</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D66B4A"/>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D66B4A">
                <a:alpha val="75000"/>
              </a:srgbClr>
            </a:solidFill>
            <a:prstDash val="solid"/>
            <a:tailEnd type="triangle"/>
          </a:ln>
        </p:spPr>
      </p:sp>
      <p:sp>
        <p:nvSpPr>
          <p:cNvPr id="15" name="Text 13"/>
          <p:cNvSpPr/>
          <p:nvPr/>
        </p:nvSpPr>
        <p:spPr>
          <a:xfrm>
            <a:off x="804672"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6" name="Text 14"/>
          <p:cNvSpPr/>
          <p:nvPr/>
        </p:nvSpPr>
        <p:spPr>
          <a:xfrm>
            <a:off x="2947416"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7" name="Text 15"/>
          <p:cNvSpPr/>
          <p:nvPr/>
        </p:nvSpPr>
        <p:spPr>
          <a:xfrm>
            <a:off x="5090160" y="3273552"/>
            <a:ext cx="1932432"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8" name="Text 16"/>
          <p:cNvSpPr/>
          <p:nvPr/>
        </p:nvSpPr>
        <p:spPr>
          <a:xfrm>
            <a:off x="7635240" y="3364992"/>
            <a:ext cx="1687068" cy="758952"/>
          </a:xfrm>
          <a:prstGeom prst="rect">
            <a:avLst/>
          </a:prstGeom>
          <a:solidFill>
            <a:srgbClr val="F9EAE5"/>
          </a:solidFill>
          <a:ln w="10160">
            <a:solidFill>
              <a:srgbClr val="D9E0E8"/>
            </a:solidFill>
          </a:ln>
        </p:spPr>
        <p:txBody>
          <a:bodyPr wrap="square" lIns="1270" tIns="1270" rIns="1270" bIns="1270" rtlCol="0" anchor="ctr">
            <a:normAutofit/>
          </a:bodyPr>
          <a:lstStyle/>
          <a:p>
            <a:pPr indent="0" marL="0">
              <a:buNone/>
            </a:pPr>
            <a:r>
              <a:rPr lang="en-US" sz="1400" b="1" dirty="0">
                <a:solidFill>
                  <a:srgbClr val="D66B4A"/>
                </a:solidFill>
                <a:latin typeface="Aptos" pitchFamily="34" charset="0"/>
                <a:ea typeface="Aptos" pitchFamily="34" charset="-122"/>
                <a:cs typeface="Aptos" pitchFamily="34" charset="-120"/>
              </a:rPr>
              <a:t>Clarify</a:t>
            </a:r>
            <a:endParaRPr lang="en-US" sz="1400" dirty="0"/>
          </a:p>
        </p:txBody>
      </p:sp>
      <p:sp>
        <p:nvSpPr>
          <p:cNvPr id="19" name="Text 17"/>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Sequence</a:t>
            </a:r>
            <a:endParaRPr lang="en-US" sz="1400" dirty="0"/>
          </a:p>
        </p:txBody>
      </p:sp>
      <p:sp>
        <p:nvSpPr>
          <p:cNvPr id="20" name="Text 18"/>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Choose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When Individual Intervention Fits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Individual work may fit when the primary target involves personal symptoms, coping, trauma processing, private assessment, substance use, identity,…</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Individual Work</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Focus</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Privacy</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Safety</a:t>
            </a:r>
            <a:endParaRPr lang="en-US" sz="1180" dirty="0"/>
          </a:p>
        </p:txBody>
      </p:sp>
      <p:sp>
        <p:nvSpPr>
          <p:cNvPr id="16" name="Text 14"/>
          <p:cNvSpPr/>
          <p:nvPr/>
        </p:nvSpPr>
        <p:spPr>
          <a:xfrm>
            <a:off x="10116922" y="2148840"/>
            <a:ext cx="718718"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Skill</a:t>
            </a:r>
            <a:endParaRPr lang="en-US" sz="1180" dirty="0"/>
          </a:p>
        </p:txBody>
      </p:sp>
      <p:sp>
        <p:nvSpPr>
          <p:cNvPr id="17" name="Text 15"/>
          <p:cNvSpPr/>
          <p:nvPr/>
        </p:nvSpPr>
        <p:spPr>
          <a:xfrm>
            <a:off x="6949440" y="3063240"/>
            <a:ext cx="3246120" cy="1371600"/>
          </a:xfrm>
          <a:prstGeom prst="rect">
            <a:avLst/>
          </a:prstGeom>
          <a:solidFill>
            <a:srgbClr val="F9EAE5"/>
          </a:solidFill>
          <a:ln w="13970">
            <a:solidFill>
              <a:srgbClr val="D66B4A">
                <a:alpha val="75000"/>
              </a:srgbClr>
            </a:solidFill>
          </a:ln>
        </p:spPr>
        <p:txBody>
          <a:bodyPr wrap="square" lIns="1016" tIns="1016" rIns="1016" bIns="1016"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Individual Work</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can also prepare a client for later relational work.</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therapist can assess relational patterns and coordinate appropriate involvement while…</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Individual Work: Focus, Privacy, Safety, Skill, Autonomy</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therapist can assess relational patterns and coordinate appropriate involvement while preserving the client’s treatment role and…</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When Couple Intervention Fits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Couple intervention fits when both partners can participate voluntarily and safely, the problem is meaningfully maintained in the relationship, and…</a:t>
            </a:r>
            <a:endParaRPr lang="en-US" sz="2120" dirty="0"/>
          </a:p>
        </p:txBody>
      </p:sp>
      <p:sp>
        <p:nvSpPr>
          <p:cNvPr id="11" name="Text 9"/>
          <p:cNvSpPr/>
          <p:nvPr/>
        </p:nvSpPr>
        <p:spPr>
          <a:xfrm>
            <a:off x="6446520" y="1874520"/>
            <a:ext cx="2098548" cy="1092708"/>
          </a:xfrm>
          <a:prstGeom prst="rect">
            <a:avLst/>
          </a:prstGeom>
          <a:solidFill>
            <a:srgbClr val="F9EAE5"/>
          </a:solidFill>
          <a:ln w="10160">
            <a:solidFill>
              <a:srgbClr val="D9E0E8"/>
            </a:solidFill>
          </a:ln>
        </p:spPr>
        <p:txBody>
          <a:bodyPr wrap="square" lIns="1270" tIns="1270" rIns="1270" bIns="1270" rtlCol="0" anchor="ctr">
            <a:normAutofit/>
          </a:bodyPr>
          <a:lstStyle/>
          <a:p>
            <a:pPr indent="0" marL="0">
              <a:buNone/>
            </a:pPr>
            <a:r>
              <a:rPr lang="en-US" sz="1400" b="1" dirty="0">
                <a:solidFill>
                  <a:srgbClr val="D66B4A"/>
                </a:solidFill>
                <a:latin typeface="Aptos" pitchFamily="34" charset="0"/>
                <a:ea typeface="Aptos" pitchFamily="34" charset="-122"/>
                <a:cs typeface="Aptos" pitchFamily="34" charset="-120"/>
              </a:rPr>
              <a:t>Couple Work</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Shared Goal</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Safe Participation</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Relational Pattern</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therapist may target escalation, attachment insecurity, communication, intimacy,…</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Couple work is not the first choice when coercion, retaliation risk, severe instability, or…</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Couple Work: Shared Goal + Safe Participation + Relational Pattern</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Couple work is not the first choice when coercion, retaliation risk, severe instability, or incompatible roles make open participation unsafe…</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When Family Intervention Fits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Family intervention may fit when a child or adolescent’s functioning is connected to caregiving responses, family transitions, roles, boundaries,…</a:t>
            </a:r>
            <a:endParaRPr lang="en-US" sz="2120" dirty="0"/>
          </a:p>
        </p:txBody>
      </p:sp>
      <p:sp>
        <p:nvSpPr>
          <p:cNvPr id="11" name="Text 9"/>
          <p:cNvSpPr/>
          <p:nvPr/>
        </p:nvSpPr>
        <p:spPr>
          <a:xfrm>
            <a:off x="6629400" y="1901952"/>
            <a:ext cx="3931920" cy="475488"/>
          </a:xfrm>
          <a:prstGeom prst="rect">
            <a:avLst/>
          </a:prstGeom>
          <a:solidFill>
            <a:srgbClr val="F9EAE5"/>
          </a:solidFill>
          <a:ln w="15240">
            <a:solidFill>
              <a:srgbClr val="D66B4A">
                <a:alpha val="82000"/>
              </a:srgbClr>
            </a:solidFill>
          </a:ln>
        </p:spPr>
        <p:txBody>
          <a:bodyPr wrap="square" lIns="508" tIns="508" rIns="508" bIns="508" rtlCol="0" anchor="ctr">
            <a:normAutofit/>
          </a:bodyPr>
          <a:lstStyle/>
          <a:p>
            <a:pPr indent="0" marL="0">
              <a:buNone/>
            </a:pPr>
            <a:r>
              <a:rPr lang="en-US" sz="1320" b="1" dirty="0">
                <a:solidFill>
                  <a:srgbClr val="D66B4A"/>
                </a:solidFill>
                <a:latin typeface="Aptos" pitchFamily="34" charset="0"/>
                <a:ea typeface="Aptos" pitchFamily="34" charset="-122"/>
                <a:cs typeface="Aptos" pitchFamily="34" charset="-120"/>
              </a:rPr>
              <a:t>Family Work</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Development</a:t>
            </a:r>
            <a:endParaRPr lang="en-US" sz="1320" dirty="0"/>
          </a:p>
        </p:txBody>
      </p:sp>
      <p:sp>
        <p:nvSpPr>
          <p:cNvPr id="13" name="Text 11"/>
          <p:cNvSpPr/>
          <p:nvPr/>
        </p:nvSpPr>
        <p:spPr>
          <a:xfrm>
            <a:off x="6629400" y="3218688"/>
            <a:ext cx="3931920" cy="475488"/>
          </a:xfrm>
          <a:prstGeom prst="rect">
            <a:avLst/>
          </a:prstGeom>
          <a:solidFill>
            <a:srgbClr val="F9EAE5"/>
          </a:solidFill>
          <a:ln w="9525">
            <a:solidFill>
              <a:srgbClr val="D66B4A"/>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Roles</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Interaction</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therapist should create developmentally appropriate ways for each person to participate…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Family involvement should have a clear clinical purpose and respect consent, privacy, safety,…</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Family Work: Development + Roles + Interaction + Caregiving</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Family involvement should have a clear clinical purpose and respect consent, privacy, safety, and the treatment role.</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When Group Intervention Fits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Group treatment can provide normalization, interpersonal learning, skills practice, support, accountability, and efficient access to care.</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Group Work</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Shared Need</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Appropriate Fit</a:t>
            </a:r>
            <a:endParaRPr lang="en-US" sz="1180" dirty="0"/>
          </a:p>
        </p:txBody>
      </p:sp>
      <p:sp>
        <p:nvSpPr>
          <p:cNvPr id="15" name="Text 13"/>
          <p:cNvSpPr/>
          <p:nvPr/>
        </p:nvSpPr>
        <p:spPr>
          <a:xfrm>
            <a:off x="9884664" y="2148840"/>
            <a:ext cx="950976"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Safe Structure</a:t>
            </a:r>
            <a:endParaRPr lang="en-US" sz="1180" dirty="0"/>
          </a:p>
        </p:txBody>
      </p:sp>
      <p:sp>
        <p:nvSpPr>
          <p:cNvPr id="16" name="Text 14"/>
          <p:cNvSpPr/>
          <p:nvPr/>
        </p:nvSpPr>
        <p:spPr>
          <a:xfrm>
            <a:off x="6949440" y="3063240"/>
            <a:ext cx="3246120" cy="1371600"/>
          </a:xfrm>
          <a:prstGeom prst="rect">
            <a:avLst/>
          </a:prstGeom>
          <a:solidFill>
            <a:srgbClr val="F9EAE5"/>
          </a:solidFill>
          <a:ln w="13970">
            <a:solidFill>
              <a:srgbClr val="D66B4A">
                <a:alpha val="75000"/>
              </a:srgbClr>
            </a:solidFill>
          </a:ln>
        </p:spPr>
        <p:txBody>
          <a:bodyPr wrap="square" lIns="1016" tIns="1016" rIns="1016" bIns="1016"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Group Work</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Assess whether the group’s purpose matches the client’s needs, whether the client can…</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group referral is not complete until fit, availability, and follow-through are confirmed.</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Group Work: Shared Need + Appropriate Fit + Safe Structure</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group referral is not complete until fit, availability, and follow-through are confirmed.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Combine and Sequence Modalities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Many cases require more than one modality.</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Phased pathway combining…</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couple</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family</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group</a:t>
            </a:r>
            <a:endParaRPr lang="en-US" sz="1180" dirty="0"/>
          </a:p>
        </p:txBody>
      </p:sp>
      <p:sp>
        <p:nvSpPr>
          <p:cNvPr id="16" name="Text 14"/>
          <p:cNvSpPr/>
          <p:nvPr/>
        </p:nvSpPr>
        <p:spPr>
          <a:xfrm>
            <a:off x="10116922" y="2148840"/>
            <a:ext cx="718718"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referral services.</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client may need individual stabilization before couple work, a family may need parenting…</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roles, consent, information sharing, goals, and responsibility for coordination.</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One Case May Need More Than One Format</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Clarify roles, consent, information sharing, goals, and responsibility for coordination.</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Safety and Power Can Contraindicate Conjoint Work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Conjoint work may be inappropriate when one participant fears retaliation, cannot speak freely, is being coerced, or faces severe power imbalance.</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Conjoint session stopped by…</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violence</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retaliation</a:t>
            </a:r>
            <a:endParaRPr lang="en-US" sz="1180" dirty="0"/>
          </a:p>
        </p:txBody>
      </p:sp>
      <p:sp>
        <p:nvSpPr>
          <p:cNvPr id="15" name="Text 13"/>
          <p:cNvSpPr/>
          <p:nvPr/>
        </p:nvSpPr>
        <p:spPr>
          <a:xfrm>
            <a:off x="9884664" y="2148840"/>
            <a:ext cx="950976"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severe instability markers.</a:t>
            </a:r>
            <a:endParaRPr lang="en-US" sz="1180" dirty="0"/>
          </a:p>
        </p:txBody>
      </p:sp>
      <p:sp>
        <p:nvSpPr>
          <p:cNvPr id="16" name="Text 14"/>
          <p:cNvSpPr/>
          <p:nvPr/>
        </p:nvSpPr>
        <p:spPr>
          <a:xfrm>
            <a:off x="6949440" y="3063240"/>
            <a:ext cx="3246120" cy="1371600"/>
          </a:xfrm>
          <a:prstGeom prst="rect">
            <a:avLst/>
          </a:prstGeom>
          <a:solidFill>
            <a:srgbClr val="F9EAE5"/>
          </a:solidFill>
          <a:ln w="13970">
            <a:solidFill>
              <a:srgbClr val="D66B4A">
                <a:alpha val="75000"/>
              </a:srgbClr>
            </a:solidFill>
          </a:ln>
        </p:spPr>
        <p:txBody>
          <a:bodyPr wrap="square" lIns="1016" tIns="1016" rIns="1016" bIns="1016"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Conjoint session stopped by…</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may also be premature during acute intoxication, psychosis, uncontrolled violence, or a…</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communication exercise does not correct conditions in which one person cannot safely…</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Use Relational Techniques to Override Safety</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communication exercise does not correct conditions in which one person cannot safely communicate.</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Match the Technique to the Maintaining Factor</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Once the modality is selected, match the technique to the maintaining factor.</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Maintaining factors connected…</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exposure</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regulation</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behavioral activation</a:t>
            </a:r>
            <a:endParaRPr lang="en-US" sz="1180" dirty="0"/>
          </a:p>
        </p:txBody>
      </p:sp>
      <p:sp>
        <p:nvSpPr>
          <p:cNvPr id="16" name="Text 14"/>
          <p:cNvSpPr/>
          <p:nvPr/>
        </p:nvSpPr>
        <p:spPr>
          <a:xfrm>
            <a:off x="10116922" y="2148840"/>
            <a:ext cx="718718"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relational restructuring</a:t>
            </a:r>
            <a:endParaRPr lang="en-US" sz="1180" dirty="0"/>
          </a:p>
        </p:txBody>
      </p:sp>
      <p:sp>
        <p:nvSpPr>
          <p:cNvPr id="17" name="Text 15"/>
          <p:cNvSpPr/>
          <p:nvPr/>
        </p:nvSpPr>
        <p:spPr>
          <a:xfrm>
            <a:off x="6949440" y="3063240"/>
            <a:ext cx="3246120" cy="1371600"/>
          </a:xfrm>
          <a:prstGeom prst="rect">
            <a:avLst/>
          </a:prstGeom>
          <a:solidFill>
            <a:srgbClr val="F9EAE5"/>
          </a:solidFill>
          <a:ln w="13970">
            <a:solidFill>
              <a:srgbClr val="D66B4A">
                <a:alpha val="75000"/>
              </a:srgbClr>
            </a:solidFill>
          </a:ln>
        </p:spPr>
        <p:txBody>
          <a:bodyPr wrap="square" lIns="1016" tIns="1016" rIns="1016" bIns="1016"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Maintaining factors connected…</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Avoidance may call for gradual exposure.</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exam often includes a technique that is credible but does not address the mechanism…</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Mechanism First, Technique Second</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exam often includes a technique that is credible but does not address the mechanism described.</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Include Developmental, Cultural, and Practical Fit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Intervention fit includes development, culture, language, identity, disability, family norms, client preference, and readiness.</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Intervention fit filter</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development</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culture</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language</a:t>
            </a:r>
            <a:endParaRPr lang="en-US" sz="1180" dirty="0"/>
          </a:p>
        </p:txBody>
      </p:sp>
      <p:sp>
        <p:nvSpPr>
          <p:cNvPr id="16" name="Text 14"/>
          <p:cNvSpPr/>
          <p:nvPr/>
        </p:nvSpPr>
        <p:spPr>
          <a:xfrm>
            <a:off x="10116922" y="2148840"/>
            <a:ext cx="718718"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disability</a:t>
            </a:r>
            <a:endParaRPr lang="en-US" sz="1180" dirty="0"/>
          </a:p>
        </p:txBody>
      </p:sp>
      <p:sp>
        <p:nvSpPr>
          <p:cNvPr id="17" name="Text 15"/>
          <p:cNvSpPr/>
          <p:nvPr/>
        </p:nvSpPr>
        <p:spPr>
          <a:xfrm>
            <a:off x="6949440" y="3063240"/>
            <a:ext cx="3246120" cy="1371600"/>
          </a:xfrm>
          <a:prstGeom prst="rect">
            <a:avLst/>
          </a:prstGeom>
          <a:solidFill>
            <a:srgbClr val="F9EAE5"/>
          </a:solidFill>
          <a:ln w="13970">
            <a:solidFill>
              <a:srgbClr val="D66B4A">
                <a:alpha val="75000"/>
              </a:srgbClr>
            </a:solidFill>
          </a:ln>
        </p:spPr>
        <p:txBody>
          <a:bodyPr wrap="square" lIns="1016" tIns="1016" rIns="1016" bIns="1016"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Intervention fit filter</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also includes whether the service can actually be used.</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Adapt the delivery, address barriers, and confirm follow-through rather than treating a…</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An Intervention Must Be Clinically Appropriate and Usable</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Adapt the delivery, address barriers, and confirm follow-through rather than treating a referral as complete when a name is provided.</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Practice Within Competence and Evidence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Select interventions within the therapist’s competence and supported by evidence, clinical judgment, client characteristics, and informed consent.</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Competence</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Evidence</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Consent</a:t>
            </a:r>
            <a:endParaRPr lang="en-US" sz="1180" dirty="0"/>
          </a:p>
        </p:txBody>
      </p:sp>
      <p:sp>
        <p:nvSpPr>
          <p:cNvPr id="15" name="Text 13"/>
          <p:cNvSpPr/>
          <p:nvPr/>
        </p:nvSpPr>
        <p:spPr>
          <a:xfrm>
            <a:off x="9884664" y="2148840"/>
            <a:ext cx="950976"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Monitoring</a:t>
            </a:r>
            <a:endParaRPr lang="en-US" sz="1180" dirty="0"/>
          </a:p>
        </p:txBody>
      </p:sp>
      <p:sp>
        <p:nvSpPr>
          <p:cNvPr id="16" name="Text 14"/>
          <p:cNvSpPr/>
          <p:nvPr/>
        </p:nvSpPr>
        <p:spPr>
          <a:xfrm>
            <a:off x="6949440" y="3063240"/>
            <a:ext cx="3246120" cy="1371600"/>
          </a:xfrm>
          <a:prstGeom prst="rect">
            <a:avLst/>
          </a:prstGeom>
          <a:solidFill>
            <a:srgbClr val="F9EAE5"/>
          </a:solidFill>
          <a:ln w="13970">
            <a:solidFill>
              <a:srgbClr val="D66B4A">
                <a:alpha val="75000"/>
              </a:srgbClr>
            </a:solidFill>
          </a:ln>
        </p:spPr>
        <p:txBody>
          <a:bodyPr wrap="square" lIns="1016" tIns="1016" rIns="1016" bIns="1016"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Competence</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Consultation or training may expand safe practice, but it does not justify experimenting…</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Continue monitoring whether the intervention is effective and acceptable.</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Competence + Evidence + Consent + Monitoring</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Continue monitoring whether the intervention is effective and acceptable.</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Examples: Match the Format to the Maintaining Pattern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Consider two examples.</a:t>
            </a:r>
            <a:endParaRPr lang="en-US" sz="2120" dirty="0"/>
          </a:p>
        </p:txBody>
      </p:sp>
      <p:sp>
        <p:nvSpPr>
          <p:cNvPr id="11" name="Shape 9"/>
          <p:cNvSpPr/>
          <p:nvPr/>
        </p:nvSpPr>
        <p:spPr>
          <a:xfrm>
            <a:off x="6629400" y="2441448"/>
            <a:ext cx="3977640" cy="0"/>
          </a:xfrm>
          <a:prstGeom prst="line">
            <a:avLst/>
          </a:prstGeom>
          <a:noFill/>
          <a:ln w="15240">
            <a:solidFill>
              <a:srgbClr val="D66B4A">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Case 1</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Family Pattern Case 2</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Trauma</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Safety</a:t>
            </a:r>
            <a:endParaRPr lang="en-US" sz="1180" dirty="0"/>
          </a:p>
        </p:txBody>
      </p:sp>
      <p:sp>
        <p:nvSpPr>
          <p:cNvPr id="16" name="Text 14"/>
          <p:cNvSpPr/>
          <p:nvPr/>
        </p:nvSpPr>
        <p:spPr>
          <a:xfrm>
            <a:off x="10116922" y="2148840"/>
            <a:ext cx="718718" cy="621792"/>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Couple Work</a:t>
            </a:r>
            <a:endParaRPr lang="en-US" sz="1180" dirty="0"/>
          </a:p>
        </p:txBody>
      </p:sp>
      <p:sp>
        <p:nvSpPr>
          <p:cNvPr id="17" name="Text 15"/>
          <p:cNvSpPr/>
          <p:nvPr/>
        </p:nvSpPr>
        <p:spPr>
          <a:xfrm>
            <a:off x="6949440" y="3063240"/>
            <a:ext cx="3246120" cy="1371600"/>
          </a:xfrm>
          <a:prstGeom prst="rect">
            <a:avLst/>
          </a:prstGeom>
          <a:solidFill>
            <a:srgbClr val="F9EAE5"/>
          </a:solidFill>
          <a:ln w="13970">
            <a:solidFill>
              <a:srgbClr val="D66B4A">
                <a:alpha val="75000"/>
              </a:srgbClr>
            </a:solidFill>
          </a:ln>
        </p:spPr>
        <p:txBody>
          <a:bodyPr wrap="square" lIns="1016" tIns="1016" rIns="1016" bIns="1016"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Case 1</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First, an adolescent's symptoms intensify during escalating parent conflict and the family…</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In both cases, the best format follows the pattern, safety, readiness, and treatment target.</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Case 1: Family Pattern • Case 2: Trauma, Safety, and Couple Work</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In both cases, the best format follows the pattern, safety, readiness, and treatment target.</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Common Intervention Traps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Watch for four traps.</a:t>
            </a:r>
            <a:endParaRPr lang="en-US" sz="2120" dirty="0"/>
          </a:p>
        </p:txBody>
      </p:sp>
      <p:sp>
        <p:nvSpPr>
          <p:cNvPr id="11" name="Text 9"/>
          <p:cNvSpPr/>
          <p:nvPr/>
        </p:nvSpPr>
        <p:spPr>
          <a:xfrm>
            <a:off x="6446520" y="1874520"/>
            <a:ext cx="2098548" cy="1092708"/>
          </a:xfrm>
          <a:prstGeom prst="rect">
            <a:avLst/>
          </a:prstGeom>
          <a:solidFill>
            <a:srgbClr val="F9EAE5"/>
          </a:solidFill>
          <a:ln w="10160">
            <a:solidFill>
              <a:srgbClr val="D9E0E8"/>
            </a:solidFill>
          </a:ln>
        </p:spPr>
        <p:txBody>
          <a:bodyPr wrap="square" lIns="1270" tIns="1270" rIns="1270" bIns="1270" rtlCol="0" anchor="ctr">
            <a:normAutofit/>
          </a:bodyPr>
          <a:lstStyle/>
          <a:p>
            <a:pPr indent="0" marL="0">
              <a:buNone/>
            </a:pPr>
            <a:r>
              <a:rPr lang="en-US" sz="1400" b="1" dirty="0">
                <a:solidFill>
                  <a:srgbClr val="D66B4A"/>
                </a:solidFill>
                <a:latin typeface="Aptos" pitchFamily="34" charset="0"/>
                <a:ea typeface="Aptos" pitchFamily="34" charset="-122"/>
                <a:cs typeface="Aptos" pitchFamily="34" charset="-120"/>
              </a:rPr>
              <a:t>Four trap cards</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favorite approach</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wrong format</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premature intensity</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First, choosing the therapist’s preferred approach instead of the best fit.</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strongest answer explains how the intervention matches the mechanism, client system,…</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Preference • Mismatch • Prematurity • Inaccessibility</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strongest answer explains how the intervention matches the mechanism, client system, timing, and practical context.</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Modality Selection Check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Use this modality selection check.</a:t>
            </a:r>
            <a:endParaRPr lang="en-US" sz="2120" dirty="0"/>
          </a:p>
        </p:txBody>
      </p:sp>
      <p:sp>
        <p:nvSpPr>
          <p:cNvPr id="11" name="Text 9"/>
          <p:cNvSpPr/>
          <p:nvPr/>
        </p:nvSpPr>
        <p:spPr>
          <a:xfrm>
            <a:off x="6446520" y="1874520"/>
            <a:ext cx="2098548" cy="1092708"/>
          </a:xfrm>
          <a:prstGeom prst="rect">
            <a:avLst/>
          </a:prstGeom>
          <a:solidFill>
            <a:srgbClr val="F9EAE5"/>
          </a:solidFill>
          <a:ln w="10160">
            <a:solidFill>
              <a:srgbClr val="D9E0E8"/>
            </a:solidFill>
          </a:ln>
        </p:spPr>
        <p:txBody>
          <a:bodyPr wrap="square" lIns="1270" tIns="1270" rIns="1270" bIns="1270" rtlCol="0" anchor="ctr">
            <a:normAutofit/>
          </a:bodyPr>
          <a:lstStyle/>
          <a:p>
            <a:pPr indent="0" marL="0">
              <a:buNone/>
            </a:pPr>
            <a:r>
              <a:rPr lang="en-US" sz="1400" b="1" dirty="0">
                <a:solidFill>
                  <a:srgbClr val="D66B4A"/>
                </a:solidFill>
                <a:latin typeface="Aptos" pitchFamily="34" charset="0"/>
                <a:ea typeface="Aptos" pitchFamily="34" charset="-122"/>
                <a:cs typeface="Aptos" pitchFamily="34" charset="-120"/>
              </a:rPr>
              <a:t>Checklist</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target</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unit</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safety</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is the treatment target and maintaining factor?</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How will effectiveness be monitored?</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Target • Unit • Safety • Readiness • Fit • Access • Competence • Coordination</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How will effectiveness be monitored?</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D66B4A"/>
          </a:solidFill>
          <a:ln w="12700">
            <a:solidFill>
              <a:srgbClr val="D66B4A">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D66B4A"/>
                </a:solidFill>
                <a:latin typeface="Aptos" pitchFamily="34" charset="0"/>
                <a:ea typeface="Aptos" pitchFamily="34" charset="-122"/>
                <a:cs typeface="Aptos" pitchFamily="34" charset="-120"/>
              </a:rPr>
              <a:t>INTERVENTION FIT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06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D66B4A"/>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Next Step</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During your next LMFT question bank, explain why the selected format is safer, better timed, and more directly connected to the maintaining factor…</a:t>
            </a:r>
            <a:endParaRPr lang="en-US" sz="2120" dirty="0"/>
          </a:p>
        </p:txBody>
      </p:sp>
      <p:sp>
        <p:nvSpPr>
          <p:cNvPr id="11" name="Text 9"/>
          <p:cNvSpPr/>
          <p:nvPr/>
        </p:nvSpPr>
        <p:spPr>
          <a:xfrm>
            <a:off x="6446520" y="1874520"/>
            <a:ext cx="2098548" cy="1092708"/>
          </a:xfrm>
          <a:prstGeom prst="rect">
            <a:avLst/>
          </a:prstGeom>
          <a:solidFill>
            <a:srgbClr val="F9EAE5"/>
          </a:solidFill>
          <a:ln w="10160">
            <a:solidFill>
              <a:srgbClr val="D9E0E8"/>
            </a:solidFill>
          </a:ln>
        </p:spPr>
        <p:txBody>
          <a:bodyPr wrap="square" lIns="1270" tIns="1270" rIns="1270" bIns="1270" rtlCol="0" anchor="ctr">
            <a:normAutofit/>
          </a:bodyPr>
          <a:lstStyle/>
          <a:p>
            <a:pPr indent="0" marL="0">
              <a:buNone/>
            </a:pPr>
            <a:r>
              <a:rPr lang="en-US" sz="1400" b="1" dirty="0">
                <a:solidFill>
                  <a:srgbClr val="D66B4A"/>
                </a:solidFill>
                <a:latin typeface="Aptos" pitchFamily="34" charset="0"/>
                <a:ea typeface="Aptos" pitchFamily="34" charset="-122"/>
                <a:cs typeface="Aptos" pitchFamily="34" charset="-120"/>
              </a:rPr>
              <a:t>Next</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Defend the Format</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Timing</a:t>
            </a:r>
            <a:endParaRPr lang="en-US" sz="140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If you miss the item, record whether the error involved the treatment unit, safety,…</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Add that pattern to your CTA error log.</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D66B4A"/>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Next: Defend the Format and Timing</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D66B4A"/>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Add that pattern to your CTA error log.</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Multimedia Script 06: Selecting Individual, Couple, Family, and Group Interventions</dc:title>
  <dc:subject>LMFT-Specific Multimedia Script 06</dc:subject>
  <dc:creator>Clinical Training Academy</dc:creator>
  <cp:lastModifiedBy>Clinical Training Academy</cp:lastModifiedBy>
  <cp:revision>1</cp:revision>
  <dcterms:created xsi:type="dcterms:W3CDTF">2026-07-25T20:25:47Z</dcterms:created>
  <dcterms:modified xsi:type="dcterms:W3CDTF">2026-07-25T20:25:47Z</dcterms:modified>
</cp:coreProperties>
</file>