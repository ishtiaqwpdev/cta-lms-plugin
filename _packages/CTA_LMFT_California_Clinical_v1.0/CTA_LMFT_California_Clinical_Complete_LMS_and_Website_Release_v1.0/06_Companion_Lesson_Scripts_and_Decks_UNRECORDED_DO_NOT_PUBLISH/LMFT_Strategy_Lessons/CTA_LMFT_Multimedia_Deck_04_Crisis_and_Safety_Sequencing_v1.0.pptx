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clinical questions begin with assessment, but safety can change the sequence. When the facts already establish imminent danger, a medical emergency, severe impairment, abuse requiring protection, or another urgent duty, the therapist should not delay action by repeating routine intake questions. The correct answer still gathers the information needed for the response, but it moves efficiently toward protection, stabilization, appropriate level of care, and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is not simply present or absent. Clarify whether danger is current, escalating, planned, accessible, and likely to occur soon. Consider intent, means, past behavior, intoxication, psychosis, impulsivity, caregiving responsibilities, protective factors, and the reliability of available support. Chronic vulnerability matters, but the immediate response depends on the current facts. Avoid both minimizing a supported emergency and treating every expression of distress as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statement suggests suicide or self-harm, ask directly about current thoughts, intent, plan, access to means, timing, past attempts, recent changes, substance use, reasons for living, and available support. Clarify the client’s ability and willingness to participate in a safety response. A no-harm promise is not a complete assessment. The therapist’s tone can remain collaborative and compassionate while the questions become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client threatens another person or describes violent impulses, clarify the target, intent, plan, access to weapons or other means, past violence, substance use, psychosis, recent losses, escalation, and protective factors. Do not assume every angry statement requires the same response, and do not dismiss a specific, credible threat as venting. California duties can be fact-specific, so the therapist should use current law, consultation, and agency procedures while taking necessary protective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Abuse and neglect questions test whether you recognize the protected person, the type of concern, immediate danger, and the applicable reporting or protective duty. The exam answer should not require certainty beyond the legal standard or a full investigation by the therapist. Assess urgent safety, follow current reporting requirements, disclose only what is needed, support the client, and document the facts and actions. Do not promise secrecy that the law does not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one partner reports monitoring, threats, intimidation, injury, stalking, or fear of punishment, assess danger, coercive control, retaliation risk, children or other vulnerable persons, access to resources, and the safety of the treatment format. Do not automatically facilitate disclosure in front of the abusive partner. Couple techniques and communication exercises can be unsafe when participation is not voluntary or power is severely unequal.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Crisis questions may be medical even when they appear in a therapy setting. Worsening headache after a head injury, confusion after combining medications, severe withdrawal, altered consciousness, chest pain, or new neurological symptoms require medical prioritization. Assess immediate safety, clarify what happened, and arrange urgent evaluation or emergency response as indicated. Do not interpret possible toxicity, injury, or withdrawal as anxiety or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least restrictive response that can reasonably manage the danger. Options may include collaborative safety planning, mobilizing supports, means-safety steps, urgent medical or psychiatric evaluation, crisis services, emergency intervention, or hospitalization when criteria are met. Least restrictive does not mean least active. It means the response is proportionate, effective, and respectful of autonomy while addressing the supported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determining the needed level of response, stabilize the immediate situation. Reduce access to danger when feasible, involve appropriate supports with the client's participation when possible, arrange urgent or emergency services when indicated, and make the next handoff explicit. If confidentiality must be limited for safety or a legal duty, disclose only the information needed to the appropriate recipient. Crisis action should be protective, focused, and no broader than the purpose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the client’s statements and observed behavior, the focused risk assessment, relevant history, consultation, legal or clinical rationale, actions taken, information disclosed, people contacted, the client’s response, and the follow-up plan. Consultation supports judgment but does not transfer responsibility. After the immediate crisis, reassess risk, treatment fit, supports, and continuity. A crisis response is incomplete without a clear next contact or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client three weeks after childbirth who is sleeping less than two hours, spending impulsively, feeling unusually powerful, and hearing a voice about the baby. Routine couple work or reassurance is not the first step. Assess the immediate safety of the client and infant and arrange urgent psychiatric or medical evaluation. The final diagnosis can be refined later. The severity, psychotic feature, and caregiving responsibility establish the crisis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asking vague questions when direct assessment is needed. Second, continuing routine therapy after the facts establish urgent danger. Third, choosing the most extreme response without matching it to the risk. Fourth, making a referral or report without planning transport, support, documentation, or follow-up. Strong crisis answers are direct, proportionate, legally informed, and connected to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crisis sequence. Assess the current danger and medical or psychiatric urgency. Protect the client and other vulnerable people. Stabilize the environment and select the appropriate level of care. Consult current law, policy, supervisors, or qualified experts when needed. Document the facts, rationale, and actions. Follow up to confirm access, reassess risk, and revise the treatment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state the risk in one sentence before reviewing the options. Then identify the least restrictive effective response and the required follow-up. If you miss the item, note whether you minimized danger, overreacted without evidence, ignored a medical clue, or forgot confidentiality, documentation, or continuity. Add that pattern to your CTA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Crisis and Safety Sequencing</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04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Most clinical questions begin with assessment, but safety can change the sequence.</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B84C45"/>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B84C45">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F7E7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B84C45"/>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Differentiate Imminent, Acute, and Ongoing Risk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Risk is not simply present or absent.</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whether danger is current, escalating, planned, accessible, and likely to occur soon.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both minimizing a supported emergency and treating every expression of distress as…</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Current Danger • Escalation • Access • Capacity • Supports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Avoid both minimizing a supported emergency and treating every expression of distress as identical.</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Ask Directly About Suicide and Self-Harm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statement suggests suicide or self-harm, ask directly about current thoughts, intent, plan, access to means, timing, past attempts, recent…</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direct assessment pathway with…</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intent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plan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means</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history</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client’s ability and willingness to participate in a safety response.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therapist’s tone can remain collaborative and compassionate while the questions become…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Thoughts • Intent • Plan • Means • History • Protection</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therapist’s tone can remain collaborative and compassionate while the questions become specific.</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Risk of Harm to Others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client threatens another person or describes violent impulses, clarify the target, intent, plan, access to weapons or other means, past…</a:t>
            </a:r>
            <a:endParaRPr lang="en-US" sz="2120" dirty="0"/>
          </a:p>
        </p:txBody>
      </p:sp>
      <p:sp>
        <p:nvSpPr>
          <p:cNvPr id="11" name="Text 9"/>
          <p:cNvSpPr/>
          <p:nvPr/>
        </p:nvSpPr>
        <p:spPr>
          <a:xfrm>
            <a:off x="6629400" y="1901952"/>
            <a:ext cx="3931920" cy="475488"/>
          </a:xfrm>
          <a:prstGeom prst="rect">
            <a:avLst/>
          </a:prstGeom>
          <a:solidFill>
            <a:srgbClr val="F7E7E5"/>
          </a:solidFill>
          <a:ln w="15240">
            <a:solidFill>
              <a:srgbClr val="B84C45">
                <a:alpha val="82000"/>
              </a:srgbClr>
            </a:solidFill>
          </a:ln>
        </p:spPr>
        <p:txBody>
          <a:bodyPr wrap="square" lIns="508" tIns="508" rIns="508" bIns="508" rtlCol="0" anchor="ctr">
            <a:normAutofit/>
          </a:bodyPr>
          <a:lstStyle/>
          <a:p>
            <a:pPr indent="0" marL="0">
              <a:buNone/>
            </a:pPr>
            <a:r>
              <a:rPr lang="en-US" sz="1320" b="1" dirty="0">
                <a:solidFill>
                  <a:srgbClr val="B84C45"/>
                </a:solidFill>
                <a:latin typeface="Aptos" pitchFamily="34" charset="0"/>
                <a:ea typeface="Aptos" pitchFamily="34" charset="-122"/>
                <a:cs typeface="Aptos" pitchFamily="34" charset="-120"/>
              </a:rPr>
              <a:t>Threat assessment domains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target</a:t>
            </a:r>
            <a:endParaRPr lang="en-US" sz="1320" dirty="0"/>
          </a:p>
        </p:txBody>
      </p:sp>
      <p:sp>
        <p:nvSpPr>
          <p:cNvPr id="13" name="Text 11"/>
          <p:cNvSpPr/>
          <p:nvPr/>
        </p:nvSpPr>
        <p:spPr>
          <a:xfrm>
            <a:off x="6629400" y="3218688"/>
            <a:ext cx="3931920" cy="475488"/>
          </a:xfrm>
          <a:prstGeom prst="rect">
            <a:avLst/>
          </a:prstGeom>
          <a:solidFill>
            <a:srgbClr val="F7E7E5"/>
          </a:solidFill>
          <a:ln w="9525">
            <a:solidFill>
              <a:srgbClr val="B84C45"/>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intent</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plan</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assume every angry statement requires the same response, and do not dismiss a…</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California duties can be fact-specific, so the therapist should use current law,…</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Target • Intent • Plan • Means • History • Escalation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California duties can be fact-specific, so the therapist should use current law, consultation, and agency procedures while taking necessary…</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Respond to Abuse and Neglect Concerns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Abuse and neglect questions test whether you recognize the protected person, the type of concern, immediate danger, and the applicable reporting or…</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Child</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elder</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dependent adult protection…</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answer should not require certainty beyond the legal standard or a full…</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promise secrecy that the law does not allow.</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Immediate Safety • Follow Current Reporting Law</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promise secrecy that the law does not allow.</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Evaluate Intimate-Partner Violence and Coercion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one partner reports monitoring, threats, intimidation, injury, stalking, or fear of punishment, assess danger, coercive control, retaliation…</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automatically facilitate disclosure in front of the abusive partner.</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Couple techniques and communication exercises can be unsafe when participation is not…</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Safety and Voluntariness Before Conjoint Work</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Couple techniques and communication exercises can be unsafe when participation is not voluntary or power is severely unequal.</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Recognize Medical and Substance Emergencies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Crisis questions may be medical even when they appear in a therapy setting.</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Worsening headache after a head injury, confusion after combining medications, severe…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interpret possible toxicity, injury, or withdrawal as anxiety or resistance.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Confusion • Seizure Risk • Altered Consciousness • Severe Withdrawal • Injury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interpret possible toxicity, injury, or withdrawal as anxiety or resistance.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Select the Least Restrictive Effective Response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the least restrictive response that can reasonably manage the danger.</a:t>
            </a:r>
            <a:endParaRPr lang="en-US" sz="2120" dirty="0"/>
          </a:p>
        </p:txBody>
      </p:sp>
      <p:sp>
        <p:nvSpPr>
          <p:cNvPr id="11" name="Text 9"/>
          <p:cNvSpPr/>
          <p:nvPr/>
        </p:nvSpPr>
        <p:spPr>
          <a:xfrm>
            <a:off x="6629400" y="1901952"/>
            <a:ext cx="3931920" cy="475488"/>
          </a:xfrm>
          <a:prstGeom prst="rect">
            <a:avLst/>
          </a:prstGeom>
          <a:solidFill>
            <a:srgbClr val="F7E7E5"/>
          </a:solidFill>
          <a:ln w="15240">
            <a:solidFill>
              <a:srgbClr val="B84C45">
                <a:alpha val="82000"/>
              </a:srgbClr>
            </a:solidFill>
          </a:ln>
        </p:spPr>
        <p:txBody>
          <a:bodyPr wrap="square" lIns="508" tIns="508" rIns="508" bIns="508" rtlCol="0" anchor="ctr">
            <a:normAutofit/>
          </a:bodyPr>
          <a:lstStyle/>
          <a:p>
            <a:pPr indent="0" marL="0">
              <a:buNone/>
            </a:pPr>
            <a:r>
              <a:rPr lang="en-US" sz="1320" b="1" dirty="0">
                <a:solidFill>
                  <a:srgbClr val="B84C45"/>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F7E7E5"/>
          </a:solidFill>
          <a:ln w="9525">
            <a:solidFill>
              <a:srgbClr val="B84C45"/>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Options may include collaborative safety planning, mobilizing supports, means-safety steps,…</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means the response is proportionate, effective, and respectful of autonomy while…</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Match the Response to the Actual Risk</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It means the response is proportionate, effective, and respectful of autonomy while addressing the supported risk.</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Stabilize, Mobilize Supports, and Limit Disclosure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After determining the needed level of response, stabilize the immediate situation.</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 plan connecting coping</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supportive people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higher care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emergency resources</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minimum necessary disclosure…</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Reduce access to danger when feasible, involve appropriate supports with the client's…</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Crisis action should be protective, focused, and no broader than the purpose requires.</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Stabilize Now • Involve Supports • Disclose Only What Is Needed</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Crisis action should be protective, focused, and no broader than the purpose requires.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Document, Consult, and Follow Up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Document the client’s statements and observed behavior, the focused risk assessment, relevant history, consultation, legal or clinical rationale,…</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Crisis record with facts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assessment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consultation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actions</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rationale</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Consultation supports judgment but does not transfer responsibility.</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crisis response is incomplete without a clear next contact or handoff.</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Facts • Risk Assessment • Consultation • Action • Rationale • Follow-Up</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crisis response is incomplete without a clear next contact or handoff.</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Severe Postpartum Symptoms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client three weeks after childbirth who is sleeping less than two hours, spending impulsively, feeling unusually powerful, and hearing a…</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Client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Infant Safety</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Urgent Evaluation</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Routine couple work or reassurance is not the first step.</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severity, psychotic feature, and caregiving responsibility establish the crisis priority.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Client and Infant Safety + Urgent Evaluation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severity, psychotic feature, and caregiving responsibility establish the crisis priority.</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Crisis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F7E7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B84C45"/>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vague assessment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delay</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unsupported extreme response</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asking vague questions when direct assessment is needed.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crisis answers are direct, proportionate, legally informed, and connected to continuity.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Vagueness • Delay • Disproportion • No Continuity</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crisis answers are direct, proportionate, legally informed, and connected to continuity.</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Crisis Sequence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crisis sequence.</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Six step pathway</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assess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protect</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stabilize</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consult</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the current danger and medical or psychiatric urgency.</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Follow up to confirm access, reassess risk, and revise the treatment plan.</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 Protect → Stabilize → Consult → Document → Follow Up</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Follow up to confirm access, reassess risk, and revise the treatment plan.</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SAFETY FIRST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04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state the risk in one sentence before reviewing the options.</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Next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Name the Risk</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Then Match the Response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Then identify the least restrictive effective response and the required follow-up.</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that pattern to your CTA error log.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Name the Risk, Then Match the Response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that pattern to your CTA error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04: Crisis and Safety Sequencing</dc:title>
  <dc:subject>LMFT-Specific Multimedia Script 04</dc:subject>
  <dc:creator>Clinical Training Academy</dc:creator>
  <cp:lastModifiedBy>Clinical Training Academy</cp:lastModifiedBy>
  <cp:revision>1</cp:revision>
  <dcterms:created xsi:type="dcterms:W3CDTF">2026-07-25T20:25:46Z</dcterms:created>
  <dcterms:modified xsi:type="dcterms:W3CDTF">2026-07-25T20:25:46Z</dcterms:modified>
</cp:coreProperties>
</file>