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LMFT exam questions look clinical until a legal or ethical fact changes what must happen next. The key is to identify the controlling issue before choosing an intervention. Is the therapist’s role unclear? Is confidentiality limited? Is reporting or protection required? Is a record request legally sufficient? Is the therapist competent to provide the service? The best answer integrates law, ethics, clinical judgment, and client welfare rather than treating them as separate subjects.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California-specific duties, begin with current statutes, regulations, and official Board of Behavioral Sciences guidance. Then consider applicable ethical standards, agency policy, supervision, consultation, and qualified legal guidance. Policies cannot authorize conduct that law prohibits, and memory is not a reliable legal source. Because requirements change and facts matter, CTA materials should be verified against current official sources before publication and professional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start of services, clarify the therapist's role, the identity of the client or client system, the purpose of the service, foreseeable risks and benefits, confidentiality and its limits, records, fees, communication, emergencies, and how information may be used. Treatment and forensic evaluation have different purposes, methods, audiences, and expectations. A court referral does not automatically make the therapist a custody evaluator. Correct role misunderstandings before proceeding, and do not coach a client to appear favorable or offer opinions beyond the role and available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Confidentiality supports trust, but it is not absolute. Explain applicable limits accurately and avoid promising that nothing will ever be disclosed. When disclosure is authorized or required, share only what is relevant to the lawful purpose and appropriate recipient. Include the client in the process when possible. A broad release does not eliminate the therapist’s responsibility to consider scope, necessity, and potential harm.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California questions may involve child abuse, elder or dependent-adult abuse, threats of violence, or other protective duties. Identify who is protected, what facts trigger the duty, what timing and method are required, and what additional safety action is necessary. The therapist generally does not conduct a full investigation before making a mandated report. Exact standards and procedures must be checked against current law and official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records are requested, determine who is asking, what legal authority exists, whether the client has authorized release, whether a subpoena or court order is valid and sufficient, and whether privilege, notice, objection, redaction, or consultation issues apply. Do not ignore legal process, but do not automatically release the full file. Protect confidentiality, respond within applicable requirements, and document the analysis and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Competence includes education, training, experience, supervision, consultation, and the ability to recognize limits. A therapist should not abandon a client simply because a case is difficult, and should not provide specialized treatment beyond competence without appropriate support. In emergencies, take reasonable protective action and arrange continuity. When referral is needed, explain the reason, support the transition, and avoid discrimination or retaliatory termination.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boundary crossing or multiple relationship has the same risk. Consider power, exploitation, impaired objectivity, confidentiality, client vulnerability, community context, available alternatives, and the clinical purpose. Gifts, social contact, business relationships, social media, and overlapping community roles require thoughtful analysis. The exam usually favors the response that protects the client and the treatment relationship rather than applying a simplistic rule without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with minors can involve consent, assent, parent or guardian involvement, confidentiality, access to records, payment, safety, and treatment goals. The answer depends on the legal basis for treatment and the facts of the case. Explain the limits of privacy before treatment, involve caregivers in a clinically appropriate way, and avoid promising either total secrecy or unrestricted access. Verify current California requirements when the question turns on a specific minor-consent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Telehealth requires attention to client identity and location, jurisdiction, privacy, technology, informed consent, accessibility, and emergency planning. A therapist should know how to reach local emergency resources and what to do if the connection fails during a crisis. Licensing and practice rules can change and may differ across jurisdictions, so verify current requirements rather than assuming that an online session can continue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a parent referred by a court who believes the therapist will decide custody and asks what to say to look cooperative. The first response is not coaching, refusing all court-referred clients, or promising complete secrecy. Clarify the treatment role, confidentiality and its limits, who may receive information, and what choices remain. Role clarity protects informed participation, integrity, and the accuracy of the clinical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for four traps. First, absolute promises such as “nothing can ever be shared.” Second, automatic disclosure of the entire record because someone requested it. Third, relying on agency custom or memory instead of current law and regulation. Fourth, treating consultation as a transfer of professional responsibility. Strong answers identify the authority, protect the client, limit disclosure, document the reasoning, and preserve continuity.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legal-ethical decision check. Identify the exact issue and the facts that matter. Locate the current legal or regulatory authority. Consider ethical duties, client welfare, power, culture, and affected people. Generate lawful options and choose the least harmful effective response. Consult when needed. Act within the required time. Document the facts, authority, consultation, rationale, disclosure, and follow-up.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your next LMFT question bank, identify both the authority and the clinical purpose of the best answer. Ask what law, ethical duty, role, or confidentiality rule controls the sequence, and how the response protects the client. If you miss the item, record whether you used an absolute rule, disclosed too much, confused roles, or failed to verify current requirements. Add that pattern to your CTA error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LEGAL + ETHICAL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07  •  01/14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01</a:t>
            </a:r>
            <a:endParaRPr lang="en-US" sz="3800" dirty="0"/>
          </a:p>
        </p:txBody>
      </p:sp>
      <p:sp>
        <p:nvSpPr>
          <p:cNvPr id="9" name="Text 7"/>
          <p:cNvSpPr/>
          <p:nvPr/>
        </p:nvSpPr>
        <p:spPr>
          <a:xfrm>
            <a:off x="566928" y="950976"/>
            <a:ext cx="6629400" cy="960120"/>
          </a:xfrm>
          <a:prstGeom prst="rect">
            <a:avLst/>
          </a:prstGeom>
          <a:noFill/>
          <a:ln/>
        </p:spPr>
        <p:txBody>
          <a:bodyPr wrap="square" lIns="254" tIns="254" rIns="254" bIns="254" rtlCol="0" anchor="ctr">
            <a:normAutofit/>
          </a:bodyPr>
          <a:lstStyle/>
          <a:p>
            <a:pPr indent="0" marL="0">
              <a:buNone/>
            </a:pPr>
            <a:r>
              <a:rPr lang="en-US" sz="3300" b="1" dirty="0">
                <a:solidFill>
                  <a:srgbClr val="10263F"/>
                </a:solidFill>
                <a:latin typeface="Aptos Display" pitchFamily="34" charset="0"/>
                <a:ea typeface="Aptos Display" pitchFamily="34" charset="-122"/>
                <a:cs typeface="Aptos Display" pitchFamily="34" charset="-120"/>
              </a:rPr>
              <a:t>California Legal and Ethical Reasoning</a:t>
            </a:r>
            <a:endParaRPr lang="en-US" sz="3300" dirty="0"/>
          </a:p>
        </p:txBody>
      </p:sp>
      <p:sp>
        <p:nvSpPr>
          <p:cNvPr id="10" name="Text 8"/>
          <p:cNvSpPr/>
          <p:nvPr/>
        </p:nvSpPr>
        <p:spPr>
          <a:xfrm>
            <a:off x="585216" y="1938528"/>
            <a:ext cx="6903720" cy="310896"/>
          </a:xfrm>
          <a:prstGeom prst="rect">
            <a:avLst/>
          </a:prstGeom>
          <a:noFill/>
          <a:ln/>
        </p:spPr>
        <p:txBody>
          <a:bodyPr wrap="square" lIns="0" tIns="0" rIns="0" bIns="0" rtlCol="0" anchor="ctr"/>
          <a:lstStyle/>
          <a:p>
            <a:pPr indent="0" marL="0">
              <a:buNone/>
            </a:pPr>
            <a:r>
              <a:rPr lang="en-US" sz="1340" dirty="0">
                <a:solidFill>
                  <a:srgbClr val="5A6675"/>
                </a:solidFill>
                <a:latin typeface="Aptos" pitchFamily="34" charset="0"/>
                <a:ea typeface="Aptos" pitchFamily="34" charset="-122"/>
                <a:cs typeface="Aptos" pitchFamily="34" charset="-120"/>
              </a:rPr>
              <a:t>LMFT-Specific Multimedia Script 07 • Ready-to-record deck</a:t>
            </a:r>
            <a:endParaRPr lang="en-US" sz="1340" dirty="0"/>
          </a:p>
        </p:txBody>
      </p:sp>
      <p:sp>
        <p:nvSpPr>
          <p:cNvPr id="11" name="Text 9"/>
          <p:cNvSpPr/>
          <p:nvPr/>
        </p:nvSpPr>
        <p:spPr>
          <a:xfrm>
            <a:off x="7882128" y="2212848"/>
            <a:ext cx="3246120" cy="1005840"/>
          </a:xfrm>
          <a:prstGeom prst="rect">
            <a:avLst/>
          </a:prstGeom>
          <a:noFill/>
          <a:ln/>
        </p:spPr>
        <p:txBody>
          <a:bodyPr wrap="square" lIns="254" tIns="254" rIns="254" bIns="254" rtlCol="0" anchor="ctr">
            <a:normAutofit/>
          </a:bodyPr>
          <a:lstStyle/>
          <a:p>
            <a:pPr indent="0" marL="0">
              <a:buNone/>
            </a:pPr>
            <a:r>
              <a:rPr lang="en-US" sz="2050" b="1" dirty="0">
                <a:solidFill>
                  <a:srgbClr val="1D2838"/>
                </a:solidFill>
                <a:latin typeface="Aptos Display" pitchFamily="34" charset="0"/>
                <a:ea typeface="Aptos Display" pitchFamily="34" charset="-122"/>
                <a:cs typeface="Aptos Display" pitchFamily="34" charset="-120"/>
              </a:rPr>
              <a:t>Many LMFT exam questions look clinical until a legal or ethical fact changes what must happen next.</a:t>
            </a:r>
            <a:endParaRPr lang="en-US" sz="2050" dirty="0"/>
          </a:p>
        </p:txBody>
      </p:sp>
      <p:sp>
        <p:nvSpPr>
          <p:cNvPr id="12" name="Text 10"/>
          <p:cNvSpPr/>
          <p:nvPr/>
        </p:nvSpPr>
        <p:spPr>
          <a:xfrm>
            <a:off x="7635240" y="5413248"/>
            <a:ext cx="3429000" cy="411480"/>
          </a:xfrm>
          <a:prstGeom prst="rect">
            <a:avLst/>
          </a:prstGeom>
          <a:noFill/>
          <a:ln/>
        </p:spPr>
        <p:txBody>
          <a:bodyPr wrap="square" lIns="0" tIns="0" rIns="0" bIns="0" rtlCol="0" anchor="ctr">
            <a:normAutofit/>
          </a:bodyPr>
          <a:lstStyle/>
          <a:p>
            <a:pPr indent="0" marL="0">
              <a:buNone/>
            </a:pPr>
            <a:r>
              <a:rPr lang="en-US" sz="1280" dirty="0">
                <a:solidFill>
                  <a:srgbClr val="5A6675"/>
                </a:solidFill>
                <a:latin typeface="Aptos" pitchFamily="34" charset="0"/>
                <a:ea typeface="Aptos" pitchFamily="34" charset="-122"/>
                <a:cs typeface="Aptos" pitchFamily="34" charset="-120"/>
              </a:rPr>
              <a:t>Speaker notes are synchronized with the Word narration script.</a:t>
            </a:r>
            <a:endParaRPr lang="en-US" sz="1280" dirty="0"/>
          </a:p>
        </p:txBody>
      </p:sp>
      <p:sp>
        <p:nvSpPr>
          <p:cNvPr id="13" name="Text 11"/>
          <p:cNvSpPr/>
          <p:nvPr/>
        </p:nvSpPr>
        <p:spPr>
          <a:xfrm>
            <a:off x="621792" y="5358384"/>
            <a:ext cx="2514600" cy="301752"/>
          </a:xfrm>
          <a:prstGeom prst="rect">
            <a:avLst/>
          </a:prstGeom>
          <a:solidFill>
            <a:srgbClr val="C99700"/>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READY TO RECORD</a:t>
            </a:r>
            <a:endParaRPr lang="en-US" sz="1050" dirty="0"/>
          </a:p>
        </p:txBody>
      </p:sp>
      <p:sp>
        <p:nvSpPr>
          <p:cNvPr id="14" name="Shape 12"/>
          <p:cNvSpPr/>
          <p:nvPr/>
        </p:nvSpPr>
        <p:spPr>
          <a:xfrm>
            <a:off x="1033272" y="3566160"/>
            <a:ext cx="5760720" cy="0"/>
          </a:xfrm>
          <a:prstGeom prst="line">
            <a:avLst/>
          </a:prstGeom>
          <a:noFill/>
          <a:ln w="15240">
            <a:solidFill>
              <a:srgbClr val="C99700">
                <a:alpha val="75000"/>
              </a:srgbClr>
            </a:solidFill>
            <a:prstDash val="solid"/>
            <a:tailEnd type="triangle"/>
          </a:ln>
        </p:spPr>
      </p:sp>
      <p:sp>
        <p:nvSpPr>
          <p:cNvPr id="15" name="Text 13"/>
          <p:cNvSpPr/>
          <p:nvPr/>
        </p:nvSpPr>
        <p:spPr>
          <a:xfrm>
            <a:off x="804672" y="3273552"/>
            <a:ext cx="193243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6" name="Text 14"/>
          <p:cNvSpPr/>
          <p:nvPr/>
        </p:nvSpPr>
        <p:spPr>
          <a:xfrm>
            <a:off x="2947416" y="3273552"/>
            <a:ext cx="193243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7" name="Text 15"/>
          <p:cNvSpPr/>
          <p:nvPr/>
        </p:nvSpPr>
        <p:spPr>
          <a:xfrm>
            <a:off x="5090160" y="3273552"/>
            <a:ext cx="1932432" cy="621792"/>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8" name="Text 16"/>
          <p:cNvSpPr/>
          <p:nvPr/>
        </p:nvSpPr>
        <p:spPr>
          <a:xfrm>
            <a:off x="7635240" y="3364992"/>
            <a:ext cx="1687068" cy="758952"/>
          </a:xfrm>
          <a:prstGeom prst="rect">
            <a:avLst/>
          </a:prstGeom>
          <a:solidFill>
            <a:srgbClr val="FFF6DD"/>
          </a:solidFill>
          <a:ln w="10160">
            <a:solidFill>
              <a:srgbClr val="D9E0E8"/>
            </a:solidFill>
          </a:ln>
        </p:spPr>
        <p:txBody>
          <a:bodyPr wrap="square" lIns="1270" tIns="1270" rIns="1270" bIns="1270" rtlCol="0" anchor="ctr">
            <a:normAutofit/>
          </a:bodyPr>
          <a:lstStyle/>
          <a:p>
            <a:pPr indent="0" marL="0">
              <a:buNone/>
            </a:pPr>
            <a:r>
              <a:rPr lang="en-US" sz="1400" b="1" dirty="0">
                <a:solidFill>
                  <a:srgbClr val="C99700"/>
                </a:solidFill>
                <a:latin typeface="Aptos" pitchFamily="34" charset="0"/>
                <a:ea typeface="Aptos" pitchFamily="34" charset="-122"/>
                <a:cs typeface="Aptos" pitchFamily="34" charset="-120"/>
              </a:rPr>
              <a:t>Clarify</a:t>
            </a:r>
            <a:endParaRPr lang="en-US" sz="1400" dirty="0"/>
          </a:p>
        </p:txBody>
      </p:sp>
      <p:sp>
        <p:nvSpPr>
          <p:cNvPr id="19" name="Text 17"/>
          <p:cNvSpPr/>
          <p:nvPr/>
        </p:nvSpPr>
        <p:spPr>
          <a:xfrm>
            <a:off x="9395460" y="3364992"/>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Sequence</a:t>
            </a:r>
            <a:endParaRPr lang="en-US" sz="1400" dirty="0"/>
          </a:p>
        </p:txBody>
      </p:sp>
      <p:sp>
        <p:nvSpPr>
          <p:cNvPr id="20" name="Text 18"/>
          <p:cNvSpPr/>
          <p:nvPr/>
        </p:nvSpPr>
        <p:spPr>
          <a:xfrm>
            <a:off x="7635240" y="4197096"/>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Choose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LEGAL + ETHICAL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07  •  02/14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02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Use the Right Source Hierarchy</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For California-specific duties, begin with current statutes, regulations, and official Board of Behavioral Sciences guidance.</a:t>
            </a:r>
            <a:endParaRPr lang="en-US" sz="2120" dirty="0"/>
          </a:p>
        </p:txBody>
      </p:sp>
      <p:sp>
        <p:nvSpPr>
          <p:cNvPr id="11" name="Shape 9"/>
          <p:cNvSpPr/>
          <p:nvPr/>
        </p:nvSpPr>
        <p:spPr>
          <a:xfrm>
            <a:off x="6629400" y="2441448"/>
            <a:ext cx="3977640" cy="0"/>
          </a:xfrm>
          <a:prstGeom prst="line">
            <a:avLst/>
          </a:prstGeom>
          <a:noFill/>
          <a:ln w="15240">
            <a:solidFill>
              <a:srgbClr val="C99700">
                <a:alpha val="75000"/>
              </a:srgbClr>
            </a:solidFill>
            <a:prstDash val="solid"/>
            <a:tailEnd type="triangle"/>
          </a:ln>
        </p:spPr>
      </p:sp>
      <p:sp>
        <p:nvSpPr>
          <p:cNvPr id="12" name="Text 10"/>
          <p:cNvSpPr/>
          <p:nvPr/>
        </p:nvSpPr>
        <p:spPr>
          <a:xfrm>
            <a:off x="6400800"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Current Law</a:t>
            </a:r>
            <a:endParaRPr lang="en-US" sz="1180" dirty="0"/>
          </a:p>
        </p:txBody>
      </p:sp>
      <p:sp>
        <p:nvSpPr>
          <p:cNvPr id="13" name="Text 11"/>
          <p:cNvSpPr/>
          <p:nvPr/>
        </p:nvSpPr>
        <p:spPr>
          <a:xfrm>
            <a:off x="7562088"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Regulation First Then Ethics</a:t>
            </a:r>
            <a:endParaRPr lang="en-US" sz="1180" dirty="0"/>
          </a:p>
        </p:txBody>
      </p:sp>
      <p:sp>
        <p:nvSpPr>
          <p:cNvPr id="14" name="Text 12"/>
          <p:cNvSpPr/>
          <p:nvPr/>
        </p:nvSpPr>
        <p:spPr>
          <a:xfrm>
            <a:off x="8723376"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Policy</a:t>
            </a:r>
            <a:endParaRPr lang="en-US" sz="1180" dirty="0"/>
          </a:p>
        </p:txBody>
      </p:sp>
      <p:sp>
        <p:nvSpPr>
          <p:cNvPr id="15" name="Text 13"/>
          <p:cNvSpPr/>
          <p:nvPr/>
        </p:nvSpPr>
        <p:spPr>
          <a:xfrm>
            <a:off x="9884664" y="2148840"/>
            <a:ext cx="950976" cy="621792"/>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Consultation</a:t>
            </a:r>
            <a:endParaRPr lang="en-US" sz="1180" dirty="0"/>
          </a:p>
        </p:txBody>
      </p:sp>
      <p:sp>
        <p:nvSpPr>
          <p:cNvPr id="16" name="Text 14"/>
          <p:cNvSpPr/>
          <p:nvPr/>
        </p:nvSpPr>
        <p:spPr>
          <a:xfrm>
            <a:off x="6949440" y="3063240"/>
            <a:ext cx="3246120" cy="1371600"/>
          </a:xfrm>
          <a:prstGeom prst="rect">
            <a:avLst/>
          </a:prstGeom>
          <a:solidFill>
            <a:srgbClr val="FFF6DD"/>
          </a:solidFill>
          <a:ln w="13970">
            <a:solidFill>
              <a:srgbClr val="C99700">
                <a:alpha val="75000"/>
              </a:srgbClr>
            </a:solidFill>
          </a:ln>
        </p:spPr>
        <p:txBody>
          <a:bodyPr wrap="square" lIns="1016" tIns="1016" rIns="1016" bIns="1016" rtlCol="0" anchor="ctr">
            <a:normAutofit/>
          </a:bodyPr>
          <a:lstStyle/>
          <a:p>
            <a:pPr algn="ctr" indent="0" marL="0">
              <a:buNone/>
            </a:pPr>
            <a:r>
              <a:rPr lang="en-US" sz="2200" b="1" dirty="0">
                <a:solidFill>
                  <a:srgbClr val="C99700"/>
                </a:solidFill>
                <a:latin typeface="Aptos Display" pitchFamily="34" charset="0"/>
                <a:ea typeface="Aptos Display" pitchFamily="34" charset="-122"/>
                <a:cs typeface="Aptos Display" pitchFamily="34" charset="-120"/>
              </a:rPr>
              <a:t>Current Law</a:t>
            </a:r>
            <a:endParaRPr lang="en-US" sz="220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Then consider applicable ethical standards, agency policy, supervision, consultation, and…</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Because requirements change and facts matter, CTA materials should be verified against…</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Current Law and Regulation First - Then Ethics, Policy, and Consultation</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C99700"/>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Because requirements change and facts matter, CTA materials should be verified against current official sources before publication and…</a:t>
            </a:r>
            <a:endParaRPr lang="en-US" sz="13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LEGAL + ETHICAL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07  •  03/14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03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Clarify Role, Informed Consent, and Forensic Boundaries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At the start of services, clarify the therapist's role, the identity of the client or client system, the purpose of the service, foreseeable risks…</a:t>
            </a:r>
            <a:endParaRPr lang="en-US" sz="2120" dirty="0"/>
          </a:p>
        </p:txBody>
      </p:sp>
      <p:sp>
        <p:nvSpPr>
          <p:cNvPr id="11" name="Text 9"/>
          <p:cNvSpPr/>
          <p:nvPr/>
        </p:nvSpPr>
        <p:spPr>
          <a:xfrm>
            <a:off x="6446520" y="1874520"/>
            <a:ext cx="2098548" cy="1092708"/>
          </a:xfrm>
          <a:prstGeom prst="rect">
            <a:avLst/>
          </a:prstGeom>
          <a:solidFill>
            <a:srgbClr val="FFF6DD"/>
          </a:solidFill>
          <a:ln w="10160">
            <a:solidFill>
              <a:srgbClr val="D9E0E8"/>
            </a:solidFill>
          </a:ln>
        </p:spPr>
        <p:txBody>
          <a:bodyPr wrap="square" lIns="1270" tIns="1270" rIns="1270" bIns="1270" rtlCol="0" anchor="ctr">
            <a:normAutofit/>
          </a:bodyPr>
          <a:lstStyle/>
          <a:p>
            <a:pPr indent="0" marL="0">
              <a:buNone/>
            </a:pPr>
            <a:r>
              <a:rPr lang="en-US" sz="1400" b="1" dirty="0">
                <a:solidFill>
                  <a:srgbClr val="C99700"/>
                </a:solidFill>
                <a:latin typeface="Aptos" pitchFamily="34" charset="0"/>
                <a:ea typeface="Aptos" pitchFamily="34" charset="-122"/>
                <a:cs typeface="Aptos" pitchFamily="34" charset="-120"/>
              </a:rPr>
              <a:t>Treatment</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evaluation</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consultation</a:t>
            </a:r>
            <a:endParaRPr lang="en-US" sz="1400" dirty="0"/>
          </a:p>
        </p:txBody>
      </p:sp>
      <p:sp>
        <p:nvSpPr>
          <p:cNvPr id="14" name="Text 12"/>
          <p:cNvSpPr/>
          <p:nvPr/>
        </p:nvSpPr>
        <p:spPr>
          <a:xfrm>
            <a:off x="86182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court related lanes with…</a:t>
            </a:r>
            <a:endParaRPr lang="en-US" sz="140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Treatment and forensic evaluation have different purposes, methods, audiences, and…</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Correct role misunderstandings before proceeding, and do not coach a client to appear…</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What Is the Service? Who Is the Client? Who Receives Information?</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C99700"/>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Correct role misunderstandings before proceeding, and do not coach a client to appear favorable or offer opinions beyond the role and available…</a:t>
            </a:r>
            <a:endParaRPr lang="en-US" sz="13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LEGAL + ETHICAL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07  •  04/14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04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Protect Confidentiality and Explain Its Limits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Confidentiality supports trust, but it is not absolute.</a:t>
            </a:r>
            <a:endParaRPr lang="en-US" sz="2120" dirty="0"/>
          </a:p>
        </p:txBody>
      </p:sp>
      <p:sp>
        <p:nvSpPr>
          <p:cNvPr id="11" name="Text 9"/>
          <p:cNvSpPr/>
          <p:nvPr/>
        </p:nvSpPr>
        <p:spPr>
          <a:xfrm>
            <a:off x="6446520" y="1874520"/>
            <a:ext cx="2098548" cy="1092708"/>
          </a:xfrm>
          <a:prstGeom prst="rect">
            <a:avLst/>
          </a:prstGeom>
          <a:solidFill>
            <a:srgbClr val="FFF6DD"/>
          </a:solidFill>
          <a:ln w="10160">
            <a:solidFill>
              <a:srgbClr val="D9E0E8"/>
            </a:solidFill>
          </a:ln>
        </p:spPr>
        <p:txBody>
          <a:bodyPr wrap="square" lIns="1270" tIns="1270" rIns="1270" bIns="1270" rtlCol="0" anchor="ctr">
            <a:normAutofit/>
          </a:bodyPr>
          <a:lstStyle/>
          <a:p>
            <a:pPr indent="0" marL="0">
              <a:buNone/>
            </a:pPr>
            <a:r>
              <a:rPr lang="en-US" sz="1400" b="1" dirty="0">
                <a:solidFill>
                  <a:srgbClr val="C99700"/>
                </a:solidFill>
                <a:latin typeface="Aptos" pitchFamily="34" charset="0"/>
                <a:ea typeface="Aptos" pitchFamily="34" charset="-122"/>
                <a:cs typeface="Aptos" pitchFamily="34" charset="-120"/>
              </a:rPr>
              <a:t>Privacy Is the Rule</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Exceptions Must Be Lawful</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Limited</a:t>
            </a:r>
            <a:endParaRPr lang="en-US" sz="1400" dirty="0"/>
          </a:p>
        </p:txBody>
      </p:sp>
      <p:sp>
        <p:nvSpPr>
          <p:cNvPr id="14" name="Text 12"/>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5" name="Text 13"/>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Explain applicable limits accurately and avoid promising that nothing will ever be disclosed.</a:t>
            </a:r>
            <a:endParaRPr lang="en-US" sz="1350" dirty="0"/>
          </a:p>
        </p:txBody>
      </p:sp>
      <p:sp>
        <p:nvSpPr>
          <p:cNvPr id="16" name="Text 14"/>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broad release does not eliminate the therapist’s responsibility to consider scope,…</a:t>
            </a:r>
            <a:endParaRPr lang="en-US" sz="1350" dirty="0"/>
          </a:p>
        </p:txBody>
      </p:sp>
      <p:sp>
        <p:nvSpPr>
          <p:cNvPr id="18" name="Text 16"/>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Privacy Is the Rule; Exceptions Must Be Lawful and Limited</a:t>
            </a:r>
            <a:endParaRPr lang="en-US" sz="1350" dirty="0"/>
          </a:p>
        </p:txBody>
      </p:sp>
      <p:sp>
        <p:nvSpPr>
          <p:cNvPr id="20" name="Text 18"/>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C99700"/>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 broad release does not eliminate the therapist’s responsibility to consider scope, necessity, and potential harm.</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LEGAL + ETHICAL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07  •  05/14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05</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Recognize Reporting and Protective Duties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California questions may involve child abuse, elder or dependent-adult abuse, threats of violence, or other protective duties.</a:t>
            </a:r>
            <a:endParaRPr lang="en-US" sz="2120" dirty="0"/>
          </a:p>
        </p:txBody>
      </p:sp>
      <p:sp>
        <p:nvSpPr>
          <p:cNvPr id="11" name="Shape 9"/>
          <p:cNvSpPr/>
          <p:nvPr/>
        </p:nvSpPr>
        <p:spPr>
          <a:xfrm>
            <a:off x="6629400" y="2441448"/>
            <a:ext cx="3977640" cy="0"/>
          </a:xfrm>
          <a:prstGeom prst="line">
            <a:avLst/>
          </a:prstGeom>
          <a:noFill/>
          <a:ln w="15240">
            <a:solidFill>
              <a:srgbClr val="C99700">
                <a:alpha val="75000"/>
              </a:srgbClr>
            </a:solidFill>
            <a:prstDash val="solid"/>
            <a:tailEnd type="triangle"/>
          </a:ln>
        </p:spPr>
      </p:sp>
      <p:sp>
        <p:nvSpPr>
          <p:cNvPr id="12" name="Text 10"/>
          <p:cNvSpPr/>
          <p:nvPr/>
        </p:nvSpPr>
        <p:spPr>
          <a:xfrm>
            <a:off x="6400800"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Identify the Protected Person</a:t>
            </a:r>
            <a:endParaRPr lang="en-US" sz="1180" dirty="0"/>
          </a:p>
        </p:txBody>
      </p:sp>
      <p:sp>
        <p:nvSpPr>
          <p:cNvPr id="13" name="Text 11"/>
          <p:cNvSpPr/>
          <p:nvPr/>
        </p:nvSpPr>
        <p:spPr>
          <a:xfrm>
            <a:off x="7562088"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Trigger</a:t>
            </a:r>
            <a:endParaRPr lang="en-US" sz="1180" dirty="0"/>
          </a:p>
        </p:txBody>
      </p:sp>
      <p:sp>
        <p:nvSpPr>
          <p:cNvPr id="14" name="Text 12"/>
          <p:cNvSpPr/>
          <p:nvPr/>
        </p:nvSpPr>
        <p:spPr>
          <a:xfrm>
            <a:off x="8723376"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Timing</a:t>
            </a:r>
            <a:endParaRPr lang="en-US" sz="1180" dirty="0"/>
          </a:p>
        </p:txBody>
      </p:sp>
      <p:sp>
        <p:nvSpPr>
          <p:cNvPr id="15" name="Text 13"/>
          <p:cNvSpPr/>
          <p:nvPr/>
        </p:nvSpPr>
        <p:spPr>
          <a:xfrm>
            <a:off x="9884664" y="2148840"/>
            <a:ext cx="950976" cy="621792"/>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Required Action</a:t>
            </a:r>
            <a:endParaRPr lang="en-US" sz="1180" dirty="0"/>
          </a:p>
        </p:txBody>
      </p:sp>
      <p:sp>
        <p:nvSpPr>
          <p:cNvPr id="16" name="Text 14"/>
          <p:cNvSpPr/>
          <p:nvPr/>
        </p:nvSpPr>
        <p:spPr>
          <a:xfrm>
            <a:off x="6949440" y="3063240"/>
            <a:ext cx="3246120" cy="1371600"/>
          </a:xfrm>
          <a:prstGeom prst="rect">
            <a:avLst/>
          </a:prstGeom>
          <a:solidFill>
            <a:srgbClr val="FFF6DD"/>
          </a:solidFill>
          <a:ln w="13970">
            <a:solidFill>
              <a:srgbClr val="C99700">
                <a:alpha val="75000"/>
              </a:srgbClr>
            </a:solidFill>
          </a:ln>
        </p:spPr>
        <p:txBody>
          <a:bodyPr wrap="square" lIns="1016" tIns="1016" rIns="1016" bIns="1016" rtlCol="0" anchor="ctr">
            <a:normAutofit/>
          </a:bodyPr>
          <a:lstStyle/>
          <a:p>
            <a:pPr algn="ctr" indent="0" marL="0">
              <a:buNone/>
            </a:pPr>
            <a:r>
              <a:rPr lang="en-US" sz="2200" b="1" dirty="0">
                <a:solidFill>
                  <a:srgbClr val="C99700"/>
                </a:solidFill>
                <a:latin typeface="Aptos Display" pitchFamily="34" charset="0"/>
                <a:ea typeface="Aptos Display" pitchFamily="34" charset="-122"/>
                <a:cs typeface="Aptos Display" pitchFamily="34" charset="-120"/>
              </a:rPr>
              <a:t>Identify the Protected Person</a:t>
            </a:r>
            <a:endParaRPr lang="en-US" sz="220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Identify who is protected, what facts trigger the duty, what timing and method are required,…</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Exact standards and procedures must be checked against current law and official guidance.</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Identify the Protected Person, Trigger, Timing, and Required Action</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C99700"/>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Exact standards and procedures must be checked against current law and official guidance.</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LEGAL + ETHICAL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07  •  06/14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06</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Handle Records, Subpoenas, and Court Requests Carefully</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When records are requested, determine who is asking, what legal authority exists, whether the client has authorized release, whether a subpoena or…</a:t>
            </a:r>
            <a:endParaRPr lang="en-US" sz="2120" dirty="0"/>
          </a:p>
        </p:txBody>
      </p:sp>
      <p:sp>
        <p:nvSpPr>
          <p:cNvPr id="11" name="Shape 9"/>
          <p:cNvSpPr/>
          <p:nvPr/>
        </p:nvSpPr>
        <p:spPr>
          <a:xfrm>
            <a:off x="6629400" y="2441448"/>
            <a:ext cx="3977640" cy="0"/>
          </a:xfrm>
          <a:prstGeom prst="line">
            <a:avLst/>
          </a:prstGeom>
          <a:noFill/>
          <a:ln w="15240">
            <a:solidFill>
              <a:srgbClr val="C99700">
                <a:alpha val="75000"/>
              </a:srgbClr>
            </a:solidFill>
            <a:prstDash val="solid"/>
            <a:tailEnd type="triangle"/>
          </a:ln>
        </p:spPr>
      </p:sp>
      <p:sp>
        <p:nvSpPr>
          <p:cNvPr id="12" name="Text 10"/>
          <p:cNvSpPr/>
          <p:nvPr/>
        </p:nvSpPr>
        <p:spPr>
          <a:xfrm>
            <a:off x="6400800"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Record request</a:t>
            </a:r>
            <a:endParaRPr lang="en-US" sz="1180" dirty="0"/>
          </a:p>
        </p:txBody>
      </p:sp>
      <p:sp>
        <p:nvSpPr>
          <p:cNvPr id="13" name="Text 11"/>
          <p:cNvSpPr/>
          <p:nvPr/>
        </p:nvSpPr>
        <p:spPr>
          <a:xfrm>
            <a:off x="7562088"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authorization</a:t>
            </a:r>
            <a:endParaRPr lang="en-US" sz="1180" dirty="0"/>
          </a:p>
        </p:txBody>
      </p:sp>
      <p:sp>
        <p:nvSpPr>
          <p:cNvPr id="14" name="Text 12"/>
          <p:cNvSpPr/>
          <p:nvPr/>
        </p:nvSpPr>
        <p:spPr>
          <a:xfrm>
            <a:off x="8723376"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subpoena</a:t>
            </a:r>
            <a:endParaRPr lang="en-US" sz="1180" dirty="0"/>
          </a:p>
        </p:txBody>
      </p:sp>
      <p:sp>
        <p:nvSpPr>
          <p:cNvPr id="15" name="Text 13"/>
          <p:cNvSpPr/>
          <p:nvPr/>
        </p:nvSpPr>
        <p:spPr>
          <a:xfrm>
            <a:off x="9884664" y="2148840"/>
            <a:ext cx="950976" cy="621792"/>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court order passing through a…</a:t>
            </a:r>
            <a:endParaRPr lang="en-US" sz="1180" dirty="0"/>
          </a:p>
        </p:txBody>
      </p:sp>
      <p:sp>
        <p:nvSpPr>
          <p:cNvPr id="16" name="Text 14"/>
          <p:cNvSpPr/>
          <p:nvPr/>
        </p:nvSpPr>
        <p:spPr>
          <a:xfrm>
            <a:off x="6949440" y="3063240"/>
            <a:ext cx="3246120" cy="1371600"/>
          </a:xfrm>
          <a:prstGeom prst="rect">
            <a:avLst/>
          </a:prstGeom>
          <a:solidFill>
            <a:srgbClr val="FFF6DD"/>
          </a:solidFill>
          <a:ln w="13970">
            <a:solidFill>
              <a:srgbClr val="C99700">
                <a:alpha val="75000"/>
              </a:srgbClr>
            </a:solidFill>
          </a:ln>
        </p:spPr>
        <p:txBody>
          <a:bodyPr wrap="square" lIns="1016" tIns="1016" rIns="1016" bIns="1016" rtlCol="0" anchor="ctr">
            <a:normAutofit/>
          </a:bodyPr>
          <a:lstStyle/>
          <a:p>
            <a:pPr algn="ctr" indent="0" marL="0">
              <a:buNone/>
            </a:pPr>
            <a:r>
              <a:rPr lang="en-US" sz="2200" b="1" dirty="0">
                <a:solidFill>
                  <a:srgbClr val="C99700"/>
                </a:solidFill>
                <a:latin typeface="Aptos Display" pitchFamily="34" charset="0"/>
                <a:ea typeface="Aptos Display" pitchFamily="34" charset="-122"/>
                <a:cs typeface="Aptos Display" pitchFamily="34" charset="-120"/>
              </a:rPr>
              <a:t>Record request</a:t>
            </a:r>
            <a:endParaRPr lang="en-US" sz="220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Do not ignore legal process, but do not automatically release the full file.</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Protect confidentiality, respond within applicable requirements, and document the analysis…</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Request Is Not Automatically Permission to Release Everything</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C99700"/>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Protect confidentiality, respond within applicable requirements, and document the analysis and action.</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LEGAL + ETHICAL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07  •  07/14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07</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Practice Within Competence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Competence includes education, training, experience, supervision, consultation, and the ability to recognize limits.</a:t>
            </a:r>
            <a:endParaRPr lang="en-US" sz="2120" dirty="0"/>
          </a:p>
        </p:txBody>
      </p:sp>
      <p:sp>
        <p:nvSpPr>
          <p:cNvPr id="11" name="Shape 9"/>
          <p:cNvSpPr/>
          <p:nvPr/>
        </p:nvSpPr>
        <p:spPr>
          <a:xfrm>
            <a:off x="6629400" y="2441448"/>
            <a:ext cx="3977640" cy="0"/>
          </a:xfrm>
          <a:prstGeom prst="line">
            <a:avLst/>
          </a:prstGeom>
          <a:noFill/>
          <a:ln w="15240">
            <a:solidFill>
              <a:srgbClr val="C99700">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Know</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Consult</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Train</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Refer</a:t>
            </a:r>
            <a:endParaRPr lang="en-US" sz="1180" dirty="0"/>
          </a:p>
        </p:txBody>
      </p:sp>
      <p:sp>
        <p:nvSpPr>
          <p:cNvPr id="16" name="Text 14"/>
          <p:cNvSpPr/>
          <p:nvPr/>
        </p:nvSpPr>
        <p:spPr>
          <a:xfrm>
            <a:off x="10116922" y="2148840"/>
            <a:ext cx="718718" cy="621792"/>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Protect</a:t>
            </a:r>
            <a:endParaRPr lang="en-US" sz="1180" dirty="0"/>
          </a:p>
        </p:txBody>
      </p:sp>
      <p:sp>
        <p:nvSpPr>
          <p:cNvPr id="17" name="Text 15"/>
          <p:cNvSpPr/>
          <p:nvPr/>
        </p:nvSpPr>
        <p:spPr>
          <a:xfrm>
            <a:off x="6949440" y="3063240"/>
            <a:ext cx="3246120" cy="1371600"/>
          </a:xfrm>
          <a:prstGeom prst="rect">
            <a:avLst/>
          </a:prstGeom>
          <a:solidFill>
            <a:srgbClr val="FFF6DD"/>
          </a:solidFill>
          <a:ln w="13970">
            <a:solidFill>
              <a:srgbClr val="C99700">
                <a:alpha val="75000"/>
              </a:srgbClr>
            </a:solidFill>
          </a:ln>
        </p:spPr>
        <p:txBody>
          <a:bodyPr wrap="square" lIns="1016" tIns="1016" rIns="1016" bIns="1016" rtlCol="0" anchor="ctr">
            <a:normAutofit/>
          </a:bodyPr>
          <a:lstStyle/>
          <a:p>
            <a:pPr algn="ctr" indent="0" marL="0">
              <a:buNone/>
            </a:pPr>
            <a:r>
              <a:rPr lang="en-US" sz="2200" b="1" dirty="0">
                <a:solidFill>
                  <a:srgbClr val="C99700"/>
                </a:solidFill>
                <a:latin typeface="Aptos Display" pitchFamily="34" charset="0"/>
                <a:ea typeface="Aptos Display" pitchFamily="34" charset="-122"/>
                <a:cs typeface="Aptos Display" pitchFamily="34" charset="-120"/>
              </a:rPr>
              <a:t>Know</a:t>
            </a:r>
            <a:endParaRPr lang="en-US" sz="2200" dirty="0"/>
          </a:p>
        </p:txBody>
      </p:sp>
      <p:sp>
        <p:nvSpPr>
          <p:cNvPr id="18" name="Text 16"/>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therapist should not abandon a client simply because a case is difficult, and should not…</a:t>
            </a:r>
            <a:endParaRPr lang="en-US" sz="1350" dirty="0"/>
          </a:p>
        </p:txBody>
      </p:sp>
      <p:sp>
        <p:nvSpPr>
          <p:cNvPr id="20" name="Text 18"/>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When referral is needed, explain the reason, support the transition, and avoid discrimination…</a:t>
            </a:r>
            <a:endParaRPr lang="en-US" sz="135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Know, Consult, Train, Refer, and Protect</a:t>
            </a:r>
            <a:endParaRPr lang="en-US" sz="1350" dirty="0"/>
          </a:p>
        </p:txBody>
      </p:sp>
      <p:sp>
        <p:nvSpPr>
          <p:cNvPr id="24" name="Text 22"/>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C99700"/>
                </a:solidFill>
                <a:latin typeface="Aptos" pitchFamily="34" charset="0"/>
                <a:ea typeface="Aptos" pitchFamily="34" charset="-122"/>
                <a:cs typeface="Aptos" pitchFamily="34" charset="-120"/>
              </a:rPr>
              <a:t>EXAM MOVE</a:t>
            </a:r>
            <a:endParaRPr lang="en-US" sz="950" dirty="0"/>
          </a:p>
        </p:txBody>
      </p:sp>
      <p:sp>
        <p:nvSpPr>
          <p:cNvPr id="25" name="Text 23"/>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When referral is needed, explain the reason, support the transition, and avoid discrimination or retaliatory termination.</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LEGAL + ETHICAL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07  •  08/14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08</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Manage Boundaries and Multiple Relationships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Not every boundary crossing or multiple relationship has the same risk.</a:t>
            </a:r>
            <a:endParaRPr lang="en-US" sz="2120" dirty="0"/>
          </a:p>
        </p:txBody>
      </p:sp>
      <p:sp>
        <p:nvSpPr>
          <p:cNvPr id="11" name="Text 9"/>
          <p:cNvSpPr/>
          <p:nvPr/>
        </p:nvSpPr>
        <p:spPr>
          <a:xfrm>
            <a:off x="6629400" y="1901952"/>
            <a:ext cx="3931920" cy="475488"/>
          </a:xfrm>
          <a:prstGeom prst="rect">
            <a:avLst/>
          </a:prstGeom>
          <a:solidFill>
            <a:srgbClr val="FFF6DD"/>
          </a:solidFill>
          <a:ln w="15240">
            <a:solidFill>
              <a:srgbClr val="C99700">
                <a:alpha val="82000"/>
              </a:srgbClr>
            </a:solidFill>
          </a:ln>
        </p:spPr>
        <p:txBody>
          <a:bodyPr wrap="square" lIns="508" tIns="508" rIns="508" bIns="508" rtlCol="0" anchor="ctr">
            <a:normAutofit/>
          </a:bodyPr>
          <a:lstStyle/>
          <a:p>
            <a:pPr indent="0" marL="0">
              <a:buNone/>
            </a:pPr>
            <a:r>
              <a:rPr lang="en-US" sz="1320" b="1" dirty="0">
                <a:solidFill>
                  <a:srgbClr val="C99700"/>
                </a:solidFill>
                <a:latin typeface="Aptos" pitchFamily="34" charset="0"/>
                <a:ea typeface="Aptos" pitchFamily="34" charset="-122"/>
                <a:cs typeface="Aptos" pitchFamily="34" charset="-120"/>
              </a:rPr>
              <a:t>Risk</a:t>
            </a:r>
            <a:endParaRPr lang="en-US" sz="1320" dirty="0"/>
          </a:p>
        </p:txBody>
      </p:sp>
      <p:sp>
        <p:nvSpPr>
          <p:cNvPr id="12" name="Text 10"/>
          <p:cNvSpPr/>
          <p:nvPr/>
        </p:nvSpPr>
        <p:spPr>
          <a:xfrm>
            <a:off x="6629400" y="2560320"/>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Power</a:t>
            </a:r>
            <a:endParaRPr lang="en-US" sz="1320" dirty="0"/>
          </a:p>
        </p:txBody>
      </p:sp>
      <p:sp>
        <p:nvSpPr>
          <p:cNvPr id="13" name="Text 11"/>
          <p:cNvSpPr/>
          <p:nvPr/>
        </p:nvSpPr>
        <p:spPr>
          <a:xfrm>
            <a:off x="6629400" y="3218688"/>
            <a:ext cx="3931920" cy="475488"/>
          </a:xfrm>
          <a:prstGeom prst="rect">
            <a:avLst/>
          </a:prstGeom>
          <a:solidFill>
            <a:srgbClr val="FFF6DD"/>
          </a:solidFill>
          <a:ln w="9525">
            <a:solidFill>
              <a:srgbClr val="C99700"/>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Purpose</a:t>
            </a:r>
            <a:endParaRPr lang="en-US" sz="1320" dirty="0"/>
          </a:p>
        </p:txBody>
      </p:sp>
      <p:sp>
        <p:nvSpPr>
          <p:cNvPr id="14" name="Text 12"/>
          <p:cNvSpPr/>
          <p:nvPr/>
        </p:nvSpPr>
        <p:spPr>
          <a:xfrm>
            <a:off x="6629400" y="3877056"/>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Alternatives</a:t>
            </a:r>
            <a:endParaRPr lang="en-US" sz="132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Consider power, exploitation, impaired objectivity, confidentiality, client vulnerability,…</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exam usually favors the response that protects the client and the treatment relationship…</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Assess Risk, Power, Purpose, Alternatives, and Documentation</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C99700"/>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exam usually favors the response that protects the client and the treatment relationship rather than applying a simplistic rule without…</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LEGAL + ETHICAL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07  •  09/14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09</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Use Extra Care With Minors and Families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Work with minors can involve consent, assent, parent or guardian involvement, confidentiality, access to records, payment, safety, and treatment…</a:t>
            </a:r>
            <a:endParaRPr lang="en-US" sz="2120" dirty="0"/>
          </a:p>
        </p:txBody>
      </p:sp>
      <p:sp>
        <p:nvSpPr>
          <p:cNvPr id="11" name="Shape 9"/>
          <p:cNvSpPr/>
          <p:nvPr/>
        </p:nvSpPr>
        <p:spPr>
          <a:xfrm>
            <a:off x="6629400" y="2441448"/>
            <a:ext cx="3977640" cy="0"/>
          </a:xfrm>
          <a:prstGeom prst="line">
            <a:avLst/>
          </a:prstGeom>
          <a:noFill/>
          <a:ln w="15240">
            <a:solidFill>
              <a:srgbClr val="C99700">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Consent</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Assent</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Access</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Safety</a:t>
            </a:r>
            <a:endParaRPr lang="en-US" sz="1180" dirty="0"/>
          </a:p>
        </p:txBody>
      </p:sp>
      <p:sp>
        <p:nvSpPr>
          <p:cNvPr id="16" name="Text 14"/>
          <p:cNvSpPr/>
          <p:nvPr/>
        </p:nvSpPr>
        <p:spPr>
          <a:xfrm>
            <a:off x="10116922" y="2148840"/>
            <a:ext cx="718718" cy="621792"/>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Family Role Are Fact Specific</a:t>
            </a:r>
            <a:endParaRPr lang="en-US" sz="1180" dirty="0"/>
          </a:p>
        </p:txBody>
      </p:sp>
      <p:sp>
        <p:nvSpPr>
          <p:cNvPr id="17" name="Text 15"/>
          <p:cNvSpPr/>
          <p:nvPr/>
        </p:nvSpPr>
        <p:spPr>
          <a:xfrm>
            <a:off x="6949440" y="3063240"/>
            <a:ext cx="3246120" cy="1371600"/>
          </a:xfrm>
          <a:prstGeom prst="rect">
            <a:avLst/>
          </a:prstGeom>
          <a:solidFill>
            <a:srgbClr val="FFF6DD"/>
          </a:solidFill>
          <a:ln w="13970">
            <a:solidFill>
              <a:srgbClr val="C99700">
                <a:alpha val="75000"/>
              </a:srgbClr>
            </a:solidFill>
          </a:ln>
        </p:spPr>
        <p:txBody>
          <a:bodyPr wrap="square" lIns="1016" tIns="1016" rIns="1016" bIns="1016" rtlCol="0" anchor="ctr">
            <a:normAutofit/>
          </a:bodyPr>
          <a:lstStyle/>
          <a:p>
            <a:pPr algn="ctr" indent="0" marL="0">
              <a:buNone/>
            </a:pPr>
            <a:r>
              <a:rPr lang="en-US" sz="2200" b="1" dirty="0">
                <a:solidFill>
                  <a:srgbClr val="C99700"/>
                </a:solidFill>
                <a:latin typeface="Aptos Display" pitchFamily="34" charset="0"/>
                <a:ea typeface="Aptos Display" pitchFamily="34" charset="-122"/>
                <a:cs typeface="Aptos Display" pitchFamily="34" charset="-120"/>
              </a:rPr>
              <a:t>Consent</a:t>
            </a:r>
            <a:endParaRPr lang="en-US" sz="2200" dirty="0"/>
          </a:p>
        </p:txBody>
      </p:sp>
      <p:sp>
        <p:nvSpPr>
          <p:cNvPr id="18" name="Text 16"/>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answer depends on the legal basis for treatment and the facts of the case.</a:t>
            </a:r>
            <a:endParaRPr lang="en-US" sz="1350" dirty="0"/>
          </a:p>
        </p:txBody>
      </p:sp>
      <p:sp>
        <p:nvSpPr>
          <p:cNvPr id="20" name="Text 18"/>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Verify current California requirements when the question turns on a specific minor-consent…</a:t>
            </a:r>
            <a:endParaRPr lang="en-US" sz="135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Consent, Assent, Access, Safety, and Family Role Are Fact-Specific</a:t>
            </a:r>
            <a:endParaRPr lang="en-US" sz="1350" dirty="0"/>
          </a:p>
        </p:txBody>
      </p:sp>
      <p:sp>
        <p:nvSpPr>
          <p:cNvPr id="24" name="Text 22"/>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C99700"/>
                </a:solidFill>
                <a:latin typeface="Aptos" pitchFamily="34" charset="0"/>
                <a:ea typeface="Aptos" pitchFamily="34" charset="-122"/>
                <a:cs typeface="Aptos" pitchFamily="34" charset="-120"/>
              </a:rPr>
              <a:t>EXAM MOVE</a:t>
            </a:r>
            <a:endParaRPr lang="en-US" sz="950" dirty="0"/>
          </a:p>
        </p:txBody>
      </p:sp>
      <p:sp>
        <p:nvSpPr>
          <p:cNvPr id="25" name="Text 23"/>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Verify current California requirements when the question turns on a specific minor-consent rule.</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LEGAL + ETHICAL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07  •  10/14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10</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Address Telehealth, Location, and Emergencies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Telehealth requires attention to client identity and location, jurisdiction, privacy, technology, informed consent, accessibility, and emergency…</a:t>
            </a:r>
            <a:endParaRPr lang="en-US" sz="2120" dirty="0"/>
          </a:p>
        </p:txBody>
      </p:sp>
      <p:sp>
        <p:nvSpPr>
          <p:cNvPr id="11" name="Shape 9"/>
          <p:cNvSpPr/>
          <p:nvPr/>
        </p:nvSpPr>
        <p:spPr>
          <a:xfrm>
            <a:off x="6629400" y="2441448"/>
            <a:ext cx="3977640" cy="0"/>
          </a:xfrm>
          <a:prstGeom prst="line">
            <a:avLst/>
          </a:prstGeom>
          <a:noFill/>
          <a:ln w="15240">
            <a:solidFill>
              <a:srgbClr val="C99700">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Telehealth session with client…</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jurisdiction</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privacy</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technology</a:t>
            </a:r>
            <a:endParaRPr lang="en-US" sz="1180" dirty="0"/>
          </a:p>
        </p:txBody>
      </p:sp>
      <p:sp>
        <p:nvSpPr>
          <p:cNvPr id="16" name="Text 14"/>
          <p:cNvSpPr/>
          <p:nvPr/>
        </p:nvSpPr>
        <p:spPr>
          <a:xfrm>
            <a:off x="10116922" y="2148840"/>
            <a:ext cx="718718" cy="621792"/>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emergency plan.</a:t>
            </a:r>
            <a:endParaRPr lang="en-US" sz="118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therapist should know how to reach local emergency resources and what to do if the…</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Licensing and practice rules can change and may differ across jurisdictions, so verify…</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Know Where the Client Is and How to Respond</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C99700"/>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Licensing and practice rules can change and may differ across jurisdictions, so verify current requirements rather than assuming that an online…</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LEGAL + ETHICAL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07  •  11/14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11</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Example: A Court-Referred Parent</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Consider a parent referred by a court who believes the therapist will decide custody and asks what to say to look cooperative.</a:t>
            </a:r>
            <a:endParaRPr lang="en-US" sz="2120" dirty="0"/>
          </a:p>
        </p:txBody>
      </p:sp>
      <p:sp>
        <p:nvSpPr>
          <p:cNvPr id="11" name="Shape 9"/>
          <p:cNvSpPr/>
          <p:nvPr/>
        </p:nvSpPr>
        <p:spPr>
          <a:xfrm>
            <a:off x="6629400" y="2441448"/>
            <a:ext cx="3977640" cy="0"/>
          </a:xfrm>
          <a:prstGeom prst="line">
            <a:avLst/>
          </a:prstGeom>
          <a:noFill/>
          <a:ln w="15240">
            <a:solidFill>
              <a:srgbClr val="C99700">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FFF6DD"/>
          </a:solidFill>
          <a:ln w="13970">
            <a:solidFill>
              <a:srgbClr val="C99700">
                <a:alpha val="75000"/>
              </a:srgbClr>
            </a:solidFill>
          </a:ln>
        </p:spPr>
        <p:txBody>
          <a:bodyPr wrap="square" lIns="1016" tIns="1016" rIns="1016" bIns="1016" rtlCol="0" anchor="ctr">
            <a:normAutofit/>
          </a:bodyPr>
          <a:lstStyle/>
          <a:p>
            <a:pPr algn="ctr" indent="0" marL="0">
              <a:buNone/>
            </a:pPr>
            <a:r>
              <a:rPr lang="en-US" sz="2200" b="1" dirty="0">
                <a:solidFill>
                  <a:srgbClr val="C99700"/>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first response is not coaching, refusing all court-referred clients, or promising…</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Role clarity protects informed participation, integrity, and the accuracy of the clinical…</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Clarify Role Before Continuing the Intake</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C99700"/>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Role clarity protects informed participation, integrity, and the accuracy of the clinical interview.</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LEGAL + ETHICAL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07  •  12/14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12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Common Legal-Ethical Traps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Watch for four traps.</a:t>
            </a:r>
            <a:endParaRPr lang="en-US" sz="2120" dirty="0"/>
          </a:p>
        </p:txBody>
      </p:sp>
      <p:sp>
        <p:nvSpPr>
          <p:cNvPr id="11" name="Text 9"/>
          <p:cNvSpPr/>
          <p:nvPr/>
        </p:nvSpPr>
        <p:spPr>
          <a:xfrm>
            <a:off x="6446520" y="1874520"/>
            <a:ext cx="2098548" cy="1092708"/>
          </a:xfrm>
          <a:prstGeom prst="rect">
            <a:avLst/>
          </a:prstGeom>
          <a:solidFill>
            <a:srgbClr val="FFF6DD"/>
          </a:solidFill>
          <a:ln w="10160">
            <a:solidFill>
              <a:srgbClr val="D9E0E8"/>
            </a:solidFill>
          </a:ln>
        </p:spPr>
        <p:txBody>
          <a:bodyPr wrap="square" lIns="1270" tIns="1270" rIns="1270" bIns="1270" rtlCol="0" anchor="ctr">
            <a:normAutofit/>
          </a:bodyPr>
          <a:lstStyle/>
          <a:p>
            <a:pPr indent="0" marL="0">
              <a:buNone/>
            </a:pPr>
            <a:r>
              <a:rPr lang="en-US" sz="1400" b="1" dirty="0">
                <a:solidFill>
                  <a:srgbClr val="C99700"/>
                </a:solidFill>
                <a:latin typeface="Aptos" pitchFamily="34" charset="0"/>
                <a:ea typeface="Aptos" pitchFamily="34" charset="-122"/>
                <a:cs typeface="Aptos" pitchFamily="34" charset="-120"/>
              </a:rPr>
              <a:t>Four trap cards</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absolute promise</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automatic disclosure</a:t>
            </a:r>
            <a:endParaRPr lang="en-US" sz="1400" dirty="0"/>
          </a:p>
        </p:txBody>
      </p:sp>
      <p:sp>
        <p:nvSpPr>
          <p:cNvPr id="14" name="Text 12"/>
          <p:cNvSpPr/>
          <p:nvPr/>
        </p:nvSpPr>
        <p:spPr>
          <a:xfrm>
            <a:off x="86182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policy over law</a:t>
            </a:r>
            <a:endParaRPr lang="en-US" sz="140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First, absolute promises such as “nothing can ever be shared.” Second, automatic disclosure…</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Strong answers identify the authority, protect the client, limit disclosure, document the…</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Absolutes • Overdisclosure • Wrong Authority • Responsibility Shift</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C99700"/>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Strong answers identify the authority, protect the client, limit disclosure, document the reasoning, and preserve continuity.</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LEGAL + ETHICAL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07  •  13/14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13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Use the Legal-Ethical Decision Check</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Use this legal-ethical decision check.</a:t>
            </a:r>
            <a:endParaRPr lang="en-US" sz="2120" dirty="0"/>
          </a:p>
        </p:txBody>
      </p:sp>
      <p:sp>
        <p:nvSpPr>
          <p:cNvPr id="11" name="Text 9"/>
          <p:cNvSpPr/>
          <p:nvPr/>
        </p:nvSpPr>
        <p:spPr>
          <a:xfrm>
            <a:off x="6446520" y="1874520"/>
            <a:ext cx="2098548" cy="1092708"/>
          </a:xfrm>
          <a:prstGeom prst="rect">
            <a:avLst/>
          </a:prstGeom>
          <a:solidFill>
            <a:srgbClr val="FFF6DD"/>
          </a:solidFill>
          <a:ln w="10160">
            <a:solidFill>
              <a:srgbClr val="D9E0E8"/>
            </a:solidFill>
          </a:ln>
        </p:spPr>
        <p:txBody>
          <a:bodyPr wrap="square" lIns="1270" tIns="1270" rIns="1270" bIns="1270" rtlCol="0" anchor="ctr">
            <a:normAutofit/>
          </a:bodyPr>
          <a:lstStyle/>
          <a:p>
            <a:pPr indent="0" marL="0">
              <a:buNone/>
            </a:pPr>
            <a:r>
              <a:rPr lang="en-US" sz="1400" b="1" dirty="0">
                <a:solidFill>
                  <a:srgbClr val="C99700"/>
                </a:solidFill>
                <a:latin typeface="Aptos" pitchFamily="34" charset="0"/>
                <a:ea typeface="Aptos" pitchFamily="34" charset="-122"/>
                <a:cs typeface="Aptos" pitchFamily="34" charset="-120"/>
              </a:rPr>
              <a:t>Decision sequence</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issue</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facts</a:t>
            </a:r>
            <a:endParaRPr lang="en-US" sz="1400" dirty="0"/>
          </a:p>
        </p:txBody>
      </p:sp>
      <p:sp>
        <p:nvSpPr>
          <p:cNvPr id="14" name="Text 12"/>
          <p:cNvSpPr/>
          <p:nvPr/>
        </p:nvSpPr>
        <p:spPr>
          <a:xfrm>
            <a:off x="86182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authority</a:t>
            </a:r>
            <a:endParaRPr lang="en-US" sz="140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Identify the exact issue and the facts that matter.</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Document the facts, authority, consultation, rationale, disclosure, and follow-up.</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Issue → Facts → Authority → Options → Consult → Act → Document → Follow Up</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C99700"/>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Document the facts, authority, consultation, rationale, disclosure, and follow-up.</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LEGAL + ETHICAL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07  •  14/14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14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Your Next Step</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During your next LMFT question bank, identify both the authority and the clinical purpose of the best answer.</a:t>
            </a:r>
            <a:endParaRPr lang="en-US" sz="2120" dirty="0"/>
          </a:p>
        </p:txBody>
      </p:sp>
      <p:sp>
        <p:nvSpPr>
          <p:cNvPr id="11" name="Shape 9"/>
          <p:cNvSpPr/>
          <p:nvPr/>
        </p:nvSpPr>
        <p:spPr>
          <a:xfrm>
            <a:off x="6629400" y="2441448"/>
            <a:ext cx="3977640" cy="0"/>
          </a:xfrm>
          <a:prstGeom prst="line">
            <a:avLst/>
          </a:prstGeom>
          <a:noFill/>
          <a:ln w="15240">
            <a:solidFill>
              <a:srgbClr val="C99700">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Next</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Name the Authority</a:t>
            </a:r>
            <a:endParaRPr lang="en-US" sz="1180" dirty="0"/>
          </a:p>
        </p:txBody>
      </p:sp>
      <p:sp>
        <p:nvSpPr>
          <p:cNvPr id="14" name="Text 12"/>
          <p:cNvSpPr/>
          <p:nvPr/>
        </p:nvSpPr>
        <p:spPr>
          <a:xfrm>
            <a:off x="9497568" y="2148840"/>
            <a:ext cx="1338072" cy="621792"/>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Clinical Purpose</a:t>
            </a:r>
            <a:endParaRPr lang="en-US" sz="118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Ask what law, ethical duty, role, or confidentiality rule controls the sequence, and how the…</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Add that pattern to your CTA error log.</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Next: Name the Authority and the Clinical Purpose</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C99700"/>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Add that pattern to your CTA error log.</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LMFT Multimedia Script 07: California Legal and Ethical Reasoning</dc:title>
  <dc:subject>LMFT-Specific Multimedia Script 07</dc:subject>
  <dc:creator>Clinical Training Academy</dc:creator>
  <cp:lastModifiedBy>Clinical Training Academy</cp:lastModifiedBy>
  <cp:revision>1</cp:revision>
  <dcterms:created xsi:type="dcterms:W3CDTF">2026-07-25T20:25:47Z</dcterms:created>
  <dcterms:modified xsi:type="dcterms:W3CDTF">2026-07-25T20:25:47Z</dcterms:modified>
</cp:coreProperties>
</file>