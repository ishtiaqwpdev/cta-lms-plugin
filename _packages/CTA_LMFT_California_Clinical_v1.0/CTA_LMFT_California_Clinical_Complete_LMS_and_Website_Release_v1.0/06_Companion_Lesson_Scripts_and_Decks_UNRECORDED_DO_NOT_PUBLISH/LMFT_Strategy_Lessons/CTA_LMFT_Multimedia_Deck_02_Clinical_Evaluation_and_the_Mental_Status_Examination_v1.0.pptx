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evaluation answers what is happening, how urgent it is, what may be contributing, and what should happen next. LMFT exam questions often offer several helpful interventions, but the best answer may be to gather one more essential fact. Evaluation is not endless information collection. It is targeted assessment that reaches a clinically usable decision about safety, diagnosis, treatment direction, level of care, or referral.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is part of evaluation, not a step that happens before evaluation. A respectful, transparent opening helps the therapist understand trust, readiness, expectations, culture, and the client system's response to boundaries. At the same time, clarify who initiated the referral, what the therapist's role is, who the client or treatment unit is, what information may be shared, and what choices remain. Role confusion can distort disclosure, participation, and every conclusion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broadly enough to hear the client’s story, then focus where precision matters. Open questions gather context and meaning. Reflections communicate understanding. Clarifying questions test what the therapist heard. Direct questions establish exact facts such as timing, dose, access to means, or current intent. The best interviewing method depends on the task. Do not use indirect language when a specific answer controls safety or medical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evaluation includes the presenting concern, onset, course, severity, functional impact, relationships, development, culture, trauma, strengths, health conditions, medications, substance use, prior care, supports, and goals. Not every domain needs equal time in every encounter. The therapist follows the most important clues. A sudden cognitive change after a medication adjustment requires a different priority than a longstanding relational pattern with stable functioning.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status examination is a structured description of current functioning. It commonly includes appearance and behavior, speech, reported mood, observed affect, thought process, thought content, perception, attention and cognition, orientation, memory, insight, judgment, and impulse control. It is a snapshot, not a complete diagnosis. Interpret findings alongside history, baseline, culture, language, development, medical information, and the immediate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observable behavior before inferring why it occurred. “Speaks softly, pauses before answering, and maintains limited eye contact” is more accurate than “guarded and deceptive” when the cause is unknown. The behavior could relate to anxiety, depression, culture, language, trauma, neurodivergence, or the interview context. Behavioral documentation protects accuracy and leaves room for further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Newness and fluctuation are often more important than the label attached to a symptom. Clarify when the change began, what happened around that time, whether it is constant or episodic, and how current functioning compares with baseline. Sudden confusion, unsteady walking, or altered consciousness can indicate medical, medication, intoxication, or withdrawal risk. A longstanding communication style may require a different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health conditions, recent injuries, sleep, pain, pregnancy or postpartum changes, medication starts and stops, missed doses, nonprescription products, alcohol, cannabis, stimulants, sedatives, and other substances. LMFTs can assess effects, encourage medical review, coordinate with consent, and respond to emergencies. They should not direct a client to start, stop, or change a medication dose. When physical or cognitive changes may be medically significant, health evaluation comes before psychological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client statement or behavior suggests self-harm, suicide, violence, abuse, or inability to care safely for self or others, ask direct and specific questions. Clarify current thoughts, intent, plan, access, past behavior, substance involvement, protective factors, supports, and immediate environment. A promise to stay safe does not replace assessment. Direct questions usually improve clarity and do not require abandoning empathy or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and collateral sources can clarify baseline, functioning, risk, and prior treatment, but they do not replace current assessment. Determine whether information sharing is authorized or otherwise legally permitted, obtain only what is relevant, and consider the source’s perspective and reliability. Whenever possible, explain the purpose and include the client in the process. Use qualified language support rather than placing a child or family member in an inappropriate interpreting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client who recently changed medication and now appears confused, has blurred vision, and walks unsteadily. A premature answer interprets the behavior as anxiety, resistance, or a relationship strategy. The stronger response assesses immediate safety, clarifies all medications and substances, and arranges prompt medical guidance or emergency evaluation as indicated. The therapist can return to relational meaning after the possible medical cause is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diagnosing from one symptom or one MSE finding. Second, assigning motive to behavior that may have medical, cultural, or contextual explanations. Third, ignoring chronology and baseline. Fourth, choosing a treatment technique before safety, level of care, or contributing factors are clear. A high-quality answer uses the available data and targets the missing fact that will change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evaluation check. What is the therapist’s role? Is there immediate danger or medical urgency? What are the symptoms, severity, and functional effects? What developmental, cultural, relational, and environmental factors matter? What health, medication, or substance factors must be clarified? Is this a change from baseline? What information is still missing before diagnosis, treatment, referral, or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practice four actions: describe the behavior, establish the timeline, differentiate possible causes, and decide the next level of response. When you miss an item, record whether you diagnosed too soon, ignored a medical or substance clue, or avoided a direct safety question. Those patterns belong in your CTA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Clinical Evaluation and the Mental Status Examination</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02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Clinical evaluation answers what is happening, how urgent it is, what may be contributing, and what should happen next.</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3467A6"/>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3467A6">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EAF0F8"/>
          </a:solidFill>
          <a:ln w="10160">
            <a:solidFill>
              <a:srgbClr val="D9E0E8"/>
            </a:solidFill>
          </a:ln>
        </p:spPr>
        <p:txBody>
          <a:bodyPr wrap="square" lIns="1270" tIns="1270" rIns="1270" bIns="1270" rtlCol="0" anchor="ctr">
            <a:normAutofit/>
          </a:bodyPr>
          <a:lstStyle/>
          <a:p>
            <a:pPr indent="0" marL="0">
              <a:buNone/>
            </a:pPr>
            <a:r>
              <a:rPr lang="en-US" sz="1400" b="1" dirty="0">
                <a:solidFill>
                  <a:srgbClr val="3467A6"/>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Engage the Client and Clarify the Role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Engagement is part of evaluation, not a step that happens before evaluation.</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Alliance bridge leading into…</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therapist role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confidentiality</a:t>
            </a:r>
            <a:endParaRPr lang="en-US" sz="1180" dirty="0"/>
          </a:p>
        </p:txBody>
      </p:sp>
      <p:sp>
        <p:nvSpPr>
          <p:cNvPr id="15" name="Text 13"/>
          <p:cNvSpPr/>
          <p:nvPr/>
        </p:nvSpPr>
        <p:spPr>
          <a:xfrm>
            <a:off x="9884664" y="2148840"/>
            <a:ext cx="950976"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client goals.</a:t>
            </a:r>
            <a:endParaRPr lang="en-US" sz="1180" dirty="0"/>
          </a:p>
        </p:txBody>
      </p:sp>
      <p:sp>
        <p:nvSpPr>
          <p:cNvPr id="16" name="Text 14"/>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Alliance bridge leading into…</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respectful, transparent opening helps the therapist understand trust, readiness,…</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Role confusion can distort disclosure, participation, and every conclusion that follows.</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Engagement + Role Clarity = Better Assessment Data</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Role confusion can distort disclosure, participation, and every conclusion that follows.</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Move From Broad to Focused Questions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Begin broadly enough to hear the client’s story, then focus where precision matters.</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Open questions gather context and meaning.</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use indirect language when a specific answer controls safety or medical urgency.</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Open → Clarify → Focus → Confirm</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use indirect language when a specific answer controls safety or medical urgency.</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the Whole Clinical Picture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complete evaluation includes the presenting concern, onset, course, severity, functional impact, relationships, development, culture, trauma,…</a:t>
            </a:r>
            <a:endParaRPr lang="en-US" sz="2120" dirty="0"/>
          </a:p>
        </p:txBody>
      </p:sp>
      <p:sp>
        <p:nvSpPr>
          <p:cNvPr id="11" name="Text 9"/>
          <p:cNvSpPr/>
          <p:nvPr/>
        </p:nvSpPr>
        <p:spPr>
          <a:xfrm>
            <a:off x="6629400" y="1901952"/>
            <a:ext cx="3931920" cy="475488"/>
          </a:xfrm>
          <a:prstGeom prst="rect">
            <a:avLst/>
          </a:prstGeom>
          <a:solidFill>
            <a:srgbClr val="EAF0F8"/>
          </a:solidFill>
          <a:ln w="15240">
            <a:solidFill>
              <a:srgbClr val="3467A6">
                <a:alpha val="82000"/>
              </a:srgbClr>
            </a:solidFill>
          </a:ln>
        </p:spPr>
        <p:txBody>
          <a:bodyPr wrap="square" lIns="508" tIns="508" rIns="508" bIns="508" rtlCol="0" anchor="ctr">
            <a:normAutofit/>
          </a:bodyPr>
          <a:lstStyle/>
          <a:p>
            <a:pPr indent="0" marL="0">
              <a:buNone/>
            </a:pPr>
            <a:r>
              <a:rPr lang="en-US" sz="1320" b="1" dirty="0">
                <a:solidFill>
                  <a:srgbClr val="3467A6"/>
                </a:solidFill>
                <a:latin typeface="Aptos" pitchFamily="34" charset="0"/>
                <a:ea typeface="Aptos" pitchFamily="34" charset="-122"/>
                <a:cs typeface="Aptos" pitchFamily="34" charset="-120"/>
              </a:rPr>
              <a:t>Symptoms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Functioning</a:t>
            </a:r>
            <a:endParaRPr lang="en-US" sz="1320" dirty="0"/>
          </a:p>
        </p:txBody>
      </p:sp>
      <p:sp>
        <p:nvSpPr>
          <p:cNvPr id="13" name="Text 11"/>
          <p:cNvSpPr/>
          <p:nvPr/>
        </p:nvSpPr>
        <p:spPr>
          <a:xfrm>
            <a:off x="6629400" y="3218688"/>
            <a:ext cx="3931920" cy="475488"/>
          </a:xfrm>
          <a:prstGeom prst="rect">
            <a:avLst/>
          </a:prstGeom>
          <a:solidFill>
            <a:srgbClr val="EAF0F8"/>
          </a:solidFill>
          <a:ln w="9525">
            <a:solidFill>
              <a:srgbClr val="3467A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Context</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Health</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Not every domain needs equal time in every encounter.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sudden cognitive change after a medication adjustment requires a different priority than a…</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Symptoms + Functioning + Context + Health + Supports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sudden cognitive change after a medication adjustment requires a different priority than a longstanding relational pattern with stable…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Mental Status Examination as a Snapshot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The mental status examination is a structured description of current functioning.</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commonly includes appearance and behavior, speech, reported mood, observed affect, thought…</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Interpret findings alongside history, baseline, culture, language, development, medical…</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Appearance • Behavior • Speech • Mood/Affect • Thought • Perception • Cognition •…</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Interpret findings alongside history, baseline, culture, language, development, medical information, and the immediate setting.</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Describe Behavior Before Assigning Meaning</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Document observable behavior before inferring why it occurred.</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“Speaks softly, pauses before answering, and maintains limited eye contact” is more accurate…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Behavioral documentation protects accuracy and leaves room for further assessment.</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Write What You See and Hear</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Behavioral documentation protects accuracy and leaves room for further assessment.</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Compare With Baseline and Establish Chronology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Newness and fluctuation are often more important than the label attached to a symptom.</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when the change began, what happened around that time, whether it is constant or…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longstanding communication style may require a different interpretation.</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Changed? When? How Fast?</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longstanding communication style may require a different interpretation.</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Medical, Medication, and Substance Factors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Ask about health conditions, recent injuries, sleep, pain, pregnancy or postpartum changes, medication starts and stops, missed doses,…</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Medication bottle</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health record</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substance timeline</a:t>
            </a:r>
            <a:endParaRPr lang="en-US" sz="1180" dirty="0"/>
          </a:p>
        </p:txBody>
      </p:sp>
      <p:sp>
        <p:nvSpPr>
          <p:cNvPr id="15" name="Text 13"/>
          <p:cNvSpPr/>
          <p:nvPr/>
        </p:nvSpPr>
        <p:spPr>
          <a:xfrm>
            <a:off x="9884664" y="2148840"/>
            <a:ext cx="950976"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referral pathway.</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LMFTs can assess effects, encourage medical review, coordinate with consent, and respond to…</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physical or cognitive changes may be medically significant, health evaluation comes…</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and Coordinate - Do Not Prescribe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When physical or cognitive changes may be medically significant, health evaluation comes before psychological interpretation.</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Ask Directly About Safety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 client statement or behavior suggests self-harm, suicide, violence, abuse, or inability to care safely for self or others, ask direct and…</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current thoughts, intent, plan, access, past behavior, substance involvement,…</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Direct questions usually improve clarity and do not require abandoning empathy or…</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Thoughts • Intent • Plan • Means • History • Protective Factors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Direct questions usually improve clarity and do not require abandoning empathy or collaboration.</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Collateral Information Carefully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Records and collateral sources can clarify baseline, functioning, risk, and prior treatment, but they do not replace current assessment.</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Client</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records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school</a:t>
            </a:r>
            <a:endParaRPr lang="en-US" sz="1180" dirty="0"/>
          </a:p>
        </p:txBody>
      </p:sp>
      <p:sp>
        <p:nvSpPr>
          <p:cNvPr id="16" name="Text 14"/>
          <p:cNvSpPr/>
          <p:nvPr/>
        </p:nvSpPr>
        <p:spPr>
          <a:xfrm>
            <a:off x="10116922" y="2148840"/>
            <a:ext cx="718718"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medical sources connected…</a:t>
            </a:r>
            <a:endParaRPr lang="en-US" sz="1180" dirty="0"/>
          </a:p>
        </p:txBody>
      </p:sp>
      <p:sp>
        <p:nvSpPr>
          <p:cNvPr id="17" name="Text 15"/>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Client</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Determine whether information sharing is authorized or otherwise legally permitted, obtain…</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Use qualified language support rather than placing a child or family member in an…</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Consent • Relevance • Reliability • Client Participation</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Use qualified language support rather than placing a child or family member in an inappropriate interpreting role.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Confusion After a Medication Change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a client who recently changed medication and now appears confused, has blurred vision, and walks unsteadily.</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premature answer interprets the behavior as anxiety, resistance, or a relationship strategy.</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therapist can return to relational meaning after the possible medical cause is addressed.</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New Cognitive or Physical Change = Medical Priority</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therapist can return to relational meaning after the possible medical cause is addressed.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Evaluation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446520" y="1874520"/>
            <a:ext cx="2098548" cy="1092708"/>
          </a:xfrm>
          <a:prstGeom prst="rect">
            <a:avLst/>
          </a:prstGeom>
          <a:solidFill>
            <a:srgbClr val="EAF0F8"/>
          </a:solidFill>
          <a:ln w="10160">
            <a:solidFill>
              <a:srgbClr val="D9E0E8"/>
            </a:solidFill>
          </a:ln>
        </p:spPr>
        <p:txBody>
          <a:bodyPr wrap="square" lIns="1270" tIns="1270" rIns="1270" bIns="1270" rtlCol="0" anchor="ctr">
            <a:normAutofit/>
          </a:bodyPr>
          <a:lstStyle/>
          <a:p>
            <a:pPr indent="0" marL="0">
              <a:buNone/>
            </a:pPr>
            <a:r>
              <a:rPr lang="en-US" sz="1400" b="1" dirty="0">
                <a:solidFill>
                  <a:srgbClr val="3467A6"/>
                </a:solidFill>
                <a:latin typeface="Aptos" pitchFamily="34" charset="0"/>
                <a:ea typeface="Aptos" pitchFamily="34" charset="-122"/>
                <a:cs typeface="Aptos" pitchFamily="34" charset="-120"/>
              </a:rPr>
              <a:t>Four trap cards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diagnose from one sign</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infer motive</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ignore baseline</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diagnosing from one symptom or one MSE finding.</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high-quality answer uses the available data and targets the missing fact that will change…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Single Sign • Assumed Motive • No Baseline • Premature Intervention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high-quality answer uses the available data and targets the missing fact that will change the decision.</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Clinical Evaluation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evaluation check.</a:t>
            </a:r>
            <a:endParaRPr lang="en-US" sz="2120" dirty="0"/>
          </a:p>
        </p:txBody>
      </p:sp>
      <p:sp>
        <p:nvSpPr>
          <p:cNvPr id="11" name="Text 9"/>
          <p:cNvSpPr/>
          <p:nvPr/>
        </p:nvSpPr>
        <p:spPr>
          <a:xfrm>
            <a:off x="6629400" y="1901952"/>
            <a:ext cx="3931920" cy="475488"/>
          </a:xfrm>
          <a:prstGeom prst="rect">
            <a:avLst/>
          </a:prstGeom>
          <a:solidFill>
            <a:srgbClr val="EAF0F8"/>
          </a:solidFill>
          <a:ln w="15240">
            <a:solidFill>
              <a:srgbClr val="3467A6">
                <a:alpha val="82000"/>
              </a:srgbClr>
            </a:solidFill>
          </a:ln>
        </p:spPr>
        <p:txBody>
          <a:bodyPr wrap="square" lIns="508" tIns="508" rIns="508" bIns="508" rtlCol="0" anchor="ctr">
            <a:normAutofit/>
          </a:bodyPr>
          <a:lstStyle/>
          <a:p>
            <a:pPr indent="0" marL="0">
              <a:buNone/>
            </a:pPr>
            <a:r>
              <a:rPr lang="en-US" sz="1320" b="1" dirty="0">
                <a:solidFill>
                  <a:srgbClr val="3467A6"/>
                </a:solidFill>
                <a:latin typeface="Aptos" pitchFamily="34" charset="0"/>
                <a:ea typeface="Aptos" pitchFamily="34" charset="-122"/>
                <a:cs typeface="Aptos" pitchFamily="34" charset="-120"/>
              </a:rPr>
              <a:t>Checklist with role</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safety</a:t>
            </a:r>
            <a:endParaRPr lang="en-US" sz="1320" dirty="0"/>
          </a:p>
        </p:txBody>
      </p:sp>
      <p:sp>
        <p:nvSpPr>
          <p:cNvPr id="13" name="Text 11"/>
          <p:cNvSpPr/>
          <p:nvPr/>
        </p:nvSpPr>
        <p:spPr>
          <a:xfrm>
            <a:off x="6629400" y="3218688"/>
            <a:ext cx="3931920" cy="475488"/>
          </a:xfrm>
          <a:prstGeom prst="rect">
            <a:avLst/>
          </a:prstGeom>
          <a:solidFill>
            <a:srgbClr val="EAF0F8"/>
          </a:solidFill>
          <a:ln w="9525">
            <a:solidFill>
              <a:srgbClr val="3467A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symptoms</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function</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therapist’s role?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information is still missing before diagnosis, treatment, referral, or documentation?</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Role • Safety • Symptoms • Function • Context • Health • Baseline • Decision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What information is still missing before diagnosis, treatment, referral, or documentation?</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EVALUATION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02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practice four actions: describe the behavior, establish the timeline, differentiate possible causes, and decide…</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Next</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Describe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Date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Differentiate</a:t>
            </a:r>
            <a:endParaRPr lang="en-US" sz="1180" dirty="0"/>
          </a:p>
        </p:txBody>
      </p:sp>
      <p:sp>
        <p:nvSpPr>
          <p:cNvPr id="16" name="Text 14"/>
          <p:cNvSpPr/>
          <p:nvPr/>
        </p:nvSpPr>
        <p:spPr>
          <a:xfrm>
            <a:off x="10116922" y="2148840"/>
            <a:ext cx="718718"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Decide</a:t>
            </a:r>
            <a:endParaRPr lang="en-US" sz="1180" dirty="0"/>
          </a:p>
        </p:txBody>
      </p:sp>
      <p:sp>
        <p:nvSpPr>
          <p:cNvPr id="17" name="Text 15"/>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Next</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you miss an item, record whether you diagnosed too soon, ignored a medical or substance…</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Those patterns belong in your CTA error log.</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Describe, Date, Differentiate, Decide</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Those patterns belong in your CTA error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02: Clinical Evaluation and the Mental Status Examination</dc:title>
  <dc:subject>LMFT-Specific Multimedia Script 02</dc:subject>
  <dc:creator>Clinical Training Academy</dc:creator>
  <cp:lastModifiedBy>Clinical Training Academy</cp:lastModifiedBy>
  <cp:revision>1</cp:revision>
  <dcterms:created xsi:type="dcterms:W3CDTF">2026-07-25T20:25:46Z</dcterms:created>
  <dcterms:modified xsi:type="dcterms:W3CDTF">2026-07-25T20:25:46Z</dcterms:modified>
</cp:coreProperties>
</file>