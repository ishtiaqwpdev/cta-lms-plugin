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conceptualization explains how the available information fits together and what should change first. It is more than a diagnosis and more than a list of problems. A useful formulation connects symptoms, relational patterns, development, culture, trauma, health, resources, strengths, and maintaining factors to a treatment direction. On the exam, the strongest plan grows from the formulation rather than from a favorite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practical organizing method is the five Ps. What is presenting now? What longstanding vulnerabilities or conditions may predispose the problem? What recent event precipitated the change? What responses, beliefs, environments, or relationship cycles perpetuate it? What protective factors support recovery? The five Ps are not a rigid formula, but they help prevent treatment from targeting only the visible symptom while missing what maintains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conceptualization links individual symptoms, relationship patterns, development, culture, trauma, health, substances, strengths, and environmental stressors. It explains how the problem may be maintained without reducing the case to one person's fault. Keep the explanation tentative. Ask what evidence supports it, what evidence does not fit, what alternatives remain, and what new information would change the plan. A formulation guides action only while it continues to fit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may present with several needs. Prioritize immediate safety and medical concerns, then consider functional stability, the client’s goals, readiness, available resources, and what can realistically change. The therapist should not impose a plan solely because a family member, court, or referral source prefers it. Clarify required conditions and limits, while identifying the client’s own concerns and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measurable goal states what will change, under what conditions, and how progress will be recognized. “Communicate better” is vague. “Use an agreed de-escalation routine during four of five identified conflicts over the next month” is observable and reviewable. Measures should reflect meaningful functioning and client priorities, not only symptom scores. Goals can include safety, behavior, relationships, coping, participation, or access to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should identify who needs to participate and what level of care can safely address the problem. Couple work may fit a reciprocal conflict cycle, while individual treatment may be safer when coercion is present. Family involvement may support a child’s treatment, and group work may add normalization or skills practice. Acute danger, severe withdrawal, or psychiatric instability may require a higher level of care before routine outpatient therapy continues.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interventions because they address the factors maintaining the problem. If escalation is maintained by rapid arousal and interruption, begin with regulation and structure before exploring deeper meaning. If avoidance maintains anxiety, a gradual evidence-based exposure approach may fit after assessment and consent. If access barriers prevent care, coordination or advocacy may be necessary. A helpful intervention can still be wrong if it targets the wrong mechanism or arrives at the wrong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Treatment often unfolds in phases. First address safety, stabilization, and engagement. Then build regulation, communication, coping, or practical supports. Next work more directly on maintaining beliefs, trauma responses, attachment needs, or relational patterns. Finally consolidate gains, plan for setbacks, and prepare for termination. The exact phases vary, but the exam often tests whether a sophisticated intervention is being offered before the client has enough safety or capacity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plan is not feasible if the client cannot access it. Consider cost, transportation, childcare, language, disability, technology, schedule, cultural fit, insurance, family support, and the client’s willingness. Clarify who is responsible for referrals, coordination, and follow-up. A warm handoff and a scheduled check may be stronger than simply giving a resource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progress toward the agreed goals, symptom and functioning changes, risk, attendance, between-session practice, client feedback, alliance, and barriers. Lack of progress does not automatically mean resistance or immediate termination. Reassess the formulation, treatment fit, readiness, level of care, external obstacles, and therapist contribution. Modify the plan collaboratively and document the rationale.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couple with escalating conflict, one partner’s trauma triggers, increased alcohol use, and a pending eviction. A weak plan chooses a communication technique and ignores the rest. A stronger formulation assesses safety and substance risk, addresses the urgent housing threat, maps the conflict cycle, identifies trauma-related cues, and agrees on measurable goals. The treatment sequence may combine stabilization, resource coordination, individual assessment, and carefully selected couple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for four traps. First, choosing a favorite technique before formulating the case. Second, writing broad goals that cannot be evaluated. Third, creating the plan without client participation or attention to feasibility. Fourth, continuing the same approach without reviewing progress, risk, barriers, or fit. Strong plans explain why this target, this treatment unit, this intervention, and this sequence make sense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planning check. What formulation best organizes the case? What problem is the current priority? What does the client want to change? Is the goal specific and measurable? Who should participate? What level of care is appropriate? Which intervention targets the maintaining factor? What barriers or resources affect feasibility? How and when will progress be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your next LMFT question bank, do not stop at choosing an intervention. Write one sentence explaining why it fits the formulation, priority, treatment unit, and current phase. If you miss the item, note whether you skipped formulation, chose a vague goal, ignored feasibility, or failed to evaluate progress. Add that planning error to your CTA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Case Conceptualization and Treatment Planning</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LMFT-Specific Multimedia Script 05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Case conceptualization explains how the available information fits together and what should change first.</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3D7A4D"/>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3D7A4D">
                <a:alpha val="75000"/>
              </a:srgbClr>
            </a:solidFill>
            <a:prstDash val="solid"/>
            <a:tailEnd type="triangle"/>
          </a:ln>
        </p:spPr>
      </p:sp>
      <p:sp>
        <p:nvSpPr>
          <p:cNvPr id="15" name="Text 13"/>
          <p:cNvSpPr/>
          <p:nvPr/>
        </p:nvSpPr>
        <p:spPr>
          <a:xfrm>
            <a:off x="804672"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6" name="Text 14"/>
          <p:cNvSpPr/>
          <p:nvPr/>
        </p:nvSpPr>
        <p:spPr>
          <a:xfrm>
            <a:off x="2947416"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7" name="Text 15"/>
          <p:cNvSpPr/>
          <p:nvPr/>
        </p:nvSpPr>
        <p:spPr>
          <a:xfrm>
            <a:off x="5090160" y="3273552"/>
            <a:ext cx="1932432"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8" name="Text 16"/>
          <p:cNvSpPr/>
          <p:nvPr/>
        </p:nvSpPr>
        <p:spPr>
          <a:xfrm>
            <a:off x="7635240" y="3364992"/>
            <a:ext cx="1687068" cy="758952"/>
          </a:xfrm>
          <a:prstGeom prst="rect">
            <a:avLst/>
          </a:prstGeom>
          <a:solidFill>
            <a:srgbClr val="EAF3EC"/>
          </a:solidFill>
          <a:ln w="10160">
            <a:solidFill>
              <a:srgbClr val="D9E0E8"/>
            </a:solidFill>
          </a:ln>
        </p:spPr>
        <p:txBody>
          <a:bodyPr wrap="square" lIns="1270" tIns="1270" rIns="1270" bIns="1270" rtlCol="0" anchor="ctr">
            <a:normAutofit/>
          </a:bodyPr>
          <a:lstStyle/>
          <a:p>
            <a:pPr indent="0" marL="0">
              <a:buNone/>
            </a:pPr>
            <a:r>
              <a:rPr lang="en-US" sz="1400" b="1" dirty="0">
                <a:solidFill>
                  <a:srgbClr val="3D7A4D"/>
                </a:solidFill>
                <a:latin typeface="Aptos" pitchFamily="34" charset="0"/>
                <a:ea typeface="Aptos" pitchFamily="34" charset="-122"/>
                <a:cs typeface="Aptos" pitchFamily="34" charset="-120"/>
              </a:rPr>
              <a:t>Clarify</a:t>
            </a:r>
            <a:endParaRPr lang="en-US" sz="1400" dirty="0"/>
          </a:p>
        </p:txBody>
      </p:sp>
      <p:sp>
        <p:nvSpPr>
          <p:cNvPr id="19" name="Text 17"/>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Sequence</a:t>
            </a:r>
            <a:endParaRPr lang="en-US" sz="1400" dirty="0"/>
          </a:p>
        </p:txBody>
      </p:sp>
      <p:sp>
        <p:nvSpPr>
          <p:cNvPr id="20" name="Text 18"/>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Choose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Organize the Case With the Five 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One practical organizing method is the five Ps.</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Five connected cards</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presenting</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predisposing</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precipitating</a:t>
            </a:r>
            <a:endParaRPr lang="en-US" sz="1180" dirty="0"/>
          </a:p>
        </p:txBody>
      </p:sp>
      <p:sp>
        <p:nvSpPr>
          <p:cNvPr id="16" name="Text 14"/>
          <p:cNvSpPr/>
          <p:nvPr/>
        </p:nvSpPr>
        <p:spPr>
          <a:xfrm>
            <a:off x="10116922" y="2148840"/>
            <a:ext cx="718718"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perpetuating</a:t>
            </a:r>
            <a:endParaRPr lang="en-US" sz="1180" dirty="0"/>
          </a:p>
        </p:txBody>
      </p:sp>
      <p:sp>
        <p:nvSpPr>
          <p:cNvPr id="17" name="Text 15"/>
          <p:cNvSpPr/>
          <p:nvPr/>
        </p:nvSpPr>
        <p:spPr>
          <a:xfrm>
            <a:off x="6949440" y="3063240"/>
            <a:ext cx="3246120" cy="1371600"/>
          </a:xfrm>
          <a:prstGeom prst="rect">
            <a:avLst/>
          </a:prstGeom>
          <a:solidFill>
            <a:srgbClr val="EAF3EC"/>
          </a:solidFill>
          <a:ln w="13970">
            <a:solidFill>
              <a:srgbClr val="3D7A4D">
                <a:alpha val="75000"/>
              </a:srgbClr>
            </a:solidFill>
          </a:ln>
        </p:spPr>
        <p:txBody>
          <a:bodyPr wrap="square" lIns="1016" tIns="1016" rIns="1016" bIns="1016"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Five connected cards</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is presenting now?</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five Ps are not a rigid formula, but they help prevent treatment from targeting only the…</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Presenting • Predisposing • Precipitating • Perpetuating • Protective</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five Ps are not a rigid formula, but they help prevent treatment from targeting only the visible symptom while missing what maintains it.</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Formulate at Multiple Levels and Keep It Tentative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useful conceptualization links individual symptoms, relationship patterns, development, culture, trauma, health, substances, strengths, and…</a:t>
            </a:r>
            <a:endParaRPr lang="en-US" sz="2120" dirty="0"/>
          </a:p>
        </p:txBody>
      </p:sp>
      <p:sp>
        <p:nvSpPr>
          <p:cNvPr id="11" name="Text 9"/>
          <p:cNvSpPr/>
          <p:nvPr/>
        </p:nvSpPr>
        <p:spPr>
          <a:xfrm>
            <a:off x="6629400" y="1901952"/>
            <a:ext cx="3931920" cy="475488"/>
          </a:xfrm>
          <a:prstGeom prst="rect">
            <a:avLst/>
          </a:prstGeom>
          <a:solidFill>
            <a:srgbClr val="EAF3EC"/>
          </a:solidFill>
          <a:ln w="15240">
            <a:solidFill>
              <a:srgbClr val="3D7A4D">
                <a:alpha val="82000"/>
              </a:srgbClr>
            </a:solidFill>
          </a:ln>
        </p:spPr>
        <p:txBody>
          <a:bodyPr wrap="square" lIns="508" tIns="508" rIns="508" bIns="508" rtlCol="0" anchor="ctr">
            <a:normAutofit/>
          </a:bodyPr>
          <a:lstStyle/>
          <a:p>
            <a:pPr indent="0" marL="0">
              <a:buNone/>
            </a:pPr>
            <a:r>
              <a:rPr lang="en-US" sz="1320" b="1" dirty="0">
                <a:solidFill>
                  <a:srgbClr val="3D7A4D"/>
                </a:solidFill>
                <a:latin typeface="Aptos" pitchFamily="34" charset="0"/>
                <a:ea typeface="Aptos" pitchFamily="34" charset="-122"/>
                <a:cs typeface="Aptos" pitchFamily="34" charset="-120"/>
              </a:rPr>
              <a:t>Working hypothesis connecting…</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relational</a:t>
            </a:r>
            <a:endParaRPr lang="en-US" sz="1320" dirty="0"/>
          </a:p>
        </p:txBody>
      </p:sp>
      <p:sp>
        <p:nvSpPr>
          <p:cNvPr id="13" name="Text 11"/>
          <p:cNvSpPr/>
          <p:nvPr/>
        </p:nvSpPr>
        <p:spPr>
          <a:xfrm>
            <a:off x="6629400" y="3218688"/>
            <a:ext cx="3931920" cy="475488"/>
          </a:xfrm>
          <a:prstGeom prst="rect">
            <a:avLst/>
          </a:prstGeom>
          <a:solidFill>
            <a:srgbClr val="EAF3EC"/>
          </a:solidFill>
          <a:ln w="9525">
            <a:solidFill>
              <a:srgbClr val="3D7A4D"/>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developmental</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cultural</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It explains how the problem may be maintained without reducing the case to one person's fault.</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formulation guides action only while it continues to fit the data.</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Integrate the Levels • Test the Hypothesis • Revise With New Data</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formulation guides action only while it continues to fit the data.</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Prioritize Problems With the Client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client may present with several needs.</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Priority ladder</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safety</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stability</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functioning</a:t>
            </a:r>
            <a:endParaRPr lang="en-US" sz="1180" dirty="0"/>
          </a:p>
        </p:txBody>
      </p:sp>
      <p:sp>
        <p:nvSpPr>
          <p:cNvPr id="16" name="Text 14"/>
          <p:cNvSpPr/>
          <p:nvPr/>
        </p:nvSpPr>
        <p:spPr>
          <a:xfrm>
            <a:off x="10116922" y="2148840"/>
            <a:ext cx="718718"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relational goals</a:t>
            </a:r>
            <a:endParaRPr lang="en-US" sz="1180" dirty="0"/>
          </a:p>
        </p:txBody>
      </p:sp>
      <p:sp>
        <p:nvSpPr>
          <p:cNvPr id="17" name="Text 15"/>
          <p:cNvSpPr/>
          <p:nvPr/>
        </p:nvSpPr>
        <p:spPr>
          <a:xfrm>
            <a:off x="6949440" y="3063240"/>
            <a:ext cx="3246120" cy="1371600"/>
          </a:xfrm>
          <a:prstGeom prst="rect">
            <a:avLst/>
          </a:prstGeom>
          <a:solidFill>
            <a:srgbClr val="EAF3EC"/>
          </a:solidFill>
          <a:ln w="13970">
            <a:solidFill>
              <a:srgbClr val="3D7A4D">
                <a:alpha val="75000"/>
              </a:srgbClr>
            </a:solidFill>
          </a:ln>
        </p:spPr>
        <p:txBody>
          <a:bodyPr wrap="square" lIns="1016" tIns="1016" rIns="1016" bIns="1016"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Priority ladder</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Prioritize immediate safety and medical concerns, then consider functional stability, the…</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required conditions and limits, while identifying the client’s own concerns and…</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Safety • Urgency • Client Goals • Feasibility</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Clarify required conditions and limits, while identifying the client’s own concerns and choices.</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Write Measurable, Meaningful Goals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measurable goal states what will change, under what conditions, and how progress will be recognized.</a:t>
            </a:r>
            <a:endParaRPr lang="en-US" sz="2120" dirty="0"/>
          </a:p>
        </p:txBody>
      </p:sp>
      <p:sp>
        <p:nvSpPr>
          <p:cNvPr id="11" name="Text 9"/>
          <p:cNvSpPr/>
          <p:nvPr/>
        </p:nvSpPr>
        <p:spPr>
          <a:xfrm>
            <a:off x="6629400" y="1901952"/>
            <a:ext cx="3931920" cy="475488"/>
          </a:xfrm>
          <a:prstGeom prst="rect">
            <a:avLst/>
          </a:prstGeom>
          <a:solidFill>
            <a:srgbClr val="EAF3EC"/>
          </a:solidFill>
          <a:ln w="15240">
            <a:solidFill>
              <a:srgbClr val="3D7A4D">
                <a:alpha val="82000"/>
              </a:srgbClr>
            </a:solidFill>
          </a:ln>
        </p:spPr>
        <p:txBody>
          <a:bodyPr wrap="square" lIns="508" tIns="508" rIns="508" bIns="508" rtlCol="0" anchor="ctr">
            <a:normAutofit/>
          </a:bodyPr>
          <a:lstStyle/>
          <a:p>
            <a:pPr indent="0" marL="0">
              <a:buNone/>
            </a:pPr>
            <a:r>
              <a:rPr lang="en-US" sz="1320" b="1" dirty="0">
                <a:solidFill>
                  <a:srgbClr val="3D7A4D"/>
                </a:solidFill>
                <a:latin typeface="Aptos" pitchFamily="34" charset="0"/>
                <a:ea typeface="Aptos" pitchFamily="34" charset="-122"/>
                <a:cs typeface="Aptos" pitchFamily="34" charset="-120"/>
              </a:rPr>
              <a:t>vague goal transformed into a…</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context</a:t>
            </a:r>
            <a:endParaRPr lang="en-US" sz="1320" dirty="0"/>
          </a:p>
        </p:txBody>
      </p:sp>
      <p:sp>
        <p:nvSpPr>
          <p:cNvPr id="13" name="Text 11"/>
          <p:cNvSpPr/>
          <p:nvPr/>
        </p:nvSpPr>
        <p:spPr>
          <a:xfrm>
            <a:off x="6629400" y="3218688"/>
            <a:ext cx="3931920" cy="475488"/>
          </a:xfrm>
          <a:prstGeom prst="rect">
            <a:avLst/>
          </a:prstGeom>
          <a:solidFill>
            <a:srgbClr val="EAF3EC"/>
          </a:solidFill>
          <a:ln w="9525">
            <a:solidFill>
              <a:srgbClr val="3D7A4D"/>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frequency</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time frame.</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“Communicate better” is vague.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Goals can include safety, behavior, relationships, coping, participation, or access to…</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Will Change? How Will We Know?</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Goals can include safety, behavior, relationships, coping, participation, or access to resources.</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Choose the Treatment Unit and Level of Care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The plan should identify who needs to participate and what level of care can safely address the problem.</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Decision tree for individual</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couple</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family</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group</a:t>
            </a:r>
            <a:endParaRPr lang="en-US" sz="1180" dirty="0"/>
          </a:p>
        </p:txBody>
      </p:sp>
      <p:sp>
        <p:nvSpPr>
          <p:cNvPr id="16" name="Text 14"/>
          <p:cNvSpPr/>
          <p:nvPr/>
        </p:nvSpPr>
        <p:spPr>
          <a:xfrm>
            <a:off x="10116922" y="2148840"/>
            <a:ext cx="718718"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outpatient</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Couple work may fit a reciprocal conflict cycle, while individual treatment may be safer when…</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Acute danger, severe withdrawal, or psychiatric instability may require a higher level of…</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Who Should Participate? What Intensity Is Needed?</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Acute danger, severe withdrawal, or psychiatric instability may require a higher level of care before routine outpatient therapy continues.</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Match Interventions to Maintaining Factors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Select interventions because they address the factors maintaining the problem.</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AF3EC"/>
          </a:solidFill>
          <a:ln w="13970">
            <a:solidFill>
              <a:srgbClr val="3D7A4D">
                <a:alpha val="75000"/>
              </a:srgbClr>
            </a:solidFill>
          </a:ln>
        </p:spPr>
        <p:txBody>
          <a:bodyPr wrap="square" lIns="1016" tIns="1016" rIns="1016" bIns="1016"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If escalation is maintained by rapid arousal and interruption, begin with regulation and…</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helpful intervention can still be wrong if it targets the wrong mechanism or arrives at the…</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Target What Keeps the Problem Going</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helpful intervention can still be wrong if it targets the wrong mechanism or arrives at the wrong time.</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Sequence Treatment in Phases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Treatment often unfolds in phases.</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Phases</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stabilize</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engage</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build skills</a:t>
            </a:r>
            <a:endParaRPr lang="en-US" sz="1180" dirty="0"/>
          </a:p>
        </p:txBody>
      </p:sp>
      <p:sp>
        <p:nvSpPr>
          <p:cNvPr id="16" name="Text 14"/>
          <p:cNvSpPr/>
          <p:nvPr/>
        </p:nvSpPr>
        <p:spPr>
          <a:xfrm>
            <a:off x="10116922" y="2148840"/>
            <a:ext cx="718718"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process</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First address safety, stabilization, and engagement.</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exact phases vary, but the exam often tests whether a sophisticated intervention is being…</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Stabilize → Build Capacity → Change Patterns → Consolidate</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exact phases vary, but the exam often tests whether a sophisticated intervention is being offered before the client has enough safety or…</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Plan for Barriers and Resources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plan is not feasible if the client cannot access it.</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Treatment plan with access…</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supports</a:t>
            </a:r>
            <a:endParaRPr lang="en-US" sz="1180" dirty="0"/>
          </a:p>
        </p:txBody>
      </p:sp>
      <p:sp>
        <p:nvSpPr>
          <p:cNvPr id="14" name="Text 12"/>
          <p:cNvSpPr/>
          <p:nvPr/>
        </p:nvSpPr>
        <p:spPr>
          <a:xfrm>
            <a:off x="9497568" y="2148840"/>
            <a:ext cx="1338072"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backup pathways.</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Consider cost, transportation, childcare, language, disability, technology, schedule,…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warm handoff and a scheduled check may be stronger than simply giving a resource list.</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Fit Includes Access and Follow-Through</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warm handoff and a scheduled check may be stronger than simply giving a resource list.</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Evaluate Progress and Revise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Review progress toward the agreed goals, symptom and functioning changes, risk, attendance, between-session practice, client feedback, alliance, and…</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Progress dashboard with goals</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symptoms</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functioning</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alliance</a:t>
            </a:r>
            <a:endParaRPr lang="en-US" sz="1180" dirty="0"/>
          </a:p>
        </p:txBody>
      </p:sp>
      <p:sp>
        <p:nvSpPr>
          <p:cNvPr id="16" name="Text 14"/>
          <p:cNvSpPr/>
          <p:nvPr/>
        </p:nvSpPr>
        <p:spPr>
          <a:xfrm>
            <a:off x="10116922" y="2148840"/>
            <a:ext cx="718718"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barriers</a:t>
            </a:r>
            <a:endParaRPr lang="en-US" sz="1180" dirty="0"/>
          </a:p>
        </p:txBody>
      </p:sp>
      <p:sp>
        <p:nvSpPr>
          <p:cNvPr id="17" name="Text 15"/>
          <p:cNvSpPr/>
          <p:nvPr/>
        </p:nvSpPr>
        <p:spPr>
          <a:xfrm>
            <a:off x="6949440" y="3063240"/>
            <a:ext cx="3246120" cy="1371600"/>
          </a:xfrm>
          <a:prstGeom prst="rect">
            <a:avLst/>
          </a:prstGeom>
          <a:solidFill>
            <a:srgbClr val="EAF3EC"/>
          </a:solidFill>
          <a:ln w="13970">
            <a:solidFill>
              <a:srgbClr val="3D7A4D">
                <a:alpha val="75000"/>
              </a:srgbClr>
            </a:solidFill>
          </a:ln>
        </p:spPr>
        <p:txBody>
          <a:bodyPr wrap="square" lIns="1016" tIns="1016" rIns="1016" bIns="1016"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Progress dashboard with goals</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Lack of progress does not automatically mean resistance or immediate termination.</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Modify the plan collaboratively and document the rationale.</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Measure • Ask • Compare • Revise</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Modify the plan collaboratively and document the rationale.</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A Multi-Problem Couple Case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Consider a couple with escalating conflict, one partner’s trauma triggers, increased alcohol use, and a pending eviction.</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Couple case map with conflict…</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trauma cue</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alcohol use</a:t>
            </a:r>
            <a:endParaRPr lang="en-US" sz="1180" dirty="0"/>
          </a:p>
        </p:txBody>
      </p:sp>
      <p:sp>
        <p:nvSpPr>
          <p:cNvPr id="15" name="Text 13"/>
          <p:cNvSpPr/>
          <p:nvPr/>
        </p:nvSpPr>
        <p:spPr>
          <a:xfrm>
            <a:off x="9884664" y="2148840"/>
            <a:ext cx="950976"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housing stress.</a:t>
            </a:r>
            <a:endParaRPr lang="en-US" sz="118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weak plan chooses a communication technique and ignores the rest.</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treatment sequence may combine stabilization, resource coordination, individual…</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Prioritize and Sequence - Do Not Treat Everything at Once</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treatment sequence may combine stabilization, resource coordination, individual assessment, and carefully selected couple work.</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Common Planning Traps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Watch for four traps.</a:t>
            </a:r>
            <a:endParaRPr lang="en-US" sz="2120" dirty="0"/>
          </a:p>
        </p:txBody>
      </p:sp>
      <p:sp>
        <p:nvSpPr>
          <p:cNvPr id="11" name="Text 9"/>
          <p:cNvSpPr/>
          <p:nvPr/>
        </p:nvSpPr>
        <p:spPr>
          <a:xfrm>
            <a:off x="6446520" y="1874520"/>
            <a:ext cx="2098548" cy="1092708"/>
          </a:xfrm>
          <a:prstGeom prst="rect">
            <a:avLst/>
          </a:prstGeom>
          <a:solidFill>
            <a:srgbClr val="EAF3EC"/>
          </a:solidFill>
          <a:ln w="10160">
            <a:solidFill>
              <a:srgbClr val="D9E0E8"/>
            </a:solidFill>
          </a:ln>
        </p:spPr>
        <p:txBody>
          <a:bodyPr wrap="square" lIns="1270" tIns="1270" rIns="1270" bIns="1270" rtlCol="0" anchor="ctr">
            <a:normAutofit/>
          </a:bodyPr>
          <a:lstStyle/>
          <a:p>
            <a:pPr indent="0" marL="0">
              <a:buNone/>
            </a:pPr>
            <a:r>
              <a:rPr lang="en-US" sz="1400" b="1" dirty="0">
                <a:solidFill>
                  <a:srgbClr val="3D7A4D"/>
                </a:solidFill>
                <a:latin typeface="Aptos" pitchFamily="34" charset="0"/>
                <a:ea typeface="Aptos" pitchFamily="34" charset="-122"/>
                <a:cs typeface="Aptos" pitchFamily="34" charset="-120"/>
              </a:rPr>
              <a:t>Four trap cards</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technique first</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vague goal</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therapist only plan</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First, choosing a favorite technique before formulating the case.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Strong plans explain why this target, this treatment unit, this intervention, and this…</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Favorite Technique • Vague Goal • No Collaboration • No Revision</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Strong plans explain why this target, this treatment unit, this intervention, and this sequence make sense now.</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the Planning Check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Use this planning check.</a:t>
            </a:r>
            <a:endParaRPr lang="en-US" sz="2120" dirty="0"/>
          </a:p>
        </p:txBody>
      </p:sp>
      <p:sp>
        <p:nvSpPr>
          <p:cNvPr id="11" name="Text 9"/>
          <p:cNvSpPr/>
          <p:nvPr/>
        </p:nvSpPr>
        <p:spPr>
          <a:xfrm>
            <a:off x="6446520" y="1874520"/>
            <a:ext cx="2098548" cy="1092708"/>
          </a:xfrm>
          <a:prstGeom prst="rect">
            <a:avLst/>
          </a:prstGeom>
          <a:solidFill>
            <a:srgbClr val="EAF3EC"/>
          </a:solidFill>
          <a:ln w="10160">
            <a:solidFill>
              <a:srgbClr val="D9E0E8"/>
            </a:solidFill>
          </a:ln>
        </p:spPr>
        <p:txBody>
          <a:bodyPr wrap="square" lIns="1270" tIns="1270" rIns="1270" bIns="1270" rtlCol="0" anchor="ctr">
            <a:normAutofit/>
          </a:bodyPr>
          <a:lstStyle/>
          <a:p>
            <a:pPr indent="0" marL="0">
              <a:buNone/>
            </a:pPr>
            <a:r>
              <a:rPr lang="en-US" sz="1400" b="1" dirty="0">
                <a:solidFill>
                  <a:srgbClr val="3D7A4D"/>
                </a:solidFill>
                <a:latin typeface="Aptos" pitchFamily="34" charset="0"/>
                <a:ea typeface="Aptos" pitchFamily="34" charset="-122"/>
                <a:cs typeface="Aptos" pitchFamily="34" charset="-120"/>
              </a:rPr>
              <a:t>Checklist</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formulation</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priority</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goal</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formulation best organizes the case?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How and when will progress be reviewed?</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Formulation • Priority • Goal • Unit • Level • Intervention • Measure • Review</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How and when will progress be reviewed?</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CONCEPTUALIZATION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05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Next Step</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During your next LMFT question bank, do not stop at choosing an intervention.</a:t>
            </a:r>
            <a:endParaRPr lang="en-US" sz="2120" dirty="0"/>
          </a:p>
        </p:txBody>
      </p:sp>
      <p:sp>
        <p:nvSpPr>
          <p:cNvPr id="11" name="Text 9"/>
          <p:cNvSpPr/>
          <p:nvPr/>
        </p:nvSpPr>
        <p:spPr>
          <a:xfrm>
            <a:off x="6446520" y="1874520"/>
            <a:ext cx="2098548" cy="1092708"/>
          </a:xfrm>
          <a:prstGeom prst="rect">
            <a:avLst/>
          </a:prstGeom>
          <a:solidFill>
            <a:srgbClr val="EAF3EC"/>
          </a:solidFill>
          <a:ln w="10160">
            <a:solidFill>
              <a:srgbClr val="D9E0E8"/>
            </a:solidFill>
          </a:ln>
        </p:spPr>
        <p:txBody>
          <a:bodyPr wrap="square" lIns="1270" tIns="1270" rIns="1270" bIns="1270" rtlCol="0" anchor="ctr">
            <a:normAutofit/>
          </a:bodyPr>
          <a:lstStyle/>
          <a:p>
            <a:pPr indent="0" marL="0">
              <a:buNone/>
            </a:pPr>
            <a:r>
              <a:rPr lang="en-US" sz="1400" b="1" dirty="0">
                <a:solidFill>
                  <a:srgbClr val="3D7A4D"/>
                </a:solidFill>
                <a:latin typeface="Aptos" pitchFamily="34" charset="0"/>
                <a:ea typeface="Aptos" pitchFamily="34" charset="-122"/>
                <a:cs typeface="Aptos" pitchFamily="34" charset="-120"/>
              </a:rPr>
              <a:t>Clarify</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Sequence</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Choose</a:t>
            </a:r>
            <a:endParaRPr lang="en-US" sz="140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Write one sentence explaining why it fits the formulation, priority, treatment unit, and…</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Add that planning error to your CTA log.</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Next: Explain Why the Plan Fits</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Add that planning error to your CTA log.</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Multimedia Script 05: Case Conceptualization and Treatment Planning</dc:title>
  <dc:subject>LMFT-Specific Multimedia Script 05</dc:subject>
  <dc:creator>Clinical Training Academy</dc:creator>
  <cp:lastModifiedBy>Clinical Training Academy</cp:lastModifiedBy>
  <cp:revision>1</cp:revision>
  <dcterms:created xsi:type="dcterms:W3CDTF">2026-07-25T20:25:46Z</dcterms:created>
  <dcterms:modified xsi:type="dcterms:W3CDTF">2026-07-25T20:25:46Z</dcterms:modified>
</cp:coreProperties>
</file>