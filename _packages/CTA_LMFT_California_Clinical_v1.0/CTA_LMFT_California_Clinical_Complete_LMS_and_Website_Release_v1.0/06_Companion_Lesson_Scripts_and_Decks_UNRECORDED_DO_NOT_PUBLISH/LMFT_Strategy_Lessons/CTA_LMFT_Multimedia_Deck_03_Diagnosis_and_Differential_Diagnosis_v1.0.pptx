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Diagnosis organizes a pattern of symptoms, duration, severity, impairment, and exclusions into a clinically useful explanation. It can guide treatment, communication, and level-of-care decisions. On the exam, diagnosis should be supported by enough information, not chosen because one symptom sounds familiar. A careful clinician remains open to revision when new medical, substance, developmental, cultural, trauma, or relational information changes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symptom rarely determines the diagnosis. Sleep loss can occur with anxiety, depression, mania, trauma, substances, medication effects, medical illness, caregiving stress, or environmental disruption. Clarify which symptoms occur together, their intensity, their relationship to one another, and whether they form a coherent syndrome. The exam often rewards the answer that broadens the assessment rather than locking onto the first recognizable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Duration and course help distinguish transient reactions from more persistent conditions. Ask when symptoms began, whether they are episodic or continuous, what preceded them, whether there were prior episodes, and how they affect work, school, relationships, caregiving, sleep, and self-care. A symptom may be distressing without meeting the threshold for a disorder. Conversely, severe impairment or rapid change may require urgent action even before the final diagnosis is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assigning a primary psychiatric explanation, examine health conditions, recent injury, pregnancy or postpartum status, medication changes, nonprescription products, intoxication, withdrawal, sleep deprivation, and other physiological factors. The therapist does not need to diagnose the medical condition to recognize that medical evaluation is necessary. Sudden confusion, altered consciousness, autonomic instability, or new neurological signs should not be reduced to anxiety, resistance, or family dynamics.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Chronology can separate competing explanations. Did panic occur before cannabis use or mainly after high-potency use? Did activation begin after a medication change? Did perceptual experiences appear only during severe sleep deprivation? Did mood symptoms precede a relationship crisis or follow it? The best next question often asks about timing, periods of abstinence, baseline functioning, and what happens when the suspected factor is absent.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Differential diagnosis asks which explanation best fits, but it does not assume only one factor can be present. A client may have trauma symptoms and substance misuse, depression and a medical condition, or anxiety intensified by relationship violence. Consider whether one condition causes another, whether both coexist, or whether a contextual problem better explains part of the presentation. The goal is accurate formulation, not forcing every symptom under one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Symptoms must be interpreted in developmental, cultural, trauma, relational, and environmental context. Consider age, developmental expectations, language, identity, migration, spirituality, discrimination, family norms, trauma exposure, attachment patterns, and current stressors. Context can change how distress is expressed and understood, but it should not be used to dismiss impairment or danger. The goal is culturally responsive differential reasoning, not stereotyping or diagnostic avoidance.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presentation includes imminent danger, severe intoxication or withdrawal, acute psychosis, mania with impaired judgment, inability to care safely for a child, or another emergency, the first task is safety and appropriate evaluation. The diagnosis may remain provisional. The exam does not require perfect certainty before taking protective action. It requires recognition that urgency can change the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more assessment when the vignette omits facts that would change the diagnosis: duration, functional impairment, medical history, substance timing, developmental baseline, trauma exposure, prior episodes, or the client’s own account. Avoid adding facts that are not in the question. At the same time, do not keep assessing when the scenario already establishes an emergency or a mandatory protective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 client who develops very little need for sleep, impulsive spending, unusual confidence, and rapid speech after a recent medication change. A premature answer diagnoses a disorder immediately or tells the client to stop the medication. A stronger response assesses safety, chronology, other substances and medical factors, prior episodes, and functioning, and coordinates urgent prescriber or medical evaluation. Diagnosis can be refined after immediate risk and possible medication effects are addressed.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consider a client grieving a major loss who reports sadness, poor sleep, and reduced concentration. It is premature to automatically diagnose a depressive disorder, and it is also unsafe to assume all symptoms are normal grief. Clarify duration, intensity, self-worth, hopelessness, suicidal thinking, psychotic symptoms, functional decline, prior history, cultural practices, and available support. The correct answer respects grief while assessing for a condition that may require additional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for four traps. First, diagnosing from one symptom. Second, treating an early hypothesis as certainty. Third, ignoring medical, medication, substance, developmental, cultural, trauma, or relational explanations. Fourth, using the diagnosis as a moral judgment or identity statement. Strong exam reasoning explains what evidence supports the diagnosis and what competing explanation still needs to be addressed.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differential diagnosis check. What is the full symptom pattern? How long has it lasted and what is the course? What impairment is present? What happened before the symptoms began? What medical, medication, or substance factors must be ruled out? What developmental, cultural, trauma, or relational explanations compete? Could more than one condition be relevant? Is there an urgent safety or level-of-care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your next LMFT question bank, write two plausible explanations before choosing an answer. Then identify the fact that best separates them. If you miss the item, record whether you focused on one symptom, ignored chronology, missed an exclusion, or delayed urgent action while trying to perfect the diagnosis. Add that error pattern to your CTA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DIFFERENTIAL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03  •  01/14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01</a:t>
            </a:r>
            <a:endParaRPr lang="en-US" sz="3800" dirty="0"/>
          </a:p>
        </p:txBody>
      </p:sp>
      <p:sp>
        <p:nvSpPr>
          <p:cNvPr id="9" name="Text 7"/>
          <p:cNvSpPr/>
          <p:nvPr/>
        </p:nvSpPr>
        <p:spPr>
          <a:xfrm>
            <a:off x="566928" y="950976"/>
            <a:ext cx="6629400" cy="960120"/>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Diagnosis and Differential Diagnosis</a:t>
            </a:r>
            <a:endParaRPr lang="en-US" sz="3300" dirty="0"/>
          </a:p>
        </p:txBody>
      </p:sp>
      <p:sp>
        <p:nvSpPr>
          <p:cNvPr id="10" name="Text 8"/>
          <p:cNvSpPr/>
          <p:nvPr/>
        </p:nvSpPr>
        <p:spPr>
          <a:xfrm>
            <a:off x="585216" y="1938528"/>
            <a:ext cx="6903720" cy="310896"/>
          </a:xfrm>
          <a:prstGeom prst="rect">
            <a:avLst/>
          </a:prstGeom>
          <a:noFill/>
          <a:ln/>
        </p:spPr>
        <p:txBody>
          <a:bodyPr wrap="square" lIns="0" tIns="0" rIns="0" bIns="0" rtlCol="0" anchor="ctr"/>
          <a:lstStyle/>
          <a:p>
            <a:pPr indent="0" marL="0">
              <a:buNone/>
            </a:pPr>
            <a:r>
              <a:rPr lang="en-US" sz="1340" dirty="0">
                <a:solidFill>
                  <a:srgbClr val="5A6675"/>
                </a:solidFill>
                <a:latin typeface="Aptos" pitchFamily="34" charset="0"/>
                <a:ea typeface="Aptos" pitchFamily="34" charset="-122"/>
                <a:cs typeface="Aptos" pitchFamily="34" charset="-120"/>
              </a:rPr>
              <a:t>LMFT-Specific Multimedia Script 03 • Ready-to-record deck</a:t>
            </a:r>
            <a:endParaRPr lang="en-US" sz="1340" dirty="0"/>
          </a:p>
        </p:txBody>
      </p:sp>
      <p:sp>
        <p:nvSpPr>
          <p:cNvPr id="11" name="Text 9"/>
          <p:cNvSpPr/>
          <p:nvPr/>
        </p:nvSpPr>
        <p:spPr>
          <a:xfrm>
            <a:off x="7882128" y="2212848"/>
            <a:ext cx="3246120" cy="1005840"/>
          </a:xfrm>
          <a:prstGeom prst="rect">
            <a:avLst/>
          </a:prstGeom>
          <a:noFill/>
          <a:ln/>
        </p:spPr>
        <p:txBody>
          <a:bodyPr wrap="square" lIns="254" tIns="254" rIns="254" bIns="254"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Diagnosis organizes a pattern of symptoms, duration, severity, impairment, and exclusions into a clinically useful explanation.</a:t>
            </a:r>
            <a:endParaRPr lang="en-US" sz="2050" dirty="0"/>
          </a:p>
        </p:txBody>
      </p:sp>
      <p:sp>
        <p:nvSpPr>
          <p:cNvPr id="12" name="Text 10"/>
          <p:cNvSpPr/>
          <p:nvPr/>
        </p:nvSpPr>
        <p:spPr>
          <a:xfrm>
            <a:off x="7635240" y="5413248"/>
            <a:ext cx="3429000" cy="411480"/>
          </a:xfrm>
          <a:prstGeom prst="rect">
            <a:avLst/>
          </a:prstGeom>
          <a:noFill/>
          <a:ln/>
        </p:spPr>
        <p:txBody>
          <a:bodyPr wrap="square" lIns="0" tIns="0" rIns="0" bIns="0" rtlCol="0" anchor="ctr">
            <a:normAutofit/>
          </a:bodyPr>
          <a:lstStyle/>
          <a:p>
            <a:pPr indent="0" marL="0">
              <a:buNone/>
            </a:pPr>
            <a:r>
              <a:rPr lang="en-US" sz="1280" dirty="0">
                <a:solidFill>
                  <a:srgbClr val="5A6675"/>
                </a:solidFill>
                <a:latin typeface="Aptos" pitchFamily="34" charset="0"/>
                <a:ea typeface="Aptos" pitchFamily="34" charset="-122"/>
                <a:cs typeface="Aptos" pitchFamily="34" charset="-120"/>
              </a:rPr>
              <a:t>Speaker notes are synchronized with the Word narration script.</a:t>
            </a:r>
            <a:endParaRPr lang="en-US" sz="1280" dirty="0"/>
          </a:p>
        </p:txBody>
      </p:sp>
      <p:sp>
        <p:nvSpPr>
          <p:cNvPr id="13" name="Text 11"/>
          <p:cNvSpPr/>
          <p:nvPr/>
        </p:nvSpPr>
        <p:spPr>
          <a:xfrm>
            <a:off x="621792" y="5358384"/>
            <a:ext cx="2514600" cy="301752"/>
          </a:xfrm>
          <a:prstGeom prst="rect">
            <a:avLst/>
          </a:prstGeom>
          <a:solidFill>
            <a:srgbClr val="6B4BA3"/>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4" name="Shape 12"/>
          <p:cNvSpPr/>
          <p:nvPr/>
        </p:nvSpPr>
        <p:spPr>
          <a:xfrm>
            <a:off x="1033272" y="3566160"/>
            <a:ext cx="5760720" cy="0"/>
          </a:xfrm>
          <a:prstGeom prst="line">
            <a:avLst/>
          </a:prstGeom>
          <a:noFill/>
          <a:ln w="15240">
            <a:solidFill>
              <a:srgbClr val="6B4BA3">
                <a:alpha val="75000"/>
              </a:srgbClr>
            </a:solidFill>
            <a:prstDash val="solid"/>
            <a:tailEnd type="triangle"/>
          </a:ln>
        </p:spPr>
      </p:sp>
      <p:sp>
        <p:nvSpPr>
          <p:cNvPr id="15" name="Text 13"/>
          <p:cNvSpPr/>
          <p:nvPr/>
        </p:nvSpPr>
        <p:spPr>
          <a:xfrm>
            <a:off x="804672"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Clinical observations</a:t>
            </a:r>
            <a:endParaRPr lang="en-US" sz="1180" dirty="0"/>
          </a:p>
        </p:txBody>
      </p:sp>
      <p:sp>
        <p:nvSpPr>
          <p:cNvPr id="16" name="Text 14"/>
          <p:cNvSpPr/>
          <p:nvPr/>
        </p:nvSpPr>
        <p:spPr>
          <a:xfrm>
            <a:off x="2947416"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history flowing into a working…</a:t>
            </a:r>
            <a:endParaRPr lang="en-US" sz="1180" dirty="0"/>
          </a:p>
        </p:txBody>
      </p:sp>
      <p:sp>
        <p:nvSpPr>
          <p:cNvPr id="17" name="Text 15"/>
          <p:cNvSpPr/>
          <p:nvPr/>
        </p:nvSpPr>
        <p:spPr>
          <a:xfrm>
            <a:off x="5090160" y="3273552"/>
            <a:ext cx="1932432"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not a permanent label.</a:t>
            </a:r>
            <a:endParaRPr lang="en-US" sz="1180" dirty="0"/>
          </a:p>
        </p:txBody>
      </p:sp>
      <p:sp>
        <p:nvSpPr>
          <p:cNvPr id="18" name="Text 16"/>
          <p:cNvSpPr/>
          <p:nvPr/>
        </p:nvSpPr>
        <p:spPr>
          <a:xfrm>
            <a:off x="7635240" y="3364992"/>
            <a:ext cx="1687068" cy="758952"/>
          </a:xfrm>
          <a:prstGeom prst="rect">
            <a:avLst/>
          </a:prstGeom>
          <a:solidFill>
            <a:srgbClr val="EEE9F7"/>
          </a:solidFill>
          <a:ln w="10160">
            <a:solidFill>
              <a:srgbClr val="D9E0E8"/>
            </a:solidFill>
          </a:ln>
        </p:spPr>
        <p:txBody>
          <a:bodyPr wrap="square" lIns="1270" tIns="1270" rIns="1270" bIns="1270" rtlCol="0" anchor="ctr">
            <a:normAutofit/>
          </a:bodyPr>
          <a:lstStyle/>
          <a:p>
            <a:pPr indent="0" marL="0">
              <a:buNone/>
            </a:pPr>
            <a:r>
              <a:rPr lang="en-US" sz="1400" b="1" dirty="0">
                <a:solidFill>
                  <a:srgbClr val="6B4BA3"/>
                </a:solidFill>
                <a:latin typeface="Aptos" pitchFamily="34" charset="0"/>
                <a:ea typeface="Aptos" pitchFamily="34" charset="-122"/>
                <a:cs typeface="Aptos" pitchFamily="34" charset="-120"/>
              </a:rPr>
              <a:t>Clinical observations</a:t>
            </a:r>
            <a:endParaRPr lang="en-US" sz="1400" dirty="0"/>
          </a:p>
        </p:txBody>
      </p:sp>
      <p:sp>
        <p:nvSpPr>
          <p:cNvPr id="19" name="Text 17"/>
          <p:cNvSpPr/>
          <p:nvPr/>
        </p:nvSpPr>
        <p:spPr>
          <a:xfrm>
            <a:off x="9395460" y="3364992"/>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history flowing into a working…</a:t>
            </a:r>
            <a:endParaRPr lang="en-US" sz="1400" dirty="0"/>
          </a:p>
        </p:txBody>
      </p:sp>
      <p:sp>
        <p:nvSpPr>
          <p:cNvPr id="20" name="Text 18"/>
          <p:cNvSpPr/>
          <p:nvPr/>
        </p:nvSpPr>
        <p:spPr>
          <a:xfrm>
            <a:off x="7635240" y="4197096"/>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not a permanent label.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DIFFERENTIAL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03  •  02/14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02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Start With the Full Symptom Pattern</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single symptom rarely determines the diagnosis.</a:t>
            </a:r>
            <a:endParaRPr lang="en-US" sz="2120" dirty="0"/>
          </a:p>
        </p:txBody>
      </p:sp>
      <p:sp>
        <p:nvSpPr>
          <p:cNvPr id="11" name="Shape 9"/>
          <p:cNvSpPr/>
          <p:nvPr/>
        </p:nvSpPr>
        <p:spPr>
          <a:xfrm>
            <a:off x="6629400" y="2441448"/>
            <a:ext cx="3977640" cy="0"/>
          </a:xfrm>
          <a:prstGeom prst="line">
            <a:avLst/>
          </a:prstGeom>
          <a:noFill/>
          <a:ln w="15240">
            <a:solidFill>
              <a:srgbClr val="6B4BA3">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cluster of emotional</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cognitive</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behavioral</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physical</a:t>
            </a:r>
            <a:endParaRPr lang="en-US" sz="1180" dirty="0"/>
          </a:p>
        </p:txBody>
      </p:sp>
      <p:sp>
        <p:nvSpPr>
          <p:cNvPr id="16" name="Text 14"/>
          <p:cNvSpPr/>
          <p:nvPr/>
        </p:nvSpPr>
        <p:spPr>
          <a:xfrm>
            <a:off x="10116922" y="2148840"/>
            <a:ext cx="718718"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relational symptoms.</a:t>
            </a:r>
            <a:endParaRPr lang="en-US" sz="1180" dirty="0"/>
          </a:p>
        </p:txBody>
      </p:sp>
      <p:sp>
        <p:nvSpPr>
          <p:cNvPr id="17" name="Text 15"/>
          <p:cNvSpPr/>
          <p:nvPr/>
        </p:nvSpPr>
        <p:spPr>
          <a:xfrm>
            <a:off x="6949440" y="3063240"/>
            <a:ext cx="3246120" cy="1371600"/>
          </a:xfrm>
          <a:prstGeom prst="rect">
            <a:avLst/>
          </a:prstGeom>
          <a:solidFill>
            <a:srgbClr val="EEE9F7"/>
          </a:solidFill>
          <a:ln w="13970">
            <a:solidFill>
              <a:srgbClr val="6B4BA3">
                <a:alpha val="75000"/>
              </a:srgbClr>
            </a:solidFill>
          </a:ln>
        </p:spPr>
        <p:txBody>
          <a:bodyPr wrap="square" lIns="1016" tIns="1016" rIns="1016" bIns="1016"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cluster of emotional</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Sleep loss can occur with anxiety, depression, mania, trauma, substances, medication effects,…</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exam often rewards the answer that broadens the assessment rather than locking onto the…</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Pattern, Not One Symptom</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exam often rewards the answer that broadens the assessment rather than locking onto the first recognizable feature.</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DIFFERENTIAL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03  •  03/14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03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Duration, Course, and Impairment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Duration and course help distinguish transient reactions from more persistent conditions.</a:t>
            </a:r>
            <a:endParaRPr lang="en-US" sz="2120" dirty="0"/>
          </a:p>
        </p:txBody>
      </p:sp>
      <p:sp>
        <p:nvSpPr>
          <p:cNvPr id="11" name="Shape 9"/>
          <p:cNvSpPr/>
          <p:nvPr/>
        </p:nvSpPr>
        <p:spPr>
          <a:xfrm>
            <a:off x="6629400" y="2441448"/>
            <a:ext cx="3977640" cy="0"/>
          </a:xfrm>
          <a:prstGeom prst="line">
            <a:avLst/>
          </a:prstGeom>
          <a:noFill/>
          <a:ln w="15240">
            <a:solidFill>
              <a:srgbClr val="6B4BA3">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Timeline with onset</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episodes</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remission</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recurrence</a:t>
            </a:r>
            <a:endParaRPr lang="en-US" sz="1180" dirty="0"/>
          </a:p>
        </p:txBody>
      </p:sp>
      <p:sp>
        <p:nvSpPr>
          <p:cNvPr id="16" name="Text 14"/>
          <p:cNvSpPr/>
          <p:nvPr/>
        </p:nvSpPr>
        <p:spPr>
          <a:xfrm>
            <a:off x="10116922" y="2148840"/>
            <a:ext cx="718718"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functional impact.</a:t>
            </a:r>
            <a:endParaRPr lang="en-US" sz="118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Ask when symptoms began, whether they are episodic or continuous, what preceded them, whether…</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Conversely, severe impairment or rapid change may require urgent action even before the final…</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When? How Long? How Much Impairment?</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Conversely, severe impairment or rapid change may require urgent action even before the final diagnosis is clear.</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DIFFERENTIAL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03  •  04/14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04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Rule Out Medical, Medication, and Substance Causes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Before assigning a primary psychiatric explanation, examine health conditions, recent injury, pregnancy or postpartum status, medication changes,…</a:t>
            </a:r>
            <a:endParaRPr lang="en-US" sz="2120" dirty="0"/>
          </a:p>
        </p:txBody>
      </p:sp>
      <p:sp>
        <p:nvSpPr>
          <p:cNvPr id="11" name="Text 9"/>
          <p:cNvSpPr/>
          <p:nvPr/>
        </p:nvSpPr>
        <p:spPr>
          <a:xfrm>
            <a:off x="6446520" y="1874520"/>
            <a:ext cx="2098548" cy="1092708"/>
          </a:xfrm>
          <a:prstGeom prst="rect">
            <a:avLst/>
          </a:prstGeom>
          <a:solidFill>
            <a:srgbClr val="EEE9F7"/>
          </a:solidFill>
          <a:ln w="10160">
            <a:solidFill>
              <a:srgbClr val="D9E0E8"/>
            </a:solidFill>
          </a:ln>
        </p:spPr>
        <p:txBody>
          <a:bodyPr wrap="square" lIns="1270" tIns="1270" rIns="1270" bIns="1270" rtlCol="0" anchor="ctr">
            <a:normAutofit/>
          </a:bodyPr>
          <a:lstStyle/>
          <a:p>
            <a:pPr indent="0" marL="0">
              <a:buNone/>
            </a:pPr>
            <a:r>
              <a:rPr lang="en-US" sz="1400" b="1" dirty="0">
                <a:solidFill>
                  <a:srgbClr val="6B4BA3"/>
                </a:solidFill>
                <a:latin typeface="Aptos" pitchFamily="34" charset="0"/>
                <a:ea typeface="Aptos" pitchFamily="34" charset="-122"/>
                <a:cs typeface="Aptos" pitchFamily="34" charset="-120"/>
              </a:rPr>
              <a:t>Three exclusion pathways</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health condition</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medication effect</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substance intoxication</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therapist does not need to diagnose the medical condition to recognize that medical…</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Sudden confusion, altered consciousness, autonomic instability, or new neurological signs…</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Health • Medication • Substance</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Sudden confusion, altered consciousness, autonomic instability, or new neurological signs should not be reduced to anxiety, resistance, or…</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DIFFERENTIAL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03  •  05/14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05</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Chronology Often Solves the Differential</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Chronology can separate competing explanations.</a:t>
            </a:r>
            <a:endParaRPr lang="en-US" sz="2120" dirty="0"/>
          </a:p>
        </p:txBody>
      </p:sp>
      <p:sp>
        <p:nvSpPr>
          <p:cNvPr id="11" name="Shape 9"/>
          <p:cNvSpPr/>
          <p:nvPr/>
        </p:nvSpPr>
        <p:spPr>
          <a:xfrm>
            <a:off x="6629400" y="2441448"/>
            <a:ext cx="3977640" cy="0"/>
          </a:xfrm>
          <a:prstGeom prst="line">
            <a:avLst/>
          </a:prstGeom>
          <a:noFill/>
          <a:ln w="15240">
            <a:solidFill>
              <a:srgbClr val="6B4BA3">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Symptoms placed before</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after a substance</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medication</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loss</a:t>
            </a:r>
            <a:endParaRPr lang="en-US" sz="1180" dirty="0"/>
          </a:p>
        </p:txBody>
      </p:sp>
      <p:sp>
        <p:nvSpPr>
          <p:cNvPr id="16" name="Text 14"/>
          <p:cNvSpPr/>
          <p:nvPr/>
        </p:nvSpPr>
        <p:spPr>
          <a:xfrm>
            <a:off x="10116922" y="2148840"/>
            <a:ext cx="718718"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trauma</a:t>
            </a:r>
            <a:endParaRPr lang="en-US" sz="1180" dirty="0"/>
          </a:p>
        </p:txBody>
      </p:sp>
      <p:sp>
        <p:nvSpPr>
          <p:cNvPr id="17" name="Text 15"/>
          <p:cNvSpPr/>
          <p:nvPr/>
        </p:nvSpPr>
        <p:spPr>
          <a:xfrm>
            <a:off x="6949440" y="3063240"/>
            <a:ext cx="3246120" cy="1371600"/>
          </a:xfrm>
          <a:prstGeom prst="rect">
            <a:avLst/>
          </a:prstGeom>
          <a:solidFill>
            <a:srgbClr val="EEE9F7"/>
          </a:solidFill>
          <a:ln w="13970">
            <a:solidFill>
              <a:srgbClr val="6B4BA3">
                <a:alpha val="75000"/>
              </a:srgbClr>
            </a:solidFill>
          </a:ln>
        </p:spPr>
        <p:txBody>
          <a:bodyPr wrap="square" lIns="1016" tIns="1016" rIns="1016" bIns="1016"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Symptoms placed before</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Did panic occur before cannabis use or mainly after high-potency use?</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best next question often asks about timing, periods of abstinence, baseline functioning,…</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Came First? What Changes the Symptoms?</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best next question often asks about timing, periods of abstinence, baseline functioning, and what happens when the suspected factor is…</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DIFFERENTIAL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03  •  06/14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06</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Differentiate Comorbidity From One-Cause Thinking</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Differential diagnosis asks which explanation best fits, but it does not assume only one factor can be present.</a:t>
            </a:r>
            <a:endParaRPr lang="en-US" sz="2120" dirty="0"/>
          </a:p>
        </p:txBody>
      </p:sp>
      <p:sp>
        <p:nvSpPr>
          <p:cNvPr id="11" name="Text 9"/>
          <p:cNvSpPr/>
          <p:nvPr/>
        </p:nvSpPr>
        <p:spPr>
          <a:xfrm>
            <a:off x="6629400" y="1901952"/>
            <a:ext cx="3931920" cy="475488"/>
          </a:xfrm>
          <a:prstGeom prst="rect">
            <a:avLst/>
          </a:prstGeom>
          <a:solidFill>
            <a:srgbClr val="EEE9F7"/>
          </a:solidFill>
          <a:ln w="15240">
            <a:solidFill>
              <a:srgbClr val="6B4BA3">
                <a:alpha val="82000"/>
              </a:srgbClr>
            </a:solidFill>
          </a:ln>
        </p:spPr>
        <p:txBody>
          <a:bodyPr wrap="square" lIns="508" tIns="508" rIns="508" bIns="508" rtlCol="0" anchor="ctr">
            <a:normAutofit/>
          </a:bodyPr>
          <a:lstStyle/>
          <a:p>
            <a:pPr indent="0" marL="0">
              <a:buNone/>
            </a:pPr>
            <a:r>
              <a:rPr lang="en-US" sz="1320" b="1" dirty="0">
                <a:solidFill>
                  <a:srgbClr val="6B4BA3"/>
                </a:solidFill>
                <a:latin typeface="Aptos" pitchFamily="34" charset="0"/>
                <a:ea typeface="Aptos" pitchFamily="34" charset="-122"/>
                <a:cs typeface="Aptos" pitchFamily="34" charset="-120"/>
              </a:rPr>
              <a:t>Clarify</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Sequence</a:t>
            </a:r>
            <a:endParaRPr lang="en-US" sz="1320" dirty="0"/>
          </a:p>
        </p:txBody>
      </p:sp>
      <p:sp>
        <p:nvSpPr>
          <p:cNvPr id="13" name="Text 11"/>
          <p:cNvSpPr/>
          <p:nvPr/>
        </p:nvSpPr>
        <p:spPr>
          <a:xfrm>
            <a:off x="6629400" y="3218688"/>
            <a:ext cx="3931920" cy="475488"/>
          </a:xfrm>
          <a:prstGeom prst="rect">
            <a:avLst/>
          </a:prstGeom>
          <a:solidFill>
            <a:srgbClr val="EEE9F7"/>
          </a:solidFill>
          <a:ln w="9525">
            <a:solidFill>
              <a:srgbClr val="6B4BA3"/>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Choose</a:t>
            </a:r>
            <a:endParaRPr lang="en-US" sz="1320" dirty="0"/>
          </a:p>
        </p:txBody>
      </p:sp>
      <p:sp>
        <p:nvSpPr>
          <p:cNvPr id="14" name="Text 12"/>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client may have trauma symptoms and substance misuse, depression and a medical condition,…</a:t>
            </a:r>
            <a:endParaRPr lang="en-US" sz="1350" dirty="0"/>
          </a:p>
        </p:txBody>
      </p:sp>
      <p:sp>
        <p:nvSpPr>
          <p:cNvPr id="16" name="Text 14"/>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goal is accurate formulation, not forcing every symptom under one label.</a:t>
            </a:r>
            <a:endParaRPr lang="en-US" sz="135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One Person Can Have More Than One Relevant Condition</a:t>
            </a:r>
            <a:endParaRPr lang="en-US" sz="1350" dirty="0"/>
          </a:p>
        </p:txBody>
      </p:sp>
      <p:sp>
        <p:nvSpPr>
          <p:cNvPr id="20" name="Text 18"/>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goal is accurate formulation, not forcing every symptom under one label.</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DIFFERENTIAL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03  •  07/14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07</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Include Developmental, Cultural, Trauma, and Relational Context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Symptoms must be interpreted in developmental, cultural, trauma, relational, and environmental context.</a:t>
            </a:r>
            <a:endParaRPr lang="en-US" sz="2120" dirty="0"/>
          </a:p>
        </p:txBody>
      </p:sp>
      <p:sp>
        <p:nvSpPr>
          <p:cNvPr id="11" name="Text 9"/>
          <p:cNvSpPr/>
          <p:nvPr/>
        </p:nvSpPr>
        <p:spPr>
          <a:xfrm>
            <a:off x="6629400" y="1901952"/>
            <a:ext cx="3931920" cy="475488"/>
          </a:xfrm>
          <a:prstGeom prst="rect">
            <a:avLst/>
          </a:prstGeom>
          <a:solidFill>
            <a:srgbClr val="EEE9F7"/>
          </a:solidFill>
          <a:ln w="15240">
            <a:solidFill>
              <a:srgbClr val="6B4BA3">
                <a:alpha val="82000"/>
              </a:srgbClr>
            </a:solidFill>
          </a:ln>
        </p:spPr>
        <p:txBody>
          <a:bodyPr wrap="square" lIns="508" tIns="508" rIns="508" bIns="508" rtlCol="0" anchor="ctr">
            <a:normAutofit/>
          </a:bodyPr>
          <a:lstStyle/>
          <a:p>
            <a:pPr indent="0" marL="0">
              <a:buNone/>
            </a:pPr>
            <a:r>
              <a:rPr lang="en-US" sz="1320" b="1" dirty="0">
                <a:solidFill>
                  <a:srgbClr val="6B4BA3"/>
                </a:solidFill>
                <a:latin typeface="Aptos" pitchFamily="34" charset="0"/>
                <a:ea typeface="Aptos" pitchFamily="34" charset="-122"/>
                <a:cs typeface="Aptos" pitchFamily="34" charset="-120"/>
              </a:rPr>
              <a:t>Diagnostic lens surrounded by…</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culture</a:t>
            </a:r>
            <a:endParaRPr lang="en-US" sz="1320" dirty="0"/>
          </a:p>
        </p:txBody>
      </p:sp>
      <p:sp>
        <p:nvSpPr>
          <p:cNvPr id="13" name="Text 11"/>
          <p:cNvSpPr/>
          <p:nvPr/>
        </p:nvSpPr>
        <p:spPr>
          <a:xfrm>
            <a:off x="6629400" y="3218688"/>
            <a:ext cx="3931920" cy="475488"/>
          </a:xfrm>
          <a:prstGeom prst="rect">
            <a:avLst/>
          </a:prstGeom>
          <a:solidFill>
            <a:srgbClr val="EEE9F7"/>
          </a:solidFill>
          <a:ln w="9525">
            <a:solidFill>
              <a:srgbClr val="6B4BA3"/>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trauma</a:t>
            </a:r>
            <a:endParaRPr lang="en-US" sz="1320" dirty="0"/>
          </a:p>
        </p:txBody>
      </p:sp>
      <p:sp>
        <p:nvSpPr>
          <p:cNvPr id="14" name="Text 12"/>
          <p:cNvSpPr/>
          <p:nvPr/>
        </p:nvSpPr>
        <p:spPr>
          <a:xfrm>
            <a:off x="6629400" y="3877056"/>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relationships</a:t>
            </a:r>
            <a:endParaRPr lang="en-US" sz="132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Consider age, developmental expectations, language, identity, migration, spirituality,…</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goal is culturally responsive differential reasoning, not stereotyping or diagnostic…</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Context Changes Meaning Without Erasing Symptoms</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goal is culturally responsive differential reasoning, not stereotyping or diagnostic avoidance.</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DIFFERENTIAL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03  •  08/14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08</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Safety and Level of Care Come First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When the presentation includes imminent danger, severe intoxication or withdrawal, acute psychosis, mania with impaired judgment, inability to care…</a:t>
            </a:r>
            <a:endParaRPr lang="en-US" sz="2120" dirty="0"/>
          </a:p>
        </p:txBody>
      </p:sp>
      <p:sp>
        <p:nvSpPr>
          <p:cNvPr id="11" name="Shape 9"/>
          <p:cNvSpPr/>
          <p:nvPr/>
        </p:nvSpPr>
        <p:spPr>
          <a:xfrm>
            <a:off x="6629400" y="2441448"/>
            <a:ext cx="3977640" cy="0"/>
          </a:xfrm>
          <a:prstGeom prst="line">
            <a:avLst/>
          </a:prstGeom>
          <a:noFill/>
          <a:ln w="15240">
            <a:solidFill>
              <a:srgbClr val="6B4BA3">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diagnosis may remain provisional.</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It requires recognition that urgency can change the sequence.</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Stabilize Before Finalizing the Label</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It requires recognition that urgency can change the sequence.</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DIFFERENTIAL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03  •  09/14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09</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Know When More Assessment Is Needed</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Choose more assessment when the vignette omits facts that would change the diagnosis: duration, functional impairment, medical history, substance…</a:t>
            </a:r>
            <a:endParaRPr lang="en-US" sz="2120" dirty="0"/>
          </a:p>
        </p:txBody>
      </p:sp>
      <p:sp>
        <p:nvSpPr>
          <p:cNvPr id="11" name="Shape 9"/>
          <p:cNvSpPr/>
          <p:nvPr/>
        </p:nvSpPr>
        <p:spPr>
          <a:xfrm>
            <a:off x="6629400" y="2441448"/>
            <a:ext cx="3977640" cy="0"/>
          </a:xfrm>
          <a:prstGeom prst="line">
            <a:avLst/>
          </a:prstGeom>
          <a:noFill/>
          <a:ln w="15240">
            <a:solidFill>
              <a:srgbClr val="6B4BA3">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diagnostic decision with…</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impairment</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exclusions</a:t>
            </a:r>
            <a:endParaRPr lang="en-US" sz="1180" dirty="0"/>
          </a:p>
        </p:txBody>
      </p:sp>
      <p:sp>
        <p:nvSpPr>
          <p:cNvPr id="15" name="Text 13"/>
          <p:cNvSpPr/>
          <p:nvPr/>
        </p:nvSpPr>
        <p:spPr>
          <a:xfrm>
            <a:off x="9884664" y="2148840"/>
            <a:ext cx="950976"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history.</a:t>
            </a:r>
            <a:endParaRPr lang="en-US" sz="1180" dirty="0"/>
          </a:p>
        </p:txBody>
      </p:sp>
      <p:sp>
        <p:nvSpPr>
          <p:cNvPr id="16" name="Text 14"/>
          <p:cNvSpPr/>
          <p:nvPr/>
        </p:nvSpPr>
        <p:spPr>
          <a:xfrm>
            <a:off x="6949440" y="3063240"/>
            <a:ext cx="3246120" cy="1371600"/>
          </a:xfrm>
          <a:prstGeom prst="rect">
            <a:avLst/>
          </a:prstGeom>
          <a:solidFill>
            <a:srgbClr val="EEE9F7"/>
          </a:solidFill>
          <a:ln w="13970">
            <a:solidFill>
              <a:srgbClr val="6B4BA3">
                <a:alpha val="75000"/>
              </a:srgbClr>
            </a:solidFill>
          </a:ln>
        </p:spPr>
        <p:txBody>
          <a:bodyPr wrap="square" lIns="1016" tIns="1016" rIns="1016" bIns="1016"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diagnostic decision with…</a:t>
            </a:r>
            <a:endParaRPr lang="en-US" sz="220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Avoid adding facts that are not in the question.</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At the same time, do not keep assessing when the scenario already establishes an emergency or…</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Missing Data? Assess Before Concluding</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At the same time, do not keep assessing when the scenario already establishes an emergency or a mandatory protective response.</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DIFFERENTIAL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03  •  10/14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10</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Activation After a Medication Change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Consider a client who develops very little need for sleep, impulsive spending, unusual confidence, and rapid speech after a recent medication change.</a:t>
            </a:r>
            <a:endParaRPr lang="en-US" sz="2120" dirty="0"/>
          </a:p>
        </p:txBody>
      </p:sp>
      <p:sp>
        <p:nvSpPr>
          <p:cNvPr id="11" name="Shape 9"/>
          <p:cNvSpPr/>
          <p:nvPr/>
        </p:nvSpPr>
        <p:spPr>
          <a:xfrm>
            <a:off x="6629400" y="2441448"/>
            <a:ext cx="3977640" cy="0"/>
          </a:xfrm>
          <a:prstGeom prst="line">
            <a:avLst/>
          </a:prstGeom>
          <a:noFill/>
          <a:ln w="15240">
            <a:solidFill>
              <a:srgbClr val="6B4BA3">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Differentiate Activation</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Mania</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Substance</a:t>
            </a:r>
            <a:endParaRPr lang="en-US" sz="1180" dirty="0"/>
          </a:p>
        </p:txBody>
      </p:sp>
      <p:sp>
        <p:nvSpPr>
          <p:cNvPr id="15" name="Text 13"/>
          <p:cNvSpPr/>
          <p:nvPr/>
        </p:nvSpPr>
        <p:spPr>
          <a:xfrm>
            <a:off x="9884664" y="2148840"/>
            <a:ext cx="950976"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Medical Causes</a:t>
            </a:r>
            <a:endParaRPr lang="en-US" sz="118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premature answer diagnoses a disorder immediately or tells the client to stop the medication.</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Diagnosis can be refined after immediate risk and possible medication effects are addressed.</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Differentiate Activation, Mania, Substance, and Medical Causes</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Diagnosis can be refined after immediate risk and possible medication effects are addressed.</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DIFFERENTIAL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03  •  11/14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11</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Grief and Depressive Symptoms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Now consider a client grieving a major loss who reports sadness, poor sleep, and reduced concentration.</a:t>
            </a:r>
            <a:endParaRPr lang="en-US" sz="2120" dirty="0"/>
          </a:p>
        </p:txBody>
      </p:sp>
      <p:sp>
        <p:nvSpPr>
          <p:cNvPr id="11" name="Shape 9"/>
          <p:cNvSpPr/>
          <p:nvPr/>
        </p:nvSpPr>
        <p:spPr>
          <a:xfrm>
            <a:off x="6629400" y="2441448"/>
            <a:ext cx="3977640" cy="0"/>
          </a:xfrm>
          <a:prstGeom prst="line">
            <a:avLst/>
          </a:prstGeom>
          <a:noFill/>
          <a:ln w="15240">
            <a:solidFill>
              <a:srgbClr val="6B4BA3">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Bereavement timeline with…</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functioning</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safety</a:t>
            </a:r>
            <a:endParaRPr lang="en-US" sz="1180" dirty="0"/>
          </a:p>
        </p:txBody>
      </p:sp>
      <p:sp>
        <p:nvSpPr>
          <p:cNvPr id="15" name="Text 13"/>
          <p:cNvSpPr/>
          <p:nvPr/>
        </p:nvSpPr>
        <p:spPr>
          <a:xfrm>
            <a:off x="9884664" y="2148840"/>
            <a:ext cx="950976"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cultural meaning.</a:t>
            </a:r>
            <a:endParaRPr lang="en-US" sz="118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It is premature to automatically diagnose a depressive disorder, and it is also unsafe to…</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correct answer respects grief while assessing for a condition that may require additional…</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Diagnose or Normalize Automatically</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correct answer respects grief while assessing for a condition that may require additional treatment.</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DIFFERENTIAL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03  •  12/14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12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Common Diagnostic Traps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Watch for four traps.</a:t>
            </a:r>
            <a:endParaRPr lang="en-US" sz="2120" dirty="0"/>
          </a:p>
        </p:txBody>
      </p:sp>
      <p:sp>
        <p:nvSpPr>
          <p:cNvPr id="11" name="Text 9"/>
          <p:cNvSpPr/>
          <p:nvPr/>
        </p:nvSpPr>
        <p:spPr>
          <a:xfrm>
            <a:off x="6446520" y="1874520"/>
            <a:ext cx="2098548" cy="1092708"/>
          </a:xfrm>
          <a:prstGeom prst="rect">
            <a:avLst/>
          </a:prstGeom>
          <a:solidFill>
            <a:srgbClr val="EEE9F7"/>
          </a:solidFill>
          <a:ln w="10160">
            <a:solidFill>
              <a:srgbClr val="D9E0E8"/>
            </a:solidFill>
          </a:ln>
        </p:spPr>
        <p:txBody>
          <a:bodyPr wrap="square" lIns="1270" tIns="1270" rIns="1270" bIns="1270" rtlCol="0" anchor="ctr">
            <a:normAutofit/>
          </a:bodyPr>
          <a:lstStyle/>
          <a:p>
            <a:pPr indent="0" marL="0">
              <a:buNone/>
            </a:pPr>
            <a:r>
              <a:rPr lang="en-US" sz="1400" b="1" dirty="0">
                <a:solidFill>
                  <a:srgbClr val="6B4BA3"/>
                </a:solidFill>
                <a:latin typeface="Aptos" pitchFamily="34" charset="0"/>
                <a:ea typeface="Aptos" pitchFamily="34" charset="-122"/>
                <a:cs typeface="Aptos" pitchFamily="34" charset="-120"/>
              </a:rPr>
              <a:t>Four trap cards</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one symptom</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premature certainty</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ignored exclusion</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First, diagnosing from one symptom.</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Strong exam reasoning explains what evidence supports the diagnosis and what competing…</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One Sign • Fixed Label • Missed Cause • Identity Error</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Strong exam reasoning explains what evidence supports the diagnosis and what competing explanation still needs to be addressed.</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DIFFERENTIAL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03  •  13/14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13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the Differential Diagnosis Check</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Use this differential diagnosis check.</a:t>
            </a:r>
            <a:endParaRPr lang="en-US" sz="2120" dirty="0"/>
          </a:p>
        </p:txBody>
      </p:sp>
      <p:sp>
        <p:nvSpPr>
          <p:cNvPr id="11" name="Text 9"/>
          <p:cNvSpPr/>
          <p:nvPr/>
        </p:nvSpPr>
        <p:spPr>
          <a:xfrm>
            <a:off x="6446520" y="1874520"/>
            <a:ext cx="2098548" cy="1092708"/>
          </a:xfrm>
          <a:prstGeom prst="rect">
            <a:avLst/>
          </a:prstGeom>
          <a:solidFill>
            <a:srgbClr val="EEE9F7"/>
          </a:solidFill>
          <a:ln w="10160">
            <a:solidFill>
              <a:srgbClr val="D9E0E8"/>
            </a:solidFill>
          </a:ln>
        </p:spPr>
        <p:txBody>
          <a:bodyPr wrap="square" lIns="1270" tIns="1270" rIns="1270" bIns="1270" rtlCol="0" anchor="ctr">
            <a:normAutofit/>
          </a:bodyPr>
          <a:lstStyle/>
          <a:p>
            <a:pPr indent="0" marL="0">
              <a:buNone/>
            </a:pPr>
            <a:r>
              <a:rPr lang="en-US" sz="1400" b="1" dirty="0">
                <a:solidFill>
                  <a:srgbClr val="6B4BA3"/>
                </a:solidFill>
                <a:latin typeface="Aptos" pitchFamily="34" charset="0"/>
                <a:ea typeface="Aptos" pitchFamily="34" charset="-122"/>
                <a:cs typeface="Aptos" pitchFamily="34" charset="-120"/>
              </a:rPr>
              <a:t>Checklist</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pattern</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duration</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impairment</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is the full symptom pattern?</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Is there an urgent safety or level-of-care need?</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Pattern • Duration • Impairment • Timing • Exclusions • Alternatives • Safety</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Is there an urgent safety or level-of-care need?</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DIFFERENTIAL</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03  •  14/14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14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Your Next Step</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During your next LMFT question bank, write two plausible explanations before choosing an answer.</a:t>
            </a:r>
            <a:endParaRPr lang="en-US" sz="2120" dirty="0"/>
          </a:p>
        </p:txBody>
      </p:sp>
      <p:sp>
        <p:nvSpPr>
          <p:cNvPr id="11" name="Shape 9"/>
          <p:cNvSpPr/>
          <p:nvPr/>
        </p:nvSpPr>
        <p:spPr>
          <a:xfrm>
            <a:off x="6629400" y="2441448"/>
            <a:ext cx="3977640" cy="0"/>
          </a:xfrm>
          <a:prstGeom prst="line">
            <a:avLst/>
          </a:prstGeom>
          <a:noFill/>
          <a:ln w="15240">
            <a:solidFill>
              <a:srgbClr val="6B4BA3">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Then identify the fact that best separates them.</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Add that error pattern to your CTA log.</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Next: Compare at Least Two Explanations</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Add that error pattern to your CTA log.</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Multimedia Script 03: Diagnosis and Differential Diagnosis</dc:title>
  <dc:subject>LMFT-Specific Multimedia Script 03</dc:subject>
  <dc:creator>Clinical Training Academy</dc:creator>
  <cp:lastModifiedBy>Clinical Training Academy</cp:lastModifiedBy>
  <cp:revision>1</cp:revision>
  <dcterms:created xsi:type="dcterms:W3CDTF">2026-07-25T20:25:46Z</dcterms:created>
  <dcterms:modified xsi:type="dcterms:W3CDTF">2026-07-25T20:25:46Z</dcterms:modified>
</cp:coreProperties>
</file>