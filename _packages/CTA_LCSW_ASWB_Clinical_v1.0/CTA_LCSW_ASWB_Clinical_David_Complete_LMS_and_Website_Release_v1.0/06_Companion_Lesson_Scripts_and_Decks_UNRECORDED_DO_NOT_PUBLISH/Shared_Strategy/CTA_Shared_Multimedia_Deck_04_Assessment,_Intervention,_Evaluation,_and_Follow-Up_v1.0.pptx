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Many exam questions become easier when you identify the stage of clinical work. A sound process usually moves from assessment to planning, intervention, evaluation, and follow-up. The correct answer is often the option that fits the stage supported by the facts, not the option that sounds most active or most sophisticated.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Assessment clarifies what is happening. It may involve immediate safety, symptom severity, functional impact, developmental or cultural context, available supports, medical factors, substance use, relationship patterns, or environmental stressors. Assessment is not the same as doing nothing. It is the active process of gathering the information needed to choose an appropriate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Planning connects assessment findings to a direction. It identifies priorities, collaborative goals, the level of care, the treatment focus, needed services, and the sequence of next actions. Planning should be based on the information already gathered. If the plan appears before the necessary assessment, it may be premature. If assessment is complete, continuing to gather information may delay needed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Intervention is the action intended to produce change. It may include a therapeutic technique, a safety response, psychoeducation, referral, case management, advocacy, family or systems work, crisis stabilization, or coordination with another professional. The exam usually expects the intervention to match the assessed problem, the clinician’s role, the client’s needs, and the stage of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Evaluation asks whether the plan is working. The clinician reviews progress toward goals, symptom change, functioning, client feedback, adherence, barriers, risk changes, and the fit of the intervention. Evaluation is not reserved for the end of treatment. It occurs throughout care and helps determine whether to continue, modify, intensify, or step down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Follow-up maintains continuity after an action has been taken. It may include reassessing safety, checking whether a referral was accessed, reviewing the effect of a treatment change, coordinating the next appointment, or confirming that the client understands the plan. A strong answer often includes an appropriate next check rather than treating one action as the end of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Assessment should usually come first when the question does not provide enough information to determine safety, severity, cause, level of care, or the client’s goals. For example, if a client reports worsening symptoms but the stem does not describe onset, triggers, functioning, medication changes, substance use, or risk, selecting a major intervention may be premature. First clarify the information that would change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Assessment is not an excuse to delay when the facts already show immediate danger or a required protective action. If the scenario establishes imminent risk, a medical emergency, abuse that triggers reporting, or another mandatory duty, the next step may be direct action. The exam rewards appropriate sequencing, not automatic information gathering in every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Consider a client who reports sharply worsening anxiety after a recent medication change. The clinician may eventually coordinate with the prescriber, modify the therapy plan, teach coping skills, or recommend a higher level of care. But first, the clinician needs to clarify timing, severity, functional impact, physical symptoms, medication adherence, and safety. Those findings determine which intervention is appropriate and how urgently it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Now consider a client who says the current approach is not helping. The clinician does not need to begin the entire intake again, and immediately terminating or referring may be too extreme. This is an evaluation stage. Explore the client’s experience, review goals and progress, identify barriers, and collaboratively decide whether the plan should be modified. The stage changes the best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Watch for four common stage errors. First, intervening before enough information is available. Second, continuing to assess after the necessary information is already present. Third, evaluating an intervention that has not yet been implemented. Fourth, taking action without arranging follow-up. These errors often appear as plausible distractors because each option describes something that could be useful at a different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this stage check. What information is already known? What essential information is still missing? What action has already been completed? What stage logically comes next? Then choose the option that matches the answer to those questions. This routine keeps you from selecting an answer based only on clinical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stages are a guide, not a rigid formula. Clinical work may move back to assessment when risk changes, return to planning when barriers emerge, or combine intervention and evaluation within one session. The exam still expects you to recognize what the facts require at that moment. Use the process to organize judgment, not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During your next question bank, label the stage before choosing an answer. Ask whether the question is testing assessment, planning, intervention, evaluation, or follow-up. Record any stage error in your CTA error log. The more often you identify the stage deliberately, the faster the sequence will become under exam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01</a:t>
            </a:r>
            <a:endParaRPr lang="en-US" sz="3600" dirty="0"/>
          </a:p>
        </p:txBody>
      </p:sp>
      <p:sp>
        <p:nvSpPr>
          <p:cNvPr id="6" name="Text 4"/>
          <p:cNvSpPr/>
          <p:nvPr/>
        </p:nvSpPr>
        <p:spPr>
          <a:xfrm>
            <a:off x="566928" y="1005840"/>
            <a:ext cx="7132320" cy="932688"/>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Assessment, Intervention, Evaluation, and Follow-Up</a:t>
            </a:r>
            <a:endParaRPr lang="en-US" sz="3300" dirty="0"/>
          </a:p>
        </p:txBody>
      </p:sp>
      <p:sp>
        <p:nvSpPr>
          <p:cNvPr id="7" name="Text 5"/>
          <p:cNvSpPr/>
          <p:nvPr/>
        </p:nvSpPr>
        <p:spPr>
          <a:xfrm>
            <a:off x="585216" y="1938528"/>
            <a:ext cx="6537960" cy="292608"/>
          </a:xfrm>
          <a:prstGeom prst="rect">
            <a:avLst/>
          </a:prstGeom>
          <a:noFill/>
          <a:ln/>
        </p:spPr>
        <p:txBody>
          <a:bodyPr wrap="square" lIns="0" tIns="0" rIns="0" bIns="0" rtlCol="0" anchor="ctr"/>
          <a:lstStyle/>
          <a:p>
            <a:pPr indent="0" marL="0">
              <a:buNone/>
            </a:pPr>
            <a:r>
              <a:rPr lang="en-US" sz="1350" dirty="0">
                <a:solidFill>
                  <a:srgbClr val="5A6675"/>
                </a:solidFill>
                <a:latin typeface="Aptos" pitchFamily="34" charset="0"/>
                <a:ea typeface="Aptos" pitchFamily="34" charset="-122"/>
                <a:cs typeface="Aptos" pitchFamily="34" charset="-120"/>
              </a:rPr>
              <a:t>Shared LMFT &amp; LCSW Multimedia Script 04</a:t>
            </a:r>
            <a:endParaRPr lang="en-US" sz="1350" dirty="0"/>
          </a:p>
        </p:txBody>
      </p:sp>
      <p:sp>
        <p:nvSpPr>
          <p:cNvPr id="8" name="Shape 6"/>
          <p:cNvSpPr/>
          <p:nvPr/>
        </p:nvSpPr>
        <p:spPr>
          <a:xfrm>
            <a:off x="621792" y="2743200"/>
            <a:ext cx="6858000" cy="0"/>
          </a:xfrm>
          <a:prstGeom prst="line">
            <a:avLst/>
          </a:prstGeom>
          <a:noFill/>
          <a:ln w="27940">
            <a:solidFill>
              <a:srgbClr val="0E7C86"/>
            </a:solidFill>
            <a:prstDash val="solid"/>
            <a:tailEnd type="triangle"/>
          </a:ln>
        </p:spPr>
      </p:sp>
      <p:sp>
        <p:nvSpPr>
          <p:cNvPr id="9" name="Shape 7"/>
          <p:cNvSpPr/>
          <p:nvPr/>
        </p:nvSpPr>
        <p:spPr>
          <a:xfrm>
            <a:off x="1124712" y="3557016"/>
            <a:ext cx="5715000" cy="0"/>
          </a:xfrm>
          <a:prstGeom prst="line">
            <a:avLst/>
          </a:prstGeom>
          <a:noFill/>
          <a:ln w="17780">
            <a:solidFill>
              <a:srgbClr val="0E7C86">
                <a:alpha val="82000"/>
              </a:srgbClr>
            </a:solidFill>
            <a:prstDash val="solid"/>
            <a:tailEnd type="triangle"/>
          </a:ln>
        </p:spPr>
      </p:sp>
      <p:sp>
        <p:nvSpPr>
          <p:cNvPr id="10" name="Text 8"/>
          <p:cNvSpPr/>
          <p:nvPr/>
        </p:nvSpPr>
        <p:spPr>
          <a:xfrm>
            <a:off x="804672"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1" name="Text 9"/>
          <p:cNvSpPr/>
          <p:nvPr/>
        </p:nvSpPr>
        <p:spPr>
          <a:xfrm>
            <a:off x="2134210"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2" name="Text 10"/>
          <p:cNvSpPr/>
          <p:nvPr/>
        </p:nvSpPr>
        <p:spPr>
          <a:xfrm>
            <a:off x="3463747"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3" name="Text 11"/>
          <p:cNvSpPr/>
          <p:nvPr/>
        </p:nvSpPr>
        <p:spPr>
          <a:xfrm>
            <a:off x="4793285" y="3246120"/>
            <a:ext cx="1036930"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4" name="Text 12"/>
          <p:cNvSpPr/>
          <p:nvPr/>
        </p:nvSpPr>
        <p:spPr>
          <a:xfrm>
            <a:off x="6122822" y="3246120"/>
            <a:ext cx="1036930"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5" name="Text 13"/>
          <p:cNvSpPr/>
          <p:nvPr/>
        </p:nvSpPr>
        <p:spPr>
          <a:xfrm>
            <a:off x="7818120" y="2404872"/>
            <a:ext cx="3337560" cy="1298448"/>
          </a:xfrm>
          <a:prstGeom prst="rect">
            <a:avLst/>
          </a:prstGeom>
          <a:noFill/>
          <a:ln/>
        </p:spPr>
        <p:txBody>
          <a:bodyPr wrap="square" lIns="1016" tIns="1016" rIns="1016" bIns="1016"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Many exam questions become easier when you identify the stage of clinical work.</a:t>
            </a:r>
            <a:endParaRPr lang="en-US" sz="2050" dirty="0"/>
          </a:p>
        </p:txBody>
      </p:sp>
      <p:sp>
        <p:nvSpPr>
          <p:cNvPr id="16" name="Text 14"/>
          <p:cNvSpPr/>
          <p:nvPr/>
        </p:nvSpPr>
        <p:spPr>
          <a:xfrm>
            <a:off x="7827264" y="3968496"/>
            <a:ext cx="3200400" cy="658368"/>
          </a:xfrm>
          <a:prstGeom prst="rect">
            <a:avLst/>
          </a:prstGeom>
          <a:noFill/>
          <a:ln/>
        </p:spPr>
        <p:txBody>
          <a:bodyPr wrap="square" lIns="254" tIns="254" rIns="254" bIns="254" rtlCol="0" anchor="ctr">
            <a:normAutofit/>
          </a:bodyPr>
          <a:lstStyle/>
          <a:p>
            <a:pPr indent="0" marL="0">
              <a:buNone/>
            </a:pPr>
            <a:r>
              <a:rPr lang="en-US" sz="1300" dirty="0">
                <a:solidFill>
                  <a:srgbClr val="5A6675"/>
                </a:solidFill>
                <a:latin typeface="Aptos" pitchFamily="34" charset="0"/>
                <a:ea typeface="Aptos" pitchFamily="34" charset="-122"/>
                <a:cs typeface="Aptos" pitchFamily="34" charset="-120"/>
              </a:rPr>
              <a:t>This deck uses the script narration verbatim in speaker notes.</a:t>
            </a:r>
            <a:endParaRPr lang="en-US" sz="1300" dirty="0"/>
          </a:p>
        </p:txBody>
      </p:sp>
      <p:sp>
        <p:nvSpPr>
          <p:cNvPr id="17" name="Text 15"/>
          <p:cNvSpPr/>
          <p:nvPr/>
        </p:nvSpPr>
        <p:spPr>
          <a:xfrm>
            <a:off x="621792" y="5358384"/>
            <a:ext cx="2514600" cy="301752"/>
          </a:xfrm>
          <a:prstGeom prst="rect">
            <a:avLst/>
          </a:prstGeom>
          <a:solidFill>
            <a:srgbClr val="0E7C86"/>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8" name="Shape 16"/>
          <p:cNvSpPr/>
          <p:nvPr/>
        </p:nvSpPr>
        <p:spPr>
          <a:xfrm>
            <a:off x="502920" y="6419088"/>
            <a:ext cx="11155680" cy="0"/>
          </a:xfrm>
          <a:prstGeom prst="line">
            <a:avLst/>
          </a:prstGeom>
          <a:noFill/>
          <a:ln w="9525">
            <a:solidFill>
              <a:srgbClr val="D8DDE5"/>
            </a:solidFill>
            <a:prstDash val="solid"/>
          </a:ln>
        </p:spPr>
      </p:sp>
      <p:sp>
        <p:nvSpPr>
          <p:cNvPr id="19" name="Text 17"/>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0" name="Text 18"/>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01/14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Assessment Answers: What Is Happening?</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Assessment clarifies what is happening.</a:t>
            </a:r>
            <a:endParaRPr lang="en-US" sz="2200" dirty="0"/>
          </a:p>
        </p:txBody>
      </p:sp>
      <p:sp>
        <p:nvSpPr>
          <p:cNvPr id="8" name="Shape 6"/>
          <p:cNvSpPr/>
          <p:nvPr/>
        </p:nvSpPr>
        <p:spPr>
          <a:xfrm>
            <a:off x="6830568" y="2414016"/>
            <a:ext cx="3611880" cy="0"/>
          </a:xfrm>
          <a:prstGeom prst="line">
            <a:avLst/>
          </a:prstGeom>
          <a:noFill/>
          <a:ln w="17780">
            <a:solidFill>
              <a:srgbClr val="0E7C8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3" name="Text 11"/>
          <p:cNvSpPr/>
          <p:nvPr/>
        </p:nvSpPr>
        <p:spPr>
          <a:xfrm>
            <a:off x="10146182" y="2103120"/>
            <a:ext cx="616306"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may involve immediate safety, symptom severity, functional impact, developmental or cultural…</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is the active process of gathering the information needed to choose an appropriate response.</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the active process of gathering the information needed to choose an appropriate response.</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02/14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Planning Connects Findings to Direction</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Planning connects assessment findings to a direction.</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identifies priorities, collaborative goals, the level of care, the treatment focus, needed…</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If assessment is complete, continuing to gather information may delay needed action.</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0E7C8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20" name="Text 18"/>
          <p:cNvSpPr/>
          <p:nvPr/>
        </p:nvSpPr>
        <p:spPr>
          <a:xfrm>
            <a:off x="4825746" y="4023360"/>
            <a:ext cx="1072134"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Evaluate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If assessment is complete, continuing to gather information may delay needed action.</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03/14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Intervention Changes Something</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Intervention is the action intended to produce change.</a:t>
            </a:r>
            <a:endParaRPr lang="en-US" sz="2200" dirty="0"/>
          </a:p>
        </p:txBody>
      </p:sp>
      <p:sp>
        <p:nvSpPr>
          <p:cNvPr id="8" name="Shape 6"/>
          <p:cNvSpPr/>
          <p:nvPr/>
        </p:nvSpPr>
        <p:spPr>
          <a:xfrm>
            <a:off x="6830568" y="2414016"/>
            <a:ext cx="3611880" cy="0"/>
          </a:xfrm>
          <a:prstGeom prst="line">
            <a:avLst/>
          </a:prstGeom>
          <a:noFill/>
          <a:ln w="17780">
            <a:solidFill>
              <a:srgbClr val="0E7C8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3" name="Text 11"/>
          <p:cNvSpPr/>
          <p:nvPr/>
        </p:nvSpPr>
        <p:spPr>
          <a:xfrm>
            <a:off x="10146182" y="2103120"/>
            <a:ext cx="616306"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may include a therapeutic technique, a safety response, psychoeducation, referral, case…</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exam usually expects the intervention to match the assessed problem, the clinician’s role, the…</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exam usually expects the intervention to match the assessed problem, the clinician’s role, the client’s needs, and the stage of care.</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04/14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05</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Evaluation Asks Whether the Plan Is Working</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Evaluation asks whether the plan is working.</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clinician reviews progress toward goals, symptom change, functioning, client feedback,…</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occurs throughout care and helps determine whether to continue, modify, intensify, or step down…</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0E7C8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20" name="Text 18"/>
          <p:cNvSpPr/>
          <p:nvPr/>
        </p:nvSpPr>
        <p:spPr>
          <a:xfrm>
            <a:off x="4825746" y="4023360"/>
            <a:ext cx="1072134"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Evaluate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occurs throughout care and helps determine whether to continue, modify, intensify, or step down the plan.</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05/14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06</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Follow-Up Maintains Continuity</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Follow-up maintains continuity after an action has been taken.</a:t>
            </a:r>
            <a:endParaRPr lang="en-US" sz="2200" dirty="0"/>
          </a:p>
        </p:txBody>
      </p:sp>
      <p:sp>
        <p:nvSpPr>
          <p:cNvPr id="8" name="Shape 6"/>
          <p:cNvSpPr/>
          <p:nvPr/>
        </p:nvSpPr>
        <p:spPr>
          <a:xfrm>
            <a:off x="6830568" y="2414016"/>
            <a:ext cx="3611880" cy="0"/>
          </a:xfrm>
          <a:prstGeom prst="line">
            <a:avLst/>
          </a:prstGeom>
          <a:noFill/>
          <a:ln w="17780">
            <a:solidFill>
              <a:srgbClr val="0E7C8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3" name="Text 11"/>
          <p:cNvSpPr/>
          <p:nvPr/>
        </p:nvSpPr>
        <p:spPr>
          <a:xfrm>
            <a:off x="10146182" y="2103120"/>
            <a:ext cx="616306"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It may include reassessing safety, checking whether a referral was accessed, reviewing the effect of…</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 strong answer often includes an appropriate next check rather than treating one action as the end…</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strong answer often includes an appropriate next check rather than treating one action as the end of the process.</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06/14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07</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When Assessment Should Come First</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Assessment should usually come first when the question does not provide enough information to determine safety, severity, cause, level of care, or the…</a:t>
            </a:r>
            <a:endParaRPr lang="en-US" sz="2200" dirty="0"/>
          </a:p>
        </p:txBody>
      </p:sp>
      <p:sp>
        <p:nvSpPr>
          <p:cNvPr id="8" name="Shape 6"/>
          <p:cNvSpPr/>
          <p:nvPr/>
        </p:nvSpPr>
        <p:spPr>
          <a:xfrm>
            <a:off x="6830568" y="2414016"/>
            <a:ext cx="3611880" cy="0"/>
          </a:xfrm>
          <a:prstGeom prst="line">
            <a:avLst/>
          </a:prstGeom>
          <a:noFill/>
          <a:ln w="17780">
            <a:solidFill>
              <a:srgbClr val="0E7C8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3" name="Text 11"/>
          <p:cNvSpPr/>
          <p:nvPr/>
        </p:nvSpPr>
        <p:spPr>
          <a:xfrm>
            <a:off x="10146182" y="2103120"/>
            <a:ext cx="616306"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For example, if a client reports worsening symptoms but the stem does not describe onset, triggers,…</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First clarify the information that would change the decision.</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First clarify the information that would change the decision.</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07/14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08</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When Action Should Not Wait</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Assessment is not an excuse to delay when the facts already show immediate danger or a required protective action.</a:t>
            </a:r>
            <a:endParaRPr lang="en-US" sz="2200" dirty="0"/>
          </a:p>
        </p:txBody>
      </p:sp>
      <p:sp>
        <p:nvSpPr>
          <p:cNvPr id="8" name="Shape 6"/>
          <p:cNvSpPr/>
          <p:nvPr/>
        </p:nvSpPr>
        <p:spPr>
          <a:xfrm>
            <a:off x="6830568" y="2414016"/>
            <a:ext cx="3611880" cy="0"/>
          </a:xfrm>
          <a:prstGeom prst="line">
            <a:avLst/>
          </a:prstGeom>
          <a:noFill/>
          <a:ln w="17780">
            <a:solidFill>
              <a:srgbClr val="0E7C8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3" name="Text 11"/>
          <p:cNvSpPr/>
          <p:nvPr/>
        </p:nvSpPr>
        <p:spPr>
          <a:xfrm>
            <a:off x="10146182" y="2103120"/>
            <a:ext cx="616306"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If the scenario establishes imminent risk, a medical emergency, abuse that triggers reporting, or…</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exam rewards appropriate sequencing, not automatic information gathering in every situation.</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exam rewards appropriate sequencing, not automatic information gathering in every situation.</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08/14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09</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Example: Symptoms Worsen After a Change</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Consider a client who reports sharply worsening anxiety after a recent medication change.</a:t>
            </a:r>
            <a:endParaRPr lang="en-US" sz="2200" dirty="0"/>
          </a:p>
        </p:txBody>
      </p:sp>
      <p:sp>
        <p:nvSpPr>
          <p:cNvPr id="8" name="Text 6"/>
          <p:cNvSpPr/>
          <p:nvPr/>
        </p:nvSpPr>
        <p:spPr>
          <a:xfrm>
            <a:off x="6583680" y="1901952"/>
            <a:ext cx="3474720" cy="320040"/>
          </a:xfrm>
          <a:prstGeom prst="rect">
            <a:avLst/>
          </a:prstGeom>
          <a:noFill/>
          <a:ln/>
        </p:spPr>
        <p:txBody>
          <a:bodyPr wrap="square" lIns="0" tIns="0" rIns="0" bIns="0" rtlCol="0" anchor="ctr"/>
          <a:lstStyle/>
          <a:p>
            <a:pPr indent="0" marL="0">
              <a:buNone/>
            </a:pPr>
            <a:r>
              <a:rPr lang="en-US" sz="1250" b="1" dirty="0">
                <a:solidFill>
                  <a:srgbClr val="0E7C86"/>
                </a:solidFill>
                <a:latin typeface="Aptos" pitchFamily="34" charset="0"/>
                <a:ea typeface="Aptos" pitchFamily="34" charset="-122"/>
                <a:cs typeface="Aptos" pitchFamily="34" charset="-120"/>
              </a:rPr>
              <a:t>Scenario lens</a:t>
            </a:r>
            <a:endParaRPr lang="en-US" sz="1250" dirty="0"/>
          </a:p>
        </p:txBody>
      </p:sp>
      <p:sp>
        <p:nvSpPr>
          <p:cNvPr id="9" name="Shape 7"/>
          <p:cNvSpPr/>
          <p:nvPr/>
        </p:nvSpPr>
        <p:spPr>
          <a:xfrm>
            <a:off x="6858000" y="2734056"/>
            <a:ext cx="3520440" cy="0"/>
          </a:xfrm>
          <a:prstGeom prst="line">
            <a:avLst/>
          </a:prstGeom>
          <a:noFill/>
          <a:ln w="17780">
            <a:solidFill>
              <a:srgbClr val="0E7C86">
                <a:alpha val="82000"/>
              </a:srgbClr>
            </a:solidFill>
            <a:prstDash val="solid"/>
            <a:tailEnd type="triangle"/>
          </a:ln>
        </p:spPr>
      </p:sp>
      <p:sp>
        <p:nvSpPr>
          <p:cNvPr id="10" name="Text 8"/>
          <p:cNvSpPr/>
          <p:nvPr/>
        </p:nvSpPr>
        <p:spPr>
          <a:xfrm>
            <a:off x="6537960"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Facts</a:t>
            </a:r>
            <a:endParaRPr lang="en-US" sz="1250" dirty="0"/>
          </a:p>
        </p:txBody>
      </p:sp>
      <p:sp>
        <p:nvSpPr>
          <p:cNvPr id="11" name="Text 9"/>
          <p:cNvSpPr/>
          <p:nvPr/>
        </p:nvSpPr>
        <p:spPr>
          <a:xfrm>
            <a:off x="8022336"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Stage</a:t>
            </a:r>
            <a:endParaRPr lang="en-US" sz="1250" dirty="0"/>
          </a:p>
        </p:txBody>
      </p:sp>
      <p:sp>
        <p:nvSpPr>
          <p:cNvPr id="12" name="Text 10"/>
          <p:cNvSpPr/>
          <p:nvPr/>
        </p:nvSpPr>
        <p:spPr>
          <a:xfrm>
            <a:off x="9506712" y="2423160"/>
            <a:ext cx="1191768"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Best next step</a:t>
            </a:r>
            <a:endParaRPr lang="en-US" sz="1250" dirty="0"/>
          </a:p>
        </p:txBody>
      </p:sp>
      <p:sp>
        <p:nvSpPr>
          <p:cNvPr id="13" name="Text 11"/>
          <p:cNvSpPr/>
          <p:nvPr/>
        </p:nvSpPr>
        <p:spPr>
          <a:xfrm>
            <a:off x="658368" y="333756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3192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clinician may eventually coordinate with the prescriber, modify the therapy plan, teach coping…</a:t>
            </a:r>
            <a:endParaRPr lang="en-US" sz="1420" dirty="0"/>
          </a:p>
        </p:txBody>
      </p:sp>
      <p:sp>
        <p:nvSpPr>
          <p:cNvPr id="15" name="Text 13"/>
          <p:cNvSpPr/>
          <p:nvPr/>
        </p:nvSpPr>
        <p:spPr>
          <a:xfrm>
            <a:off x="658368" y="390448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8862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Name what the stem already establishes.</a:t>
            </a:r>
            <a:endParaRPr lang="en-US" sz="1420" dirty="0"/>
          </a:p>
        </p:txBody>
      </p:sp>
      <p:sp>
        <p:nvSpPr>
          <p:cNvPr id="17" name="Text 15"/>
          <p:cNvSpPr/>
          <p:nvPr/>
        </p:nvSpPr>
        <p:spPr>
          <a:xfrm>
            <a:off x="658368" y="447141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4531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add missing facts to make an option work.</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Those findings determine which intervention is appropriate and how urgently it is needed.</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09/14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10</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Example: The Current Approach Is Not Helping</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Now consider a client who says the current approach is not helping.</a:t>
            </a:r>
            <a:endParaRPr lang="en-US" sz="2200" dirty="0"/>
          </a:p>
        </p:txBody>
      </p:sp>
      <p:sp>
        <p:nvSpPr>
          <p:cNvPr id="8" name="Text 6"/>
          <p:cNvSpPr/>
          <p:nvPr/>
        </p:nvSpPr>
        <p:spPr>
          <a:xfrm>
            <a:off x="6583680" y="1901952"/>
            <a:ext cx="3474720" cy="320040"/>
          </a:xfrm>
          <a:prstGeom prst="rect">
            <a:avLst/>
          </a:prstGeom>
          <a:noFill/>
          <a:ln/>
        </p:spPr>
        <p:txBody>
          <a:bodyPr wrap="square" lIns="0" tIns="0" rIns="0" bIns="0" rtlCol="0" anchor="ctr"/>
          <a:lstStyle/>
          <a:p>
            <a:pPr indent="0" marL="0">
              <a:buNone/>
            </a:pPr>
            <a:r>
              <a:rPr lang="en-US" sz="1250" b="1" dirty="0">
                <a:solidFill>
                  <a:srgbClr val="0E7C86"/>
                </a:solidFill>
                <a:latin typeface="Aptos" pitchFamily="34" charset="0"/>
                <a:ea typeface="Aptos" pitchFamily="34" charset="-122"/>
                <a:cs typeface="Aptos" pitchFamily="34" charset="-120"/>
              </a:rPr>
              <a:t>Scenario lens</a:t>
            </a:r>
            <a:endParaRPr lang="en-US" sz="1250" dirty="0"/>
          </a:p>
        </p:txBody>
      </p:sp>
      <p:sp>
        <p:nvSpPr>
          <p:cNvPr id="9" name="Shape 7"/>
          <p:cNvSpPr/>
          <p:nvPr/>
        </p:nvSpPr>
        <p:spPr>
          <a:xfrm>
            <a:off x="6858000" y="2734056"/>
            <a:ext cx="3520440" cy="0"/>
          </a:xfrm>
          <a:prstGeom prst="line">
            <a:avLst/>
          </a:prstGeom>
          <a:noFill/>
          <a:ln w="17780">
            <a:solidFill>
              <a:srgbClr val="0E7C86">
                <a:alpha val="82000"/>
              </a:srgbClr>
            </a:solidFill>
            <a:prstDash val="solid"/>
            <a:tailEnd type="triangle"/>
          </a:ln>
        </p:spPr>
      </p:sp>
      <p:sp>
        <p:nvSpPr>
          <p:cNvPr id="10" name="Text 8"/>
          <p:cNvSpPr/>
          <p:nvPr/>
        </p:nvSpPr>
        <p:spPr>
          <a:xfrm>
            <a:off x="6537960"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Facts</a:t>
            </a:r>
            <a:endParaRPr lang="en-US" sz="1250" dirty="0"/>
          </a:p>
        </p:txBody>
      </p:sp>
      <p:sp>
        <p:nvSpPr>
          <p:cNvPr id="11" name="Text 9"/>
          <p:cNvSpPr/>
          <p:nvPr/>
        </p:nvSpPr>
        <p:spPr>
          <a:xfrm>
            <a:off x="8022336" y="2423160"/>
            <a:ext cx="1191768"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Stage</a:t>
            </a:r>
            <a:endParaRPr lang="en-US" sz="1250" dirty="0"/>
          </a:p>
        </p:txBody>
      </p:sp>
      <p:sp>
        <p:nvSpPr>
          <p:cNvPr id="12" name="Text 10"/>
          <p:cNvSpPr/>
          <p:nvPr/>
        </p:nvSpPr>
        <p:spPr>
          <a:xfrm>
            <a:off x="9506712" y="2423160"/>
            <a:ext cx="1191768"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Best next step</a:t>
            </a:r>
            <a:endParaRPr lang="en-US" sz="1250" dirty="0"/>
          </a:p>
        </p:txBody>
      </p:sp>
      <p:sp>
        <p:nvSpPr>
          <p:cNvPr id="13" name="Text 11"/>
          <p:cNvSpPr/>
          <p:nvPr/>
        </p:nvSpPr>
        <p:spPr>
          <a:xfrm>
            <a:off x="658368" y="333756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4" name="Text 12"/>
          <p:cNvSpPr/>
          <p:nvPr/>
        </p:nvSpPr>
        <p:spPr>
          <a:xfrm>
            <a:off x="1069848" y="33192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clinician does not need to begin the entire intake again, and immediately terminating or…</a:t>
            </a:r>
            <a:endParaRPr lang="en-US" sz="1420" dirty="0"/>
          </a:p>
        </p:txBody>
      </p:sp>
      <p:sp>
        <p:nvSpPr>
          <p:cNvPr id="15" name="Text 13"/>
          <p:cNvSpPr/>
          <p:nvPr/>
        </p:nvSpPr>
        <p:spPr>
          <a:xfrm>
            <a:off x="658368" y="390448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6" name="Text 14"/>
          <p:cNvSpPr/>
          <p:nvPr/>
        </p:nvSpPr>
        <p:spPr>
          <a:xfrm>
            <a:off x="1069848" y="38862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Name what the stem already establishes.</a:t>
            </a:r>
            <a:endParaRPr lang="en-US" sz="1420" dirty="0"/>
          </a:p>
        </p:txBody>
      </p:sp>
      <p:sp>
        <p:nvSpPr>
          <p:cNvPr id="17" name="Text 15"/>
          <p:cNvSpPr/>
          <p:nvPr/>
        </p:nvSpPr>
        <p:spPr>
          <a:xfrm>
            <a:off x="658368" y="447141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8" name="Text 16"/>
          <p:cNvSpPr/>
          <p:nvPr/>
        </p:nvSpPr>
        <p:spPr>
          <a:xfrm>
            <a:off x="1069848" y="44531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Do not add missing facts to make an option work.</a:t>
            </a:r>
            <a:endParaRPr lang="en-US" sz="1420" dirty="0"/>
          </a:p>
        </p:txBody>
      </p:sp>
      <p:sp>
        <p:nvSpPr>
          <p:cNvPr id="19" name="Text 17"/>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0" name="Text 18"/>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stage changes the best answer.</a:t>
            </a:r>
            <a:endParaRPr lang="en-US" sz="1330" dirty="0"/>
          </a:p>
        </p:txBody>
      </p:sp>
      <p:sp>
        <p:nvSpPr>
          <p:cNvPr id="21" name="Shape 19"/>
          <p:cNvSpPr/>
          <p:nvPr/>
        </p:nvSpPr>
        <p:spPr>
          <a:xfrm>
            <a:off x="502920" y="6419088"/>
            <a:ext cx="11155680" cy="0"/>
          </a:xfrm>
          <a:prstGeom prst="line">
            <a:avLst/>
          </a:prstGeom>
          <a:noFill/>
          <a:ln w="9525">
            <a:solidFill>
              <a:srgbClr val="D8DDE5"/>
            </a:solidFill>
            <a:prstDash val="solid"/>
          </a:ln>
        </p:spPr>
      </p:sp>
      <p:sp>
        <p:nvSpPr>
          <p:cNvPr id="22" name="Text 20"/>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3" name="Text 21"/>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10/14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11</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Common Stage Errors</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Watch for four common stage errors.</a:t>
            </a:r>
            <a:endParaRPr lang="en-US" sz="2200" dirty="0"/>
          </a:p>
        </p:txBody>
      </p:sp>
      <p:sp>
        <p:nvSpPr>
          <p:cNvPr id="8" name="Shape 6"/>
          <p:cNvSpPr/>
          <p:nvPr/>
        </p:nvSpPr>
        <p:spPr>
          <a:xfrm>
            <a:off x="6830568" y="2414016"/>
            <a:ext cx="3611880" cy="0"/>
          </a:xfrm>
          <a:prstGeom prst="line">
            <a:avLst/>
          </a:prstGeom>
          <a:noFill/>
          <a:ln w="17780">
            <a:solidFill>
              <a:srgbClr val="0E7C8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3" name="Text 11"/>
          <p:cNvSpPr/>
          <p:nvPr/>
        </p:nvSpPr>
        <p:spPr>
          <a:xfrm>
            <a:off x="10146182" y="2103120"/>
            <a:ext cx="616306"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First, intervening before enough information is available.</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These errors often appear as plausible distractors because each option describes something that…</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These errors often appear as plausible distractors because each option describes something that could be useful at a different time.</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11/14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12</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Use the Stage Check</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Use this stage check.</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What information is already known?</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This routine keeps you from selecting an answer based only on clinical importance.</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0E7C8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20" name="Text 18"/>
          <p:cNvSpPr/>
          <p:nvPr/>
        </p:nvSpPr>
        <p:spPr>
          <a:xfrm>
            <a:off x="4825746" y="4023360"/>
            <a:ext cx="1072134"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Evaluate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This routine keeps you from selecting an answer based only on clinical importance.</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12/14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13</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The Process Is Flexible, Not Mechanical</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The stages are a guide, not a rigid formula.</a:t>
            </a:r>
            <a:endParaRPr lang="en-US" sz="2200" dirty="0"/>
          </a:p>
        </p:txBody>
      </p:sp>
      <p:sp>
        <p:nvSpPr>
          <p:cNvPr id="8" name="Shape 6"/>
          <p:cNvSpPr/>
          <p:nvPr/>
        </p:nvSpPr>
        <p:spPr>
          <a:xfrm>
            <a:off x="6830568" y="2414016"/>
            <a:ext cx="3611880" cy="0"/>
          </a:xfrm>
          <a:prstGeom prst="line">
            <a:avLst/>
          </a:prstGeom>
          <a:noFill/>
          <a:ln w="17780">
            <a:solidFill>
              <a:srgbClr val="0E7C86">
                <a:alpha val="82000"/>
              </a:srgbClr>
            </a:solidFill>
            <a:prstDash val="solid"/>
            <a:tailEnd type="triangle"/>
          </a:ln>
        </p:spPr>
      </p:sp>
      <p:sp>
        <p:nvSpPr>
          <p:cNvPr id="9" name="Text 7"/>
          <p:cNvSpPr/>
          <p:nvPr/>
        </p:nvSpPr>
        <p:spPr>
          <a:xfrm>
            <a:off x="6510528"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0" name="Text 8"/>
          <p:cNvSpPr/>
          <p:nvPr/>
        </p:nvSpPr>
        <p:spPr>
          <a:xfrm>
            <a:off x="7419442"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1" name="Text 9"/>
          <p:cNvSpPr/>
          <p:nvPr/>
        </p:nvSpPr>
        <p:spPr>
          <a:xfrm>
            <a:off x="8328355"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12" name="Text 10"/>
          <p:cNvSpPr/>
          <p:nvPr/>
        </p:nvSpPr>
        <p:spPr>
          <a:xfrm>
            <a:off x="9237269" y="2103120"/>
            <a:ext cx="616306"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Evaluate</a:t>
            </a:r>
            <a:endParaRPr lang="en-US" sz="1250" dirty="0"/>
          </a:p>
        </p:txBody>
      </p:sp>
      <p:sp>
        <p:nvSpPr>
          <p:cNvPr id="13" name="Text 11"/>
          <p:cNvSpPr/>
          <p:nvPr/>
        </p:nvSpPr>
        <p:spPr>
          <a:xfrm>
            <a:off x="10146182" y="2103120"/>
            <a:ext cx="616306"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Follow up</a:t>
            </a:r>
            <a:endParaRPr lang="en-US" sz="1250" dirty="0"/>
          </a:p>
        </p:txBody>
      </p:sp>
      <p:sp>
        <p:nvSpPr>
          <p:cNvPr id="14" name="Text 12"/>
          <p:cNvSpPr/>
          <p:nvPr/>
        </p:nvSpPr>
        <p:spPr>
          <a:xfrm>
            <a:off x="658368" y="324612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069848" y="322783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Clinical work may move back to assessment when risk changes, return to planning when barriers…</a:t>
            </a:r>
            <a:endParaRPr lang="en-US" sz="1420" dirty="0"/>
          </a:p>
        </p:txBody>
      </p:sp>
      <p:sp>
        <p:nvSpPr>
          <p:cNvPr id="16" name="Text 14"/>
          <p:cNvSpPr/>
          <p:nvPr/>
        </p:nvSpPr>
        <p:spPr>
          <a:xfrm>
            <a:off x="658368" y="381304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069848" y="379476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process to organize judgment, not replace it.</a:t>
            </a:r>
            <a:endParaRPr lang="en-US" sz="1420" dirty="0"/>
          </a:p>
        </p:txBody>
      </p:sp>
      <p:sp>
        <p:nvSpPr>
          <p:cNvPr id="18" name="Text 16"/>
          <p:cNvSpPr/>
          <p:nvPr/>
        </p:nvSpPr>
        <p:spPr>
          <a:xfrm>
            <a:off x="658368" y="437997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1069848" y="436168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Compare each option to the timing of the stem.</a:t>
            </a:r>
            <a:endParaRPr lang="en-US" sz="1420" dirty="0"/>
          </a:p>
        </p:txBody>
      </p:sp>
      <p:sp>
        <p:nvSpPr>
          <p:cNvPr id="20" name="Text 18"/>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the process to organize judgment, not replace it.</a:t>
            </a:r>
            <a:endParaRPr lang="en-US" sz="1330" dirty="0"/>
          </a:p>
        </p:txBody>
      </p:sp>
      <p:sp>
        <p:nvSpPr>
          <p:cNvPr id="22" name="Shape 20"/>
          <p:cNvSpPr/>
          <p:nvPr/>
        </p:nvSpPr>
        <p:spPr>
          <a:xfrm>
            <a:off x="502920" y="6419088"/>
            <a:ext cx="11155680" cy="0"/>
          </a:xfrm>
          <a:prstGeom prst="line">
            <a:avLst/>
          </a:prstGeom>
          <a:noFill/>
          <a:ln w="9525">
            <a:solidFill>
              <a:srgbClr val="D8DDE5"/>
            </a:solidFill>
            <a:prstDash val="solid"/>
          </a:ln>
        </p:spPr>
      </p:sp>
      <p:sp>
        <p:nvSpPr>
          <p:cNvPr id="23" name="Text 21"/>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4" name="Text 22"/>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13/14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92608"/>
            <a:ext cx="3108960" cy="201168"/>
          </a:xfrm>
          <a:prstGeom prst="rect">
            <a:avLst/>
          </a:prstGeom>
          <a:noFill/>
          <a:ln/>
        </p:spPr>
        <p:txBody>
          <a:bodyPr wrap="square" lIns="0" tIns="0" rIns="0" bIns="0" rtlCol="0" anchor="ctr"/>
          <a:lstStyle/>
          <a:p>
            <a:pPr indent="0" marL="0">
              <a:buNone/>
            </a:pPr>
            <a:r>
              <a:rPr lang="en-US" sz="920" b="1" dirty="0">
                <a:solidFill>
                  <a:srgbClr val="10263F"/>
                </a:solidFill>
                <a:latin typeface="Aptos" pitchFamily="34" charset="0"/>
                <a:ea typeface="Aptos" pitchFamily="34" charset="-122"/>
                <a:cs typeface="Aptos" pitchFamily="34" charset="-120"/>
              </a:rPr>
              <a:t>CLINICAL TRAINING ACADEMY</a:t>
            </a:r>
            <a:endParaRPr lang="en-US" sz="92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9281160" y="292608"/>
            <a:ext cx="2331720" cy="201168"/>
          </a:xfrm>
          <a:prstGeom prst="rect">
            <a:avLst/>
          </a:prstGeom>
          <a:noFill/>
          <a:ln/>
        </p:spPr>
        <p:txBody>
          <a:bodyPr wrap="square" lIns="0" tIns="0" rIns="0" bIns="0" rtlCol="0" anchor="ctr"/>
          <a:lstStyle/>
          <a:p>
            <a:pPr algn="r" indent="0" marL="0">
              <a:buNone/>
            </a:pPr>
            <a:r>
              <a:rPr lang="en-US" sz="920" b="1" dirty="0">
                <a:solidFill>
                  <a:srgbClr val="0E7C86"/>
                </a:solidFill>
                <a:latin typeface="Aptos" pitchFamily="34" charset="0"/>
                <a:ea typeface="Aptos" pitchFamily="34" charset="-122"/>
                <a:cs typeface="Aptos" pitchFamily="34" charset="-120"/>
              </a:rPr>
              <a:t>STAGE LOGIC</a:t>
            </a:r>
            <a:endParaRPr lang="en-US" sz="920" dirty="0"/>
          </a:p>
        </p:txBody>
      </p:sp>
      <p:sp>
        <p:nvSpPr>
          <p:cNvPr id="5" name="Text 3"/>
          <p:cNvSpPr/>
          <p:nvPr/>
        </p:nvSpPr>
        <p:spPr>
          <a:xfrm>
            <a:off x="10104120" y="1078992"/>
            <a:ext cx="1371600" cy="658368"/>
          </a:xfrm>
          <a:prstGeom prst="rect">
            <a:avLst/>
          </a:prstGeom>
          <a:noFill/>
          <a:ln/>
        </p:spPr>
        <p:txBody>
          <a:bodyPr wrap="square" lIns="0" tIns="0" rIns="0" bIns="0" rtlCol="0" anchor="ctr"/>
          <a:lstStyle/>
          <a:p>
            <a:pPr algn="r" indent="0" marL="0">
              <a:buNone/>
            </a:pPr>
            <a:r>
              <a:rPr lang="en-US" sz="3600" b="1" dirty="0">
                <a:solidFill>
                  <a:srgbClr val="0E7C86"/>
                </a:solidFill>
                <a:latin typeface="Aptos Display" pitchFamily="34" charset="0"/>
                <a:ea typeface="Aptos Display" pitchFamily="34" charset="-122"/>
                <a:cs typeface="Aptos Display" pitchFamily="34" charset="-120"/>
              </a:rPr>
              <a:t>14</a:t>
            </a:r>
            <a:endParaRPr lang="en-US" sz="3600" dirty="0"/>
          </a:p>
        </p:txBody>
      </p:sp>
      <p:sp>
        <p:nvSpPr>
          <p:cNvPr id="6" name="Text 4"/>
          <p:cNvSpPr/>
          <p:nvPr/>
        </p:nvSpPr>
        <p:spPr>
          <a:xfrm>
            <a:off x="566928" y="969264"/>
            <a:ext cx="8183880" cy="658368"/>
          </a:xfrm>
          <a:prstGeom prst="rect">
            <a:avLst/>
          </a:prstGeom>
          <a:noFill/>
          <a:ln/>
        </p:spPr>
        <p:txBody>
          <a:bodyPr wrap="square" lIns="254" tIns="254" rIns="254" bIns="254" rtlCol="0" anchor="ctr">
            <a:normAutofit/>
          </a:bodyPr>
          <a:lstStyle/>
          <a:p>
            <a:pPr indent="0" marL="0">
              <a:buNone/>
            </a:pPr>
            <a:r>
              <a:rPr lang="en-US" sz="3000" b="1" dirty="0">
                <a:solidFill>
                  <a:srgbClr val="10263F"/>
                </a:solidFill>
                <a:latin typeface="Aptos Display" pitchFamily="34" charset="0"/>
                <a:ea typeface="Aptos Display" pitchFamily="34" charset="-122"/>
                <a:cs typeface="Aptos Display" pitchFamily="34" charset="-120"/>
              </a:rPr>
              <a:t>Your Next Step</a:t>
            </a:r>
            <a:endParaRPr lang="en-US" sz="3000" dirty="0"/>
          </a:p>
        </p:txBody>
      </p:sp>
      <p:sp>
        <p:nvSpPr>
          <p:cNvPr id="7" name="Text 5"/>
          <p:cNvSpPr/>
          <p:nvPr/>
        </p:nvSpPr>
        <p:spPr>
          <a:xfrm>
            <a:off x="621792" y="1828800"/>
            <a:ext cx="5394960" cy="1024128"/>
          </a:xfrm>
          <a:prstGeom prst="rect">
            <a:avLst/>
          </a:prstGeom>
          <a:noFill/>
          <a:ln/>
        </p:spPr>
        <p:txBody>
          <a:bodyPr wrap="square" lIns="254" tIns="254" rIns="254" bIns="254" rtlCol="0" anchor="ctr">
            <a:normAutofit/>
          </a:bodyPr>
          <a:lstStyle/>
          <a:p>
            <a:pPr indent="0" marL="0">
              <a:buNone/>
            </a:pPr>
            <a:r>
              <a:rPr lang="en-US" sz="2200" b="1" dirty="0">
                <a:solidFill>
                  <a:srgbClr val="1D2838"/>
                </a:solidFill>
                <a:latin typeface="Aptos Display" pitchFamily="34" charset="0"/>
                <a:ea typeface="Aptos Display" pitchFamily="34" charset="-122"/>
                <a:cs typeface="Aptos Display" pitchFamily="34" charset="-120"/>
              </a:rPr>
              <a:t>During your next question bank, label the stage before choosing an answer.</a:t>
            </a:r>
            <a:endParaRPr lang="en-US" sz="2200" dirty="0"/>
          </a:p>
        </p:txBody>
      </p:sp>
      <p:sp>
        <p:nvSpPr>
          <p:cNvPr id="8" name="Text 6"/>
          <p:cNvSpPr/>
          <p:nvPr/>
        </p:nvSpPr>
        <p:spPr>
          <a:xfrm>
            <a:off x="6629400" y="1965960"/>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9" name="Text 7"/>
          <p:cNvSpPr/>
          <p:nvPr/>
        </p:nvSpPr>
        <p:spPr>
          <a:xfrm>
            <a:off x="7040880" y="1947672"/>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Ask whether the question is testing assessment, planning, intervention, evaluation, or follow-up.</a:t>
            </a:r>
            <a:endParaRPr lang="en-US" sz="1420" dirty="0"/>
          </a:p>
        </p:txBody>
      </p:sp>
      <p:sp>
        <p:nvSpPr>
          <p:cNvPr id="10" name="Text 8"/>
          <p:cNvSpPr/>
          <p:nvPr/>
        </p:nvSpPr>
        <p:spPr>
          <a:xfrm>
            <a:off x="6629400" y="2532888"/>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7040880" y="2514600"/>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The more often you identify the stage deliberately, the faster the sequence will become under exam…</a:t>
            </a:r>
            <a:endParaRPr lang="en-US" sz="1420" dirty="0"/>
          </a:p>
        </p:txBody>
      </p:sp>
      <p:sp>
        <p:nvSpPr>
          <p:cNvPr id="12" name="Text 10"/>
          <p:cNvSpPr/>
          <p:nvPr/>
        </p:nvSpPr>
        <p:spPr>
          <a:xfrm>
            <a:off x="6629400" y="3099816"/>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7040880" y="3081528"/>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Use the same rule in the next practice bank.</a:t>
            </a:r>
            <a:endParaRPr lang="en-US" sz="1420" dirty="0"/>
          </a:p>
        </p:txBody>
      </p:sp>
      <p:sp>
        <p:nvSpPr>
          <p:cNvPr id="14" name="Text 12"/>
          <p:cNvSpPr/>
          <p:nvPr/>
        </p:nvSpPr>
        <p:spPr>
          <a:xfrm>
            <a:off x="6629400" y="3666744"/>
            <a:ext cx="329184" cy="329184"/>
          </a:xfrm>
          <a:prstGeom prst="rect">
            <a:avLst/>
          </a:prstGeom>
          <a:noFill/>
          <a:ln/>
        </p:spPr>
        <p:txBody>
          <a:bodyPr wrap="square" lIns="0" tIns="0" rIns="0" bIns="0" rtlCol="0" anchor="ctr"/>
          <a:lstStyle/>
          <a:p>
            <a:pPr algn="ctr" indent="0" marL="0">
              <a:buNone/>
            </a:pPr>
            <a:r>
              <a:rPr lang="en-US" sz="1800" b="1" dirty="0">
                <a:solidFill>
                  <a:srgbClr val="0E7C86"/>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7040880" y="3648456"/>
            <a:ext cx="3794760" cy="411480"/>
          </a:xfrm>
          <a:prstGeom prst="rect">
            <a:avLst/>
          </a:prstGeom>
          <a:noFill/>
          <a:ln/>
        </p:spPr>
        <p:txBody>
          <a:bodyPr wrap="square" lIns="254" tIns="254" rIns="254" bIns="254" rtlCol="0" anchor="ctr">
            <a:normAutofit/>
          </a:bodyPr>
          <a:lstStyle/>
          <a:p>
            <a:pPr indent="0" marL="0">
              <a:buNone/>
            </a:pPr>
            <a:r>
              <a:rPr lang="en-US" sz="1420" dirty="0">
                <a:solidFill>
                  <a:srgbClr val="1D2838"/>
                </a:solidFill>
                <a:latin typeface="Aptos" pitchFamily="34" charset="0"/>
                <a:ea typeface="Aptos" pitchFamily="34" charset="-122"/>
                <a:cs typeface="Aptos" pitchFamily="34" charset="-120"/>
              </a:rPr>
              <a:t>Record the error pattern when it appears.</a:t>
            </a:r>
            <a:endParaRPr lang="en-US" sz="1420" dirty="0"/>
          </a:p>
        </p:txBody>
      </p:sp>
      <p:sp>
        <p:nvSpPr>
          <p:cNvPr id="16" name="Shape 14"/>
          <p:cNvSpPr/>
          <p:nvPr/>
        </p:nvSpPr>
        <p:spPr>
          <a:xfrm>
            <a:off x="1051560" y="4334256"/>
            <a:ext cx="4526280" cy="0"/>
          </a:xfrm>
          <a:prstGeom prst="line">
            <a:avLst/>
          </a:prstGeom>
          <a:noFill/>
          <a:ln w="17780">
            <a:solidFill>
              <a:srgbClr val="0E7C86">
                <a:alpha val="82000"/>
              </a:srgbClr>
            </a:solidFill>
            <a:prstDash val="solid"/>
            <a:tailEnd type="triangle"/>
          </a:ln>
        </p:spPr>
      </p:sp>
      <p:sp>
        <p:nvSpPr>
          <p:cNvPr id="17" name="Text 15"/>
          <p:cNvSpPr/>
          <p:nvPr/>
        </p:nvSpPr>
        <p:spPr>
          <a:xfrm>
            <a:off x="731520"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Assess</a:t>
            </a:r>
            <a:endParaRPr lang="en-US" sz="1250" dirty="0"/>
          </a:p>
        </p:txBody>
      </p:sp>
      <p:sp>
        <p:nvSpPr>
          <p:cNvPr id="18" name="Text 16"/>
          <p:cNvSpPr/>
          <p:nvPr/>
        </p:nvSpPr>
        <p:spPr>
          <a:xfrm>
            <a:off x="2096262"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Plan</a:t>
            </a:r>
            <a:endParaRPr lang="en-US" sz="1250" dirty="0"/>
          </a:p>
        </p:txBody>
      </p:sp>
      <p:sp>
        <p:nvSpPr>
          <p:cNvPr id="19" name="Text 17"/>
          <p:cNvSpPr/>
          <p:nvPr/>
        </p:nvSpPr>
        <p:spPr>
          <a:xfrm>
            <a:off x="3461004" y="4023360"/>
            <a:ext cx="1072134" cy="676656"/>
          </a:xfrm>
          <a:prstGeom prst="rect">
            <a:avLst/>
          </a:prstGeom>
          <a:solidFill>
            <a:srgbClr val="FFFFFF"/>
          </a:solidFill>
          <a:ln w="10160">
            <a:solidFill>
              <a:srgbClr val="D9E0E8"/>
            </a:solidFill>
          </a:ln>
        </p:spPr>
        <p:txBody>
          <a:bodyPr wrap="square" lIns="635" tIns="635" rIns="635" bIns="635" rtlCol="0" anchor="ctr">
            <a:normAutofit/>
          </a:bodyPr>
          <a:lstStyle/>
          <a:p>
            <a:pPr algn="ctr" indent="0" marL="0">
              <a:buNone/>
            </a:pPr>
            <a:r>
              <a:rPr lang="en-US" sz="1250" b="1" dirty="0">
                <a:solidFill>
                  <a:srgbClr val="1D2838"/>
                </a:solidFill>
                <a:latin typeface="Aptos" pitchFamily="34" charset="0"/>
                <a:ea typeface="Aptos" pitchFamily="34" charset="-122"/>
                <a:cs typeface="Aptos" pitchFamily="34" charset="-120"/>
              </a:rPr>
              <a:t>Act</a:t>
            </a:r>
            <a:endParaRPr lang="en-US" sz="1250" dirty="0"/>
          </a:p>
        </p:txBody>
      </p:sp>
      <p:sp>
        <p:nvSpPr>
          <p:cNvPr id="20" name="Text 18"/>
          <p:cNvSpPr/>
          <p:nvPr/>
        </p:nvSpPr>
        <p:spPr>
          <a:xfrm>
            <a:off x="4825746" y="4023360"/>
            <a:ext cx="1072134" cy="676656"/>
          </a:xfrm>
          <a:prstGeom prst="rect">
            <a:avLst/>
          </a:prstGeom>
          <a:solidFill>
            <a:srgbClr val="0E7C86"/>
          </a:solidFill>
          <a:ln w="10160">
            <a:solidFill>
              <a:srgbClr val="0E7C86"/>
            </a:solidFill>
          </a:ln>
        </p:spPr>
        <p:txBody>
          <a:bodyPr wrap="square" lIns="635" tIns="635" rIns="635" bIns="635" rtlCol="0" anchor="ctr">
            <a:normAutofit/>
          </a:bodyPr>
          <a:lstStyle/>
          <a:p>
            <a:pPr algn="ctr" indent="0" marL="0">
              <a:buNone/>
            </a:pPr>
            <a:r>
              <a:rPr lang="en-US" sz="1250" b="1" dirty="0">
                <a:solidFill>
                  <a:srgbClr val="FFFFFF"/>
                </a:solidFill>
                <a:latin typeface="Aptos" pitchFamily="34" charset="0"/>
                <a:ea typeface="Aptos" pitchFamily="34" charset="-122"/>
                <a:cs typeface="Aptos" pitchFamily="34" charset="-120"/>
              </a:rPr>
              <a:t>Evaluate</a:t>
            </a:r>
            <a:endParaRPr lang="en-US" sz="1250" dirty="0"/>
          </a:p>
        </p:txBody>
      </p:sp>
      <p:sp>
        <p:nvSpPr>
          <p:cNvPr id="21" name="Text 19"/>
          <p:cNvSpPr/>
          <p:nvPr/>
        </p:nvSpPr>
        <p:spPr>
          <a:xfrm>
            <a:off x="621792" y="5715000"/>
            <a:ext cx="1143000"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2057400" y="5650992"/>
            <a:ext cx="8732520" cy="384048"/>
          </a:xfrm>
          <a:prstGeom prst="rect">
            <a:avLst/>
          </a:prstGeom>
          <a:noFill/>
          <a:ln/>
        </p:spPr>
        <p:txBody>
          <a:bodyPr wrap="square" lIns="0" tIns="0" rIns="0" bIns="0"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more often you identify the stage deliberately, the faster the sequence will become under exam conditions.</a:t>
            </a:r>
            <a:endParaRPr lang="en-US" sz="1330" dirty="0"/>
          </a:p>
        </p:txBody>
      </p:sp>
      <p:sp>
        <p:nvSpPr>
          <p:cNvPr id="23" name="Shape 21"/>
          <p:cNvSpPr/>
          <p:nvPr/>
        </p:nvSpPr>
        <p:spPr>
          <a:xfrm>
            <a:off x="502920" y="6419088"/>
            <a:ext cx="11155680" cy="0"/>
          </a:xfrm>
          <a:prstGeom prst="line">
            <a:avLst/>
          </a:prstGeom>
          <a:noFill/>
          <a:ln w="9525">
            <a:solidFill>
              <a:srgbClr val="D8DDE5"/>
            </a:solidFill>
            <a:prstDash val="solid"/>
          </a:ln>
        </p:spPr>
      </p:sp>
      <p:sp>
        <p:nvSpPr>
          <p:cNvPr id="24" name="Text 22"/>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25" name="Text 23"/>
          <p:cNvSpPr/>
          <p:nvPr/>
        </p:nvSpPr>
        <p:spPr>
          <a:xfrm>
            <a:off x="7726680" y="6473952"/>
            <a:ext cx="388620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Shared LMFT &amp; LCSW Script 04  •  14/14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Shared Multimedia Script 04: Assessment, Intervention, Evaluation, and Follow-Up</dc:title>
  <dc:subject>Shared LMFT &amp; LCSW Multimedia Script 04</dc:subject>
  <dc:creator>Clinical Training Academy</dc:creator>
  <cp:lastModifiedBy>Clinical Training Academy</cp:lastModifiedBy>
  <cp:revision>1</cp:revision>
  <dcterms:created xsi:type="dcterms:W3CDTF">2026-07-25T19:26:30Z</dcterms:created>
  <dcterms:modified xsi:type="dcterms:W3CDTF">2026-07-25T19:26:30Z</dcterms:modified>
</cp:coreProperties>
</file>