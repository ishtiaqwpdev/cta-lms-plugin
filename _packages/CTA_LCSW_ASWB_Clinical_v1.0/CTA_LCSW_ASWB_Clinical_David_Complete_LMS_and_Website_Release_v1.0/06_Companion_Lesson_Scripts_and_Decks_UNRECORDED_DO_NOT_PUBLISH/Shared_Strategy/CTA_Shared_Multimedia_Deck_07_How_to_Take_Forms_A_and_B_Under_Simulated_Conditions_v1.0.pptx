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Forms A and B are not two interchangeable practice sets. Form A is your diagnostic simulation after the twelve-workbook curriculum. Form B is your final readiness check after targeted remediation. Protecting those roles makes the results more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Take Form A only after completing all twelve workbooks and their question banks. Taking it too early measures what you have not studied rather than how well you integrate the program. It also uses up a valuable simulation before you are ready to learn from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the simulation, prepare the environment. Reserve the full time block listed in your profession-specific roadmap. Use a quiet space, silence notifications, remove answer resources, and arrange only the materials permitted by the simulation instructions. Tell others when you will be unavailable. The goal is to practice the conditions, not just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LMFT and LCSW simulations differ in length and format, so use the timing plan in your own roadmap. Set quarter-point or section checkpoints before you begin. The purpose is not to rush. It is to notice early whether your pace will allow you to complete the full exam with enough attention for later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Do not review answers, rationales, notes, or outside resources during the attempt. Complete the entire form before checking performance. Early feedback changes how you approach later items and makes the result less representative of a full exam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the same item routine you practiced in the workbook banks. Identify the task word, name the stage, eliminate mistimed or unsupported options, choose the best fit, and move on. A simulation is not the time to invent a new strategy. It is the time to apply the process you have rehearsed.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Flag an item when you can identify a specific reason that review may help, such as a missed task word, a calculation of sequence, or a comparison between two remaining options. Do not flag every uncomfortable question. Excessive flagging creates a second exam and can encourage unnecessary answer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After Form A, record more than the overall score. Note your pace, the point when concentration dropped, the number of unanswered or rushed items, content-area patterns, and the reasoning errors that repeated. A score tells you how the attempt ended. These additional observations tell you what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Review Form A in two passes. First, look at the overall pattern: content areas, timing, stamina, and repeated error types. Second, review individual items and rationales. This prevents you from treating every missed question as an isolated problem when several may come from the same decision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Choose two to four high-impact priorities for remediation. Link each priority to the relevant workbook, strategy recording, error-log entries, and selected practice questions. Avoid trying to repeat the entire program. A focused plan is more effective than broad rereading, especially when the same pattern affected many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Form B, confirm that you completed the remediation plan, can retrieve the corrected decision rules, and improved the weak areas through targeted practice. Also practice the pacing or reset strategy you plan to use. Form B should test updated preparation, not simply repeat the conditions that produced the Form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Take Form B under the same controlled conditions. Use the full time block, remove answer resources, follow the timing checkpoints, and complete the entire form before reviewing rationales. Consistency allows you to compare your decision-making and stamina more meaningfully.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Form B as one source of readiness evidence, not a guarantee of passage. Consider the score, content balance, pacing, stamina, confidence in the decision routine, and whether major error patterns have decreased. No practice form can reproduce every official exam condition or predict an individual outcome with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If Form B is lower than expected, do not react by repeatedly retaking it. Pause and diagnose the cause. Was the problem content, sequencing, timing, fatigue, anxiety, or testing conditions? Extend the study plan, return to targeted materials, and practice the underlying skills. Repeated exposure without correction mainly teaches familiarity with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the simulation checklist in your roadmap. Schedule Form A only after the twelve workbooks and banks are complete, protect a realistic time block, and plan the remediation period before Form B. Treat each form as a meaningful learning event rather than another set of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01</a:t>
            </a:r>
            <a:endParaRPr lang="en-US" sz="3600" dirty="0"/>
          </a:p>
        </p:txBody>
      </p:sp>
      <p:sp>
        <p:nvSpPr>
          <p:cNvPr id="6" name="Text 4"/>
          <p:cNvSpPr/>
          <p:nvPr/>
        </p:nvSpPr>
        <p:spPr>
          <a:xfrm>
            <a:off x="566928" y="1005840"/>
            <a:ext cx="7132320" cy="932688"/>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How to Take Forms A and B Under Simulated Conditions</a:t>
            </a:r>
            <a:endParaRPr lang="en-US" sz="3300" dirty="0"/>
          </a:p>
        </p:txBody>
      </p:sp>
      <p:sp>
        <p:nvSpPr>
          <p:cNvPr id="7" name="Text 5"/>
          <p:cNvSpPr/>
          <p:nvPr/>
        </p:nvSpPr>
        <p:spPr>
          <a:xfrm>
            <a:off x="585216" y="1938528"/>
            <a:ext cx="6537960" cy="292608"/>
          </a:xfrm>
          <a:prstGeom prst="rect">
            <a:avLst/>
          </a:prstGeom>
          <a:noFill/>
          <a:ln/>
        </p:spPr>
        <p:txBody>
          <a:bodyPr wrap="square" lIns="0" tIns="0" rIns="0" bIns="0" rtlCol="0" anchor="ctr"/>
          <a:lstStyle/>
          <a:p>
            <a:pPr indent="0" marL="0">
              <a:buNone/>
            </a:pPr>
            <a:r>
              <a:rPr lang="en-US" sz="1350" dirty="0">
                <a:solidFill>
                  <a:srgbClr val="5A6675"/>
                </a:solidFill>
                <a:latin typeface="Aptos" pitchFamily="34" charset="0"/>
                <a:ea typeface="Aptos" pitchFamily="34" charset="-122"/>
                <a:cs typeface="Aptos" pitchFamily="34" charset="-120"/>
              </a:rPr>
              <a:t>Shared LMFT &amp; LCSW Multimedia Script 07</a:t>
            </a:r>
            <a:endParaRPr lang="en-US" sz="1350" dirty="0"/>
          </a:p>
        </p:txBody>
      </p:sp>
      <p:sp>
        <p:nvSpPr>
          <p:cNvPr id="8" name="Shape 6"/>
          <p:cNvSpPr/>
          <p:nvPr/>
        </p:nvSpPr>
        <p:spPr>
          <a:xfrm>
            <a:off x="621792" y="2743200"/>
            <a:ext cx="6858000" cy="0"/>
          </a:xfrm>
          <a:prstGeom prst="line">
            <a:avLst/>
          </a:prstGeom>
          <a:noFill/>
          <a:ln w="27940">
            <a:solidFill>
              <a:srgbClr val="3467A6"/>
            </a:solidFill>
            <a:prstDash val="solid"/>
            <a:tailEnd type="triangle"/>
          </a:ln>
        </p:spPr>
      </p:sp>
      <p:sp>
        <p:nvSpPr>
          <p:cNvPr id="9" name="Shape 7"/>
          <p:cNvSpPr/>
          <p:nvPr/>
        </p:nvSpPr>
        <p:spPr>
          <a:xfrm>
            <a:off x="1124712" y="3557016"/>
            <a:ext cx="5715000" cy="0"/>
          </a:xfrm>
          <a:prstGeom prst="line">
            <a:avLst/>
          </a:prstGeom>
          <a:noFill/>
          <a:ln w="17780">
            <a:solidFill>
              <a:srgbClr val="3467A6">
                <a:alpha val="82000"/>
              </a:srgbClr>
            </a:solidFill>
            <a:prstDash val="solid"/>
            <a:tailEnd type="triangle"/>
          </a:ln>
        </p:spPr>
      </p:sp>
      <p:sp>
        <p:nvSpPr>
          <p:cNvPr id="10" name="Text 8"/>
          <p:cNvSpPr/>
          <p:nvPr/>
        </p:nvSpPr>
        <p:spPr>
          <a:xfrm>
            <a:off x="804672"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1" name="Text 9"/>
          <p:cNvSpPr/>
          <p:nvPr/>
        </p:nvSpPr>
        <p:spPr>
          <a:xfrm>
            <a:off x="2134210"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2" name="Text 10"/>
          <p:cNvSpPr/>
          <p:nvPr/>
        </p:nvSpPr>
        <p:spPr>
          <a:xfrm>
            <a:off x="3463747"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3" name="Text 11"/>
          <p:cNvSpPr/>
          <p:nvPr/>
        </p:nvSpPr>
        <p:spPr>
          <a:xfrm>
            <a:off x="4793285"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4" name="Text 12"/>
          <p:cNvSpPr/>
          <p:nvPr/>
        </p:nvSpPr>
        <p:spPr>
          <a:xfrm>
            <a:off x="6122822" y="3246120"/>
            <a:ext cx="1036930"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5" name="Text 13"/>
          <p:cNvSpPr/>
          <p:nvPr/>
        </p:nvSpPr>
        <p:spPr>
          <a:xfrm>
            <a:off x="7818120" y="2404872"/>
            <a:ext cx="3337560" cy="1298448"/>
          </a:xfrm>
          <a:prstGeom prst="rect">
            <a:avLst/>
          </a:prstGeom>
          <a:noFill/>
          <a:ln/>
        </p:spPr>
        <p:txBody>
          <a:bodyPr wrap="square" lIns="1016" tIns="1016" rIns="1016" bIns="1016"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Forms A and B are not two interchangeable practice sets.</a:t>
            </a:r>
            <a:endParaRPr lang="en-US" sz="2050" dirty="0"/>
          </a:p>
        </p:txBody>
      </p:sp>
      <p:sp>
        <p:nvSpPr>
          <p:cNvPr id="16" name="Text 14"/>
          <p:cNvSpPr/>
          <p:nvPr/>
        </p:nvSpPr>
        <p:spPr>
          <a:xfrm>
            <a:off x="7827264" y="3968496"/>
            <a:ext cx="3200400" cy="658368"/>
          </a:xfrm>
          <a:prstGeom prst="rect">
            <a:avLst/>
          </a:prstGeom>
          <a:noFill/>
          <a:ln/>
        </p:spPr>
        <p:txBody>
          <a:bodyPr wrap="square" lIns="254" tIns="254" rIns="254" bIns="254" rtlCol="0" anchor="ctr">
            <a:normAutofit/>
          </a:bodyPr>
          <a:lstStyle/>
          <a:p>
            <a:pPr indent="0" marL="0">
              <a:buNone/>
            </a:pPr>
            <a:r>
              <a:rPr lang="en-US" sz="1300" dirty="0">
                <a:solidFill>
                  <a:srgbClr val="5A6675"/>
                </a:solidFill>
                <a:latin typeface="Aptos" pitchFamily="34" charset="0"/>
                <a:ea typeface="Aptos" pitchFamily="34" charset="-122"/>
                <a:cs typeface="Aptos" pitchFamily="34" charset="-120"/>
              </a:rPr>
              <a:t>This deck uses the script narration verbatim in speaker notes.</a:t>
            </a:r>
            <a:endParaRPr lang="en-US" sz="1300" dirty="0"/>
          </a:p>
        </p:txBody>
      </p:sp>
      <p:sp>
        <p:nvSpPr>
          <p:cNvPr id="17" name="Text 15"/>
          <p:cNvSpPr/>
          <p:nvPr/>
        </p:nvSpPr>
        <p:spPr>
          <a:xfrm>
            <a:off x="621792" y="5358384"/>
            <a:ext cx="2514600" cy="301752"/>
          </a:xfrm>
          <a:prstGeom prst="rect">
            <a:avLst/>
          </a:prstGeom>
          <a:solidFill>
            <a:srgbClr val="3467A6"/>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8" name="Shape 16"/>
          <p:cNvSpPr/>
          <p:nvPr/>
        </p:nvSpPr>
        <p:spPr>
          <a:xfrm>
            <a:off x="502920" y="6419088"/>
            <a:ext cx="11155680" cy="0"/>
          </a:xfrm>
          <a:prstGeom prst="line">
            <a:avLst/>
          </a:prstGeom>
          <a:noFill/>
          <a:ln w="9525">
            <a:solidFill>
              <a:srgbClr val="D8DDE5"/>
            </a:solidFill>
            <a:prstDash val="solid"/>
          </a:ln>
        </p:spPr>
      </p:sp>
      <p:sp>
        <p:nvSpPr>
          <p:cNvPr id="19" name="Text 17"/>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0" name="Text 18"/>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01/15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Do Not Take Form A Too Early</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Take Form A only after completing all twelve workbooks and their question banks.</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Taking it too early measures what you have not studied rather than how well you integrate the program.</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also uses up a valuable simulation before you are ready to learn from the result.</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also uses up a valuable simulation before you are ready to learn from the result.</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02/15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Prepare the Environment</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Before the simulation, prepare the environment.</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Reserve the full time block listed in your profession-specific roadmap.</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goal is to practice the conditions, not just the questions.</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goal is to practice the conditions, not just the questions.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03/15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the Profession-Specific Timing Plan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The LMFT and LCSW simulations differ in length and format, so use the timing plan in your own roadmap.</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Set quarter-point or section checkpoints before you begin.</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is to notice early whether your pace will allow you to complete the full exam with enough…</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467A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20" name="Text 18"/>
          <p:cNvSpPr/>
          <p:nvPr/>
        </p:nvSpPr>
        <p:spPr>
          <a:xfrm>
            <a:off x="4825746" y="4023360"/>
            <a:ext cx="1072134"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Remediate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notice early whether your pace will allow you to complete the full exam with enough attention for later questions.</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04/15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Complete the Entire Form Before Reviewing Answers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Do not review answers, rationales, notes, or outside resources during the attempt.</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Complete the entire form before checking performance.</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Early feedback changes how you approach later items and makes the result less representative of a…</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Early feedback changes how you approach later items and makes the result less representative of a full exam experience.</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05/15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06</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a Consistent Item Routine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the same item routine you practiced in the workbook banks.</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Identify the task word, name the stage, eliminate mistimed or unsupported options, choose the best…</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is the time to apply the process you have rehearsed.</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467A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20" name="Text 18"/>
          <p:cNvSpPr/>
          <p:nvPr/>
        </p:nvSpPr>
        <p:spPr>
          <a:xfrm>
            <a:off x="4825746" y="4023360"/>
            <a:ext cx="1072134"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Remediate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the time to apply the process you have rehearsed.</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06/15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07</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Flag Strategically, Not Emotionally</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Flag an item when you can identify a specific reason that review may help, such as a missed task word, a calculation of sequence, or a comparison between…</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flag every uncomfortable question.</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Excessive flagging creates a second exam and can encourage unnecessary answer changes.</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Excessive flagging creates a second exam and can encourage unnecessary answer changes.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07/15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08</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Record More Than the Score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After Form A, record more than the overall score.</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Note your pace, the point when concentration dropped, the number of unanswered or rushed items,…</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These additional observations tell you what to change.</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These additional observations tell you what to change.</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08/15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09</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Review Form A in Two Passes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Review Form A in two passes.</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First, look at the overall pattern: content areas, timing, stamina, and repeated error types.</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This prevents you from treating every missed question as an isolated problem when several may come…</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prevents you from treating every missed question as an isolated problem when several may come from the same decision error.</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09/15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10</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Build a Targeted Remediation Plan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Choose two to four high-impact priorities for remediation.</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Link each priority to the relevant workbook, strategy recording, error-log entries, and selected…</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 focused plan is more effective than broad rereading, especially when the same pattern affected…</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467A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20" name="Text 18"/>
          <p:cNvSpPr/>
          <p:nvPr/>
        </p:nvSpPr>
        <p:spPr>
          <a:xfrm>
            <a:off x="4825746" y="4023360"/>
            <a:ext cx="1072134"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Remediate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focused plan is more effective than broad rereading, especially when the same pattern affected many items.</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10/15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11</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Demonstrate Readiness Before Form B</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Before Form B, confirm that you completed the remediation plan, can retrieve the corrected decision rules, and improved the weak areas through targeted…</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Also practice the pacing or reset strategy you plan to use.</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Form B should test updated preparation, not simply repeat the conditions that produced the Form A…</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Form B should test updated preparation, not simply repeat the conditions that produced the Form A result.</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11/15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12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Take Form B Under the Same Controlled Conditions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Take Form B under the same controlled conditions.</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full time block, remove answer resources, follow the timing checkpoints, and complete the…</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Consistency allows you to compare your decision-making and stamina more meaningfully.</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Consistency allows you to compare your decision-making and stamina more meaningfully.</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12/15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13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Interpret Form B as Evidence, Not a Guarantee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Form B as one source of readiness evidence, not a guarantee of passage.</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Consider the score, content balance, pacing, stamina, confidence in the decision routine, and…</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No practice form can reproduce every official exam condition or predict an individual outcome with…</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No practice form can reproduce every official exam condition or predict an individual outcome with certainty.</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13/15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14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If the Result Is Lower Than Expected</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If Form B is lower than expected, do not react by repeatedly retaking it.</a:t>
            </a:r>
            <a:endParaRPr lang="en-US" sz="2200" dirty="0"/>
          </a:p>
        </p:txBody>
      </p:sp>
      <p:sp>
        <p:nvSpPr>
          <p:cNvPr id="8" name="Shape 6"/>
          <p:cNvSpPr/>
          <p:nvPr/>
        </p:nvSpPr>
        <p:spPr>
          <a:xfrm>
            <a:off x="6830568" y="2414016"/>
            <a:ext cx="3611880" cy="0"/>
          </a:xfrm>
          <a:prstGeom prst="line">
            <a:avLst/>
          </a:prstGeom>
          <a:noFill/>
          <a:ln w="17780">
            <a:solidFill>
              <a:srgbClr val="3467A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Remediate</a:t>
            </a:r>
            <a:endParaRPr lang="en-US" sz="1250" dirty="0"/>
          </a:p>
        </p:txBody>
      </p:sp>
      <p:sp>
        <p:nvSpPr>
          <p:cNvPr id="13" name="Text 11"/>
          <p:cNvSpPr/>
          <p:nvPr/>
        </p:nvSpPr>
        <p:spPr>
          <a:xfrm>
            <a:off x="10146182" y="2103120"/>
            <a:ext cx="616306"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Recheck</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Pause and diagnose the cause.</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Repeated exposure without correction mainly teaches familiarity with the form.</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Repeated exposure without correction mainly teaches familiarity with the form.</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14/15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3467A6"/>
                </a:solidFill>
                <a:latin typeface="Aptos" pitchFamily="34" charset="0"/>
                <a:ea typeface="Aptos" pitchFamily="34" charset="-122"/>
                <a:cs typeface="Aptos" pitchFamily="34" charset="-120"/>
              </a:rPr>
              <a:t>SIMULATION ROUTINE</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3467A6"/>
                </a:solidFill>
                <a:latin typeface="Aptos Display" pitchFamily="34" charset="0"/>
                <a:ea typeface="Aptos Display" pitchFamily="34" charset="-122"/>
                <a:cs typeface="Aptos Display" pitchFamily="34" charset="-120"/>
              </a:rPr>
              <a:t>15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Your Next Step</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the simulation checklist in your roadmap.</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Schedule Form A only after the twelve workbooks and banks are complete, protect a realistic time…</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Treat each form as a meaningful learning event rather than another set of questions.</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3467A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3467A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Prepare</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Attempt</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Review</a:t>
            </a:r>
            <a:endParaRPr lang="en-US" sz="1250" dirty="0"/>
          </a:p>
        </p:txBody>
      </p:sp>
      <p:sp>
        <p:nvSpPr>
          <p:cNvPr id="20" name="Text 18"/>
          <p:cNvSpPr/>
          <p:nvPr/>
        </p:nvSpPr>
        <p:spPr>
          <a:xfrm>
            <a:off x="4825746" y="4023360"/>
            <a:ext cx="1072134" cy="676656"/>
          </a:xfrm>
          <a:prstGeom prst="rect">
            <a:avLst/>
          </a:prstGeom>
          <a:solidFill>
            <a:srgbClr val="3467A6"/>
          </a:solidFill>
          <a:ln w="10160">
            <a:solidFill>
              <a:srgbClr val="3467A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Remediate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Treat each form as a meaningful learning event rather than another set of questions.</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07  •  15/15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Shared Multimedia Script 07: How to Take Forms A and B Under Simulated Conditions</dc:title>
  <dc:subject>Shared LMFT &amp; LCSW Multimedia Script 07</dc:subject>
  <dc:creator>Clinical Training Academy</dc:creator>
  <cp:lastModifiedBy>Clinical Training Academy</cp:lastModifiedBy>
  <cp:revision>1</cp:revision>
  <dcterms:created xsi:type="dcterms:W3CDTF">2026-07-25T19:26:30Z</dcterms:created>
  <dcterms:modified xsi:type="dcterms:W3CDTF">2026-07-25T19:26:30Z</dcterms:modified>
</cp:coreProperties>
</file>