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This orientation explains exactly how to move through the CTA Exam Success System. You will learn how to use the twelve workbooks, when to complete each question bank, how to review rationales, and how to protect the value of Forms A and B.
Visual direction:
Title slide with roadmap graphic.
On-screen text:
How to Use the 12 Workbooks and Question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First, choose how you want to study. In the online pathway, you read lessons, complete questions, and track progress on the website. In the printable pathway, you download materials, write directly in the workbooks, and self-score after completing each bank. In the hybrid pathway, you combine both methods. Choose the format that makes it easiest to stay consistent. You do not need to use the same format for every workbook.
Visual direction:
Three pathway cards: online, paper, hybrid.
On-screen text:
Online • Download &amp; Print • Hybrid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Next, choose a study schedule. The accelerated plan is appropriate when you have substantial weekly study time and a firm exam date. The fourteen-week plan is the recommended balanced pace. The eighteen-week plan provides more time for work, family, health needs, or deeper remediation. A realistic plan is better than the fastest plan. Choose the schedule you are most likely to follow.
Visual direction:
10-, 14-, and 18-week calendar options.
On-screen text:
Accelerated: 10 Weeks
Recommended: 14 Weeks
Extended: 18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Work through one workbook at a time. Read the learning objectives, complete the core content, and pay special attention to the exam tips, common traps, memory aids, and clinical applications. Do not rush directly to the question bank. The questions are most useful after you have completed the learning and can test whether you can apply it.
Visual direction:
Single workbook highlighted while the others remain dimmed.
On-screen text:
Complete the Learning Before Testing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Use the companion video or audio to reinforce the workbook’s high-yield ideas. The recordings are not intended to replace the workbook or read it aloud. They help you hear the reasoning, notice exam traps, and connect concepts to decisions. The transcript is available for review, and the audio version can support screen-free study.
Visual direction:
Video, transcript, and MP3 icons beside a workbook.
On-screen text:
Watch • Read • Listen •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After finishing the workbook, complete its seventeen-question bank without viewing the answers. Each bank includes five easy, seven moderate, and five difficult items. The goal is not to prove mastery on the first attempt. The goal is to see what you can recognize, apply, and integrate without assistance. Answer every question before opening the rationale resource.
Visual direction:
Question bank graphic labeled 5 Easy, 7 Moderate, 5 Difficult.
On-screen text:
17 Questions
5 Easy • 7 Moderate • 5 Difficult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Once the bank is submitted, review every option. Start with the best answer, then study why the remaining choices are weaker. A distractor may be incorrect because it is premature, too broad, outside the clinician’s role, insufficiently collaborative, or unrelated to the task word. Those distinctions are often more valuable than memorizing the correct letter.
Visual direction:
Four answer choices with each linked to a rationale bubble.
On-screen text:
Review the Correct Answer and Every Distractor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For each missed question, classify the reason. Did you lack the content? Did you miss the word FIRST, NEXT, BEST, or MOST? Did you act before gathering enough information? Did you choose a later treatment step too soon? Or did you overthink the scenario and add facts that were not provided? Recording the reason helps you fix the pattern instead of simply repeating the item.
Visual direction:
Error log with five categories.
On-screen text:
Content Gap
Task-Word Error
Sequence Error
Premature Action
Overthinking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Before moving to the next workbook, complete targeted remediation. Return to the section connected to the miss, restate the decision rule in your own words, and explain what would make the tempting distractor appropriate at a later stage. You may repeat selected questions after remediation, but do not rely on memorizing the answer letter.
Visual direction:
Arrow returning from error log to the workbook section.
On-screen text:
Return to the Concept • Restate the Rule • Try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Complete all twelve workbooks and question banks before taking Form A. The comprehensive simulation is designed to measure how well you integrate material across the full program. Taking it too early reduces its value and may create unnecessary anxiety from testing content you have not yet reviewed.
Visual direction:
Twelve completed workbook checkmarks.
On-screen text:
Curriculum First • Simulation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Take Form A under realistic, uninterrupted conditions. Complete the entire exam before reviewing answers. After submission, examine your overall result, pacing, and content-area performance. Then complete a focused remediation plan. Form A is not a final judgment. It is a diagnostic simulation that shows what still needs attention.
Visual direction:
Timed exam screen followed by domain performance bars.
On-screen text:
Form A: Simulate • Score • Diagnose • Remediate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Form B should remain protected until you have reviewed Form A and completed the required remediation. Use Form B as your final readiness check, not as an extra question bank. Take it under the same conditions you plan to use for the real exam. Afterward, review the rationales, identify final weak areas, and follow the final-week checklist.
Visual direction:
Locked Form B opening after a remediation checklist.
On-screen text:
Form B Unlocks After Form A Remediation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Use the roadmap, readiness tracker, and error log to look for improvement across time. One score does not define your readiness. Watch for fewer sequencing errors, stronger elimination of distractors, better pacing, and more consistent reasoning across content areas. Progress is the pattern.
Visual direction:
Trend line showing improving consistency across weeks.
On-screen text:
Look for Better Decisions Across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You now know how to use the full program. Open your roadmap, confirm your schedule, and begin Workbook 1. Complete the learning before the question bank, review every rationale after submission, and record what each miss teaches you. That cycle will guide you all the way to Form B.
Visual direction:
Workbook 1 cover with Start button.
On-screen text:
Next: Begin Workbook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474720" y="502920"/>
            <a:ext cx="5212080" cy="1143000"/>
          </a:xfrm>
          <a:prstGeom prst="rect">
            <a:avLst/>
          </a:prstGeom>
        </p:spPr>
      </p:pic>
      <p:sp>
        <p:nvSpPr>
          <p:cNvPr id="3" name="Text 0"/>
          <p:cNvSpPr/>
          <p:nvPr/>
        </p:nvSpPr>
        <p:spPr>
          <a:xfrm>
            <a:off x="960120" y="1828800"/>
            <a:ext cx="10287000" cy="713232"/>
          </a:xfrm>
          <a:prstGeom prst="rect">
            <a:avLst/>
          </a:prstGeom>
          <a:noFill/>
          <a:ln/>
        </p:spPr>
        <p:txBody>
          <a:bodyPr wrap="square" lIns="254" tIns="254" rIns="254" bIns="254" rtlCol="0" anchor="ctr">
            <a:normAutofit/>
          </a:bodyPr>
          <a:lstStyle/>
          <a:p>
            <a:pPr algn="ctr" indent="0" marL="0">
              <a:buNone/>
            </a:pPr>
            <a:r>
              <a:rPr lang="en-US" sz="3100" b="1" dirty="0">
                <a:solidFill>
                  <a:srgbClr val="17365D"/>
                </a:solidFill>
                <a:latin typeface="Aptos Display" pitchFamily="34" charset="0"/>
                <a:ea typeface="Aptos Display" pitchFamily="34" charset="-122"/>
                <a:cs typeface="Aptos Display" pitchFamily="34" charset="-120"/>
              </a:rPr>
              <a:t>How to Use the 12 Workbooks and Question Banks</a:t>
            </a:r>
            <a:endParaRPr lang="en-US" sz="3100" dirty="0"/>
          </a:p>
        </p:txBody>
      </p:sp>
      <p:sp>
        <p:nvSpPr>
          <p:cNvPr id="4" name="Text 1"/>
          <p:cNvSpPr/>
          <p:nvPr/>
        </p:nvSpPr>
        <p:spPr>
          <a:xfrm>
            <a:off x="1737360" y="2615184"/>
            <a:ext cx="8732520" cy="320040"/>
          </a:xfrm>
          <a:prstGeom prst="rect">
            <a:avLst/>
          </a:prstGeom>
          <a:noFill/>
          <a:ln/>
        </p:spPr>
        <p:txBody>
          <a:bodyPr wrap="square" lIns="254" tIns="254" rIns="254" bIns="254" rtlCol="0" anchor="ctr"/>
          <a:lstStyle/>
          <a:p>
            <a:pPr algn="ctr" indent="0" marL="0">
              <a:buNone/>
            </a:pPr>
            <a:r>
              <a:rPr lang="en-US" sz="1300" b="1" dirty="0">
                <a:solidFill>
                  <a:srgbClr val="2AA7D6"/>
                </a:solidFill>
                <a:latin typeface="Aptos" pitchFamily="34" charset="0"/>
                <a:ea typeface="Aptos" pitchFamily="34" charset="-122"/>
                <a:cs typeface="Aptos" pitchFamily="34" charset="-120"/>
              </a:rPr>
              <a:t>Multimedia Script 02</a:t>
            </a:r>
            <a:endParaRPr lang="en-US" sz="1300" dirty="0"/>
          </a:p>
        </p:txBody>
      </p:sp>
      <p:sp>
        <p:nvSpPr>
          <p:cNvPr id="5" name="Text 2"/>
          <p:cNvSpPr/>
          <p:nvPr/>
        </p:nvSpPr>
        <p:spPr>
          <a:xfrm>
            <a:off x="1234440" y="3429000"/>
            <a:ext cx="9738360" cy="502920"/>
          </a:xfrm>
          <a:prstGeom prst="rect">
            <a:avLst/>
          </a:prstGeom>
          <a:solidFill>
            <a:srgbClr val="FFFFFF">
              <a:alpha val="96000"/>
            </a:srgbClr>
          </a:solidFill>
          <a:ln>
            <a:solidFill>
              <a:srgbClr val="DCEFF6"/>
            </a:solidFill>
          </a:ln>
        </p:spPr>
        <p:txBody>
          <a:bodyPr wrap="square" lIns="635" tIns="635" rIns="635" bIns="635" rtlCol="0" anchor="ctr"/>
          <a:lstStyle/>
          <a:p>
            <a:pPr algn="ctr" indent="0" marL="0">
              <a:buNone/>
            </a:pPr>
            <a:r>
              <a:rPr lang="en-US" sz="1400" dirty="0">
                <a:solidFill>
                  <a:srgbClr val="243B53"/>
                </a:solidFill>
                <a:latin typeface="Aptos" pitchFamily="34" charset="0"/>
                <a:ea typeface="Aptos" pitchFamily="34" charset="-122"/>
                <a:cs typeface="Aptos" pitchFamily="34" charset="-120"/>
              </a:rPr>
              <a:t>How to Use the 12 Workbooks and Question Banks</a:t>
            </a:r>
            <a:endParaRPr lang="en-US" sz="1400" dirty="0"/>
          </a:p>
        </p:txBody>
      </p:sp>
      <p:sp>
        <p:nvSpPr>
          <p:cNvPr id="6" name="Text 3"/>
          <p:cNvSpPr/>
          <p:nvPr/>
        </p:nvSpPr>
        <p:spPr>
          <a:xfrm>
            <a:off x="2331720" y="6016752"/>
            <a:ext cx="7543800" cy="228600"/>
          </a:xfrm>
          <a:prstGeom prst="rect">
            <a:avLst/>
          </a:prstGeom>
          <a:noFill/>
          <a:ln/>
        </p:spPr>
        <p:txBody>
          <a:bodyPr wrap="square" lIns="254" tIns="254" rIns="254" bIns="254" rtlCol="0" anchor="ctr"/>
          <a:lstStyle/>
          <a:p>
            <a:pPr algn="ctr" indent="0" marL="0">
              <a:buNone/>
            </a:pPr>
            <a:r>
              <a:rPr lang="en-US" sz="850" dirty="0">
                <a:solidFill>
                  <a:srgbClr val="6B7280"/>
                </a:solidFill>
                <a:latin typeface="Aptos" pitchFamily="34" charset="0"/>
                <a:ea typeface="Aptos" pitchFamily="34" charset="-122"/>
                <a:cs typeface="Aptos" pitchFamily="34" charset="-120"/>
              </a:rPr>
              <a:t>Ready-to-record slide deck with synchronized speaker notes</a:t>
            </a:r>
            <a:endParaRPr lang="en-US" sz="850" dirty="0"/>
          </a:p>
        </p:txBody>
      </p:sp>
      <p:sp>
        <p:nvSpPr>
          <p:cNvPr id="7" name="Text 4"/>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1/14</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Choose Your Study Path</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Use the 12 Workbooks and Question Banks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2/14</a:t>
            </a:r>
            <a:endParaRPr lang="en-US" sz="750" dirty="0"/>
          </a:p>
        </p:txBody>
      </p:sp>
      <p:sp>
        <p:nvSpPr>
          <p:cNvPr id="7" name="Text 4"/>
          <p:cNvSpPr/>
          <p:nvPr/>
        </p:nvSpPr>
        <p:spPr>
          <a:xfrm>
            <a:off x="822960" y="2057400"/>
            <a:ext cx="2514600" cy="11430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600" b="1" dirty="0">
                <a:solidFill>
                  <a:srgbClr val="17365D"/>
                </a:solidFill>
                <a:latin typeface="Aptos" pitchFamily="34" charset="0"/>
                <a:ea typeface="Aptos" pitchFamily="34" charset="-122"/>
                <a:cs typeface="Aptos" pitchFamily="34" charset="-120"/>
              </a:rPr>
              <a:t>Online</a:t>
            </a:r>
            <a:endParaRPr lang="en-US" sz="1600" dirty="0"/>
          </a:p>
        </p:txBody>
      </p:sp>
      <p:sp>
        <p:nvSpPr>
          <p:cNvPr id="8" name="Text 5"/>
          <p:cNvSpPr/>
          <p:nvPr/>
        </p:nvSpPr>
        <p:spPr>
          <a:xfrm>
            <a:off x="3657600" y="2057400"/>
            <a:ext cx="2514600" cy="114300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600" b="1" dirty="0">
                <a:solidFill>
                  <a:srgbClr val="17365D"/>
                </a:solidFill>
                <a:latin typeface="Aptos" pitchFamily="34" charset="0"/>
                <a:ea typeface="Aptos" pitchFamily="34" charset="-122"/>
                <a:cs typeface="Aptos" pitchFamily="34" charset="-120"/>
              </a:rPr>
              <a:t>Download &amp; Print</a:t>
            </a:r>
            <a:endParaRPr lang="en-US" sz="1600" dirty="0"/>
          </a:p>
        </p:txBody>
      </p:sp>
      <p:sp>
        <p:nvSpPr>
          <p:cNvPr id="9" name="Text 6"/>
          <p:cNvSpPr/>
          <p:nvPr/>
        </p:nvSpPr>
        <p:spPr>
          <a:xfrm>
            <a:off x="6492240" y="2057400"/>
            <a:ext cx="2514600" cy="114300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600" b="1" dirty="0">
                <a:solidFill>
                  <a:srgbClr val="17365D"/>
                </a:solidFill>
                <a:latin typeface="Aptos" pitchFamily="34" charset="0"/>
                <a:ea typeface="Aptos" pitchFamily="34" charset="-122"/>
                <a:cs typeface="Aptos" pitchFamily="34" charset="-120"/>
              </a:rPr>
              <a:t>Hybrid</a:t>
            </a:r>
            <a:endParaRPr lang="en-US" sz="1600" dirty="0"/>
          </a:p>
        </p:txBody>
      </p:sp>
      <p:sp>
        <p:nvSpPr>
          <p:cNvPr id="10" name="Text 7"/>
          <p:cNvSpPr/>
          <p:nvPr/>
        </p:nvSpPr>
        <p:spPr>
          <a:xfrm>
            <a:off x="1828800" y="4069080"/>
            <a:ext cx="8549640" cy="77724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350" b="1" dirty="0">
                <a:solidFill>
                  <a:srgbClr val="243B53"/>
                </a:solidFill>
                <a:latin typeface="Aptos" pitchFamily="34" charset="0"/>
                <a:ea typeface="Aptos" pitchFamily="34" charset="-122"/>
                <a:cs typeface="Aptos" pitchFamily="34" charset="-120"/>
              </a:rPr>
              <a:t>You do not need to use the same format for every workbook.</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Choose a Realistic Schedule</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Use the 12 Workbooks and Question Banks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3/14</a:t>
            </a:r>
            <a:endParaRPr lang="en-US" sz="750" dirty="0"/>
          </a:p>
        </p:txBody>
      </p:sp>
      <p:sp>
        <p:nvSpPr>
          <p:cNvPr id="7" name="Text 4"/>
          <p:cNvSpPr/>
          <p:nvPr/>
        </p:nvSpPr>
        <p:spPr>
          <a:xfrm>
            <a:off x="822960" y="2057400"/>
            <a:ext cx="2514600" cy="11430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600" b="1" dirty="0">
                <a:solidFill>
                  <a:srgbClr val="17365D"/>
                </a:solidFill>
                <a:latin typeface="Aptos" pitchFamily="34" charset="0"/>
                <a:ea typeface="Aptos" pitchFamily="34" charset="-122"/>
                <a:cs typeface="Aptos" pitchFamily="34" charset="-120"/>
              </a:rPr>
              <a:t>Accelerated: 10 Weeks</a:t>
            </a:r>
            <a:endParaRPr lang="en-US" sz="1600" dirty="0"/>
          </a:p>
        </p:txBody>
      </p:sp>
      <p:sp>
        <p:nvSpPr>
          <p:cNvPr id="8" name="Text 5"/>
          <p:cNvSpPr/>
          <p:nvPr/>
        </p:nvSpPr>
        <p:spPr>
          <a:xfrm>
            <a:off x="3657600" y="2057400"/>
            <a:ext cx="2514600" cy="114300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600" b="1" dirty="0">
                <a:solidFill>
                  <a:srgbClr val="17365D"/>
                </a:solidFill>
                <a:latin typeface="Aptos" pitchFamily="34" charset="0"/>
                <a:ea typeface="Aptos" pitchFamily="34" charset="-122"/>
                <a:cs typeface="Aptos" pitchFamily="34" charset="-120"/>
              </a:rPr>
              <a:t>Recommended: 14 Weeks</a:t>
            </a:r>
            <a:endParaRPr lang="en-US" sz="1600" dirty="0"/>
          </a:p>
        </p:txBody>
      </p:sp>
      <p:sp>
        <p:nvSpPr>
          <p:cNvPr id="9" name="Text 6"/>
          <p:cNvSpPr/>
          <p:nvPr/>
        </p:nvSpPr>
        <p:spPr>
          <a:xfrm>
            <a:off x="6492240" y="2057400"/>
            <a:ext cx="2514600" cy="114300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600" b="1" dirty="0">
                <a:solidFill>
                  <a:srgbClr val="17365D"/>
                </a:solidFill>
                <a:latin typeface="Aptos" pitchFamily="34" charset="0"/>
                <a:ea typeface="Aptos" pitchFamily="34" charset="-122"/>
                <a:cs typeface="Aptos" pitchFamily="34" charset="-120"/>
              </a:rPr>
              <a:t>Extended: 18 Weeks</a:t>
            </a:r>
            <a:endParaRPr lang="en-US" sz="1600" dirty="0"/>
          </a:p>
        </p:txBody>
      </p:sp>
      <p:sp>
        <p:nvSpPr>
          <p:cNvPr id="10" name="Text 7"/>
          <p:cNvSpPr/>
          <p:nvPr/>
        </p:nvSpPr>
        <p:spPr>
          <a:xfrm>
            <a:off x="1828800" y="4069080"/>
            <a:ext cx="8549640" cy="77724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350" b="1" dirty="0">
                <a:solidFill>
                  <a:srgbClr val="243B53"/>
                </a:solidFill>
                <a:latin typeface="Aptos" pitchFamily="34" charset="0"/>
                <a:ea typeface="Aptos" pitchFamily="34" charset="-122"/>
                <a:cs typeface="Aptos" pitchFamily="34" charset="-120"/>
              </a:rPr>
              <a:t>Choose the schedule you are most likely to follow.</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One Workbook at a Time</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Use the 12 Workbooks and Question Banks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4/14</a:t>
            </a:r>
            <a:endParaRPr lang="en-US" sz="750" dirty="0"/>
          </a:p>
        </p:txBody>
      </p:sp>
      <p:sp>
        <p:nvSpPr>
          <p:cNvPr id="7" name="Text 4"/>
          <p:cNvSpPr/>
          <p:nvPr/>
        </p:nvSpPr>
        <p:spPr>
          <a:xfrm>
            <a:off x="960120" y="1508760"/>
            <a:ext cx="10287000" cy="1143000"/>
          </a:xfrm>
          <a:prstGeom prst="rect">
            <a:avLst/>
          </a:prstGeom>
          <a:solidFill>
            <a:srgbClr val="EAF6FA"/>
          </a:solidFill>
          <a:ln>
            <a:solidFill>
              <a:srgbClr val="DCEFF6"/>
            </a:solidFill>
          </a:ln>
        </p:spPr>
        <p:txBody>
          <a:bodyPr wrap="square" lIns="1016" tIns="1016" rIns="1016" bIns="1016" rtlCol="0" anchor="ctr">
            <a:normAutofit/>
          </a:bodyPr>
          <a:lstStyle/>
          <a:p>
            <a:pPr algn="ctr" indent="0" marL="0">
              <a:buNone/>
            </a:pPr>
            <a:r>
              <a:rPr lang="en-US" sz="2800" b="1" dirty="0">
                <a:solidFill>
                  <a:srgbClr val="17365D"/>
                </a:solidFill>
                <a:latin typeface="Aptos Display" pitchFamily="34" charset="0"/>
                <a:ea typeface="Aptos Display" pitchFamily="34" charset="-122"/>
                <a:cs typeface="Aptos Display" pitchFamily="34" charset="-120"/>
              </a:rPr>
              <a:t>Complete the Learning Before Testing Yourself</a:t>
            </a:r>
            <a:endParaRPr lang="en-US" sz="2800" dirty="0"/>
          </a:p>
        </p:txBody>
      </p:sp>
      <p:sp>
        <p:nvSpPr>
          <p:cNvPr id="8" name="Text 5"/>
          <p:cNvSpPr/>
          <p:nvPr/>
        </p:nvSpPr>
        <p:spPr>
          <a:xfrm>
            <a:off x="1828800" y="3794760"/>
            <a:ext cx="8549640" cy="86868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The questions are most useful after you have completed the learning and can test whether you can apply it.</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Use Companion Media Strategically</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Use the 12 Workbooks and Question Banks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5/14</a:t>
            </a:r>
            <a:endParaRPr lang="en-US" sz="750" dirty="0"/>
          </a:p>
        </p:txBody>
      </p:sp>
      <p:sp>
        <p:nvSpPr>
          <p:cNvPr id="7" name="Text 4"/>
          <p:cNvSpPr/>
          <p:nvPr/>
        </p:nvSpPr>
        <p:spPr>
          <a:xfrm>
            <a:off x="822960" y="2057400"/>
            <a:ext cx="2514600" cy="11430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600" b="1" dirty="0">
                <a:solidFill>
                  <a:srgbClr val="17365D"/>
                </a:solidFill>
                <a:latin typeface="Aptos" pitchFamily="34" charset="0"/>
                <a:ea typeface="Aptos" pitchFamily="34" charset="-122"/>
                <a:cs typeface="Aptos" pitchFamily="34" charset="-120"/>
              </a:rPr>
              <a:t>Watch</a:t>
            </a:r>
            <a:endParaRPr lang="en-US" sz="1600" dirty="0"/>
          </a:p>
        </p:txBody>
      </p:sp>
      <p:sp>
        <p:nvSpPr>
          <p:cNvPr id="8" name="Text 5"/>
          <p:cNvSpPr/>
          <p:nvPr/>
        </p:nvSpPr>
        <p:spPr>
          <a:xfrm>
            <a:off x="3657600" y="2057400"/>
            <a:ext cx="2514600" cy="114300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600" b="1" dirty="0">
                <a:solidFill>
                  <a:srgbClr val="17365D"/>
                </a:solidFill>
                <a:latin typeface="Aptos" pitchFamily="34" charset="0"/>
                <a:ea typeface="Aptos" pitchFamily="34" charset="-122"/>
                <a:cs typeface="Aptos" pitchFamily="34" charset="-120"/>
              </a:rPr>
              <a:t>Read</a:t>
            </a:r>
            <a:endParaRPr lang="en-US" sz="1600" dirty="0"/>
          </a:p>
        </p:txBody>
      </p:sp>
      <p:sp>
        <p:nvSpPr>
          <p:cNvPr id="9" name="Text 6"/>
          <p:cNvSpPr/>
          <p:nvPr/>
        </p:nvSpPr>
        <p:spPr>
          <a:xfrm>
            <a:off x="6492240" y="2057400"/>
            <a:ext cx="2514600" cy="114300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600" b="1" dirty="0">
                <a:solidFill>
                  <a:srgbClr val="17365D"/>
                </a:solidFill>
                <a:latin typeface="Aptos" pitchFamily="34" charset="0"/>
                <a:ea typeface="Aptos" pitchFamily="34" charset="-122"/>
                <a:cs typeface="Aptos" pitchFamily="34" charset="-120"/>
              </a:rPr>
              <a:t>Listen</a:t>
            </a:r>
            <a:endParaRPr lang="en-US" sz="1600" dirty="0"/>
          </a:p>
        </p:txBody>
      </p:sp>
      <p:sp>
        <p:nvSpPr>
          <p:cNvPr id="10" name="Text 7"/>
          <p:cNvSpPr/>
          <p:nvPr/>
        </p:nvSpPr>
        <p:spPr>
          <a:xfrm>
            <a:off x="9326880" y="2057400"/>
            <a:ext cx="2514600" cy="11430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600" b="1" dirty="0">
                <a:solidFill>
                  <a:srgbClr val="17365D"/>
                </a:solidFill>
                <a:latin typeface="Aptos" pitchFamily="34" charset="0"/>
                <a:ea typeface="Aptos" pitchFamily="34" charset="-122"/>
                <a:cs typeface="Aptos" pitchFamily="34" charset="-120"/>
              </a:rPr>
              <a:t>Repeat</a:t>
            </a:r>
            <a:endParaRPr lang="en-US" sz="1600" dirty="0"/>
          </a:p>
        </p:txBody>
      </p:sp>
      <p:sp>
        <p:nvSpPr>
          <p:cNvPr id="11" name="Text 8"/>
          <p:cNvSpPr/>
          <p:nvPr/>
        </p:nvSpPr>
        <p:spPr>
          <a:xfrm>
            <a:off x="1828800" y="4069080"/>
            <a:ext cx="8549640" cy="77724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350" b="1" dirty="0">
                <a:solidFill>
                  <a:srgbClr val="243B53"/>
                </a:solidFill>
                <a:latin typeface="Aptos" pitchFamily="34" charset="0"/>
                <a:ea typeface="Aptos" pitchFamily="34" charset="-122"/>
                <a:cs typeface="Aptos" pitchFamily="34" charset="-120"/>
              </a:rPr>
              <a:t>The transcript is available for review, and the audio version can support screen-free study.</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Complete the 17-Question Bank</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Use the 12 Workbooks and Question Banks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6/14</a:t>
            </a:r>
            <a:endParaRPr lang="en-US" sz="750" dirty="0"/>
          </a:p>
        </p:txBody>
      </p:sp>
      <p:sp>
        <p:nvSpPr>
          <p:cNvPr id="7" name="Text 4"/>
          <p:cNvSpPr/>
          <p:nvPr/>
        </p:nvSpPr>
        <p:spPr>
          <a:xfrm>
            <a:off x="960120" y="1463040"/>
            <a:ext cx="4709160" cy="141732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700" b="1" dirty="0">
                <a:solidFill>
                  <a:srgbClr val="17365D"/>
                </a:solidFill>
                <a:latin typeface="Aptos" pitchFamily="34" charset="0"/>
                <a:ea typeface="Aptos" pitchFamily="34" charset="-122"/>
                <a:cs typeface="Aptos" pitchFamily="34" charset="-120"/>
              </a:rPr>
              <a:t>17 Questions</a:t>
            </a:r>
            <a:endParaRPr lang="en-US" sz="1700" dirty="0"/>
          </a:p>
        </p:txBody>
      </p:sp>
      <p:sp>
        <p:nvSpPr>
          <p:cNvPr id="8" name="Text 5"/>
          <p:cNvSpPr/>
          <p:nvPr/>
        </p:nvSpPr>
        <p:spPr>
          <a:xfrm>
            <a:off x="6537960" y="1463040"/>
            <a:ext cx="4709160" cy="141732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700" b="1" dirty="0">
                <a:solidFill>
                  <a:srgbClr val="17365D"/>
                </a:solidFill>
                <a:latin typeface="Aptos" pitchFamily="34" charset="0"/>
                <a:ea typeface="Aptos" pitchFamily="34" charset="-122"/>
                <a:cs typeface="Aptos" pitchFamily="34" charset="-120"/>
              </a:rPr>
              <a:t>5 Easy • 7 Moderate • 5 Difficult</a:t>
            </a:r>
            <a:endParaRPr lang="en-US" sz="1700" dirty="0"/>
          </a:p>
        </p:txBody>
      </p:sp>
      <p:sp>
        <p:nvSpPr>
          <p:cNvPr id="9" name="Text 6"/>
          <p:cNvSpPr/>
          <p:nvPr/>
        </p:nvSpPr>
        <p:spPr>
          <a:xfrm>
            <a:off x="1828800" y="3977640"/>
            <a:ext cx="8549640" cy="82296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Answer every question before opening the rationale resource.</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Review Every Option</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Use the 12 Workbooks and Question Banks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7/14</a:t>
            </a:r>
            <a:endParaRPr lang="en-US" sz="750" dirty="0"/>
          </a:p>
        </p:txBody>
      </p:sp>
      <p:sp>
        <p:nvSpPr>
          <p:cNvPr id="7" name="Text 4"/>
          <p:cNvSpPr/>
          <p:nvPr/>
        </p:nvSpPr>
        <p:spPr>
          <a:xfrm>
            <a:off x="1325880" y="1508760"/>
            <a:ext cx="9509760" cy="114300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2000" b="1" dirty="0">
                <a:solidFill>
                  <a:srgbClr val="17365D"/>
                </a:solidFill>
                <a:latin typeface="Aptos" pitchFamily="34" charset="0"/>
                <a:ea typeface="Aptos" pitchFamily="34" charset="-122"/>
                <a:cs typeface="Aptos" pitchFamily="34" charset="-120"/>
              </a:rPr>
              <a:t>Review the Correct Answer and Every Distractor</a:t>
            </a:r>
            <a:endParaRPr lang="en-US" sz="2000" dirty="0"/>
          </a:p>
        </p:txBody>
      </p:sp>
      <p:sp>
        <p:nvSpPr>
          <p:cNvPr id="8" name="Text 5"/>
          <p:cNvSpPr/>
          <p:nvPr/>
        </p:nvSpPr>
        <p:spPr>
          <a:xfrm>
            <a:off x="1828800" y="3840480"/>
            <a:ext cx="8549640" cy="86868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Those distinctions are often more valuable than memorizing the correct letter.</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Classify the Reason for Each Miss</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Use the 12 Workbooks and Question Banks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8/14</a:t>
            </a:r>
            <a:endParaRPr lang="en-US" sz="750" dirty="0"/>
          </a:p>
        </p:txBody>
      </p:sp>
      <p:sp>
        <p:nvSpPr>
          <p:cNvPr id="7" name="Text 4"/>
          <p:cNvSpPr/>
          <p:nvPr/>
        </p:nvSpPr>
        <p:spPr>
          <a:xfrm>
            <a:off x="685800" y="2057400"/>
            <a:ext cx="2035454" cy="9144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1. Content Gap</a:t>
            </a:r>
            <a:endParaRPr lang="en-US" sz="1320" dirty="0"/>
          </a:p>
        </p:txBody>
      </p:sp>
      <p:sp>
        <p:nvSpPr>
          <p:cNvPr id="8" name="Text 5"/>
          <p:cNvSpPr/>
          <p:nvPr/>
        </p:nvSpPr>
        <p:spPr>
          <a:xfrm>
            <a:off x="2885846" y="2057400"/>
            <a:ext cx="2035454" cy="91440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2. Task-Word Error</a:t>
            </a:r>
            <a:endParaRPr lang="en-US" sz="1320" dirty="0"/>
          </a:p>
        </p:txBody>
      </p:sp>
      <p:sp>
        <p:nvSpPr>
          <p:cNvPr id="9" name="Text 6"/>
          <p:cNvSpPr/>
          <p:nvPr/>
        </p:nvSpPr>
        <p:spPr>
          <a:xfrm>
            <a:off x="5085893" y="2057400"/>
            <a:ext cx="2035454" cy="9144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3. Sequence Error</a:t>
            </a:r>
            <a:endParaRPr lang="en-US" sz="1320" dirty="0"/>
          </a:p>
        </p:txBody>
      </p:sp>
      <p:sp>
        <p:nvSpPr>
          <p:cNvPr id="10" name="Text 7"/>
          <p:cNvSpPr/>
          <p:nvPr/>
        </p:nvSpPr>
        <p:spPr>
          <a:xfrm>
            <a:off x="7285939" y="2057400"/>
            <a:ext cx="2035454" cy="91440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4. Premature Action</a:t>
            </a:r>
            <a:endParaRPr lang="en-US" sz="1320" dirty="0"/>
          </a:p>
        </p:txBody>
      </p:sp>
      <p:sp>
        <p:nvSpPr>
          <p:cNvPr id="11" name="Text 8"/>
          <p:cNvSpPr/>
          <p:nvPr/>
        </p:nvSpPr>
        <p:spPr>
          <a:xfrm>
            <a:off x="9485986" y="2057400"/>
            <a:ext cx="2035454" cy="9144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5. Overthinking</a:t>
            </a:r>
            <a:endParaRPr lang="en-US" sz="1320" dirty="0"/>
          </a:p>
        </p:txBody>
      </p:sp>
      <p:sp>
        <p:nvSpPr>
          <p:cNvPr id="12" name="Text 9"/>
          <p:cNvSpPr/>
          <p:nvPr/>
        </p:nvSpPr>
        <p:spPr>
          <a:xfrm>
            <a:off x="1828800" y="4069080"/>
            <a:ext cx="8549640" cy="77724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350" b="1" dirty="0">
                <a:solidFill>
                  <a:srgbClr val="243B53"/>
                </a:solidFill>
                <a:latin typeface="Aptos" pitchFamily="34" charset="0"/>
                <a:ea typeface="Aptos" pitchFamily="34" charset="-122"/>
                <a:cs typeface="Aptos" pitchFamily="34" charset="-120"/>
              </a:rPr>
              <a:t>Recording the reason helps you fix the pattern instead of simply repeating the item.</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Remediate Before Moving On</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Use the 12 Workbooks and Question Banks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9/14</a:t>
            </a:r>
            <a:endParaRPr lang="en-US" sz="750" dirty="0"/>
          </a:p>
        </p:txBody>
      </p:sp>
      <p:sp>
        <p:nvSpPr>
          <p:cNvPr id="7" name="Text 4"/>
          <p:cNvSpPr/>
          <p:nvPr/>
        </p:nvSpPr>
        <p:spPr>
          <a:xfrm>
            <a:off x="822960" y="2057400"/>
            <a:ext cx="2514600" cy="11430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600" b="1" dirty="0">
                <a:solidFill>
                  <a:srgbClr val="17365D"/>
                </a:solidFill>
                <a:latin typeface="Aptos" pitchFamily="34" charset="0"/>
                <a:ea typeface="Aptos" pitchFamily="34" charset="-122"/>
                <a:cs typeface="Aptos" pitchFamily="34" charset="-120"/>
              </a:rPr>
              <a:t>Return to the Concept</a:t>
            </a:r>
            <a:endParaRPr lang="en-US" sz="1600" dirty="0"/>
          </a:p>
        </p:txBody>
      </p:sp>
      <p:sp>
        <p:nvSpPr>
          <p:cNvPr id="8" name="Text 5"/>
          <p:cNvSpPr/>
          <p:nvPr/>
        </p:nvSpPr>
        <p:spPr>
          <a:xfrm>
            <a:off x="3657600" y="2057400"/>
            <a:ext cx="2514600" cy="114300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600" b="1" dirty="0">
                <a:solidFill>
                  <a:srgbClr val="17365D"/>
                </a:solidFill>
                <a:latin typeface="Aptos" pitchFamily="34" charset="0"/>
                <a:ea typeface="Aptos" pitchFamily="34" charset="-122"/>
                <a:cs typeface="Aptos" pitchFamily="34" charset="-120"/>
              </a:rPr>
              <a:t>Restate the Rule</a:t>
            </a:r>
            <a:endParaRPr lang="en-US" sz="1600" dirty="0"/>
          </a:p>
        </p:txBody>
      </p:sp>
      <p:sp>
        <p:nvSpPr>
          <p:cNvPr id="9" name="Text 6"/>
          <p:cNvSpPr/>
          <p:nvPr/>
        </p:nvSpPr>
        <p:spPr>
          <a:xfrm>
            <a:off x="6492240" y="2057400"/>
            <a:ext cx="2514600" cy="114300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600" b="1" dirty="0">
                <a:solidFill>
                  <a:srgbClr val="17365D"/>
                </a:solidFill>
                <a:latin typeface="Aptos" pitchFamily="34" charset="0"/>
                <a:ea typeface="Aptos" pitchFamily="34" charset="-122"/>
                <a:cs typeface="Aptos" pitchFamily="34" charset="-120"/>
              </a:rPr>
              <a:t>Try Again</a:t>
            </a:r>
            <a:endParaRPr lang="en-US" sz="1600" dirty="0"/>
          </a:p>
        </p:txBody>
      </p:sp>
      <p:sp>
        <p:nvSpPr>
          <p:cNvPr id="10" name="Text 7"/>
          <p:cNvSpPr/>
          <p:nvPr/>
        </p:nvSpPr>
        <p:spPr>
          <a:xfrm>
            <a:off x="1828800" y="4069080"/>
            <a:ext cx="8549640" cy="77724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350" b="1" dirty="0">
                <a:solidFill>
                  <a:srgbClr val="243B53"/>
                </a:solidFill>
                <a:latin typeface="Aptos" pitchFamily="34" charset="0"/>
                <a:ea typeface="Aptos" pitchFamily="34" charset="-122"/>
                <a:cs typeface="Aptos" pitchFamily="34" charset="-120"/>
              </a:rPr>
              <a:t>You may repeat selected questions after remediation, but do not rely on memorizing the answer letter.</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Complete All 12 Workbooks</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Use the 12 Workbooks and Question Banks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10/14</a:t>
            </a:r>
            <a:endParaRPr lang="en-US" sz="750" dirty="0"/>
          </a:p>
        </p:txBody>
      </p:sp>
      <p:sp>
        <p:nvSpPr>
          <p:cNvPr id="7" name="Text 4"/>
          <p:cNvSpPr/>
          <p:nvPr/>
        </p:nvSpPr>
        <p:spPr>
          <a:xfrm>
            <a:off x="685800" y="2057400"/>
            <a:ext cx="5335524" cy="9144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1. Curriculum First</a:t>
            </a:r>
            <a:endParaRPr lang="en-US" sz="1320" dirty="0"/>
          </a:p>
        </p:txBody>
      </p:sp>
      <p:sp>
        <p:nvSpPr>
          <p:cNvPr id="8" name="Text 5"/>
          <p:cNvSpPr/>
          <p:nvPr/>
        </p:nvSpPr>
        <p:spPr>
          <a:xfrm>
            <a:off x="6185916" y="2057400"/>
            <a:ext cx="5335524" cy="91440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2. Simulation Second</a:t>
            </a:r>
            <a:endParaRPr lang="en-US" sz="1320" dirty="0"/>
          </a:p>
        </p:txBody>
      </p:sp>
      <p:sp>
        <p:nvSpPr>
          <p:cNvPr id="9" name="Text 6"/>
          <p:cNvSpPr/>
          <p:nvPr/>
        </p:nvSpPr>
        <p:spPr>
          <a:xfrm>
            <a:off x="1828800" y="4069080"/>
            <a:ext cx="8549640" cy="77724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350" b="1" dirty="0">
                <a:solidFill>
                  <a:srgbClr val="243B53"/>
                </a:solidFill>
                <a:latin typeface="Aptos" pitchFamily="34" charset="0"/>
                <a:ea typeface="Aptos" pitchFamily="34" charset="-122"/>
                <a:cs typeface="Aptos" pitchFamily="34" charset="-120"/>
              </a:rPr>
              <a:t>Taking it too early reduces its value and may create unnecessary anxiety from testing content you have not yet reviewed.</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Use Form A as a Diagnostic Simulation</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Use the 12 Workbooks and Question Banks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11/14</a:t>
            </a:r>
            <a:endParaRPr lang="en-US" sz="750" dirty="0"/>
          </a:p>
        </p:txBody>
      </p:sp>
      <p:sp>
        <p:nvSpPr>
          <p:cNvPr id="7" name="Text 4"/>
          <p:cNvSpPr/>
          <p:nvPr/>
        </p:nvSpPr>
        <p:spPr>
          <a:xfrm>
            <a:off x="685800" y="2057400"/>
            <a:ext cx="2585466" cy="9144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1. Form A: Simulate</a:t>
            </a:r>
            <a:endParaRPr lang="en-US" sz="1320" dirty="0"/>
          </a:p>
        </p:txBody>
      </p:sp>
      <p:sp>
        <p:nvSpPr>
          <p:cNvPr id="8" name="Text 5"/>
          <p:cNvSpPr/>
          <p:nvPr/>
        </p:nvSpPr>
        <p:spPr>
          <a:xfrm>
            <a:off x="3435858" y="2057400"/>
            <a:ext cx="2585466" cy="91440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2. Score</a:t>
            </a:r>
            <a:endParaRPr lang="en-US" sz="1320" dirty="0"/>
          </a:p>
        </p:txBody>
      </p:sp>
      <p:sp>
        <p:nvSpPr>
          <p:cNvPr id="9" name="Text 6"/>
          <p:cNvSpPr/>
          <p:nvPr/>
        </p:nvSpPr>
        <p:spPr>
          <a:xfrm>
            <a:off x="6185916" y="2057400"/>
            <a:ext cx="2585466" cy="9144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3. Diagnose</a:t>
            </a:r>
            <a:endParaRPr lang="en-US" sz="1320" dirty="0"/>
          </a:p>
        </p:txBody>
      </p:sp>
      <p:sp>
        <p:nvSpPr>
          <p:cNvPr id="10" name="Text 7"/>
          <p:cNvSpPr/>
          <p:nvPr/>
        </p:nvSpPr>
        <p:spPr>
          <a:xfrm>
            <a:off x="8935974" y="2057400"/>
            <a:ext cx="2585466" cy="91440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4. Remediate</a:t>
            </a:r>
            <a:endParaRPr lang="en-US" sz="1320" dirty="0"/>
          </a:p>
        </p:txBody>
      </p:sp>
      <p:sp>
        <p:nvSpPr>
          <p:cNvPr id="11" name="Text 8"/>
          <p:cNvSpPr/>
          <p:nvPr/>
        </p:nvSpPr>
        <p:spPr>
          <a:xfrm>
            <a:off x="1828800" y="4069080"/>
            <a:ext cx="8549640" cy="77724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350" b="1" dirty="0">
                <a:solidFill>
                  <a:srgbClr val="243B53"/>
                </a:solidFill>
                <a:latin typeface="Aptos" pitchFamily="34" charset="0"/>
                <a:ea typeface="Aptos" pitchFamily="34" charset="-122"/>
                <a:cs typeface="Aptos" pitchFamily="34" charset="-120"/>
              </a:rPr>
              <a:t>It is a diagnostic simulation that shows what still needs attention.</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Reserve Form B for Final Readiness</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Use the 12 Workbooks and Question Banks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12/14</a:t>
            </a:r>
            <a:endParaRPr lang="en-US" sz="750" dirty="0"/>
          </a:p>
        </p:txBody>
      </p:sp>
      <p:sp>
        <p:nvSpPr>
          <p:cNvPr id="7" name="Text 4"/>
          <p:cNvSpPr/>
          <p:nvPr/>
        </p:nvSpPr>
        <p:spPr>
          <a:xfrm>
            <a:off x="685800" y="2057400"/>
            <a:ext cx="10835640" cy="9144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1. Form B Unlocks After Form A Remediation</a:t>
            </a:r>
            <a:endParaRPr lang="en-US" sz="1320" dirty="0"/>
          </a:p>
        </p:txBody>
      </p:sp>
      <p:sp>
        <p:nvSpPr>
          <p:cNvPr id="8" name="Text 5"/>
          <p:cNvSpPr/>
          <p:nvPr/>
        </p:nvSpPr>
        <p:spPr>
          <a:xfrm>
            <a:off x="1828800" y="4069080"/>
            <a:ext cx="8549640" cy="77724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350" b="1" dirty="0">
                <a:solidFill>
                  <a:srgbClr val="243B53"/>
                </a:solidFill>
                <a:latin typeface="Aptos" pitchFamily="34" charset="0"/>
                <a:ea typeface="Aptos" pitchFamily="34" charset="-122"/>
                <a:cs typeface="Aptos" pitchFamily="34" charset="-120"/>
              </a:rPr>
              <a:t>Afterward, review the rationales, identify final weak areas, and follow the final-week checklist.</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Track Progress, Not Perfection</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Use the 12 Workbooks and Question Banks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13/14</a:t>
            </a:r>
            <a:endParaRPr lang="en-US" sz="750" dirty="0"/>
          </a:p>
        </p:txBody>
      </p:sp>
      <p:sp>
        <p:nvSpPr>
          <p:cNvPr id="7" name="Text 4"/>
          <p:cNvSpPr/>
          <p:nvPr/>
        </p:nvSpPr>
        <p:spPr>
          <a:xfrm>
            <a:off x="960120" y="1508760"/>
            <a:ext cx="10287000" cy="1143000"/>
          </a:xfrm>
          <a:prstGeom prst="rect">
            <a:avLst/>
          </a:prstGeom>
          <a:solidFill>
            <a:srgbClr val="EAF6FA"/>
          </a:solidFill>
          <a:ln>
            <a:solidFill>
              <a:srgbClr val="DCEFF6"/>
            </a:solidFill>
          </a:ln>
        </p:spPr>
        <p:txBody>
          <a:bodyPr wrap="square" lIns="1016" tIns="1016" rIns="1016" bIns="1016" rtlCol="0" anchor="ctr">
            <a:normAutofit/>
          </a:bodyPr>
          <a:lstStyle/>
          <a:p>
            <a:pPr algn="ctr" indent="0" marL="0">
              <a:buNone/>
            </a:pPr>
            <a:r>
              <a:rPr lang="en-US" sz="2800" b="1" dirty="0">
                <a:solidFill>
                  <a:srgbClr val="17365D"/>
                </a:solidFill>
                <a:latin typeface="Aptos Display" pitchFamily="34" charset="0"/>
                <a:ea typeface="Aptos Display" pitchFamily="34" charset="-122"/>
                <a:cs typeface="Aptos Display" pitchFamily="34" charset="-120"/>
              </a:rPr>
              <a:t>Look for Better Decisions Across Time</a:t>
            </a:r>
            <a:endParaRPr lang="en-US" sz="2800" dirty="0"/>
          </a:p>
        </p:txBody>
      </p:sp>
      <p:sp>
        <p:nvSpPr>
          <p:cNvPr id="8" name="Text 5"/>
          <p:cNvSpPr/>
          <p:nvPr/>
        </p:nvSpPr>
        <p:spPr>
          <a:xfrm>
            <a:off x="1828800" y="3794760"/>
            <a:ext cx="8549640" cy="86868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Watch for fewer sequencing errors, stronger elimination of distractors, better pacing, and more consistent reasoning across content areas.</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Begin Workbook 1</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How to Use the 12 Workbooks and Question Banks</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14/14</a:t>
            </a:r>
            <a:endParaRPr lang="en-US" sz="750" dirty="0"/>
          </a:p>
        </p:txBody>
      </p:sp>
      <p:sp>
        <p:nvSpPr>
          <p:cNvPr id="7" name="Text 4"/>
          <p:cNvSpPr/>
          <p:nvPr/>
        </p:nvSpPr>
        <p:spPr>
          <a:xfrm>
            <a:off x="960120" y="1463040"/>
            <a:ext cx="4709160" cy="141732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700" b="1" dirty="0">
                <a:solidFill>
                  <a:srgbClr val="17365D"/>
                </a:solidFill>
                <a:latin typeface="Aptos" pitchFamily="34" charset="0"/>
                <a:ea typeface="Aptos" pitchFamily="34" charset="-122"/>
                <a:cs typeface="Aptos" pitchFamily="34" charset="-120"/>
              </a:rPr>
              <a:t>Next: Begin Workbook 1</a:t>
            </a:r>
            <a:endParaRPr lang="en-US" sz="1700" dirty="0"/>
          </a:p>
        </p:txBody>
      </p:sp>
      <p:sp>
        <p:nvSpPr>
          <p:cNvPr id="8" name="Text 5"/>
          <p:cNvSpPr/>
          <p:nvPr/>
        </p:nvSpPr>
        <p:spPr>
          <a:xfrm>
            <a:off x="6537960" y="1463040"/>
            <a:ext cx="4709160" cy="141732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700" b="1" dirty="0">
                <a:solidFill>
                  <a:srgbClr val="17365D"/>
                </a:solidFill>
                <a:latin typeface="Aptos" pitchFamily="34" charset="0"/>
                <a:ea typeface="Aptos" pitchFamily="34" charset="-122"/>
                <a:cs typeface="Aptos" pitchFamily="34" charset="-120"/>
              </a:rPr>
              <a:t>Reasoning Focus</a:t>
            </a:r>
            <a:endParaRPr lang="en-US" sz="1700" dirty="0"/>
          </a:p>
        </p:txBody>
      </p:sp>
      <p:sp>
        <p:nvSpPr>
          <p:cNvPr id="9" name="Text 6"/>
          <p:cNvSpPr/>
          <p:nvPr/>
        </p:nvSpPr>
        <p:spPr>
          <a:xfrm>
            <a:off x="1828800" y="3977640"/>
            <a:ext cx="8549640" cy="82296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That cycle will guide you all the way to Form B.</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Use the 12 Workbooks and Question Banks</dc:title>
  <dc:subject>Shared LMFT &amp; LCSW Multimedia Script 02</dc:subject>
  <dc:creator>Clinical Training Academy</dc:creator>
  <cp:lastModifiedBy>Clinical Training Academy</cp:lastModifiedBy>
  <cp:revision>1</cp:revision>
  <dcterms:created xsi:type="dcterms:W3CDTF">2026-07-25T17:39:51Z</dcterms:created>
  <dcterms:modified xsi:type="dcterms:W3CDTF">2026-07-25T17:39:51Z</dcterms:modified>
</cp:coreProperties>
</file>