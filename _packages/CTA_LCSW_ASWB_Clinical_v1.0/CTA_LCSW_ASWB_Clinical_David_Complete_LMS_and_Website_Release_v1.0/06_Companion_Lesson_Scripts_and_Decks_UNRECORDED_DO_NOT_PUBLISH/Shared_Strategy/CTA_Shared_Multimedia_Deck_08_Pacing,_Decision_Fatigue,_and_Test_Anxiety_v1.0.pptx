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Exam performance depends on more than knowing the content. You also need a pace you can sustain, a way to recover when attention drops, and a plan for anxiety. These skills can be practiced. They are not personality traits you either have or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Before a comprehensive simulation or the official exam, review the timing plan in your profession-specific roadmap. Know the approximate point you want to reach at each quarter of the available time. A pace plan reduces uncertainty and lets you correct early instead of discovering near the end that too many questions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You do not need to spend equal time on every item. Some questions will be clear after one careful read. Others require comparison between two plausible options. Use additional time when it may change the decision, not simply because the item feels uncomfortable. Saving time on clear items gives you flexibility for harder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When you become stuck, use a time-limit rule. Re-read the task word, identify the stage, eliminate unsupported options, choose the strongest remaining answer, flag only if a specific review may help, and move on. Staying with one item too long can cost accuracy on several later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Decision fatigue often appears as reading too quickly, rereading without gaining clarity, missing task words, choosing the most dramatic option, or doubting answers that were based on sound reasoning. Recognizing the signs matters because the correction is different from studying more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a brief reset routine when you notice fatigue or anxiety. Stop for a few seconds. Let your exhale become slightly longer than your inhale. Relax your jaw and shoulders. Look away from the screen or page, then return and read the next question from the beginning. A short reset can prevent several minutes of unfocused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Feeling anxious does not automatically mean you are unprepared. Anxiety may increase because the exam matters, the setting is unfamiliar, or the outcome feels important. Evaluate readiness using evidence: completion of the curriculum, practice patterns, simulation performance, pacing, and the ability to apply your decision routine.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When an anxious thought appears, notice it without arguing with it. You might say, I am having the thought that I am doing badly. Then return to the task: What is the question asking? What stage is this? Which option best fits the facts? The goal is not to eliminate anxiety before continuing. It is to keep the anxiety from choosing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Avoid estimating your score while testing. One unfamiliar question can trigger the belief that the entire exam is going poorly. You do not know which items others find difficult, how later questions will feel, or the final result. Your job is to answer the current item using the process you practiced.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Changing an answer can be appropriate when you notice a missed task word, a factual error, or a stronger comparison between the remaining options. Do not change an answer only because anxiety increased after you selected it. Require a specific reason. This protects well-reasoned first choices from emotion-driven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Stamina improves through gradual practice. Begin with focused question sets, then longer mixed sets, and finally full-length Forms A and B. Pay attention to when accuracy drops and practice the reset routine at that point. The purpose of simulation is partly to train sustained decision-making, not only to measure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a consistent pre-test routine. Prepare required materials, confirm logistics, plan food and hydration, and arrive or log in with time to settle. Avoid major last-minute changes to sleep, caffeine, or study habits. The goal is to reduce avoidable decisions so your attention is available for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this five-step recovery plan when you feel overwhelmed. Stop for a moment. Breathe with a longer exhale. Name the task word and clinical stage. Choose the best answer supported by the facts. Then move forward without judging the entire exam from one question. The routine is short enough to use repeatedly without losing meaningful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During practice, track process goals you can control. Did you catch the task words? Did you meet your pace checks? Did you use the reset before fatigue affected several questions? Did you avoid unnecessary answer changes? These measures show improvement even before the overall score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Before your next long practice session, write down your timing checkpoints, stuck-item rule, and five-step recovery plan. Practice them during the session, not only when anxiety becomes intense. A strategy used repeatedly in practice is much easier to access on test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01</a:t>
            </a:r>
            <a:endParaRPr lang="en-US" sz="3600" dirty="0"/>
          </a:p>
        </p:txBody>
      </p:sp>
      <p:sp>
        <p:nvSpPr>
          <p:cNvPr id="6" name="Text 4"/>
          <p:cNvSpPr/>
          <p:nvPr/>
        </p:nvSpPr>
        <p:spPr>
          <a:xfrm>
            <a:off x="566928" y="1005840"/>
            <a:ext cx="7132320" cy="932688"/>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Pacing, Decision Fatigue, and Test Anxiety</a:t>
            </a:r>
            <a:endParaRPr lang="en-US" sz="3300" dirty="0"/>
          </a:p>
        </p:txBody>
      </p:sp>
      <p:sp>
        <p:nvSpPr>
          <p:cNvPr id="7" name="Text 5"/>
          <p:cNvSpPr/>
          <p:nvPr/>
        </p:nvSpPr>
        <p:spPr>
          <a:xfrm>
            <a:off x="585216" y="1938528"/>
            <a:ext cx="6537960" cy="292608"/>
          </a:xfrm>
          <a:prstGeom prst="rect">
            <a:avLst/>
          </a:prstGeom>
          <a:noFill/>
          <a:ln/>
        </p:spPr>
        <p:txBody>
          <a:bodyPr wrap="square" lIns="0" tIns="0" rIns="0" bIns="0" rtlCol="0" anchor="ctr"/>
          <a:lstStyle/>
          <a:p>
            <a:pPr indent="0" marL="0">
              <a:buNone/>
            </a:pPr>
            <a:r>
              <a:rPr lang="en-US" sz="1350" dirty="0">
                <a:solidFill>
                  <a:srgbClr val="5A6675"/>
                </a:solidFill>
                <a:latin typeface="Aptos" pitchFamily="34" charset="0"/>
                <a:ea typeface="Aptos" pitchFamily="34" charset="-122"/>
                <a:cs typeface="Aptos" pitchFamily="34" charset="-120"/>
              </a:rPr>
              <a:t>Shared LMFT &amp; LCSW Multimedia Script 08</a:t>
            </a:r>
            <a:endParaRPr lang="en-US" sz="1350" dirty="0"/>
          </a:p>
        </p:txBody>
      </p:sp>
      <p:sp>
        <p:nvSpPr>
          <p:cNvPr id="8" name="Shape 6"/>
          <p:cNvSpPr/>
          <p:nvPr/>
        </p:nvSpPr>
        <p:spPr>
          <a:xfrm>
            <a:off x="621792" y="2743200"/>
            <a:ext cx="6858000" cy="0"/>
          </a:xfrm>
          <a:prstGeom prst="line">
            <a:avLst/>
          </a:prstGeom>
          <a:noFill/>
          <a:ln w="27940">
            <a:solidFill>
              <a:srgbClr val="3D7A4D"/>
            </a:solidFill>
            <a:prstDash val="solid"/>
            <a:tailEnd type="triangle"/>
          </a:ln>
        </p:spPr>
      </p:sp>
      <p:sp>
        <p:nvSpPr>
          <p:cNvPr id="9" name="Shape 7"/>
          <p:cNvSpPr/>
          <p:nvPr/>
        </p:nvSpPr>
        <p:spPr>
          <a:xfrm>
            <a:off x="1124712" y="3557016"/>
            <a:ext cx="5715000" cy="0"/>
          </a:xfrm>
          <a:prstGeom prst="line">
            <a:avLst/>
          </a:prstGeom>
          <a:noFill/>
          <a:ln w="17780">
            <a:solidFill>
              <a:srgbClr val="3D7A4D">
                <a:alpha val="82000"/>
              </a:srgbClr>
            </a:solidFill>
            <a:prstDash val="solid"/>
            <a:tailEnd type="triangle"/>
          </a:ln>
        </p:spPr>
      </p:sp>
      <p:sp>
        <p:nvSpPr>
          <p:cNvPr id="10" name="Text 8"/>
          <p:cNvSpPr/>
          <p:nvPr/>
        </p:nvSpPr>
        <p:spPr>
          <a:xfrm>
            <a:off x="804672"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1" name="Text 9"/>
          <p:cNvSpPr/>
          <p:nvPr/>
        </p:nvSpPr>
        <p:spPr>
          <a:xfrm>
            <a:off x="2134210"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2" name="Text 10"/>
          <p:cNvSpPr/>
          <p:nvPr/>
        </p:nvSpPr>
        <p:spPr>
          <a:xfrm>
            <a:off x="3463747"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13" name="Text 11"/>
          <p:cNvSpPr/>
          <p:nvPr/>
        </p:nvSpPr>
        <p:spPr>
          <a:xfrm>
            <a:off x="4793285"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4" name="Text 12"/>
          <p:cNvSpPr/>
          <p:nvPr/>
        </p:nvSpPr>
        <p:spPr>
          <a:xfrm>
            <a:off x="6122822" y="3246120"/>
            <a:ext cx="1036930"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Move on</a:t>
            </a:r>
            <a:endParaRPr lang="en-US" sz="1250" dirty="0"/>
          </a:p>
        </p:txBody>
      </p:sp>
      <p:sp>
        <p:nvSpPr>
          <p:cNvPr id="15" name="Text 13"/>
          <p:cNvSpPr/>
          <p:nvPr/>
        </p:nvSpPr>
        <p:spPr>
          <a:xfrm>
            <a:off x="7818120" y="2404872"/>
            <a:ext cx="3337560" cy="1298448"/>
          </a:xfrm>
          <a:prstGeom prst="rect">
            <a:avLst/>
          </a:prstGeom>
          <a:noFill/>
          <a:ln/>
        </p:spPr>
        <p:txBody>
          <a:bodyPr wrap="square" lIns="1016" tIns="1016" rIns="1016" bIns="1016"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Exam performance depends on more than knowing the content.</a:t>
            </a:r>
            <a:endParaRPr lang="en-US" sz="2050" dirty="0"/>
          </a:p>
        </p:txBody>
      </p:sp>
      <p:sp>
        <p:nvSpPr>
          <p:cNvPr id="16" name="Text 14"/>
          <p:cNvSpPr/>
          <p:nvPr/>
        </p:nvSpPr>
        <p:spPr>
          <a:xfrm>
            <a:off x="7827264" y="3968496"/>
            <a:ext cx="3200400" cy="658368"/>
          </a:xfrm>
          <a:prstGeom prst="rect">
            <a:avLst/>
          </a:prstGeom>
          <a:noFill/>
          <a:ln/>
        </p:spPr>
        <p:txBody>
          <a:bodyPr wrap="square" lIns="254" tIns="254" rIns="254" bIns="254" rtlCol="0" anchor="ctr">
            <a:normAutofit/>
          </a:bodyPr>
          <a:lstStyle/>
          <a:p>
            <a:pPr indent="0" marL="0">
              <a:buNone/>
            </a:pPr>
            <a:r>
              <a:rPr lang="en-US" sz="1300" dirty="0">
                <a:solidFill>
                  <a:srgbClr val="5A6675"/>
                </a:solidFill>
                <a:latin typeface="Aptos" pitchFamily="34" charset="0"/>
                <a:ea typeface="Aptos" pitchFamily="34" charset="-122"/>
                <a:cs typeface="Aptos" pitchFamily="34" charset="-120"/>
              </a:rPr>
              <a:t>This deck uses the script narration verbatim in speaker notes.</a:t>
            </a:r>
            <a:endParaRPr lang="en-US" sz="1300" dirty="0"/>
          </a:p>
        </p:txBody>
      </p:sp>
      <p:sp>
        <p:nvSpPr>
          <p:cNvPr id="17" name="Text 15"/>
          <p:cNvSpPr/>
          <p:nvPr/>
        </p:nvSpPr>
        <p:spPr>
          <a:xfrm>
            <a:off x="621792" y="5358384"/>
            <a:ext cx="2514600" cy="301752"/>
          </a:xfrm>
          <a:prstGeom prst="rect">
            <a:avLst/>
          </a:prstGeom>
          <a:solidFill>
            <a:srgbClr val="3D7A4D"/>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8" name="Shape 16"/>
          <p:cNvSpPr/>
          <p:nvPr/>
        </p:nvSpPr>
        <p:spPr>
          <a:xfrm>
            <a:off x="502920" y="6419088"/>
            <a:ext cx="11155680" cy="0"/>
          </a:xfrm>
          <a:prstGeom prst="line">
            <a:avLst/>
          </a:prstGeom>
          <a:noFill/>
          <a:ln w="9525">
            <a:solidFill>
              <a:srgbClr val="D8DDE5"/>
            </a:solidFill>
            <a:prstDash val="solid"/>
          </a:ln>
        </p:spPr>
      </p:sp>
      <p:sp>
        <p:nvSpPr>
          <p:cNvPr id="19" name="Text 17"/>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0" name="Text 18"/>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01/15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02</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a Pace Plan Before You Begin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Before a comprehensive simulation or the official exam, review the timing plan in your profession-specific roadmap.</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Know the approximate point you want to reach at each quarter of the available time.</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 pace plan reduces uncertainty and lets you correct early instead of discovering near the end that…</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3D7A4D">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20" name="Text 18"/>
          <p:cNvSpPr/>
          <p:nvPr/>
        </p:nvSpPr>
        <p:spPr>
          <a:xfrm>
            <a:off x="4825746" y="4023360"/>
            <a:ext cx="1072134"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Answer</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pace plan reduces uncertainty and lets you correct early instead of discovering near the end that too many questions remain.</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02/15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03</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Do Not Spend Equal Time on Every Item</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You do not need to spend equal time on every item.</a:t>
            </a:r>
            <a:endParaRPr lang="en-US" sz="2200" dirty="0"/>
          </a:p>
        </p:txBody>
      </p:sp>
      <p:sp>
        <p:nvSpPr>
          <p:cNvPr id="8" name="Shape 6"/>
          <p:cNvSpPr/>
          <p:nvPr/>
        </p:nvSpPr>
        <p:spPr>
          <a:xfrm>
            <a:off x="6830568" y="2414016"/>
            <a:ext cx="3611880" cy="0"/>
          </a:xfrm>
          <a:prstGeom prst="line">
            <a:avLst/>
          </a:prstGeom>
          <a:noFill/>
          <a:ln w="17780">
            <a:solidFill>
              <a:srgbClr val="3D7A4D">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3" name="Text 11"/>
          <p:cNvSpPr/>
          <p:nvPr/>
        </p:nvSpPr>
        <p:spPr>
          <a:xfrm>
            <a:off x="10146182" y="2103120"/>
            <a:ext cx="616306"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Move on</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Some questions will be clear after one careful read.</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Saving time on clear items gives you flexibility for harder ones.</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Saving time on clear items gives you flexibility for harder ones.</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03/15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04</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a Time-Limit Rule for Stuck Items</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When you become stuck, use a time-limit rule.</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Re-read the task word, identify the stage, eliminate unsupported options, choose the strongest…</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Staying with one item too long can cost accuracy on several later questions.</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3D7A4D">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20" name="Text 18"/>
          <p:cNvSpPr/>
          <p:nvPr/>
        </p:nvSpPr>
        <p:spPr>
          <a:xfrm>
            <a:off x="4825746" y="4023360"/>
            <a:ext cx="1072134"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Answer</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Staying with one item too long can cost accuracy on several later questions.</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04/15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05</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Decision Fatigue Changes How You Read</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Decision fatigue often appears as reading too quickly, rereading without gaining clarity, missing task words, choosing the most dramatic option, or…</a:t>
            </a:r>
            <a:endParaRPr lang="en-US" sz="2200" dirty="0"/>
          </a:p>
        </p:txBody>
      </p:sp>
      <p:sp>
        <p:nvSpPr>
          <p:cNvPr id="8" name="Shape 6"/>
          <p:cNvSpPr/>
          <p:nvPr/>
        </p:nvSpPr>
        <p:spPr>
          <a:xfrm>
            <a:off x="6830568" y="2414016"/>
            <a:ext cx="3611880" cy="0"/>
          </a:xfrm>
          <a:prstGeom prst="line">
            <a:avLst/>
          </a:prstGeom>
          <a:noFill/>
          <a:ln w="17780">
            <a:solidFill>
              <a:srgbClr val="3D7A4D">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3" name="Text 11"/>
          <p:cNvSpPr/>
          <p:nvPr/>
        </p:nvSpPr>
        <p:spPr>
          <a:xfrm>
            <a:off x="10146182" y="2103120"/>
            <a:ext cx="616306"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Move on</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Recognizing the signs matters because the correction is different from studying more content.</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Recognizing the signs matters because the correction is different from studying more content.</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Recognizing the signs matters because the correction is different from studying more content.</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05/15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06</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a Brief Reset Routine</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a brief reset routine when you notice fatigue or anxiety.</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Stop for a few seconds.</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 short reset can prevent several minutes of unfocused effort.</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3D7A4D">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20" name="Text 18"/>
          <p:cNvSpPr/>
          <p:nvPr/>
        </p:nvSpPr>
        <p:spPr>
          <a:xfrm>
            <a:off x="4825746" y="4023360"/>
            <a:ext cx="1072134"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Answer</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short reset can prevent several minutes of unfocused effort.</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06/15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07</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Anxiety Is Not the Same as Unreadiness</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Feeling anxious does not automatically mean you are unprepared.</a:t>
            </a:r>
            <a:endParaRPr lang="en-US" sz="2200" dirty="0"/>
          </a:p>
        </p:txBody>
      </p:sp>
      <p:sp>
        <p:nvSpPr>
          <p:cNvPr id="8" name="Shape 6"/>
          <p:cNvSpPr/>
          <p:nvPr/>
        </p:nvSpPr>
        <p:spPr>
          <a:xfrm>
            <a:off x="6830568" y="2414016"/>
            <a:ext cx="3611880" cy="0"/>
          </a:xfrm>
          <a:prstGeom prst="line">
            <a:avLst/>
          </a:prstGeom>
          <a:noFill/>
          <a:ln w="17780">
            <a:solidFill>
              <a:srgbClr val="3D7A4D">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3" name="Text 11"/>
          <p:cNvSpPr/>
          <p:nvPr/>
        </p:nvSpPr>
        <p:spPr>
          <a:xfrm>
            <a:off x="10146182" y="2103120"/>
            <a:ext cx="616306"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Move on</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Anxiety may increase because the exam matters, the setting is unfamiliar, or the outcome feels…</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Evaluate readiness using evidence: completion of the curriculum, practice patterns, simulation…</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Evaluate readiness using evidence: completion of the curriculum, practice patterns, simulation performance, pacing, and the ability to apply…</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07/15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08</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Separate the Thought from the Task</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When an anxious thought appears, notice it without arguing with it.</a:t>
            </a:r>
            <a:endParaRPr lang="en-US" sz="2200" dirty="0"/>
          </a:p>
        </p:txBody>
      </p:sp>
      <p:sp>
        <p:nvSpPr>
          <p:cNvPr id="8" name="Shape 6"/>
          <p:cNvSpPr/>
          <p:nvPr/>
        </p:nvSpPr>
        <p:spPr>
          <a:xfrm>
            <a:off x="6830568" y="2414016"/>
            <a:ext cx="3611880" cy="0"/>
          </a:xfrm>
          <a:prstGeom prst="line">
            <a:avLst/>
          </a:prstGeom>
          <a:noFill/>
          <a:ln w="17780">
            <a:solidFill>
              <a:srgbClr val="3D7A4D">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3" name="Text 11"/>
          <p:cNvSpPr/>
          <p:nvPr/>
        </p:nvSpPr>
        <p:spPr>
          <a:xfrm>
            <a:off x="10146182" y="2103120"/>
            <a:ext cx="616306"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Move on</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You might say, I am having the thought that I am doing badly.</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It is to keep the anxiety from choosing the answer.</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is to keep the anxiety from choosing the answer.</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08/15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09</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Avoid Score-Calculating During the Exam</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Avoid estimating your score while testing.</a:t>
            </a:r>
            <a:endParaRPr lang="en-US" sz="2200" dirty="0"/>
          </a:p>
        </p:txBody>
      </p:sp>
      <p:sp>
        <p:nvSpPr>
          <p:cNvPr id="8" name="Shape 6"/>
          <p:cNvSpPr/>
          <p:nvPr/>
        </p:nvSpPr>
        <p:spPr>
          <a:xfrm>
            <a:off x="6830568" y="2414016"/>
            <a:ext cx="3611880" cy="0"/>
          </a:xfrm>
          <a:prstGeom prst="line">
            <a:avLst/>
          </a:prstGeom>
          <a:noFill/>
          <a:ln w="17780">
            <a:solidFill>
              <a:srgbClr val="3D7A4D">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3" name="Text 11"/>
          <p:cNvSpPr/>
          <p:nvPr/>
        </p:nvSpPr>
        <p:spPr>
          <a:xfrm>
            <a:off x="10146182" y="2103120"/>
            <a:ext cx="616306"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Move on</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One unfamiliar question can trigger the belief that the entire exam is going poorly.</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Your job is to answer the current item using the process you practiced.</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Your job is to answer the current item using the process you practiced.</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09/15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10</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Answer Changes Carefully</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Changing an answer can be appropriate when you notice a missed task word, a factual error, or a stronger comparison between the remaining options.</a:t>
            </a:r>
            <a:endParaRPr lang="en-US" sz="2200" dirty="0"/>
          </a:p>
        </p:txBody>
      </p:sp>
      <p:sp>
        <p:nvSpPr>
          <p:cNvPr id="8" name="Shape 6"/>
          <p:cNvSpPr/>
          <p:nvPr/>
        </p:nvSpPr>
        <p:spPr>
          <a:xfrm>
            <a:off x="6830568" y="2414016"/>
            <a:ext cx="3611880" cy="0"/>
          </a:xfrm>
          <a:prstGeom prst="line">
            <a:avLst/>
          </a:prstGeom>
          <a:noFill/>
          <a:ln w="17780">
            <a:solidFill>
              <a:srgbClr val="3D7A4D">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3" name="Text 11"/>
          <p:cNvSpPr/>
          <p:nvPr/>
        </p:nvSpPr>
        <p:spPr>
          <a:xfrm>
            <a:off x="10146182" y="2103120"/>
            <a:ext cx="616306"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Move on</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Do not change an answer only because anxiety increased after you selected it.</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This protects well-reasoned first choices from emotion-driven revision.</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This protects well-reasoned first choices from emotion-driven revision.</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10/15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11</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Practice Stamina Before Test Day</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Stamina improves through gradual practice.</a:t>
            </a:r>
            <a:endParaRPr lang="en-US" sz="2200" dirty="0"/>
          </a:p>
        </p:txBody>
      </p:sp>
      <p:sp>
        <p:nvSpPr>
          <p:cNvPr id="8" name="Shape 6"/>
          <p:cNvSpPr/>
          <p:nvPr/>
        </p:nvSpPr>
        <p:spPr>
          <a:xfrm>
            <a:off x="6830568" y="2414016"/>
            <a:ext cx="3611880" cy="0"/>
          </a:xfrm>
          <a:prstGeom prst="line">
            <a:avLst/>
          </a:prstGeom>
          <a:noFill/>
          <a:ln w="17780">
            <a:solidFill>
              <a:srgbClr val="3D7A4D">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3" name="Text 11"/>
          <p:cNvSpPr/>
          <p:nvPr/>
        </p:nvSpPr>
        <p:spPr>
          <a:xfrm>
            <a:off x="10146182" y="2103120"/>
            <a:ext cx="616306"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Move on</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Begin with focused question sets, then longer mixed sets, and finally full-length Forms A and B.</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purpose of simulation is partly to train sustained decision-making, not only to measure knowledge.</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purpose of simulation is partly to train sustained decision-making, not only to measure knowledge.</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11/15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12</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a Consistent Pre-Test Routine</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a consistent pre-test routine.</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Prepare required materials, confirm logistics, plan food and hydration, and arrive or log in with…</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goal is to reduce avoidable decisions so your attention is available for the exam.</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3D7A4D">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20" name="Text 18"/>
          <p:cNvSpPr/>
          <p:nvPr/>
        </p:nvSpPr>
        <p:spPr>
          <a:xfrm>
            <a:off x="4825746" y="4023360"/>
            <a:ext cx="1072134"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Answer</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goal is to reduce avoidable decisions so your attention is available for the exam.</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12/15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13</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The Five-Step Recovery Plan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this five-step recovery plan when you feel overwhelmed.</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Stop for a moment.</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routine is short enough to use repeatedly without losing meaningful time.</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3D7A4D">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20" name="Text 18"/>
          <p:cNvSpPr/>
          <p:nvPr/>
        </p:nvSpPr>
        <p:spPr>
          <a:xfrm>
            <a:off x="4825746" y="4023360"/>
            <a:ext cx="1072134"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Answer</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routine is short enough to use repeatedly without losing meaningful time.</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13/15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14</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Measure Process Goals</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During practice, track process goals you can control.</a:t>
            </a:r>
            <a:endParaRPr lang="en-US" sz="2200" dirty="0"/>
          </a:p>
        </p:txBody>
      </p:sp>
      <p:sp>
        <p:nvSpPr>
          <p:cNvPr id="8" name="Shape 6"/>
          <p:cNvSpPr/>
          <p:nvPr/>
        </p:nvSpPr>
        <p:spPr>
          <a:xfrm>
            <a:off x="6830568" y="2414016"/>
            <a:ext cx="3611880" cy="0"/>
          </a:xfrm>
          <a:prstGeom prst="line">
            <a:avLst/>
          </a:prstGeom>
          <a:noFill/>
          <a:ln w="17780">
            <a:solidFill>
              <a:srgbClr val="3D7A4D">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Answer</a:t>
            </a:r>
            <a:endParaRPr lang="en-US" sz="1250" dirty="0"/>
          </a:p>
        </p:txBody>
      </p:sp>
      <p:sp>
        <p:nvSpPr>
          <p:cNvPr id="13" name="Text 11"/>
          <p:cNvSpPr/>
          <p:nvPr/>
        </p:nvSpPr>
        <p:spPr>
          <a:xfrm>
            <a:off x="10146182" y="2103120"/>
            <a:ext cx="616306"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Move on</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Did you catch the task words?</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These measures show improvement even before the overall score changes.</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These measures show improvement even before the overall score changes.</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14/15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D7A4D"/>
                </a:solidFill>
                <a:latin typeface="Aptos" pitchFamily="34" charset="0"/>
                <a:ea typeface="Aptos" pitchFamily="34" charset="-122"/>
                <a:cs typeface="Aptos" pitchFamily="34" charset="-120"/>
              </a:rPr>
              <a:t>PERFORMANCE PLAN</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D7A4D"/>
                </a:solidFill>
                <a:latin typeface="Aptos Display" pitchFamily="34" charset="0"/>
                <a:ea typeface="Aptos Display" pitchFamily="34" charset="-122"/>
                <a:cs typeface="Aptos Display" pitchFamily="34" charset="-120"/>
              </a:rPr>
              <a:t>15</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Your Next Step</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Before your next long practice session, write down your timing checkpoints, stuck-item rule, and five-step recovery plan.</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Practice them during the session, not only when anxiety becomes intense.</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 strategy used repeatedly in practice is much easier to access on test day.</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3D7A4D"/>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3D7A4D">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Pace</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Notice</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Reset</a:t>
            </a:r>
            <a:endParaRPr lang="en-US" sz="1250" dirty="0"/>
          </a:p>
        </p:txBody>
      </p:sp>
      <p:sp>
        <p:nvSpPr>
          <p:cNvPr id="20" name="Text 18"/>
          <p:cNvSpPr/>
          <p:nvPr/>
        </p:nvSpPr>
        <p:spPr>
          <a:xfrm>
            <a:off x="4825746" y="4023360"/>
            <a:ext cx="1072134" cy="676656"/>
          </a:xfrm>
          <a:prstGeom prst="rect">
            <a:avLst/>
          </a:prstGeom>
          <a:solidFill>
            <a:srgbClr val="3D7A4D"/>
          </a:solidFill>
          <a:ln w="10160">
            <a:solidFill>
              <a:srgbClr val="3D7A4D"/>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Answer</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strategy used repeatedly in practice is much easier to access on test day.</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08  •  15/15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Shared Multimedia Script 08: Pacing, Decision Fatigue, and Test Anxiety</dc:title>
  <dc:subject>Shared LMFT &amp; LCSW Multimedia Script 08</dc:subject>
  <dc:creator>Clinical Training Academy</dc:creator>
  <cp:lastModifiedBy>Clinical Training Academy</cp:lastModifiedBy>
  <cp:revision>1</cp:revision>
  <dcterms:created xsi:type="dcterms:W3CDTF">2026-07-25T19:26:30Z</dcterms:created>
  <dcterms:modified xsi:type="dcterms:W3CDTF">2026-07-25T19:26:30Z</dcterms:modified>
</cp:coreProperties>
</file>