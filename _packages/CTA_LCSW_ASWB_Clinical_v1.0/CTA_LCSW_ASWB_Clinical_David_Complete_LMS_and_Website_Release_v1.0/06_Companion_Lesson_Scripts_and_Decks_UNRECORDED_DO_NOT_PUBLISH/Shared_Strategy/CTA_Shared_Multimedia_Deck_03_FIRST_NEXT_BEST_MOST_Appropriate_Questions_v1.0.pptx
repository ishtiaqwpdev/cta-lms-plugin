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Clinical exam questions often include several answers that could be reasonable in real practice. The task word tells you which reasonable answer belongs at the stage the question is asking about. FIRST, NEXT, BEST, and MOST are not interchangeable. Your first job is to identify the task word before evaluating the options.
Visual direction:
Question stem with FIRST, NEXT, BEST, MOST highlighted.
On-screen text:
FIRST • NEXT • BEST •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Before reading the answer choices closely, orient yourself. Who are you in the scenario? What problem is presented? What does the question ask you to do? And what stage of the clinical process are you in? This short pause prevents you from choosing an answer because it sounds clinically impressive rather than because it actually answers the question.
Visual direction:
Four-step scan: role, problem, task word, timing.
On-screen text:
1. Who are you?
2. What is happening?
3. What is being asked?
4. At what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FIRST asks for the earliest necessary step. That often means assessing immediate safety, clarifying essential information, determining role or consent, or addressing an urgent legal or ethical obligation. FIRST does not always mean gather more information. When danger is immediate or a mandatory action is already triggered, the first step may be protective action. The key is to choose the earliest step that is required by the facts given.
Visual direction:
Sequence ladder: immediate safety → clarify facts → plan → intervene.
On-screen text:
FIRST = Earliest Required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Consider this example. A client reports vague thoughts of not wanting to wake up. The clinician could create a safety plan, involve supports, consult, or modify treatment. But the first step is to assess the nature and severity of suicide risk. The statement raises a safety concern, but the scenario does not yet provide enough information to determine the appropriate intervention. Assessment comes before selecting the level of response.
Visual direction:
Short original vignette with four options appearing one at a time.
On-screen text:
Client reports vague thoughts of not wanting to wake up.
What should the clinician do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NEXT tells you that something important has already occurred. Identify what has been completed, then choose the most appropriate step that follows. Do not repeat an assessment that the stem says was already completed. Do not jump three stages ahead. The answer should logically continue the sequence from the information provided.
Visual direction:
Completed step with arrow to the next unfinished step.
On-screen text:
NEXT = What Follows the Action Already Taken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Imagine the clinician has completed a risk assessment and determined there is no imminent danger, but the client has continuing passive suicidal thoughts. Repeating the same assessment is not the best next step. Immediate hospitalization is not supported by the facts. A collaborative safety plan, protective-factor review, and follow-up arrangement may be the next appropriate step. The stem tells you assessment has been completed, so move forward.
Visual direction:
Assessment completed → collaborative planning highlighted.
On-screen text:
Risk assessment is complete and no imminent danger is found.
What should the clinician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BEST asks you to compare the quality of the options. More than one choice may be acceptable, but one is usually more complete, more collaborative, better timed, more consistent with the clinician’s role, or more protective of client welfare. BEST is not necessarily the most intensive answer. It is the answer that fits the whole scenario with the fewest unsupported assumptions.
Visual direction:
Scale balancing safety, role, evidence, collaboration, timing.
On-screen text:
BEST = Strongest Overall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Suppose a client says the current approach is not helping. The clinician could defend the treatment, immediately refer the client, change techniques without discussion, or explore the client’s experience and collaboratively reassess the plan. The collaborative reassessment is best because it addresses the concern, preserves the alliance, and uses the client’s feedback to guide the next decision. It is neither defensive nor premature.
Visual direction:
Client requests a treatment change; options sorted by collaboration and fit.
On-screen text:
A client says the current approach is not helping.
What is the BEST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MOST appropriate is similar to BEST, but it emphasizes fit. Which option most closely matches the client’s needs, the clinician’s role, the treatment stage, and the facts provided? Look for the option that solves the stated problem without doing more than the scenario supports. Extreme or overly broad answers are often less appropriate than a focused response.
Visual direction:
Funnel narrowing from several plausible actions to one most fitting action.
On-screen text:
MOST Appropriate = Best Fit for These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A common error is choosing an intervention while the question is still in the assessment stage. Assessment gathers information, clarifies severity, identifies context, and determines what is needed. Intervention changes something. When key information is missing, assessment may be required first. When the necessary assessment has already been completed, more questions may become avoidance. Use the stem to determine which stage you are in.
Visual direction:
Two-column diagram: assessment questions versus intervention actions.
On-screen text:
Assessment asks: What is happening?
Intervention asks: What should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Many distractors describe actions that could become appropriate later. Referral, consultation, treatment planning, family involvement, diagnosis, and termination may all be reasonable in the right situation. Ask: Is this necessary now? Has the earlier step been completed? Does the stem support this level of action? If not, the answer may be clinically reasonable but premature.
Visual direction:
Three tempting options marked 'later,' one current-stage option marked 'now.'
On-screen text:
Clinically Reasonable Does Not Always Mean Correct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Another common error is adding facts that are not in the question. You may imagine imminent danger, a legal conflict, a diagnosis, or a history that the stem never provides. Clinical experience can help you recognize possibilities, but the exam asks you to respond to the facts given. Do not escalate, diagnose, or assume incapacity without support in the scenario.
Visual direction:
Scenario text inside a boundary; imagined facts shown outside and crossed out.
On-screen text:
Use the Facts Given—Not the Facts You Fear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Use this four-step routine. First, identify the task word. Second, name the stage: assessment, planning, intervention, evaluation, or follow-up. Third, eliminate options that are mistimed, unsupported, outside the clinician’s role, or less protective of client welfare. Fourth, choose the option that best fits the facts and the stage. With practice, this routine becomes quick enough to use throughout the exam.
Visual direction:
Checklist animation.
On-screen text:
1. Circle the task word
2. Name the stage
3. Eliminate mistimed options
4. Choose the best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During practice, say the reasoning out loud. Try: First I need to clarify safety. Next I would collaborate on the plan. The best answer is this one because it fits the role and the stage. Verbalizing the sequence exposes hidden assumptions and helps you learn a decision rule you can repeat on new questions.
Visual direction:
Speech bubbles: 'First I need to…' 'Next I would…' 'The best answer is… because…'
On-screen text:
Verbalize the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Apply this routine in every workbook question bank. When you miss an item, record whether the problem was the task word, the clinical stage, timing, or content. The goal is not just to answer this question correctly next time. The goal is to recognize the same reasoning pattern when the details change.
Visual direction:
Task-word checklist beside a 17-question bank.
On-screen text:
Task Word → Stage → Timing → Best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Your next step is to open the CTA error log and keep the four-step routine visible during practice: identify the task word, name the stage, eliminate mistimed answers, and choose the best fit. Use it deliberately now so that it becomes automatic when you take Forms A and B.
Visual direction:
CTA error log and first workbook question bank.
On-screen text:
Next: Use the Four-Step Routine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474720" y="502920"/>
            <a:ext cx="5212080" cy="1143000"/>
          </a:xfrm>
          <a:prstGeom prst="rect">
            <a:avLst/>
          </a:prstGeom>
        </p:spPr>
      </p:pic>
      <p:sp>
        <p:nvSpPr>
          <p:cNvPr id="3" name="Text 0"/>
          <p:cNvSpPr/>
          <p:nvPr/>
        </p:nvSpPr>
        <p:spPr>
          <a:xfrm>
            <a:off x="960120" y="1828800"/>
            <a:ext cx="10287000" cy="713232"/>
          </a:xfrm>
          <a:prstGeom prst="rect">
            <a:avLst/>
          </a:prstGeom>
          <a:noFill/>
          <a:ln/>
        </p:spPr>
        <p:txBody>
          <a:bodyPr wrap="square" lIns="254" tIns="254" rIns="254" bIns="254" rtlCol="0" anchor="ctr">
            <a:normAutofit/>
          </a:bodyPr>
          <a:lstStyle/>
          <a:p>
            <a:pPr algn="ctr" indent="0" marL="0">
              <a:buNone/>
            </a:pPr>
            <a:r>
              <a:rPr lang="en-US" sz="3100" b="1" dirty="0">
                <a:solidFill>
                  <a:srgbClr val="17365D"/>
                </a:solidFill>
                <a:latin typeface="Aptos Display" pitchFamily="34" charset="0"/>
                <a:ea typeface="Aptos Display" pitchFamily="34" charset="-122"/>
                <a:cs typeface="Aptos Display" pitchFamily="34" charset="-120"/>
              </a:rPr>
              <a:t>How to Read FIRST, NEXT, BEST, and MOST Appropriate Questions</a:t>
            </a:r>
            <a:endParaRPr lang="en-US" sz="3100" dirty="0"/>
          </a:p>
        </p:txBody>
      </p:sp>
      <p:sp>
        <p:nvSpPr>
          <p:cNvPr id="4" name="Text 1"/>
          <p:cNvSpPr/>
          <p:nvPr/>
        </p:nvSpPr>
        <p:spPr>
          <a:xfrm>
            <a:off x="1737360" y="2615184"/>
            <a:ext cx="8732520" cy="320040"/>
          </a:xfrm>
          <a:prstGeom prst="rect">
            <a:avLst/>
          </a:prstGeom>
          <a:noFill/>
          <a:ln/>
        </p:spPr>
        <p:txBody>
          <a:bodyPr wrap="square" lIns="254" tIns="254" rIns="254" bIns="254" rtlCol="0" anchor="ctr"/>
          <a:lstStyle/>
          <a:p>
            <a:pPr algn="ctr" indent="0" marL="0">
              <a:buNone/>
            </a:pPr>
            <a:r>
              <a:rPr lang="en-US" sz="1300" b="1" dirty="0">
                <a:solidFill>
                  <a:srgbClr val="2AA7D6"/>
                </a:solidFill>
                <a:latin typeface="Aptos" pitchFamily="34" charset="0"/>
                <a:ea typeface="Aptos" pitchFamily="34" charset="-122"/>
                <a:cs typeface="Aptos" pitchFamily="34" charset="-120"/>
              </a:rPr>
              <a:t>Multimedia Script 03</a:t>
            </a:r>
            <a:endParaRPr lang="en-US" sz="1300" dirty="0"/>
          </a:p>
        </p:txBody>
      </p:sp>
      <p:sp>
        <p:nvSpPr>
          <p:cNvPr id="5" name="Text 2"/>
          <p:cNvSpPr/>
          <p:nvPr/>
        </p:nvSpPr>
        <p:spPr>
          <a:xfrm>
            <a:off x="1234440" y="3429000"/>
            <a:ext cx="9738360" cy="502920"/>
          </a:xfrm>
          <a:prstGeom prst="rect">
            <a:avLst/>
          </a:prstGeom>
          <a:solidFill>
            <a:srgbClr val="FFFFFF">
              <a:alpha val="96000"/>
            </a:srgbClr>
          </a:solidFill>
          <a:ln>
            <a:solidFill>
              <a:srgbClr val="DCEFF6"/>
            </a:solidFill>
          </a:ln>
        </p:spPr>
        <p:txBody>
          <a:bodyPr wrap="square" lIns="635" tIns="635" rIns="635" bIns="635" rtlCol="0" anchor="ctr"/>
          <a:lstStyle/>
          <a:p>
            <a:pPr algn="ctr" indent="0" marL="0">
              <a:buNone/>
            </a:pPr>
            <a:r>
              <a:rPr lang="en-US" sz="1400" dirty="0">
                <a:solidFill>
                  <a:srgbClr val="243B53"/>
                </a:solidFill>
                <a:latin typeface="Aptos" pitchFamily="34" charset="0"/>
                <a:ea typeface="Aptos" pitchFamily="34" charset="-122"/>
                <a:cs typeface="Aptos" pitchFamily="34" charset="-120"/>
              </a:rPr>
              <a:t>FIRST   •   NEXT   •   BEST   •   MOST</a:t>
            </a:r>
            <a:endParaRPr lang="en-US" sz="1400" dirty="0"/>
          </a:p>
        </p:txBody>
      </p:sp>
      <p:sp>
        <p:nvSpPr>
          <p:cNvPr id="6" name="Text 3"/>
          <p:cNvSpPr/>
          <p:nvPr/>
        </p:nvSpPr>
        <p:spPr>
          <a:xfrm>
            <a:off x="2331720" y="6016752"/>
            <a:ext cx="7543800" cy="228600"/>
          </a:xfrm>
          <a:prstGeom prst="rect">
            <a:avLst/>
          </a:prstGeom>
          <a:noFill/>
          <a:ln/>
        </p:spPr>
        <p:txBody>
          <a:bodyPr wrap="square" lIns="254" tIns="254" rIns="254" bIns="254" rtlCol="0" anchor="ctr"/>
          <a:lstStyle/>
          <a:p>
            <a:pPr algn="ctr" indent="0" marL="0">
              <a:buNone/>
            </a:pPr>
            <a:r>
              <a:rPr lang="en-US" sz="850" dirty="0">
                <a:solidFill>
                  <a:srgbClr val="6B7280"/>
                </a:solidFill>
                <a:latin typeface="Aptos" pitchFamily="34" charset="0"/>
                <a:ea typeface="Aptos" pitchFamily="34" charset="-122"/>
                <a:cs typeface="Aptos" pitchFamily="34" charset="-120"/>
              </a:rPr>
              <a:t>Ready-to-record slide deck with synchronized speaker notes</a:t>
            </a:r>
            <a:endParaRPr lang="en-US" sz="850" dirty="0"/>
          </a:p>
        </p:txBody>
      </p:sp>
      <p:sp>
        <p:nvSpPr>
          <p:cNvPr id="7" name="Text 4"/>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1/16</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Start with the Question Being Asked</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Read FIRST, NEXT, BEST, and MOST Appropriate Questions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2/16</a:t>
            </a:r>
            <a:endParaRPr lang="en-US" sz="750" dirty="0"/>
          </a:p>
        </p:txBody>
      </p:sp>
      <p:sp>
        <p:nvSpPr>
          <p:cNvPr id="7" name="Text 4"/>
          <p:cNvSpPr/>
          <p:nvPr/>
        </p:nvSpPr>
        <p:spPr>
          <a:xfrm>
            <a:off x="822960" y="2057400"/>
            <a:ext cx="2514600" cy="114300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600" b="1" dirty="0">
                <a:solidFill>
                  <a:srgbClr val="17365D"/>
                </a:solidFill>
                <a:latin typeface="Aptos" pitchFamily="34" charset="0"/>
                <a:ea typeface="Aptos" pitchFamily="34" charset="-122"/>
                <a:cs typeface="Aptos" pitchFamily="34" charset="-120"/>
              </a:rPr>
              <a:t>1. Who are you?</a:t>
            </a:r>
            <a:endParaRPr lang="en-US" sz="1600" dirty="0"/>
          </a:p>
        </p:txBody>
      </p:sp>
      <p:sp>
        <p:nvSpPr>
          <p:cNvPr id="8" name="Text 5"/>
          <p:cNvSpPr/>
          <p:nvPr/>
        </p:nvSpPr>
        <p:spPr>
          <a:xfrm>
            <a:off x="3657600" y="2057400"/>
            <a:ext cx="2514600" cy="1143000"/>
          </a:xfrm>
          <a:prstGeom prst="rect">
            <a:avLst/>
          </a:prstGeom>
          <a:solidFill>
            <a:srgbClr val="EAF6FA"/>
          </a:solidFill>
          <a:ln>
            <a:solidFill>
              <a:srgbClr val="DCEFF6"/>
            </a:solidFill>
          </a:ln>
        </p:spPr>
        <p:txBody>
          <a:bodyPr wrap="square" lIns="1524" tIns="1524" rIns="1524" bIns="1524" rtlCol="0" anchor="ctr">
            <a:normAutofit/>
          </a:bodyPr>
          <a:lstStyle/>
          <a:p>
            <a:pPr algn="ctr" indent="0" marL="0">
              <a:buNone/>
            </a:pPr>
            <a:r>
              <a:rPr lang="en-US" sz="1600" b="1" dirty="0">
                <a:solidFill>
                  <a:srgbClr val="17365D"/>
                </a:solidFill>
                <a:latin typeface="Aptos" pitchFamily="34" charset="0"/>
                <a:ea typeface="Aptos" pitchFamily="34" charset="-122"/>
                <a:cs typeface="Aptos" pitchFamily="34" charset="-120"/>
              </a:rPr>
              <a:t>2. What is happening?</a:t>
            </a:r>
            <a:endParaRPr lang="en-US" sz="1600" dirty="0"/>
          </a:p>
        </p:txBody>
      </p:sp>
      <p:sp>
        <p:nvSpPr>
          <p:cNvPr id="9" name="Text 6"/>
          <p:cNvSpPr/>
          <p:nvPr/>
        </p:nvSpPr>
        <p:spPr>
          <a:xfrm>
            <a:off x="6492240" y="2057400"/>
            <a:ext cx="2514600" cy="114300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600" b="1" dirty="0">
                <a:solidFill>
                  <a:srgbClr val="17365D"/>
                </a:solidFill>
                <a:latin typeface="Aptos" pitchFamily="34" charset="0"/>
                <a:ea typeface="Aptos" pitchFamily="34" charset="-122"/>
                <a:cs typeface="Aptos" pitchFamily="34" charset="-120"/>
              </a:rPr>
              <a:t>3. What is being asked?</a:t>
            </a:r>
            <a:endParaRPr lang="en-US" sz="1600" dirty="0"/>
          </a:p>
        </p:txBody>
      </p:sp>
      <p:sp>
        <p:nvSpPr>
          <p:cNvPr id="10" name="Text 7"/>
          <p:cNvSpPr/>
          <p:nvPr/>
        </p:nvSpPr>
        <p:spPr>
          <a:xfrm>
            <a:off x="9326880" y="2057400"/>
            <a:ext cx="2514600" cy="114300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600" b="1" dirty="0">
                <a:solidFill>
                  <a:srgbClr val="17365D"/>
                </a:solidFill>
                <a:latin typeface="Aptos" pitchFamily="34" charset="0"/>
                <a:ea typeface="Aptos" pitchFamily="34" charset="-122"/>
                <a:cs typeface="Aptos" pitchFamily="34" charset="-120"/>
              </a:rPr>
              <a:t>4. At what stage?</a:t>
            </a:r>
            <a:endParaRPr lang="en-US" sz="1600" dirty="0"/>
          </a:p>
        </p:txBody>
      </p:sp>
      <p:sp>
        <p:nvSpPr>
          <p:cNvPr id="11" name="Text 8"/>
          <p:cNvSpPr/>
          <p:nvPr/>
        </p:nvSpPr>
        <p:spPr>
          <a:xfrm>
            <a:off x="1828800" y="4069080"/>
            <a:ext cx="8549640" cy="77724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350" b="1" dirty="0">
                <a:solidFill>
                  <a:srgbClr val="243B53"/>
                </a:solidFill>
                <a:latin typeface="Aptos" pitchFamily="34" charset="0"/>
                <a:ea typeface="Aptos" pitchFamily="34" charset="-122"/>
                <a:cs typeface="Aptos" pitchFamily="34" charset="-120"/>
              </a:rPr>
              <a:t>This short pause prevents you from choosing an answer because it sounds clinically impressive rather than because it actually answers the question.</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FIRST Means the Earliest Necessary Step</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Read FIRST, NEXT, BEST, and MOST Appropriate Questions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3/16</a:t>
            </a:r>
            <a:endParaRPr lang="en-US" sz="750" dirty="0"/>
          </a:p>
        </p:txBody>
      </p:sp>
      <p:sp>
        <p:nvSpPr>
          <p:cNvPr id="7" name="Text 4"/>
          <p:cNvSpPr/>
          <p:nvPr/>
        </p:nvSpPr>
        <p:spPr>
          <a:xfrm>
            <a:off x="960120" y="1463040"/>
            <a:ext cx="4709160" cy="1417320"/>
          </a:xfrm>
          <a:prstGeom prst="rect">
            <a:avLst/>
          </a:prstGeom>
          <a:solidFill>
            <a:srgbClr val="EAF6FA"/>
          </a:solidFill>
          <a:ln>
            <a:solidFill>
              <a:srgbClr val="DCEFF6"/>
            </a:solidFill>
          </a:ln>
        </p:spPr>
        <p:txBody>
          <a:bodyPr wrap="square" lIns="1524" tIns="1524" rIns="1524" bIns="1524" rtlCol="0" anchor="ctr">
            <a:normAutofit/>
          </a:bodyPr>
          <a:lstStyle/>
          <a:p>
            <a:pPr algn="ctr" indent="0" marL="0">
              <a:buNone/>
            </a:pPr>
            <a:r>
              <a:rPr lang="en-US" sz="1700" b="1" dirty="0">
                <a:solidFill>
                  <a:srgbClr val="17365D"/>
                </a:solidFill>
                <a:latin typeface="Aptos" pitchFamily="34" charset="0"/>
                <a:ea typeface="Aptos" pitchFamily="34" charset="-122"/>
                <a:cs typeface="Aptos" pitchFamily="34" charset="-120"/>
              </a:rPr>
              <a:t>FIRST = Earliest Required Action</a:t>
            </a:r>
            <a:endParaRPr lang="en-US" sz="1700" dirty="0"/>
          </a:p>
        </p:txBody>
      </p:sp>
      <p:sp>
        <p:nvSpPr>
          <p:cNvPr id="8" name="Text 5"/>
          <p:cNvSpPr/>
          <p:nvPr/>
        </p:nvSpPr>
        <p:spPr>
          <a:xfrm>
            <a:off x="6537960" y="1463040"/>
            <a:ext cx="4709160" cy="141732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700" b="1" dirty="0">
                <a:solidFill>
                  <a:srgbClr val="17365D"/>
                </a:solidFill>
                <a:latin typeface="Aptos" pitchFamily="34" charset="0"/>
                <a:ea typeface="Aptos" pitchFamily="34" charset="-122"/>
                <a:cs typeface="Aptos" pitchFamily="34" charset="-120"/>
              </a:rPr>
              <a:t>Reasoning Focus</a:t>
            </a:r>
            <a:endParaRPr lang="en-US" sz="1700" dirty="0"/>
          </a:p>
        </p:txBody>
      </p:sp>
      <p:sp>
        <p:nvSpPr>
          <p:cNvPr id="9" name="Text 6"/>
          <p:cNvSpPr/>
          <p:nvPr/>
        </p:nvSpPr>
        <p:spPr>
          <a:xfrm>
            <a:off x="1828800" y="3977640"/>
            <a:ext cx="8549640" cy="82296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450" b="1" dirty="0">
                <a:solidFill>
                  <a:srgbClr val="243B53"/>
                </a:solidFill>
                <a:latin typeface="Aptos" pitchFamily="34" charset="0"/>
                <a:ea typeface="Aptos" pitchFamily="34" charset="-122"/>
                <a:cs typeface="Aptos" pitchFamily="34" charset="-120"/>
              </a:rPr>
              <a:t>The key is to choose the earliest step that is required by the facts given.</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A FIRST Question Example</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Read FIRST, NEXT, BEST, and MOST Appropriate Questions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4/16</a:t>
            </a:r>
            <a:endParaRPr lang="en-US" sz="750" dirty="0"/>
          </a:p>
        </p:txBody>
      </p:sp>
      <p:sp>
        <p:nvSpPr>
          <p:cNvPr id="7" name="Text 4"/>
          <p:cNvSpPr/>
          <p:nvPr/>
        </p:nvSpPr>
        <p:spPr>
          <a:xfrm>
            <a:off x="1051560" y="1298448"/>
            <a:ext cx="5394960" cy="3154680"/>
          </a:xfrm>
          <a:prstGeom prst="rect">
            <a:avLst/>
          </a:prstGeom>
          <a:noFill/>
          <a:ln/>
        </p:spPr>
        <p:txBody>
          <a:bodyPr wrap="square" lIns="1270" tIns="1270" rIns="1270" bIns="1270" rtlCol="0" anchor="ctr">
            <a:normAutofit/>
          </a:bodyPr>
          <a:lstStyle/>
          <a:p>
            <a:r>
              <a:rPr lang="en-US" sz="1800" dirty="0">
                <a:solidFill>
                  <a:srgbClr val="243B53"/>
                </a:solidFill>
                <a:latin typeface="Aptos" pitchFamily="34" charset="0"/>
                <a:ea typeface="Aptos" pitchFamily="34" charset="-122"/>
                <a:cs typeface="Aptos" pitchFamily="34" charset="-120"/>
              </a:rPr>
              <a:t>Client reports vague thoughts of not wanting to wake up.</a:t>
            </a:r>
            <a:endParaRPr lang="en-US" sz="1800" dirty="0"/>
          </a:p>
          <a:p>
            <a:r>
              <a:rPr lang="en-US" sz="1800" dirty="0">
                <a:solidFill>
                  <a:srgbClr val="243B53"/>
                </a:solidFill>
                <a:latin typeface="Aptos" pitchFamily="34" charset="0"/>
                <a:ea typeface="Aptos" pitchFamily="34" charset="-122"/>
                <a:cs typeface="Aptos" pitchFamily="34" charset="-120"/>
              </a:rPr>
              <a:t>What should the clinician do FIRST?</a:t>
            </a:r>
            <a:endParaRPr lang="en-US" sz="1800" dirty="0"/>
          </a:p>
        </p:txBody>
      </p:sp>
      <p:sp>
        <p:nvSpPr>
          <p:cNvPr id="8" name="Text 5"/>
          <p:cNvSpPr/>
          <p:nvPr/>
        </p:nvSpPr>
        <p:spPr>
          <a:xfrm>
            <a:off x="6720840" y="1828800"/>
            <a:ext cx="4114800" cy="141732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450" b="1" dirty="0">
                <a:solidFill>
                  <a:srgbClr val="243B53"/>
                </a:solidFill>
                <a:latin typeface="Aptos" pitchFamily="34" charset="0"/>
                <a:ea typeface="Aptos" pitchFamily="34" charset="-122"/>
                <a:cs typeface="Aptos" pitchFamily="34" charset="-120"/>
              </a:rPr>
              <a:t>Assessment comes before selecting the level of response.</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NEXT Means the Prior Step Is Complete</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Read FIRST, NEXT, BEST, and MOST Appropriate Questions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5/16</a:t>
            </a:r>
            <a:endParaRPr lang="en-US" sz="750" dirty="0"/>
          </a:p>
        </p:txBody>
      </p:sp>
      <p:sp>
        <p:nvSpPr>
          <p:cNvPr id="7" name="Text 4"/>
          <p:cNvSpPr/>
          <p:nvPr/>
        </p:nvSpPr>
        <p:spPr>
          <a:xfrm>
            <a:off x="960120" y="1463040"/>
            <a:ext cx="4709160" cy="1417320"/>
          </a:xfrm>
          <a:prstGeom prst="rect">
            <a:avLst/>
          </a:prstGeom>
          <a:solidFill>
            <a:srgbClr val="EAF6FA"/>
          </a:solidFill>
          <a:ln>
            <a:solidFill>
              <a:srgbClr val="DCEFF6"/>
            </a:solidFill>
          </a:ln>
        </p:spPr>
        <p:txBody>
          <a:bodyPr wrap="square" lIns="1524" tIns="1524" rIns="1524" bIns="1524" rtlCol="0" anchor="ctr">
            <a:normAutofit/>
          </a:bodyPr>
          <a:lstStyle/>
          <a:p>
            <a:pPr algn="ctr" indent="0" marL="0">
              <a:buNone/>
            </a:pPr>
            <a:r>
              <a:rPr lang="en-US" sz="1700" b="1" dirty="0">
                <a:solidFill>
                  <a:srgbClr val="17365D"/>
                </a:solidFill>
                <a:latin typeface="Aptos" pitchFamily="34" charset="0"/>
                <a:ea typeface="Aptos" pitchFamily="34" charset="-122"/>
                <a:cs typeface="Aptos" pitchFamily="34" charset="-120"/>
              </a:rPr>
              <a:t>NEXT = What Follows the Action Already Taken</a:t>
            </a:r>
            <a:endParaRPr lang="en-US" sz="1700" dirty="0"/>
          </a:p>
        </p:txBody>
      </p:sp>
      <p:sp>
        <p:nvSpPr>
          <p:cNvPr id="8" name="Text 5"/>
          <p:cNvSpPr/>
          <p:nvPr/>
        </p:nvSpPr>
        <p:spPr>
          <a:xfrm>
            <a:off x="6537960" y="1463040"/>
            <a:ext cx="4709160" cy="141732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700" b="1" dirty="0">
                <a:solidFill>
                  <a:srgbClr val="17365D"/>
                </a:solidFill>
                <a:latin typeface="Aptos" pitchFamily="34" charset="0"/>
                <a:ea typeface="Aptos" pitchFamily="34" charset="-122"/>
                <a:cs typeface="Aptos" pitchFamily="34" charset="-120"/>
              </a:rPr>
              <a:t>Reasoning Focus</a:t>
            </a:r>
            <a:endParaRPr lang="en-US" sz="1700" dirty="0"/>
          </a:p>
        </p:txBody>
      </p:sp>
      <p:sp>
        <p:nvSpPr>
          <p:cNvPr id="9" name="Text 6"/>
          <p:cNvSpPr/>
          <p:nvPr/>
        </p:nvSpPr>
        <p:spPr>
          <a:xfrm>
            <a:off x="1828800" y="3977640"/>
            <a:ext cx="8549640" cy="82296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450" b="1" dirty="0">
                <a:solidFill>
                  <a:srgbClr val="243B53"/>
                </a:solidFill>
                <a:latin typeface="Aptos" pitchFamily="34" charset="0"/>
                <a:ea typeface="Aptos" pitchFamily="34" charset="-122"/>
                <a:cs typeface="Aptos" pitchFamily="34" charset="-120"/>
              </a:rPr>
              <a:t>The answer should logically continue the sequence from the information provided.</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A NEXT Question Example</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Read FIRST, NEXT, BEST, and MOST Appropriate Questions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6/16</a:t>
            </a:r>
            <a:endParaRPr lang="en-US" sz="750" dirty="0"/>
          </a:p>
        </p:txBody>
      </p:sp>
      <p:sp>
        <p:nvSpPr>
          <p:cNvPr id="7" name="Text 4"/>
          <p:cNvSpPr/>
          <p:nvPr/>
        </p:nvSpPr>
        <p:spPr>
          <a:xfrm>
            <a:off x="1051560" y="1298448"/>
            <a:ext cx="5394960" cy="3154680"/>
          </a:xfrm>
          <a:prstGeom prst="rect">
            <a:avLst/>
          </a:prstGeom>
          <a:noFill/>
          <a:ln/>
        </p:spPr>
        <p:txBody>
          <a:bodyPr wrap="square" lIns="1270" tIns="1270" rIns="1270" bIns="1270" rtlCol="0" anchor="ctr">
            <a:normAutofit/>
          </a:bodyPr>
          <a:lstStyle/>
          <a:p>
            <a:r>
              <a:rPr lang="en-US" sz="1800" dirty="0">
                <a:solidFill>
                  <a:srgbClr val="243B53"/>
                </a:solidFill>
                <a:latin typeface="Aptos" pitchFamily="34" charset="0"/>
                <a:ea typeface="Aptos" pitchFamily="34" charset="-122"/>
                <a:cs typeface="Aptos" pitchFamily="34" charset="-120"/>
              </a:rPr>
              <a:t>Risk assessment is complete and no imminent danger is found.</a:t>
            </a:r>
            <a:endParaRPr lang="en-US" sz="1800" dirty="0"/>
          </a:p>
          <a:p>
            <a:r>
              <a:rPr lang="en-US" sz="1800" dirty="0">
                <a:solidFill>
                  <a:srgbClr val="243B53"/>
                </a:solidFill>
                <a:latin typeface="Aptos" pitchFamily="34" charset="0"/>
                <a:ea typeface="Aptos" pitchFamily="34" charset="-122"/>
                <a:cs typeface="Aptos" pitchFamily="34" charset="-120"/>
              </a:rPr>
              <a:t>What should the clinician do NEXT?</a:t>
            </a:r>
            <a:endParaRPr lang="en-US" sz="1800" dirty="0"/>
          </a:p>
        </p:txBody>
      </p:sp>
      <p:sp>
        <p:nvSpPr>
          <p:cNvPr id="8" name="Text 5"/>
          <p:cNvSpPr/>
          <p:nvPr/>
        </p:nvSpPr>
        <p:spPr>
          <a:xfrm>
            <a:off x="6720840" y="1828800"/>
            <a:ext cx="4114800" cy="141732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450" b="1" dirty="0">
                <a:solidFill>
                  <a:srgbClr val="243B53"/>
                </a:solidFill>
                <a:latin typeface="Aptos" pitchFamily="34" charset="0"/>
                <a:ea typeface="Aptos" pitchFamily="34" charset="-122"/>
                <a:cs typeface="Aptos" pitchFamily="34" charset="-120"/>
              </a:rPr>
              <a:t>The stem tells you assessment has been completed, so move forward.</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BEST Means the Strongest Overall Choice</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Read FIRST, NEXT, BEST, and MOST Appropriate Questions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7/16</a:t>
            </a:r>
            <a:endParaRPr lang="en-US" sz="750" dirty="0"/>
          </a:p>
        </p:txBody>
      </p:sp>
      <p:sp>
        <p:nvSpPr>
          <p:cNvPr id="7" name="Text 4"/>
          <p:cNvSpPr/>
          <p:nvPr/>
        </p:nvSpPr>
        <p:spPr>
          <a:xfrm>
            <a:off x="960120" y="1463040"/>
            <a:ext cx="4709160" cy="1417320"/>
          </a:xfrm>
          <a:prstGeom prst="rect">
            <a:avLst/>
          </a:prstGeom>
          <a:solidFill>
            <a:srgbClr val="EAF6FA"/>
          </a:solidFill>
          <a:ln>
            <a:solidFill>
              <a:srgbClr val="DCEFF6"/>
            </a:solidFill>
          </a:ln>
        </p:spPr>
        <p:txBody>
          <a:bodyPr wrap="square" lIns="1524" tIns="1524" rIns="1524" bIns="1524" rtlCol="0" anchor="ctr">
            <a:normAutofit/>
          </a:bodyPr>
          <a:lstStyle/>
          <a:p>
            <a:pPr algn="ctr" indent="0" marL="0">
              <a:buNone/>
            </a:pPr>
            <a:r>
              <a:rPr lang="en-US" sz="1700" b="1" dirty="0">
                <a:solidFill>
                  <a:srgbClr val="17365D"/>
                </a:solidFill>
                <a:latin typeface="Aptos" pitchFamily="34" charset="0"/>
                <a:ea typeface="Aptos" pitchFamily="34" charset="-122"/>
                <a:cs typeface="Aptos" pitchFamily="34" charset="-120"/>
              </a:rPr>
              <a:t>BEST = Strongest Overall Response</a:t>
            </a:r>
            <a:endParaRPr lang="en-US" sz="1700" dirty="0"/>
          </a:p>
        </p:txBody>
      </p:sp>
      <p:sp>
        <p:nvSpPr>
          <p:cNvPr id="8" name="Text 5"/>
          <p:cNvSpPr/>
          <p:nvPr/>
        </p:nvSpPr>
        <p:spPr>
          <a:xfrm>
            <a:off x="6537960" y="1463040"/>
            <a:ext cx="4709160" cy="141732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700" b="1" dirty="0">
                <a:solidFill>
                  <a:srgbClr val="17365D"/>
                </a:solidFill>
                <a:latin typeface="Aptos" pitchFamily="34" charset="0"/>
                <a:ea typeface="Aptos" pitchFamily="34" charset="-122"/>
                <a:cs typeface="Aptos" pitchFamily="34" charset="-120"/>
              </a:rPr>
              <a:t>Reasoning Focus</a:t>
            </a:r>
            <a:endParaRPr lang="en-US" sz="1700" dirty="0"/>
          </a:p>
        </p:txBody>
      </p:sp>
      <p:sp>
        <p:nvSpPr>
          <p:cNvPr id="9" name="Text 6"/>
          <p:cNvSpPr/>
          <p:nvPr/>
        </p:nvSpPr>
        <p:spPr>
          <a:xfrm>
            <a:off x="1828800" y="3977640"/>
            <a:ext cx="8549640" cy="82296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450" b="1" dirty="0">
                <a:solidFill>
                  <a:srgbClr val="243B53"/>
                </a:solidFill>
                <a:latin typeface="Aptos" pitchFamily="34" charset="0"/>
                <a:ea typeface="Aptos" pitchFamily="34" charset="-122"/>
                <a:cs typeface="Aptos" pitchFamily="34" charset="-120"/>
              </a:rPr>
              <a:t>It is the answer that fits the whole scenario with the fewest unsupported assumptions.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A BEST Question Example</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Read FIRST, NEXT, BEST, and MOST Appropriate Questions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8/16</a:t>
            </a:r>
            <a:endParaRPr lang="en-US" sz="750" dirty="0"/>
          </a:p>
        </p:txBody>
      </p:sp>
      <p:sp>
        <p:nvSpPr>
          <p:cNvPr id="7" name="Text 4"/>
          <p:cNvSpPr/>
          <p:nvPr/>
        </p:nvSpPr>
        <p:spPr>
          <a:xfrm>
            <a:off x="1051560" y="1298448"/>
            <a:ext cx="5394960" cy="3154680"/>
          </a:xfrm>
          <a:prstGeom prst="rect">
            <a:avLst/>
          </a:prstGeom>
          <a:noFill/>
          <a:ln/>
        </p:spPr>
        <p:txBody>
          <a:bodyPr wrap="square" lIns="1270" tIns="1270" rIns="1270" bIns="1270" rtlCol="0" anchor="ctr">
            <a:normAutofit/>
          </a:bodyPr>
          <a:lstStyle/>
          <a:p>
            <a:r>
              <a:rPr lang="en-US" sz="1800" dirty="0">
                <a:solidFill>
                  <a:srgbClr val="243B53"/>
                </a:solidFill>
                <a:latin typeface="Aptos" pitchFamily="34" charset="0"/>
                <a:ea typeface="Aptos" pitchFamily="34" charset="-122"/>
                <a:cs typeface="Aptos" pitchFamily="34" charset="-120"/>
              </a:rPr>
              <a:t>A client says the current approach is not helping.</a:t>
            </a:r>
            <a:endParaRPr lang="en-US" sz="1800" dirty="0"/>
          </a:p>
          <a:p>
            <a:r>
              <a:rPr lang="en-US" sz="1800" dirty="0">
                <a:solidFill>
                  <a:srgbClr val="243B53"/>
                </a:solidFill>
                <a:latin typeface="Aptos" pitchFamily="34" charset="0"/>
                <a:ea typeface="Aptos" pitchFamily="34" charset="-122"/>
                <a:cs typeface="Aptos" pitchFamily="34" charset="-120"/>
              </a:rPr>
              <a:t>What is the BEST response?</a:t>
            </a:r>
            <a:endParaRPr lang="en-US" sz="1800" dirty="0"/>
          </a:p>
        </p:txBody>
      </p:sp>
      <p:sp>
        <p:nvSpPr>
          <p:cNvPr id="8" name="Text 5"/>
          <p:cNvSpPr/>
          <p:nvPr/>
        </p:nvSpPr>
        <p:spPr>
          <a:xfrm>
            <a:off x="6720840" y="1828800"/>
            <a:ext cx="4114800" cy="141732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450" b="1" dirty="0">
                <a:solidFill>
                  <a:srgbClr val="243B53"/>
                </a:solidFill>
                <a:latin typeface="Aptos" pitchFamily="34" charset="0"/>
                <a:ea typeface="Aptos" pitchFamily="34" charset="-122"/>
                <a:cs typeface="Aptos" pitchFamily="34" charset="-120"/>
              </a:rPr>
              <a:t>The collaborative reassessment is best because it addresses the concern, preserves the alliance, and uses the client’s feedback to guide the next decision.</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MOST Appropriate Narrows the Fit</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Read FIRST, NEXT, BEST, and MOST Appropriate Questions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9/16</a:t>
            </a:r>
            <a:endParaRPr lang="en-US" sz="750" dirty="0"/>
          </a:p>
        </p:txBody>
      </p:sp>
      <p:sp>
        <p:nvSpPr>
          <p:cNvPr id="7" name="Text 4"/>
          <p:cNvSpPr/>
          <p:nvPr/>
        </p:nvSpPr>
        <p:spPr>
          <a:xfrm>
            <a:off x="960120" y="1463040"/>
            <a:ext cx="4709160" cy="1417320"/>
          </a:xfrm>
          <a:prstGeom prst="rect">
            <a:avLst/>
          </a:prstGeom>
          <a:solidFill>
            <a:srgbClr val="EAF6FA"/>
          </a:solidFill>
          <a:ln>
            <a:solidFill>
              <a:srgbClr val="DCEFF6"/>
            </a:solidFill>
          </a:ln>
        </p:spPr>
        <p:txBody>
          <a:bodyPr wrap="square" lIns="1524" tIns="1524" rIns="1524" bIns="1524" rtlCol="0" anchor="ctr">
            <a:normAutofit/>
          </a:bodyPr>
          <a:lstStyle/>
          <a:p>
            <a:pPr algn="ctr" indent="0" marL="0">
              <a:buNone/>
            </a:pPr>
            <a:r>
              <a:rPr lang="en-US" sz="1700" b="1" dirty="0">
                <a:solidFill>
                  <a:srgbClr val="17365D"/>
                </a:solidFill>
                <a:latin typeface="Aptos" pitchFamily="34" charset="0"/>
                <a:ea typeface="Aptos" pitchFamily="34" charset="-122"/>
                <a:cs typeface="Aptos" pitchFamily="34" charset="-120"/>
              </a:rPr>
              <a:t>MOST Appropriate = Best Fit for These Facts</a:t>
            </a:r>
            <a:endParaRPr lang="en-US" sz="1700" dirty="0"/>
          </a:p>
        </p:txBody>
      </p:sp>
      <p:sp>
        <p:nvSpPr>
          <p:cNvPr id="8" name="Text 5"/>
          <p:cNvSpPr/>
          <p:nvPr/>
        </p:nvSpPr>
        <p:spPr>
          <a:xfrm>
            <a:off x="6537960" y="1463040"/>
            <a:ext cx="4709160" cy="141732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700" b="1" dirty="0">
                <a:solidFill>
                  <a:srgbClr val="17365D"/>
                </a:solidFill>
                <a:latin typeface="Aptos" pitchFamily="34" charset="0"/>
                <a:ea typeface="Aptos" pitchFamily="34" charset="-122"/>
                <a:cs typeface="Aptos" pitchFamily="34" charset="-120"/>
              </a:rPr>
              <a:t>Reasoning Focus</a:t>
            </a:r>
            <a:endParaRPr lang="en-US" sz="1700" dirty="0"/>
          </a:p>
        </p:txBody>
      </p:sp>
      <p:sp>
        <p:nvSpPr>
          <p:cNvPr id="9" name="Text 6"/>
          <p:cNvSpPr/>
          <p:nvPr/>
        </p:nvSpPr>
        <p:spPr>
          <a:xfrm>
            <a:off x="1828800" y="3977640"/>
            <a:ext cx="8549640" cy="82296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450" b="1" dirty="0">
                <a:solidFill>
                  <a:srgbClr val="243B53"/>
                </a:solidFill>
                <a:latin typeface="Aptos" pitchFamily="34" charset="0"/>
                <a:ea typeface="Aptos" pitchFamily="34" charset="-122"/>
                <a:cs typeface="Aptos" pitchFamily="34" charset="-120"/>
              </a:rPr>
              <a:t>Extreme or overly broad answers are often less appropriate than a focused response.</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Separate Assessment from Intervention</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Read FIRST, NEXT, BEST, and MOST Appropriate Questions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10/16</a:t>
            </a:r>
            <a:endParaRPr lang="en-US" sz="750" dirty="0"/>
          </a:p>
        </p:txBody>
      </p:sp>
      <p:sp>
        <p:nvSpPr>
          <p:cNvPr id="7" name="Text 4"/>
          <p:cNvSpPr/>
          <p:nvPr/>
        </p:nvSpPr>
        <p:spPr>
          <a:xfrm>
            <a:off x="1051560" y="1298448"/>
            <a:ext cx="5394960" cy="3154680"/>
          </a:xfrm>
          <a:prstGeom prst="rect">
            <a:avLst/>
          </a:prstGeom>
          <a:noFill/>
          <a:ln/>
        </p:spPr>
        <p:txBody>
          <a:bodyPr wrap="square" lIns="1270" tIns="1270" rIns="1270" bIns="1270" rtlCol="0" anchor="ctr">
            <a:normAutofit/>
          </a:bodyPr>
          <a:lstStyle/>
          <a:p>
            <a:r>
              <a:rPr lang="en-US" sz="1800" dirty="0">
                <a:solidFill>
                  <a:srgbClr val="243B53"/>
                </a:solidFill>
                <a:latin typeface="Aptos" pitchFamily="34" charset="0"/>
                <a:ea typeface="Aptos" pitchFamily="34" charset="-122"/>
                <a:cs typeface="Aptos" pitchFamily="34" charset="-120"/>
              </a:rPr>
              <a:t>Assessment asks: What is happening?</a:t>
            </a:r>
            <a:endParaRPr lang="en-US" sz="1800" dirty="0"/>
          </a:p>
          <a:p>
            <a:r>
              <a:rPr lang="en-US" sz="1800" dirty="0">
                <a:solidFill>
                  <a:srgbClr val="243B53"/>
                </a:solidFill>
                <a:latin typeface="Aptos" pitchFamily="34" charset="0"/>
                <a:ea typeface="Aptos" pitchFamily="34" charset="-122"/>
                <a:cs typeface="Aptos" pitchFamily="34" charset="-120"/>
              </a:rPr>
              <a:t>Intervention asks: What should we do?</a:t>
            </a:r>
            <a:endParaRPr lang="en-US" sz="1800" dirty="0"/>
          </a:p>
        </p:txBody>
      </p:sp>
      <p:sp>
        <p:nvSpPr>
          <p:cNvPr id="8" name="Text 5"/>
          <p:cNvSpPr/>
          <p:nvPr/>
        </p:nvSpPr>
        <p:spPr>
          <a:xfrm>
            <a:off x="6720840" y="1828800"/>
            <a:ext cx="4114800" cy="141732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450" b="1" dirty="0">
                <a:solidFill>
                  <a:srgbClr val="243B53"/>
                </a:solidFill>
                <a:latin typeface="Aptos" pitchFamily="34" charset="0"/>
                <a:ea typeface="Aptos" pitchFamily="34" charset="-122"/>
                <a:cs typeface="Aptos" pitchFamily="34" charset="-120"/>
              </a:rPr>
              <a:t>Use the stem to determine which stage you are in.</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Watch for Plausible but Premature Answers</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Read FIRST, NEXT, BEST, and MOST Appropriate Questions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11/16</a:t>
            </a:r>
            <a:endParaRPr lang="en-US" sz="750" dirty="0"/>
          </a:p>
        </p:txBody>
      </p:sp>
      <p:sp>
        <p:nvSpPr>
          <p:cNvPr id="7" name="Text 4"/>
          <p:cNvSpPr/>
          <p:nvPr/>
        </p:nvSpPr>
        <p:spPr>
          <a:xfrm>
            <a:off x="960120" y="1508760"/>
            <a:ext cx="10287000" cy="1143000"/>
          </a:xfrm>
          <a:prstGeom prst="rect">
            <a:avLst/>
          </a:prstGeom>
          <a:solidFill>
            <a:srgbClr val="EAF6FA"/>
          </a:solidFill>
          <a:ln>
            <a:solidFill>
              <a:srgbClr val="DCEFF6"/>
            </a:solidFill>
          </a:ln>
        </p:spPr>
        <p:txBody>
          <a:bodyPr wrap="square" lIns="1016" tIns="1016" rIns="1016" bIns="1016" rtlCol="0" anchor="ctr">
            <a:normAutofit/>
          </a:bodyPr>
          <a:lstStyle/>
          <a:p>
            <a:pPr algn="ctr" indent="0" marL="0">
              <a:buNone/>
            </a:pPr>
            <a:r>
              <a:rPr lang="en-US" sz="2800" b="1" dirty="0">
                <a:solidFill>
                  <a:srgbClr val="17365D"/>
                </a:solidFill>
                <a:latin typeface="Aptos Display" pitchFamily="34" charset="0"/>
                <a:ea typeface="Aptos Display" pitchFamily="34" charset="-122"/>
                <a:cs typeface="Aptos Display" pitchFamily="34" charset="-120"/>
              </a:rPr>
              <a:t>Clinically Reasonable Does Not Always Mean Correct Now</a:t>
            </a:r>
            <a:endParaRPr lang="en-US" sz="2800" dirty="0"/>
          </a:p>
        </p:txBody>
      </p:sp>
      <p:sp>
        <p:nvSpPr>
          <p:cNvPr id="8" name="Text 5"/>
          <p:cNvSpPr/>
          <p:nvPr/>
        </p:nvSpPr>
        <p:spPr>
          <a:xfrm>
            <a:off x="1828800" y="3794760"/>
            <a:ext cx="8549640" cy="86868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450" b="1" dirty="0">
                <a:solidFill>
                  <a:srgbClr val="243B53"/>
                </a:solidFill>
                <a:latin typeface="Aptos" pitchFamily="34" charset="0"/>
                <a:ea typeface="Aptos" pitchFamily="34" charset="-122"/>
                <a:cs typeface="Aptos" pitchFamily="34" charset="-120"/>
              </a:rPr>
              <a:t>If not, the answer may be clinically reasonable but premature.</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Do Not Add Facts</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Read FIRST, NEXT, BEST, and MOST Appropriate Questions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12/16</a:t>
            </a:r>
            <a:endParaRPr lang="en-US" sz="750" dirty="0"/>
          </a:p>
        </p:txBody>
      </p:sp>
      <p:sp>
        <p:nvSpPr>
          <p:cNvPr id="7" name="Text 4"/>
          <p:cNvSpPr/>
          <p:nvPr/>
        </p:nvSpPr>
        <p:spPr>
          <a:xfrm>
            <a:off x="1325880" y="1508760"/>
            <a:ext cx="9509760" cy="1143000"/>
          </a:xfrm>
          <a:prstGeom prst="rect">
            <a:avLst/>
          </a:prstGeom>
          <a:solidFill>
            <a:srgbClr val="EAF6FA"/>
          </a:solidFill>
          <a:ln>
            <a:solidFill>
              <a:srgbClr val="DCEFF6"/>
            </a:solidFill>
          </a:ln>
        </p:spPr>
        <p:txBody>
          <a:bodyPr wrap="square" lIns="1524" tIns="1524" rIns="1524" bIns="1524" rtlCol="0" anchor="ctr">
            <a:normAutofit/>
          </a:bodyPr>
          <a:lstStyle/>
          <a:p>
            <a:pPr algn="ctr" indent="0" marL="0">
              <a:buNone/>
            </a:pPr>
            <a:r>
              <a:rPr lang="en-US" sz="2000" b="1" dirty="0">
                <a:solidFill>
                  <a:srgbClr val="17365D"/>
                </a:solidFill>
                <a:latin typeface="Aptos" pitchFamily="34" charset="0"/>
                <a:ea typeface="Aptos" pitchFamily="34" charset="-122"/>
                <a:cs typeface="Aptos" pitchFamily="34" charset="-120"/>
              </a:rPr>
              <a:t>Use the Facts Given—Not the Facts You Fear</a:t>
            </a:r>
            <a:endParaRPr lang="en-US" sz="2000" dirty="0"/>
          </a:p>
        </p:txBody>
      </p:sp>
      <p:sp>
        <p:nvSpPr>
          <p:cNvPr id="8" name="Text 5"/>
          <p:cNvSpPr/>
          <p:nvPr/>
        </p:nvSpPr>
        <p:spPr>
          <a:xfrm>
            <a:off x="1828800" y="3840480"/>
            <a:ext cx="8549640" cy="86868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450" b="1" dirty="0">
                <a:solidFill>
                  <a:srgbClr val="243B53"/>
                </a:solidFill>
                <a:latin typeface="Aptos" pitchFamily="34" charset="0"/>
                <a:ea typeface="Aptos" pitchFamily="34" charset="-122"/>
                <a:cs typeface="Aptos" pitchFamily="34" charset="-120"/>
              </a:rPr>
              <a:t>Do not escalate, diagnose, or assume incapacity without support in the scenario.</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The Four-Step Decision Routine</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Read FIRST, NEXT, BEST, and MOST Appropriate Questions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13/16</a:t>
            </a:r>
            <a:endParaRPr lang="en-US" sz="750" dirty="0"/>
          </a:p>
        </p:txBody>
      </p:sp>
      <p:sp>
        <p:nvSpPr>
          <p:cNvPr id="7" name="Text 4"/>
          <p:cNvSpPr/>
          <p:nvPr/>
        </p:nvSpPr>
        <p:spPr>
          <a:xfrm>
            <a:off x="1051560" y="1298448"/>
            <a:ext cx="5394960" cy="3154680"/>
          </a:xfrm>
          <a:prstGeom prst="rect">
            <a:avLst/>
          </a:prstGeom>
          <a:noFill/>
          <a:ln/>
        </p:spPr>
        <p:txBody>
          <a:bodyPr wrap="square" lIns="1270" tIns="1270" rIns="1270" bIns="1270" rtlCol="0" anchor="ctr">
            <a:normAutofit/>
          </a:bodyPr>
          <a:lstStyle/>
          <a:p>
            <a:r>
              <a:rPr lang="en-US" sz="1800" dirty="0">
                <a:solidFill>
                  <a:srgbClr val="243B53"/>
                </a:solidFill>
                <a:latin typeface="Aptos" pitchFamily="34" charset="0"/>
                <a:ea typeface="Aptos" pitchFamily="34" charset="-122"/>
                <a:cs typeface="Aptos" pitchFamily="34" charset="-120"/>
              </a:rPr>
              <a:t>Circle the task word</a:t>
            </a:r>
            <a:endParaRPr lang="en-US" sz="1800" dirty="0"/>
          </a:p>
          <a:p>
            <a:r>
              <a:rPr lang="en-US" sz="1800" dirty="0">
                <a:solidFill>
                  <a:srgbClr val="243B53"/>
                </a:solidFill>
                <a:latin typeface="Aptos" pitchFamily="34" charset="0"/>
                <a:ea typeface="Aptos" pitchFamily="34" charset="-122"/>
                <a:cs typeface="Aptos" pitchFamily="34" charset="-120"/>
              </a:rPr>
              <a:t>Name the stage</a:t>
            </a:r>
            <a:endParaRPr lang="en-US" sz="1800" dirty="0"/>
          </a:p>
          <a:p>
            <a:r>
              <a:rPr lang="en-US" sz="1800" dirty="0">
                <a:solidFill>
                  <a:srgbClr val="243B53"/>
                </a:solidFill>
                <a:latin typeface="Aptos" pitchFamily="34" charset="0"/>
                <a:ea typeface="Aptos" pitchFamily="34" charset="-122"/>
                <a:cs typeface="Aptos" pitchFamily="34" charset="-120"/>
              </a:rPr>
              <a:t>Eliminate mistimed options</a:t>
            </a:r>
            <a:endParaRPr lang="en-US" sz="1800" dirty="0"/>
          </a:p>
          <a:p>
            <a:r>
              <a:rPr lang="en-US" sz="1800" dirty="0">
                <a:solidFill>
                  <a:srgbClr val="243B53"/>
                </a:solidFill>
                <a:latin typeface="Aptos" pitchFamily="34" charset="0"/>
                <a:ea typeface="Aptos" pitchFamily="34" charset="-122"/>
                <a:cs typeface="Aptos" pitchFamily="34" charset="-120"/>
              </a:rPr>
              <a:t>Choose the best fit</a:t>
            </a:r>
            <a:endParaRPr lang="en-US" sz="1800" dirty="0"/>
          </a:p>
        </p:txBody>
      </p:sp>
      <p:sp>
        <p:nvSpPr>
          <p:cNvPr id="8" name="Text 5"/>
          <p:cNvSpPr/>
          <p:nvPr/>
        </p:nvSpPr>
        <p:spPr>
          <a:xfrm>
            <a:off x="6720840" y="1828800"/>
            <a:ext cx="4114800" cy="141732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450" b="1" dirty="0">
                <a:solidFill>
                  <a:srgbClr val="243B53"/>
                </a:solidFill>
                <a:latin typeface="Aptos" pitchFamily="34" charset="0"/>
                <a:ea typeface="Aptos" pitchFamily="34" charset="-122"/>
                <a:cs typeface="Aptos" pitchFamily="34" charset="-120"/>
              </a:rPr>
              <a:t>With practice, this routine becomes quick enough to use throughout the exam.</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Practice the Language Out Loud</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Read FIRST, NEXT, BEST, and MOST Appropriate Questions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14/16</a:t>
            </a:r>
            <a:endParaRPr lang="en-US" sz="750" dirty="0"/>
          </a:p>
        </p:txBody>
      </p:sp>
      <p:sp>
        <p:nvSpPr>
          <p:cNvPr id="7" name="Text 4"/>
          <p:cNvSpPr/>
          <p:nvPr/>
        </p:nvSpPr>
        <p:spPr>
          <a:xfrm>
            <a:off x="685800" y="2057400"/>
            <a:ext cx="10835640" cy="91440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320" b="1" dirty="0">
                <a:solidFill>
                  <a:srgbClr val="17365D"/>
                </a:solidFill>
                <a:latin typeface="Aptos" pitchFamily="34" charset="0"/>
                <a:ea typeface="Aptos" pitchFamily="34" charset="-122"/>
                <a:cs typeface="Aptos" pitchFamily="34" charset="-120"/>
              </a:rPr>
              <a:t>1. Verbalize the Sequence</a:t>
            </a:r>
            <a:endParaRPr lang="en-US" sz="1320" dirty="0"/>
          </a:p>
        </p:txBody>
      </p:sp>
      <p:sp>
        <p:nvSpPr>
          <p:cNvPr id="8" name="Text 5"/>
          <p:cNvSpPr/>
          <p:nvPr/>
        </p:nvSpPr>
        <p:spPr>
          <a:xfrm>
            <a:off x="1828800" y="4069080"/>
            <a:ext cx="8549640" cy="77724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350" b="1" dirty="0">
                <a:solidFill>
                  <a:srgbClr val="243B53"/>
                </a:solidFill>
                <a:latin typeface="Aptos" pitchFamily="34" charset="0"/>
                <a:ea typeface="Aptos" pitchFamily="34" charset="-122"/>
                <a:cs typeface="Aptos" pitchFamily="34" charset="-120"/>
              </a:rPr>
              <a:t>Verbalizing the sequence exposes hidden assumptions and helps you learn a decision rule you can repeat on new questions.</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Use the Rule in Every Question Bank</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Read FIRST, NEXT, BEST, and MOST Appropriate Questions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15/16</a:t>
            </a:r>
            <a:endParaRPr lang="en-US" sz="750" dirty="0"/>
          </a:p>
        </p:txBody>
      </p:sp>
      <p:sp>
        <p:nvSpPr>
          <p:cNvPr id="7" name="Text 4"/>
          <p:cNvSpPr/>
          <p:nvPr/>
        </p:nvSpPr>
        <p:spPr>
          <a:xfrm>
            <a:off x="960120" y="1463040"/>
            <a:ext cx="4709160" cy="1417320"/>
          </a:xfrm>
          <a:prstGeom prst="rect">
            <a:avLst/>
          </a:prstGeom>
          <a:solidFill>
            <a:srgbClr val="EAF6FA"/>
          </a:solidFill>
          <a:ln>
            <a:solidFill>
              <a:srgbClr val="DCEFF6"/>
            </a:solidFill>
          </a:ln>
        </p:spPr>
        <p:txBody>
          <a:bodyPr wrap="square" lIns="1524" tIns="1524" rIns="1524" bIns="1524" rtlCol="0" anchor="ctr">
            <a:normAutofit/>
          </a:bodyPr>
          <a:lstStyle/>
          <a:p>
            <a:pPr algn="ctr" indent="0" marL="0">
              <a:buNone/>
            </a:pPr>
            <a:r>
              <a:rPr lang="en-US" sz="1700" b="1" dirty="0">
                <a:solidFill>
                  <a:srgbClr val="17365D"/>
                </a:solidFill>
                <a:latin typeface="Aptos" pitchFamily="34" charset="0"/>
                <a:ea typeface="Aptos" pitchFamily="34" charset="-122"/>
                <a:cs typeface="Aptos" pitchFamily="34" charset="-120"/>
              </a:rPr>
              <a:t>Task Word → Stage → Timing → Best Fit</a:t>
            </a:r>
            <a:endParaRPr lang="en-US" sz="1700" dirty="0"/>
          </a:p>
        </p:txBody>
      </p:sp>
      <p:sp>
        <p:nvSpPr>
          <p:cNvPr id="8" name="Text 5"/>
          <p:cNvSpPr/>
          <p:nvPr/>
        </p:nvSpPr>
        <p:spPr>
          <a:xfrm>
            <a:off x="6537960" y="1463040"/>
            <a:ext cx="4709160" cy="141732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700" b="1" dirty="0">
                <a:solidFill>
                  <a:srgbClr val="17365D"/>
                </a:solidFill>
                <a:latin typeface="Aptos" pitchFamily="34" charset="0"/>
                <a:ea typeface="Aptos" pitchFamily="34" charset="-122"/>
                <a:cs typeface="Aptos" pitchFamily="34" charset="-120"/>
              </a:rPr>
              <a:t>Reasoning Focus</a:t>
            </a:r>
            <a:endParaRPr lang="en-US" sz="1700" dirty="0"/>
          </a:p>
        </p:txBody>
      </p:sp>
      <p:sp>
        <p:nvSpPr>
          <p:cNvPr id="9" name="Text 6"/>
          <p:cNvSpPr/>
          <p:nvPr/>
        </p:nvSpPr>
        <p:spPr>
          <a:xfrm>
            <a:off x="1828800" y="3977640"/>
            <a:ext cx="8549640" cy="82296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450" b="1" dirty="0">
                <a:solidFill>
                  <a:srgbClr val="243B53"/>
                </a:solidFill>
                <a:latin typeface="Aptos" pitchFamily="34" charset="0"/>
                <a:ea typeface="Aptos" pitchFamily="34" charset="-122"/>
                <a:cs typeface="Aptos" pitchFamily="34" charset="-120"/>
              </a:rPr>
              <a:t>The goal is to recognize the same reasoning pattern when the details change.</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Your Next Step</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Read FIRST, NEXT, BEST, and MOST Appropriate Questions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16/16</a:t>
            </a:r>
            <a:endParaRPr lang="en-US" sz="750" dirty="0"/>
          </a:p>
        </p:txBody>
      </p:sp>
      <p:sp>
        <p:nvSpPr>
          <p:cNvPr id="7" name="Text 4"/>
          <p:cNvSpPr/>
          <p:nvPr/>
        </p:nvSpPr>
        <p:spPr>
          <a:xfrm>
            <a:off x="1325880" y="1508760"/>
            <a:ext cx="9509760" cy="1143000"/>
          </a:xfrm>
          <a:prstGeom prst="rect">
            <a:avLst/>
          </a:prstGeom>
          <a:solidFill>
            <a:srgbClr val="EAF6FA"/>
          </a:solidFill>
          <a:ln>
            <a:solidFill>
              <a:srgbClr val="DCEFF6"/>
            </a:solidFill>
          </a:ln>
        </p:spPr>
        <p:txBody>
          <a:bodyPr wrap="square" lIns="1524" tIns="1524" rIns="1524" bIns="1524" rtlCol="0" anchor="ctr">
            <a:normAutofit/>
          </a:bodyPr>
          <a:lstStyle/>
          <a:p>
            <a:pPr algn="ctr" indent="0" marL="0">
              <a:buNone/>
            </a:pPr>
            <a:r>
              <a:rPr lang="en-US" sz="2000" b="1" dirty="0">
                <a:solidFill>
                  <a:srgbClr val="17365D"/>
                </a:solidFill>
                <a:latin typeface="Aptos" pitchFamily="34" charset="0"/>
                <a:ea typeface="Aptos" pitchFamily="34" charset="-122"/>
                <a:cs typeface="Aptos" pitchFamily="34" charset="-120"/>
              </a:rPr>
              <a:t>Next: Use the Four-Step Routine in Practice</a:t>
            </a:r>
            <a:endParaRPr lang="en-US" sz="2000" dirty="0"/>
          </a:p>
        </p:txBody>
      </p:sp>
      <p:sp>
        <p:nvSpPr>
          <p:cNvPr id="8" name="Text 5"/>
          <p:cNvSpPr/>
          <p:nvPr/>
        </p:nvSpPr>
        <p:spPr>
          <a:xfrm>
            <a:off x="1828800" y="3840480"/>
            <a:ext cx="8549640" cy="86868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450" b="1" dirty="0">
                <a:solidFill>
                  <a:srgbClr val="243B53"/>
                </a:solidFill>
                <a:latin typeface="Aptos" pitchFamily="34" charset="0"/>
                <a:ea typeface="Aptos" pitchFamily="34" charset="-122"/>
                <a:cs typeface="Aptos" pitchFamily="34" charset="-120"/>
              </a:rPr>
              <a:t>Use it deliberately now so that it becomes automatic when you take Forms A and B.</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Read FIRST, NEXT, BEST, and MOST Appropriate Questions</dc:title>
  <dc:subject>Shared LMFT &amp; LCSW Multimedia Script 03</dc:subject>
  <dc:creator>Clinical Training Academy</dc:creator>
  <cp:lastModifiedBy>Clinical Training Academy</cp:lastModifiedBy>
  <cp:revision>1</cp:revision>
  <dcterms:created xsi:type="dcterms:W3CDTF">2026-07-25T17:39:52Z</dcterms:created>
  <dcterms:modified xsi:type="dcterms:W3CDTF">2026-07-25T17:39:52Z</dcterms:modified>
</cp:coreProperties>
</file>