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Ethics questions rarely ask whether one value matters. They ask how to act when several values and duties compete. A client may want privacy while safety concerns require assessment. A family may request help while the client has not consented to disclosure. The strongest answer identifies the competing responsibilities, gathers the missing facts, and selects the most proportionate action rather than choosing a slogan or an absolute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by preserving the client’s dignity and participation. Explain the role, the purpose of the service, available choices, foreseeable consequences, and limits that may affect confidentiality or autonomy. Even when services are mandated or options are constrained, the client should understand what is happening and what choices remain. Exam answers that shame, threaten, manipulate, or conceal information usually conflict with ethical social work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Self-determination means clients direct their goals and decisions whenever they can do so safely and with adequate understanding. It does not require the social worker to ignore imminent danger, abuse, exploitation, incapacity, or a clear legal obligation. The exam often rewards answers that first assess the actual risk or decision-making ability instead of assuming that disagreement, unusual choices, or family concern automatically justify overriding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can make a decision the social worker would not choose and still possess decision-making capacity. Capacity is specific to the decision and involves understanding relevant information, appreciating consequences, reasoning about options, and communicating a choice. Do not treat age, diagnosis, disability, substance history, or family disagreement as automatic proof of incapacity. Assess the client’s current ability in context and use supports that improve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several actions could address a concern, choose the least restrictive response that is still effective and safe. Clarification, collaborative planning, skill building, a warm referral, or consultation may resolve the issue without unnecessary control. More intrusive actions become appropriate when the facts show greater danger, incapacity, abuse, or legal duty. The least restrictive principle does not mean doing too little; it means matching the response to the supported level of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Confidentiality supports trust and participation, but it has defined limits. Clarify whether the client has authorized disclosure, whether a legal or safety exception applies, who needs the information, and how much is actually necessary. Avoid broad releases and unnecessary detail. When disclosure is required or justified, share only what serves the specific purpose and document the basis, recipient, content, and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practice requires recognizing the limits of knowledge, authority, and role. A social worker may assess medication effects and coordinate care but should not prescribe or direct dosage changes. A treating clinician should not casually shift into a forensic evaluator role. When the issue exceeds current competence, obtain supervision or consultation, pursue education, or arrange an appropriate referral while protecting continuity and urgent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Conflicts can arise from dual roles, gifts, personal relationships, organizational demands, financial incentives, or pressure from third parties. The exam usually favors recognizing the conflict, clarifying the role, consulting policy or supervision, and protecting the client from exploitation or impaired judgment. A boundary is not ethical merely because the client agrees. Consider power, vulnerability, foreseeable harm, and whether the professional relationship is being used for another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work ethics includes attention to inequity, discrimination, language access, disability access, poverty, transportation, technology, immigration concerns, and other barriers that affect participation. Do not label a client resistant before assessing whether the service is available, understandable, affordable, culturally responsive, and physically accessible. Advocacy should be client-centered and proportionate, beginning with the client’s goals and preferred level of involvement.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ethical answer is not obvious, use a sequence. First clarify the facts and who the client is. Identify the relevant values, laws, policies, and role obligations. Assess risk, urgency, capacity, and possible harm. Generate options and choose the least restrictive effective response. Consult when uncertainty or conflict remains. Then document the reasoning, action, communication, and follow-up. This process is stronger than acting from fear or relying on a single rule without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client’s adult sibling calls and asks whether the client is attending treatment because the family is worried. The social worker should not confirm treatment or provide updates simply because the concern sounds caring. Clarify whether authorization exists, assess whether there is a separate safety issue requiring action, and explain how the family member can share information without receiving confidential information in return. Privacy and safety can both be addressed without unnecessary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an agency pressures a social worker to close a case because service targets have been met, but the client faces an immediate housing loss and has not connected with the referral. The best response is not to ignore agency policy or secretly promise indefinite service. Clarify the client’s risk and goals, review policy and available exceptions, consult a supervisor, advocate for continuity or a safe transition, and document the plan and remaining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distractors promise total confidentiality, override the client without assessing danger or capacity, disclose too much information, contact third parties without consent or authority, or treat consultation as permission to avoid responsibility. Another trap is choosing the most legally dramatic action before clarifying the facts. Strong answers preserve client participation, assess the supported limit, and act proportionately within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selecting an ethics answer, ask: Who is the client? What values and duties are competing? What risk or capacity issue is actually supported? What authority or limit applies? What is the least restrictive effective action? Is consultation needed? What should be documented and followed up? This check keeps ethical reasoning grounded in facts, dignity, safety, and professional responsibility rather than fear or rigid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Applying Social Work Values and Ethics</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LCSW-Specific Multimedia Script 01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Ethics questions rarely ask whether one value matters.</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0E7C86"/>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0E7C86">
                <a:alpha val="75000"/>
              </a:srgbClr>
            </a:solidFill>
            <a:prstDash val="solid"/>
            <a:tailEnd type="triangle"/>
          </a:ln>
        </p:spPr>
      </p:sp>
      <p:sp>
        <p:nvSpPr>
          <p:cNvPr id="15" name="Text 13"/>
          <p:cNvSpPr/>
          <p:nvPr/>
        </p:nvSpPr>
        <p:spPr>
          <a:xfrm>
            <a:off x="804672" y="3273552"/>
            <a:ext cx="1075334"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compass labeled dignity</a:t>
            </a:r>
            <a:endParaRPr lang="en-US" sz="1180" dirty="0"/>
          </a:p>
        </p:txBody>
      </p:sp>
      <p:sp>
        <p:nvSpPr>
          <p:cNvPr id="16" name="Text 14"/>
          <p:cNvSpPr/>
          <p:nvPr/>
        </p:nvSpPr>
        <p:spPr>
          <a:xfrm>
            <a:off x="2090318" y="3273552"/>
            <a:ext cx="1075334"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self determination</a:t>
            </a:r>
            <a:endParaRPr lang="en-US" sz="1180" dirty="0"/>
          </a:p>
        </p:txBody>
      </p:sp>
      <p:sp>
        <p:nvSpPr>
          <p:cNvPr id="17" name="Text 15"/>
          <p:cNvSpPr/>
          <p:nvPr/>
        </p:nvSpPr>
        <p:spPr>
          <a:xfrm>
            <a:off x="3375965" y="3273552"/>
            <a:ext cx="1075334"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service</a:t>
            </a:r>
            <a:endParaRPr lang="en-US" sz="1180" dirty="0"/>
          </a:p>
        </p:txBody>
      </p:sp>
      <p:sp>
        <p:nvSpPr>
          <p:cNvPr id="18" name="Text 16"/>
          <p:cNvSpPr/>
          <p:nvPr/>
        </p:nvSpPr>
        <p:spPr>
          <a:xfrm>
            <a:off x="4661611" y="3273552"/>
            <a:ext cx="1075334"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integrity</a:t>
            </a:r>
            <a:endParaRPr lang="en-US" sz="1180" dirty="0"/>
          </a:p>
        </p:txBody>
      </p:sp>
      <p:sp>
        <p:nvSpPr>
          <p:cNvPr id="19" name="Text 17"/>
          <p:cNvSpPr/>
          <p:nvPr/>
        </p:nvSpPr>
        <p:spPr>
          <a:xfrm>
            <a:off x="5947258" y="3273552"/>
            <a:ext cx="1075334"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competence</a:t>
            </a:r>
            <a:endParaRPr lang="en-US" sz="1180" dirty="0"/>
          </a:p>
        </p:txBody>
      </p:sp>
      <p:sp>
        <p:nvSpPr>
          <p:cNvPr id="20" name="Text 18"/>
          <p:cNvSpPr/>
          <p:nvPr/>
        </p:nvSpPr>
        <p:spPr>
          <a:xfrm>
            <a:off x="7635240" y="3364992"/>
            <a:ext cx="1687068" cy="758952"/>
          </a:xfrm>
          <a:prstGeom prst="rect">
            <a:avLst/>
          </a:prstGeom>
          <a:solidFill>
            <a:srgbClr val="E5F3F4"/>
          </a:solidFill>
          <a:ln w="10160">
            <a:solidFill>
              <a:srgbClr val="D9E0E8"/>
            </a:solidFill>
          </a:ln>
        </p:spPr>
        <p:txBody>
          <a:bodyPr wrap="square" lIns="1270" tIns="1270" rIns="1270" bIns="1270" rtlCol="0" anchor="ctr">
            <a:normAutofit/>
          </a:bodyPr>
          <a:lstStyle/>
          <a:p>
            <a:pPr indent="0" marL="0">
              <a:buNone/>
            </a:pPr>
            <a:r>
              <a:rPr lang="en-US" sz="1400" b="1" dirty="0">
                <a:solidFill>
                  <a:srgbClr val="0E7C86"/>
                </a:solidFill>
                <a:latin typeface="Aptos" pitchFamily="34" charset="0"/>
                <a:ea typeface="Aptos" pitchFamily="34" charset="-122"/>
                <a:cs typeface="Aptos" pitchFamily="34" charset="-120"/>
              </a:rPr>
              <a:t>compass labeled dignity</a:t>
            </a:r>
            <a:endParaRPr lang="en-US" sz="1400" dirty="0"/>
          </a:p>
        </p:txBody>
      </p:sp>
      <p:sp>
        <p:nvSpPr>
          <p:cNvPr id="21" name="Text 19"/>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self determination</a:t>
            </a:r>
            <a:endParaRPr lang="en-US" sz="1400" dirty="0"/>
          </a:p>
        </p:txBody>
      </p:sp>
      <p:sp>
        <p:nvSpPr>
          <p:cNvPr id="22" name="Text 20"/>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service</a:t>
            </a:r>
            <a:endParaRPr lang="en-US" sz="1400" dirty="0"/>
          </a:p>
        </p:txBody>
      </p:sp>
      <p:sp>
        <p:nvSpPr>
          <p:cNvPr id="23" name="Text 21"/>
          <p:cNvSpPr/>
          <p:nvPr/>
        </p:nvSpPr>
        <p:spPr>
          <a:xfrm>
            <a:off x="939546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integrity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Start With Dignity and Client Participation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Begin by preserving the client’s dignity and participation.</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client</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social worker reviewing…</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with the client voice centered.</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client</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Explain the role, the purpose of the service, available choices, foreseeable consequences,…</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Exam answers that shame, threaten, manipulate, or conceal information usually conflict with…</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Respect • Explain • Invite Participation</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Exam answers that shame, threaten, manipulate, or conceal information usually conflict with ethical social work practice.</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Self-Determination Is Strong but Not Unlimited</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Self-determination means clients direct their goals and decisions whenever they can do so safely and with adequate understanding.</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balance scale with client…</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immediate safety</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legal duty on the other.</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balance scale with client…</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does not require the social worker to ignore imminent danger, abuse, exploitation,…</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often rewards answers that first assess the actual risk or decision-making ability…</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Honor Choice Until a Supported Limit Applies</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exam often rewards answers that first assess the actual risk or decision-making ability instead of assuming that disagreement, unusual…</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Separate Capacity From Agreement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client can make a decision the social worker would not choose and still possess decision-making capacity.</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Two columns</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“Understands</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Chooses” versus “Agrees With…</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Two columns</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Capacity is specific to the decision and involves understanding relevant information,…</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Assess the client’s current ability in context and use supports that improve understanding.</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Different Choice Is Not Proof of Incapacity</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Assess the client’s current ability in context and use supports that improve understanding.</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Least Restrictive Effective Response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several actions could address a concern, choose the least restrictive response that is still effective and safe.</a:t>
            </a:r>
            <a:endParaRPr lang="en-US" sz="2120" dirty="0"/>
          </a:p>
        </p:txBody>
      </p:sp>
      <p:sp>
        <p:nvSpPr>
          <p:cNvPr id="11" name="Text 9"/>
          <p:cNvSpPr/>
          <p:nvPr/>
        </p:nvSpPr>
        <p:spPr>
          <a:xfrm>
            <a:off x="6629400" y="1901952"/>
            <a:ext cx="3931920" cy="475488"/>
          </a:xfrm>
          <a:prstGeom prst="rect">
            <a:avLst/>
          </a:prstGeom>
          <a:solidFill>
            <a:srgbClr val="E5F3F4"/>
          </a:solidFill>
          <a:ln w="15240">
            <a:solidFill>
              <a:srgbClr val="0E7C86">
                <a:alpha val="82000"/>
              </a:srgbClr>
            </a:solidFill>
          </a:ln>
        </p:spPr>
        <p:txBody>
          <a:bodyPr wrap="square" lIns="508" tIns="508" rIns="508" bIns="508" rtlCol="0" anchor="ctr">
            <a:normAutofit/>
          </a:bodyPr>
          <a:lstStyle/>
          <a:p>
            <a:pPr indent="0" marL="0">
              <a:buNone/>
            </a:pPr>
            <a:r>
              <a:rPr lang="en-US" sz="1320" b="1" dirty="0">
                <a:solidFill>
                  <a:srgbClr val="0E7C86"/>
                </a:solidFill>
                <a:latin typeface="Aptos" pitchFamily="34" charset="0"/>
                <a:ea typeface="Aptos" pitchFamily="34" charset="-122"/>
                <a:cs typeface="Aptos" pitchFamily="34" charset="-120"/>
              </a:rPr>
              <a:t>Clarify</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Sequence</a:t>
            </a:r>
            <a:endParaRPr lang="en-US" sz="1320" dirty="0"/>
          </a:p>
        </p:txBody>
      </p:sp>
      <p:sp>
        <p:nvSpPr>
          <p:cNvPr id="13" name="Text 11"/>
          <p:cNvSpPr/>
          <p:nvPr/>
        </p:nvSpPr>
        <p:spPr>
          <a:xfrm>
            <a:off x="6629400" y="3218688"/>
            <a:ext cx="3931920" cy="475488"/>
          </a:xfrm>
          <a:prstGeom prst="rect">
            <a:avLst/>
          </a:prstGeom>
          <a:solidFill>
            <a:srgbClr val="E5F3F4"/>
          </a:solidFill>
          <a:ln w="9525">
            <a:solidFill>
              <a:srgbClr val="0E7C8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Choose</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Clarification, collaborative planning, skill building, a warm referral, or consultation may…</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least restrictive principle does not mean doing too little; it means matching the…</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Start With the Smallest Effective Step</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least restrictive principle does not mean doing too little; it means matching the response to the supported level of need.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Protect Privacy and Use Minimum Necessary Disclosure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Confidentiality supports trust and participation, but it has defined limits.</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whether the client has authorized disclosure, whether a legal or safety exception…</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When disclosure is required or justified, share only what serves the specific purpose and…</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Consent When Possible • Minimum Necessary When Required</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When disclosure is required or justified, share only what serves the specific purpose and document the basis, recipient, content, and follow-up.</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Practice Within Competence and Role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Ethical practice requires recognizing the limits of knowledge, authority, and role.</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professional scope circle…</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consultation</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referral</a:t>
            </a:r>
            <a:endParaRPr lang="en-US" sz="1180" dirty="0"/>
          </a:p>
        </p:txBody>
      </p:sp>
      <p:sp>
        <p:nvSpPr>
          <p:cNvPr id="15" name="Text 13"/>
          <p:cNvSpPr/>
          <p:nvPr/>
        </p:nvSpPr>
        <p:spPr>
          <a:xfrm>
            <a:off x="9884664" y="2148840"/>
            <a:ext cx="950976"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continuing education.</a:t>
            </a:r>
            <a:endParaRPr lang="en-US" sz="1180" dirty="0"/>
          </a:p>
        </p:txBody>
      </p:sp>
      <p:sp>
        <p:nvSpPr>
          <p:cNvPr id="16" name="Text 14"/>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professional scope circle…</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social worker may assess medication effects and coordinate care but should not prescribe or…</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When the issue exceeds current competence, obtain supervision or consultation, pursue…</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Know the Role • Get Support • Refer When Needed</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When the issue exceeds current competence, obtain supervision or consultation, pursue education, or arrange an appropriate referral while…</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Address Conflicts of Interest and Boundaries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Conflicts can arise from dual roles, gifts, personal relationships, organizational demands, financial incentives, or pressure from third parties.</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Overlapping circles labeled…</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agency pressure</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client welfare with a boundary…</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Overlapping circles labeled…</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usually favors recognizing the conflict, clarifying the role, consulting policy or…</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Consider power, vulnerability, foreseeable harm, and whether the professional relationship is…</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Client Welfare Must Not Be Distorted by Competing Interests</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Consider power, vulnerability, foreseeable harm, and whether the professional relationship is being used for another purpose.</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Integrate Social Justice and Access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Social work ethics includes attention to inequity, discrimination, language access, disability access, poverty, transportation, technology,…</a:t>
            </a:r>
            <a:endParaRPr lang="en-US" sz="2120" dirty="0"/>
          </a:p>
        </p:txBody>
      </p:sp>
      <p:sp>
        <p:nvSpPr>
          <p:cNvPr id="11" name="Text 9"/>
          <p:cNvSpPr/>
          <p:nvPr/>
        </p:nvSpPr>
        <p:spPr>
          <a:xfrm>
            <a:off x="6629400" y="1901952"/>
            <a:ext cx="3931920" cy="475488"/>
          </a:xfrm>
          <a:prstGeom prst="rect">
            <a:avLst/>
          </a:prstGeom>
          <a:solidFill>
            <a:srgbClr val="E5F3F4"/>
          </a:solidFill>
          <a:ln w="15240">
            <a:solidFill>
              <a:srgbClr val="0E7C86">
                <a:alpha val="82000"/>
              </a:srgbClr>
            </a:solidFill>
          </a:ln>
        </p:spPr>
        <p:txBody>
          <a:bodyPr wrap="square" lIns="508" tIns="508" rIns="508" bIns="508" rtlCol="0" anchor="ctr">
            <a:normAutofit/>
          </a:bodyPr>
          <a:lstStyle/>
          <a:p>
            <a:pPr indent="0" marL="0">
              <a:buNone/>
            </a:pPr>
            <a:r>
              <a:rPr lang="en-US" sz="1320" b="1" dirty="0">
                <a:solidFill>
                  <a:srgbClr val="0E7C86"/>
                </a:solidFill>
                <a:latin typeface="Aptos" pitchFamily="34" charset="0"/>
                <a:ea typeface="Aptos" pitchFamily="34" charset="-122"/>
                <a:cs typeface="Aptos" pitchFamily="34" charset="-120"/>
              </a:rPr>
              <a:t>Barriers such as language</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disability</a:t>
            </a:r>
            <a:endParaRPr lang="en-US" sz="1320" dirty="0"/>
          </a:p>
        </p:txBody>
      </p:sp>
      <p:sp>
        <p:nvSpPr>
          <p:cNvPr id="13" name="Text 11"/>
          <p:cNvSpPr/>
          <p:nvPr/>
        </p:nvSpPr>
        <p:spPr>
          <a:xfrm>
            <a:off x="6629400" y="3218688"/>
            <a:ext cx="3931920" cy="475488"/>
          </a:xfrm>
          <a:prstGeom prst="rect">
            <a:avLst/>
          </a:prstGeom>
          <a:solidFill>
            <a:srgbClr val="E5F3F4"/>
          </a:solidFill>
          <a:ln w="9525">
            <a:solidFill>
              <a:srgbClr val="0E7C8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transportation</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cost</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label a client resistant before assessing whether the service is available,…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Advocacy should be client-centered and proportionate, beginning with the client’s goals and…</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Ethics Includes Fair Access and System Barriers</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Advocacy should be client-centered and proportionate, beginning with the client’s goals and preferred level of involvement.</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Ethical Decision-Making in Order</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the ethical answer is not obvious, use a sequence.</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six step path</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facts</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duties</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risk</a:t>
            </a:r>
            <a:endParaRPr lang="en-US" sz="1180" dirty="0"/>
          </a:p>
        </p:txBody>
      </p:sp>
      <p:sp>
        <p:nvSpPr>
          <p:cNvPr id="16" name="Text 14"/>
          <p:cNvSpPr/>
          <p:nvPr/>
        </p:nvSpPr>
        <p:spPr>
          <a:xfrm>
            <a:off x="10116922" y="2148840"/>
            <a:ext cx="718718"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options</a:t>
            </a:r>
            <a:endParaRPr lang="en-US" sz="1180" dirty="0"/>
          </a:p>
        </p:txBody>
      </p:sp>
      <p:sp>
        <p:nvSpPr>
          <p:cNvPr id="17" name="Text 15"/>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six step path</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clarify the facts and who the client is.</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process is stronger than acting from fear or relying on a single rule without context.</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Facts → Duties → Risk → Options → Consultation → Document</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process is stronger than acting from fear or relying on a single rule without context.</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Family Requests Information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client’s adult sibling calls and asks whether the client is attending treatment because the family is worried.</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social worker should not confirm treatment or provide updates simply because the concern…</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Privacy and safety can both be addressed without unnecessary disclosure.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Confirm or Disclose Before Clarifying Authority</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Privacy and safety can both be addressed without unnecessary disclosure.</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Agency Pressure Conflicts With Client Need</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Suppose an agency pressures a social worker to close a case because service targets have been met, but the client faces an immediate housing loss…</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best response is not to ignore agency policy or secretly promise indefinite service.</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the client’s risk and goals, review policy and available exceptions, consult a…</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Recognize the Conflict and Protect Client Welfare</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Clarify the client’s risk and goals, review policy and available exceptions, consult a supervisor, advocate for continuity or a safe…</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Ethics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Common distractors promise total confidentiality, override the client without assessing danger or capacity, disclose too much information, contact…</a:t>
            </a:r>
            <a:endParaRPr lang="en-US" sz="2120" dirty="0"/>
          </a:p>
        </p:txBody>
      </p:sp>
      <p:sp>
        <p:nvSpPr>
          <p:cNvPr id="11" name="Text 9"/>
          <p:cNvSpPr/>
          <p:nvPr/>
        </p:nvSpPr>
        <p:spPr>
          <a:xfrm>
            <a:off x="6446520" y="1874520"/>
            <a:ext cx="2098548" cy="1092708"/>
          </a:xfrm>
          <a:prstGeom prst="rect">
            <a:avLst/>
          </a:prstGeom>
          <a:solidFill>
            <a:srgbClr val="E5F3F4"/>
          </a:solidFill>
          <a:ln w="10160">
            <a:solidFill>
              <a:srgbClr val="D9E0E8"/>
            </a:solidFill>
          </a:ln>
        </p:spPr>
        <p:txBody>
          <a:bodyPr wrap="square" lIns="1270" tIns="1270" rIns="1270" bIns="1270" rtlCol="0" anchor="ctr">
            <a:normAutofit/>
          </a:bodyPr>
          <a:lstStyle/>
          <a:p>
            <a:pPr indent="0" marL="0">
              <a:buNone/>
            </a:pPr>
            <a:r>
              <a:rPr lang="en-US" sz="1400" b="1" dirty="0">
                <a:solidFill>
                  <a:srgbClr val="0E7C86"/>
                </a:solidFill>
                <a:latin typeface="Aptos" pitchFamily="34" charset="0"/>
                <a:ea typeface="Aptos" pitchFamily="34" charset="-122"/>
                <a:cs typeface="Aptos" pitchFamily="34" charset="-120"/>
              </a:rPr>
              <a:t>Avoid Absolutes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Assumptions</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Unnecessary Control</a:t>
            </a:r>
            <a:endParaRPr lang="en-US" sz="140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Another trap is choosing the most legally dramatic action before clarifying the facts.</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Strong answers preserve client participation, assess the supported limit, and act…</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Avoid Absolutes, Assumptions, and Unnecessary Control</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Strong answers preserve client participation, assess the supported limit, and act proportionately within role.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VALUES + ETHICS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01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Exam Ethics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selecting an ethics answer, ask: Who is the client?</a:t>
            </a:r>
            <a:endParaRPr lang="en-US" sz="2120" dirty="0"/>
          </a:p>
        </p:txBody>
      </p:sp>
      <p:sp>
        <p:nvSpPr>
          <p:cNvPr id="11" name="Text 9"/>
          <p:cNvSpPr/>
          <p:nvPr/>
        </p:nvSpPr>
        <p:spPr>
          <a:xfrm>
            <a:off x="6446520" y="1874520"/>
            <a:ext cx="2098548" cy="1092708"/>
          </a:xfrm>
          <a:prstGeom prst="rect">
            <a:avLst/>
          </a:prstGeom>
          <a:solidFill>
            <a:srgbClr val="E5F3F4"/>
          </a:solidFill>
          <a:ln w="10160">
            <a:solidFill>
              <a:srgbClr val="D9E0E8"/>
            </a:solidFill>
          </a:ln>
        </p:spPr>
        <p:txBody>
          <a:bodyPr wrap="square" lIns="1270" tIns="1270" rIns="1270" bIns="1270" rtlCol="0" anchor="ctr">
            <a:normAutofit/>
          </a:bodyPr>
          <a:lstStyle/>
          <a:p>
            <a:pPr indent="0" marL="0">
              <a:buNone/>
            </a:pPr>
            <a:r>
              <a:rPr lang="en-US" sz="1400" b="1" dirty="0">
                <a:solidFill>
                  <a:srgbClr val="0E7C86"/>
                </a:solidFill>
                <a:latin typeface="Aptos" pitchFamily="34" charset="0"/>
                <a:ea typeface="Aptos" pitchFamily="34" charset="-122"/>
                <a:cs typeface="Aptos" pitchFamily="34" charset="-120"/>
              </a:rPr>
              <a:t>compact checklist</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client</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values</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risk</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values and duties are competing?</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check keeps ethical reasoning grounded in facts, dignity, safety, and professional…</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Client • Values • Risk • Authority • Proportion • Record</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check keeps ethical reasoning grounded in facts, dignity, safety, and professional responsibility rather than fear or rigid rules.</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Multimedia Script 01: Applying Social Work Values and Ethics</dc:title>
  <dc:subject>LCSW-Specific Multimedia Script 01</dc:subject>
  <dc:creator>Clinical Training Academy</dc:creator>
  <cp:lastModifiedBy>Clinical Training Academy</cp:lastModifiedBy>
  <cp:revision>1</cp:revision>
  <dcterms:created xsi:type="dcterms:W3CDTF">2026-07-25T20:56:15Z</dcterms:created>
  <dcterms:modified xsi:type="dcterms:W3CDTF">2026-07-25T20:56:15Z</dcterms:modified>
</cp:coreProperties>
</file>