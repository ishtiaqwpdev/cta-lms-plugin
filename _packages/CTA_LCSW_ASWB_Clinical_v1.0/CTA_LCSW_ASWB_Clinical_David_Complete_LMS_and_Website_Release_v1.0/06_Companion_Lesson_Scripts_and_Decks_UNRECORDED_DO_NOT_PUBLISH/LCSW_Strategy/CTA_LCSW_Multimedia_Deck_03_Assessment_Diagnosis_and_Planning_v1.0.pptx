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diagnosis, and planning are connected but not interchangeable. Assessment gathers the information needed to understand urgency, functioning, context, and possible explanations. Diagnosis organizes a symptom pattern when criteria and exclusions are sufficiently supported. Planning translates the formulation into collaborative goals and actions. The exam often tests whether you complete the necessary assessment before choosing an intervention or treating an early impression as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assessment begins with a clear, respectful frame. Clarify the referral source, the social worker’s role, the client’s understanding of the service, confidentiality and its limits, and what choices remain. Ask what the client wants help with and what would make the meeting useful. Engagement is not separate from assessment; the client’s trust, readiness, expectations, and response to the professional role are clinically relevant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broadly enough to understand the client’s story, then focus on facts that control the next decision. Open questions gather context and meaning. Reflections test understanding. Direct questions establish timing, severity, access to means, medication changes, or substance pattern. The best interviewing tool depends on the task. Precision is especially important when safety, medical urgency, diagnosis, or level of care may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assessment includes symptoms, onset, duration, course, severity, functional impact, relationships, development, culture, trauma, health, medications, substance use, prior care, strengths, supports, and client goals. Not every domain requires equal time in every encounter. Follow the clues that matter most. A sudden change after a medication adjustment requires a different priority than a longstanding pattern with stable functioning.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status examination describes current presentation, including appearance and behavior, speech, reported mood, observed affect, thought process, thought content, perception, attention, cognition, orientation, memory, insight, judgment, and impulse control. It is a snapshot rather than a complete diagnosis. Compare findings with baseline and interpret them in developmental, cultural, language, disability, medical, and situational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Chronology often separates competing explanations. Clarify when symptoms began, whether they are continuous or episodic, what happened before onset, and how the current presentation differs from baseline. Sudden confusion, altered consciousness, or unsteady gait may indicate medical, medication, intoxication, or withdrawal risk. A longstanding pattern may support a different formulation. Newness and fluctuation can determine what must happen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health conditions, injuries, sleep, pain, pregnancy or postpartum changes, medication starts and stops, missed doses, nonprescription products, alcohol, cannabis, stimulants, sedatives, and other substances. The social worker can assess effects, encourage medical review, coordinate with consent, and respond to emergencies, but should not prescribe or direct medication changes. When symptoms may be medically caused, health evaluation takes priority over psychological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Differential diagnosis asks which explanations fit, which do not, and what information would distinguish them. Consider duration, severity, functional impairment, developmental expectations, trauma, culture, grief, medical conditions, medications, substances, and prior episodes. A working diagnosis can guide care while uncertainty remains, but it should be documented as provisional or under evaluation when the evidence is incomplete. Diagnosis should organize the data, not replace further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statement or behavior suggests suicide, self-harm, violence, abuse, neglect, or inability to care safely, ask direct questions. Clarify current thoughts, intent, plan, access, past behavior, substance involvement, protective factors, supports, and immediate environment. A vague reassurance or promise does not establish risk level. Safety assessment can occur with empathy and collaboration and may change the level of care or treatment plan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planning, state the priority problem in context. Identify the most important need, the factors maintaining it, the client’s strengths and preferences, and the urgency of action. A useful formulation explains why a particular target comes first. It may integrate symptoms, housing, caregiving, trauma, medical risk, or service barriers. The formulation should remain open to revision as new information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plan states what will change, what action will be taken, who is responsible, when it will occur, and how progress will be recognized. Goals should be meaningful to the client and realistic within the environment. “Feel better” is too vague. “Use the safety plan and contact two identified supports during escalating suicidal thoughts over the next week” is more measurable. Include clinical, practical, and systems actions when the formulation requires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planned intervention must fit the client’s readiness, culture, language, disability, preferences, risk level, resources, and access. A referral is not complete because the service exists. Confirm eligibility, cost, transportation, scheduling, technology, and who will follow up. If the client is not ready for the ideal intervention, identify the next feasible step rather than labeling the client noncompliant or abandoning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includes follow-up. Decide what outcome will be reviewed, when it will be reviewed, and what will happen if the plan is ineffective or inaccessible. Evaluate symptoms, functioning, safety, service access, client experience, and progress toward the stated goal. Continue, adapt, intensify, refer, or step down based on the evidence. The exam may ask for evaluation or follow-up after an intervention has already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ask: Has the role been clarified? What information is still needed? Are there medical, substance, or safety priorities? What competing explanations remain? What is the priority problem in context? What client-centered goal and measurable action fit? How will the result be evaluated? This sequence prevents premature diagnosis and premature intervention while keeping assessment focused on a usable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Assessment, Diagnosis, and Planning</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03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Assessment, diagnosis, and planning are connected but not interchangeable.</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3467A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3467A6">
                <a:alpha val="75000"/>
              </a:srgbClr>
            </a:solidFill>
            <a:prstDash val="solid"/>
            <a:tailEnd type="triangle"/>
          </a:ln>
        </p:spPr>
      </p:sp>
      <p:sp>
        <p:nvSpPr>
          <p:cNvPr id="15" name="Text 13"/>
          <p:cNvSpPr/>
          <p:nvPr/>
        </p:nvSpPr>
        <p:spPr>
          <a:xfrm>
            <a:off x="804672" y="3273552"/>
            <a:ext cx="139674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Information flowing into…</a:t>
            </a:r>
            <a:endParaRPr lang="en-US" sz="1180" dirty="0"/>
          </a:p>
        </p:txBody>
      </p:sp>
      <p:sp>
        <p:nvSpPr>
          <p:cNvPr id="16" name="Text 14"/>
          <p:cNvSpPr/>
          <p:nvPr/>
        </p:nvSpPr>
        <p:spPr>
          <a:xfrm>
            <a:off x="2411730" y="3273552"/>
            <a:ext cx="139674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diagnosis</a:t>
            </a:r>
            <a:endParaRPr lang="en-US" sz="1180" dirty="0"/>
          </a:p>
        </p:txBody>
      </p:sp>
      <p:sp>
        <p:nvSpPr>
          <p:cNvPr id="17" name="Text 15"/>
          <p:cNvSpPr/>
          <p:nvPr/>
        </p:nvSpPr>
        <p:spPr>
          <a:xfrm>
            <a:off x="4018788" y="3273552"/>
            <a:ext cx="139674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plan</a:t>
            </a:r>
            <a:endParaRPr lang="en-US" sz="1180" dirty="0"/>
          </a:p>
        </p:txBody>
      </p:sp>
      <p:sp>
        <p:nvSpPr>
          <p:cNvPr id="18" name="Text 16"/>
          <p:cNvSpPr/>
          <p:nvPr/>
        </p:nvSpPr>
        <p:spPr>
          <a:xfrm>
            <a:off x="5625846" y="3273552"/>
            <a:ext cx="1396746"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evaluation.</a:t>
            </a:r>
            <a:endParaRPr lang="en-US" sz="1180" dirty="0"/>
          </a:p>
        </p:txBody>
      </p:sp>
      <p:sp>
        <p:nvSpPr>
          <p:cNvPr id="19" name="Text 17"/>
          <p:cNvSpPr/>
          <p:nvPr/>
        </p:nvSpPr>
        <p:spPr>
          <a:xfrm>
            <a:off x="7635240" y="3364992"/>
            <a:ext cx="1687068" cy="758952"/>
          </a:xfrm>
          <a:prstGeom prst="rect">
            <a:avLst/>
          </a:prstGeom>
          <a:solidFill>
            <a:srgbClr val="EAF0F8"/>
          </a:solidFill>
          <a:ln w="10160">
            <a:solidFill>
              <a:srgbClr val="D9E0E8"/>
            </a:solidFill>
          </a:ln>
        </p:spPr>
        <p:txBody>
          <a:bodyPr wrap="square" lIns="1270" tIns="1270" rIns="1270" bIns="1270" rtlCol="0" anchor="ctr">
            <a:normAutofit/>
          </a:bodyPr>
          <a:lstStyle/>
          <a:p>
            <a:pPr indent="0" marL="0">
              <a:buNone/>
            </a:pPr>
            <a:r>
              <a:rPr lang="en-US" sz="1400" b="1" dirty="0">
                <a:solidFill>
                  <a:srgbClr val="3467A6"/>
                </a:solidFill>
                <a:latin typeface="Aptos" pitchFamily="34" charset="0"/>
                <a:ea typeface="Aptos" pitchFamily="34" charset="-122"/>
                <a:cs typeface="Aptos" pitchFamily="34" charset="-120"/>
              </a:rPr>
              <a:t>Information flowing into…</a:t>
            </a:r>
            <a:endParaRPr lang="en-US" sz="1400" dirty="0"/>
          </a:p>
        </p:txBody>
      </p:sp>
      <p:sp>
        <p:nvSpPr>
          <p:cNvPr id="20" name="Text 18"/>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diagnosis</a:t>
            </a:r>
            <a:endParaRPr lang="en-US" sz="1400" dirty="0"/>
          </a:p>
        </p:txBody>
      </p:sp>
      <p:sp>
        <p:nvSpPr>
          <p:cNvPr id="21" name="Text 19"/>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plan</a:t>
            </a:r>
            <a:endParaRPr lang="en-US" sz="1400" dirty="0"/>
          </a:p>
        </p:txBody>
      </p:sp>
      <p:sp>
        <p:nvSpPr>
          <p:cNvPr id="22" name="Text 20"/>
          <p:cNvSpPr/>
          <p:nvPr/>
        </p:nvSpPr>
        <p:spPr>
          <a:xfrm>
            <a:off x="939546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evaluation.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Begin With Engagement and Role Clarity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useful assessment begins with a clear, respectful frame.</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transparent intake opening…</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role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confidentiality</a:t>
            </a:r>
            <a:endParaRPr lang="en-US" sz="1180" dirty="0"/>
          </a:p>
        </p:txBody>
      </p:sp>
      <p:sp>
        <p:nvSpPr>
          <p:cNvPr id="15" name="Text 13"/>
          <p:cNvSpPr/>
          <p:nvPr/>
        </p:nvSpPr>
        <p:spPr>
          <a:xfrm>
            <a:off x="9884664" y="2148840"/>
            <a:ext cx="950976"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 goals.</a:t>
            </a:r>
            <a:endParaRPr lang="en-US" sz="1180" dirty="0"/>
          </a:p>
        </p:txBody>
      </p:sp>
      <p:sp>
        <p:nvSpPr>
          <p:cNvPr id="16" name="Text 14"/>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transparent intake opening…</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referral source, the social worker’s role, the client’s understanding of the…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Engagement is not separate from assessment; the client’s trust, readiness, expectations, and…</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Trust and Clarity Improve the Data</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Engagement is not separate from assessment; the client’s trust, readiness, expectations, and response to the professional role are clinically…</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Move From Broad to Focused Inquiry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Start broadly enough to understand the client’s story, then focus on facts that control the next decision.</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Open questions gather context and meaning.</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Precision is especially important when safety, medical urgency, diagnosis, or level of care…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Open → Clarify → Focus → Confirm</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Precision is especially important when safety, medical urgency, diagnosis, or level of care may change.</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Symptoms, Functioning, and Context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complete assessment includes symptoms, onset, duration, course, severity, functional impact, relationships, development, culture, trauma, health,…</a:t>
            </a:r>
            <a:endParaRPr lang="en-US" sz="2120" dirty="0"/>
          </a:p>
        </p:txBody>
      </p:sp>
      <p:sp>
        <p:nvSpPr>
          <p:cNvPr id="11" name="Text 9"/>
          <p:cNvSpPr/>
          <p:nvPr/>
        </p:nvSpPr>
        <p:spPr>
          <a:xfrm>
            <a:off x="6629400" y="1901952"/>
            <a:ext cx="3931920" cy="475488"/>
          </a:xfrm>
          <a:prstGeom prst="rect">
            <a:avLst/>
          </a:prstGeom>
          <a:solidFill>
            <a:srgbClr val="EAF0F8"/>
          </a:solidFill>
          <a:ln w="15240">
            <a:solidFill>
              <a:srgbClr val="3467A6">
                <a:alpha val="82000"/>
              </a:srgbClr>
            </a:solidFill>
          </a:ln>
        </p:spPr>
        <p:txBody>
          <a:bodyPr wrap="square" lIns="508" tIns="508" rIns="508" bIns="508" rtlCol="0" anchor="ctr">
            <a:normAutofit/>
          </a:bodyPr>
          <a:lstStyle/>
          <a:p>
            <a:pPr indent="0" marL="0">
              <a:buNone/>
            </a:pPr>
            <a:r>
              <a:rPr lang="en-US" sz="1320" b="1" dirty="0">
                <a:solidFill>
                  <a:srgbClr val="3467A6"/>
                </a:solidFill>
                <a:latin typeface="Aptos" pitchFamily="34" charset="0"/>
                <a:ea typeface="Aptos" pitchFamily="34" charset="-122"/>
                <a:cs typeface="Aptos" pitchFamily="34" charset="-120"/>
              </a:rPr>
              <a:t>Integrated domains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symptoms</a:t>
            </a:r>
            <a:endParaRPr lang="en-US" sz="1320" dirty="0"/>
          </a:p>
        </p:txBody>
      </p:sp>
      <p:sp>
        <p:nvSpPr>
          <p:cNvPr id="13" name="Text 11"/>
          <p:cNvSpPr/>
          <p:nvPr/>
        </p:nvSpPr>
        <p:spPr>
          <a:xfrm>
            <a:off x="6629400" y="3218688"/>
            <a:ext cx="3931920" cy="475488"/>
          </a:xfrm>
          <a:prstGeom prst="rect">
            <a:avLst/>
          </a:prstGeom>
          <a:solidFill>
            <a:srgbClr val="EAF0F8"/>
          </a:solidFill>
          <a:ln w="9525">
            <a:solidFill>
              <a:srgbClr val="3467A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daily functioning</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relationships</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Not every domain requires equal time in every encounter.</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sudden change after a medication adjustment requires a different priority than a…</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Happening, and What Does It Affect?</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sudden change after a medication adjustment requires a different priority than a longstanding pattern with stable functioning.</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Mental Status Examination as a Snapshot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 mental status examination describes current presentation, including appearance and behavior, speech, reported mood, observed affect, thought…</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AF0F8"/>
          </a:solidFill>
          <a:ln w="13970">
            <a:solidFill>
              <a:srgbClr val="3467A6">
                <a:alpha val="75000"/>
              </a:srgbClr>
            </a:solidFill>
          </a:ln>
        </p:spPr>
        <p:txBody>
          <a:bodyPr wrap="square" lIns="1016" tIns="1016" rIns="1016" bIns="1016" rtlCol="0" anchor="ctr">
            <a:normAutofit/>
          </a:bodyPr>
          <a:lstStyle/>
          <a:p>
            <a:pPr algn="ctr" indent="0" marL="0">
              <a:buNone/>
            </a:pPr>
            <a:r>
              <a:rPr lang="en-US" sz="2200" b="1" dirty="0">
                <a:solidFill>
                  <a:srgbClr val="3467A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It is a snapshot rather than a complete diagnosis.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Compare findings with baseline and interpret them in developmental, cultural, language,…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Appearance • Behavior • Speech • Mood/Affect • Thought • Perception • Cognition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Compare findings with baseline and interpret them in developmental, cultural, language, disability, medical, and situational context.</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Establish Chronology and Baseline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Chronology often separates competing explanations.</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when symptoms began, whether they are continuous or episodic, what happened before…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Newness and fluctuation can determine what must happen first.</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Did It Start? What Changed?</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Newness and fluctuation can determine what must happen first.</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Medical, Medication, and Substance Factors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Ask about health conditions, injuries, sleep, pain, pregnancy or postpartum changes, medication starts and stops, missed doses, nonprescription…</a:t>
            </a:r>
            <a:endParaRPr lang="en-US" sz="2120" dirty="0"/>
          </a:p>
        </p:txBody>
      </p:sp>
      <p:sp>
        <p:nvSpPr>
          <p:cNvPr id="11" name="Text 9"/>
          <p:cNvSpPr/>
          <p:nvPr/>
        </p:nvSpPr>
        <p:spPr>
          <a:xfrm>
            <a:off x="6446520" y="1874520"/>
            <a:ext cx="2098548" cy="1092708"/>
          </a:xfrm>
          <a:prstGeom prst="rect">
            <a:avLst/>
          </a:prstGeom>
          <a:solidFill>
            <a:srgbClr val="EAF0F8"/>
          </a:solidFill>
          <a:ln w="10160">
            <a:solidFill>
              <a:srgbClr val="D9E0E8"/>
            </a:solidFill>
          </a:ln>
        </p:spPr>
        <p:txBody>
          <a:bodyPr wrap="square" lIns="1270" tIns="1270" rIns="1270" bIns="1270" rtlCol="0" anchor="ctr">
            <a:normAutofit/>
          </a:bodyPr>
          <a:lstStyle/>
          <a:p>
            <a:pPr indent="0" marL="0">
              <a:buNone/>
            </a:pPr>
            <a:r>
              <a:rPr lang="en-US" sz="1400" b="1" dirty="0">
                <a:solidFill>
                  <a:srgbClr val="3467A6"/>
                </a:solidFill>
                <a:latin typeface="Aptos" pitchFamily="34" charset="0"/>
                <a:ea typeface="Aptos" pitchFamily="34" charset="-122"/>
                <a:cs typeface="Aptos" pitchFamily="34" charset="-120"/>
              </a:rPr>
              <a:t>health timeline linking…</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medications</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substances</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sleep</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can assess effects, encourage medical review, coordinate with consent, and…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When symptoms may be medically caused, health evaluation takes priority over psychological…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Rule Out Health and Substance Causes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When symptoms may be medically caused, health evaluation takes priority over psychological interpretation.</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Differential Diagnosis, Not Premature Certainty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Differential diagnosis asks which explanations fit, which do not, and what information would distinguish them.</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Several possible explanations…</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impairment</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exclusions.</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Consider duration, severity, functional impairment, developmental expectations, trauma,…</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Diagnosis should organize the data, not replace further assessment.</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Compare Alternatives Before Concluding</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Diagnosis should organize the data, not replace further assessment.</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Safety Directly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a statement or behavior suggests suicide, self-harm, violence, abuse, neglect, or inability to care safely, ask direct questions.</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direct risk pathway</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thoughts</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intent</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plan</a:t>
            </a:r>
            <a:endParaRPr lang="en-US" sz="1180" dirty="0"/>
          </a:p>
        </p:txBody>
      </p:sp>
      <p:sp>
        <p:nvSpPr>
          <p:cNvPr id="16" name="Text 14"/>
          <p:cNvSpPr/>
          <p:nvPr/>
        </p:nvSpPr>
        <p:spPr>
          <a:xfrm>
            <a:off x="10116922" y="2148840"/>
            <a:ext cx="718718"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means</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current thoughts, intent, plan, access, past behavior, substance involvement,…</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Safety assessment can occur with empathy and collaboration and may change the level of care…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Directly When the Facts Support Concern</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Safety assessment can occur with empathy and collaboration and may change the level of care or treatment plan immediately.</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Formulate the Priority Problem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planning, state the priority problem in context.</a:t>
            </a:r>
            <a:endParaRPr lang="en-US" sz="2120" dirty="0"/>
          </a:p>
        </p:txBody>
      </p:sp>
      <p:sp>
        <p:nvSpPr>
          <p:cNvPr id="11" name="Text 9"/>
          <p:cNvSpPr/>
          <p:nvPr/>
        </p:nvSpPr>
        <p:spPr>
          <a:xfrm>
            <a:off x="6629400" y="1901952"/>
            <a:ext cx="3931920" cy="475488"/>
          </a:xfrm>
          <a:prstGeom prst="rect">
            <a:avLst/>
          </a:prstGeom>
          <a:solidFill>
            <a:srgbClr val="EAF0F8"/>
          </a:solidFill>
          <a:ln w="15240">
            <a:solidFill>
              <a:srgbClr val="3467A6">
                <a:alpha val="82000"/>
              </a:srgbClr>
            </a:solidFill>
          </a:ln>
        </p:spPr>
        <p:txBody>
          <a:bodyPr wrap="square" lIns="508" tIns="508" rIns="508" bIns="508" rtlCol="0" anchor="ctr">
            <a:normAutofit/>
          </a:bodyPr>
          <a:lstStyle/>
          <a:p>
            <a:pPr indent="0" marL="0">
              <a:buNone/>
            </a:pPr>
            <a:r>
              <a:rPr lang="en-US" sz="1320" b="1" dirty="0">
                <a:solidFill>
                  <a:srgbClr val="3467A6"/>
                </a:solidFill>
                <a:latin typeface="Aptos" pitchFamily="34" charset="0"/>
                <a:ea typeface="Aptos" pitchFamily="34" charset="-122"/>
                <a:cs typeface="Aptos" pitchFamily="34" charset="-120"/>
              </a:rPr>
              <a:t>Needs Attention</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Why</a:t>
            </a:r>
            <a:endParaRPr lang="en-US" sz="1320" dirty="0"/>
          </a:p>
        </p:txBody>
      </p:sp>
      <p:sp>
        <p:nvSpPr>
          <p:cNvPr id="13" name="Text 11"/>
          <p:cNvSpPr/>
          <p:nvPr/>
        </p:nvSpPr>
        <p:spPr>
          <a:xfrm>
            <a:off x="6629400" y="3218688"/>
            <a:ext cx="3931920" cy="475488"/>
          </a:xfrm>
          <a:prstGeom prst="rect">
            <a:avLst/>
          </a:prstGeom>
          <a:solidFill>
            <a:srgbClr val="EAF0F8"/>
          </a:solidFill>
          <a:ln w="9525">
            <a:solidFill>
              <a:srgbClr val="3467A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Now?</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the most important need, the factors maintaining it, the client’s strengths and…</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formulation should remain open to revision as new information appears.</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Needs Attention, Why, and Now?</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formulation should remain open to revision as new information appears.</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Build a Collaborative and Measurable Plan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strong plan states what will change, what action will be taken, who is responsible, when it will occur, and how progress will be recognized.</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plan linking target</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action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responsible person</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timeline</a:t>
            </a:r>
            <a:endParaRPr lang="en-US" sz="1180" dirty="0"/>
          </a:p>
        </p:txBody>
      </p:sp>
      <p:sp>
        <p:nvSpPr>
          <p:cNvPr id="16" name="Text 14"/>
          <p:cNvSpPr/>
          <p:nvPr/>
        </p:nvSpPr>
        <p:spPr>
          <a:xfrm>
            <a:off x="10116922" y="2148840"/>
            <a:ext cx="718718"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outcome measure.</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Goals should be meaningful to the client and realistic within the environment.</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Include clinical, practical, and systems actions when the formulation requires them.</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Goal • Action • Responsibility • Time • Evidence</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Include clinical, practical, and systems actions when the formulation requires them.</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Match the Intervention to Readiness and Access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The planned intervention must fit the client’s readiness, culture, language, disability, preferences, risk level, resources, and access.</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intervention passing through…</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culture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access</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safety</a:t>
            </a:r>
            <a:endParaRPr lang="en-US" sz="1180" dirty="0"/>
          </a:p>
        </p:txBody>
      </p:sp>
      <p:sp>
        <p:nvSpPr>
          <p:cNvPr id="16" name="Text 14"/>
          <p:cNvSpPr/>
          <p:nvPr/>
        </p:nvSpPr>
        <p:spPr>
          <a:xfrm>
            <a:off x="10116922" y="2148840"/>
            <a:ext cx="718718"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evidence.</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referral is not complete because the service exists.</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the client is not ready for the ideal intervention, identify the next feasible step rather…</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Good Plan Must Be Usable</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If the client is not ready for the ideal intervention, identify the next feasible step rather than labeling the client noncompliant or…</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Evaluate and Revise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Planning includes follow-up.</a:t>
            </a:r>
            <a:endParaRPr lang="en-US" sz="2120" dirty="0"/>
          </a:p>
        </p:txBody>
      </p:sp>
      <p:sp>
        <p:nvSpPr>
          <p:cNvPr id="11" name="Shape 9"/>
          <p:cNvSpPr/>
          <p:nvPr/>
        </p:nvSpPr>
        <p:spPr>
          <a:xfrm>
            <a:off x="6629400" y="2441448"/>
            <a:ext cx="3977640" cy="0"/>
          </a:xfrm>
          <a:prstGeom prst="line">
            <a:avLst/>
          </a:prstGeom>
          <a:noFill/>
          <a:ln w="15240">
            <a:solidFill>
              <a:srgbClr val="3467A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3467A6"/>
          </a:solidFill>
          <a:ln w="10160">
            <a:solidFill>
              <a:srgbClr val="3467A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Decide what outcome will be reviewed, when it will be reviewed, and what will happen if the…</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may ask for evaluation or follow-up after an intervention has already occurred.</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Plan → Act → Measure → Revise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may ask for evaluation or follow-up after an intervention has already occurred.</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3467A6"/>
          </a:solidFill>
          <a:ln w="12700">
            <a:solidFill>
              <a:srgbClr val="3467A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3467A6"/>
                </a:solidFill>
                <a:latin typeface="Aptos" pitchFamily="34" charset="0"/>
                <a:ea typeface="Aptos" pitchFamily="34" charset="-122"/>
                <a:cs typeface="Aptos" pitchFamily="34" charset="-120"/>
              </a:rPr>
              <a:t>ASSESSMENT + PLANNING</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03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3467A6"/>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Assessment-to-Plan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answering, ask: Has the role been clarified?</a:t>
            </a:r>
            <a:endParaRPr lang="en-US" sz="2120" dirty="0"/>
          </a:p>
        </p:txBody>
      </p:sp>
      <p:sp>
        <p:nvSpPr>
          <p:cNvPr id="11" name="Text 9"/>
          <p:cNvSpPr/>
          <p:nvPr/>
        </p:nvSpPr>
        <p:spPr>
          <a:xfrm>
            <a:off x="6446520" y="1874520"/>
            <a:ext cx="2098548" cy="1092708"/>
          </a:xfrm>
          <a:prstGeom prst="rect">
            <a:avLst/>
          </a:prstGeom>
          <a:solidFill>
            <a:srgbClr val="EAF0F8"/>
          </a:solidFill>
          <a:ln w="10160">
            <a:solidFill>
              <a:srgbClr val="D9E0E8"/>
            </a:solidFill>
          </a:ln>
        </p:spPr>
        <p:txBody>
          <a:bodyPr wrap="square" lIns="1270" tIns="1270" rIns="1270" bIns="1270" rtlCol="0" anchor="ctr">
            <a:normAutofit/>
          </a:bodyPr>
          <a:lstStyle/>
          <a:p>
            <a:pPr indent="0" marL="0">
              <a:buNone/>
            </a:pPr>
            <a:r>
              <a:rPr lang="en-US" sz="1400" b="1" dirty="0">
                <a:solidFill>
                  <a:srgbClr val="3467A6"/>
                </a:solidFill>
                <a:latin typeface="Aptos" pitchFamily="34" charset="0"/>
                <a:ea typeface="Aptos" pitchFamily="34" charset="-122"/>
                <a:cs typeface="Aptos" pitchFamily="34" charset="-120"/>
              </a:rPr>
              <a:t>compact sequence</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engage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assess</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differentiate</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information is still needed?</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sequence prevents premature diagnosis and premature intervention while keeping…</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3467A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Engage • Assess • Differentiate • Prioritize • Plan • Evaluate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3467A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sequence prevents premature diagnosis and premature intervention while keeping assessment focused on a usable decision.</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03: Assessment, Diagnosis, and Planning</dc:title>
  <dc:subject>LCSW-Specific Multimedia Script 03</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