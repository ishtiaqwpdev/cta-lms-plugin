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Crisis questions become easier when you identify what changes the normal sequence. Immediate danger, severe impairment, possible abuse or neglect, or a medical emergency may require action before routine assessment or treatment. The strongest answer does not automatically choose the most dramatic response. It clarifies the supported level of risk, determines what duty or level of care applies, and takes the most protective proportionate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present. Is the client currently safe? Is anyone else at risk? Are there weapons, medications, substances, unsafe supervision, severe withdrawal, head injury, or altered consciousness? Is the client able to participate in the assessment? Where is the client, who is nearby, and what support is immediately available? Current conditions determine whether the next step is continued assessment, urgent evaluation, emergency response, or a protective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facts suggest suicide or self-harm, ask direct questions about current thoughts, intent, plan, access to means, timing, past attempts, recent losses, substance use, reasons for living, supports, and willingness to use help. Do not avoid the subject to preserve rapport. A promise to stay safe does not replace assessment. The goal is to understand immediacy, lethality, ability to maintain safety, and the level of intervention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possible violence, clarify the nature of the threat, whether there is an identifiable target, current intent, plan, means, access, history, substance involvement, triggers, protective factors, and recent escalation. Do not assume that anger equals imminent danger, but do not minimize specific threats. The next response depends on the supported level of risk and any applicable legal or organizational duty stated in the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altered consciousness, severe intoxication, possible overdose, abrupt sedative withdrawal, worsening symptoms after a head injury, or new neurological changes require medical prioritization. Assess immediate safety, what was taken, when symptoms began, and whether emergency medical guidance is needed. Do not interpret a potentially medical presentation as resistance, anxiety, or manipulation before urgent health causes have been addressed.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abuse or neglect is suspected, gather the information needed to assess immediate safety and determine whether a report or protective action is required. Use open, nonleading questions and avoid repeated probing that could contaminate a disclosure or increase distress. The social worker is not conducting a criminal investigation. The task is to recognize the concern, protect the client, follow the applicable duty, and continue appropriate clinical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mandated or protective report does not complete the clinical response. The client may still need safety planning, medical care, emotional support, coordination, documentation, and follow-up. Conversely, providing therapy does not substitute for a required report. On the exam, identify whether the question is asking about assessment, reporting, immediate protection, stabilization, or treatment, because these actions occur at different points in the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least restrictive level of care that can safely manage the situation. Some clients can remain in outpatient care with a detailed safety plan, reliable supports, reduced access to means, and close follow-up. Others require urgent psychiatric or medical evaluation, crisis services, or emergency intervention. Do not hospitalize automatically because risk exists, and do not rely on outpatient planning when the client cannot maintain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determining the required response, reduce immediate danger when feasible, identify supportive people, arrange transportation or emergency contact, clarify crisis resources, and make the next handoff explicit. Include the client in decisions whenever possible. A safety plan should be specific, realistic, and connected to the actual risk. It is not a generic worksheet and it is not a substitute for a higher level of care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confidentiality must be limited for safety, reporting, or emergency coordination, disclose only the information needed to the appropriate recipient. Explain the limit to the client when safe and feasible. Document the basis for disclosure, what was shared, with whom, and why. Crisis does not erase privacy, dignity, or the client’s right to understand what is happening.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client says, “Sometimes I think everyone would be better without me,” and then changes the subject. The social worker should ask directly about current suicidal thoughts, intent, plan, access, past behavior, and protective factors. Following the new topic to preserve rapport leaves a supported safety concern unassessed. Direct inquiry is the next step; the level of intervention comes after the risk is clarified.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caregiver reports falling asleep while supervising young children after starting a sedating medication, and a household hazard has already occurred. The social worker should assess the children’s immediate supervision and home safety, the caregiver’s current impairment, available supports, and the need for medical review. Do not direct a medication change, and do not focus only on guilt while the current caregiving risk remains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relying on a safety promise, delaying medical care, automatically hospitalizing without assessing risk, disclosing more information than necessary, or treating a report as the complete response. Another trap is beginning therapy techniques while immediate danger remains unclear. Strong answers assess directly, match the response to the supported risk, stabilize, coordinate, and follow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answering, ask: What is the immediate safety or medical concern? What direct assessment is still needed? Does a reporting, protective, or level-of-care decision apply? How will the situation be stabilized? What disclosure is necessary? What must be documented and followed up? This sequence keeps crisis reasoning proportionate and prevents both dangerous delay and unnecessary overreaction.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Crisis, Safety, Abuse, and Neglect</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LCSW-Specific Multimedia Script 04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Crisis questions become easier when you identify what changes the normal sequence.</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B84C45"/>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B84C45">
                <a:alpha val="75000"/>
              </a:srgbClr>
            </a:solidFill>
            <a:prstDash val="solid"/>
            <a:tailEnd type="triangle"/>
          </a:ln>
        </p:spPr>
      </p:sp>
      <p:sp>
        <p:nvSpPr>
          <p:cNvPr id="15" name="Text 13"/>
          <p:cNvSpPr/>
          <p:nvPr/>
        </p:nvSpPr>
        <p:spPr>
          <a:xfrm>
            <a:off x="804672"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6" name="Text 14"/>
          <p:cNvSpPr/>
          <p:nvPr/>
        </p:nvSpPr>
        <p:spPr>
          <a:xfrm>
            <a:off x="2947416"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7" name="Text 15"/>
          <p:cNvSpPr/>
          <p:nvPr/>
        </p:nvSpPr>
        <p:spPr>
          <a:xfrm>
            <a:off x="5090160" y="3273552"/>
            <a:ext cx="193243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8" name="Text 16"/>
          <p:cNvSpPr/>
          <p:nvPr/>
        </p:nvSpPr>
        <p:spPr>
          <a:xfrm>
            <a:off x="7635240" y="3364992"/>
            <a:ext cx="1687068" cy="758952"/>
          </a:xfrm>
          <a:prstGeom prst="rect">
            <a:avLst/>
          </a:prstGeom>
          <a:solidFill>
            <a:srgbClr val="F7E7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B84C45"/>
                </a:solidFill>
                <a:latin typeface="Aptos" pitchFamily="34" charset="0"/>
                <a:ea typeface="Aptos" pitchFamily="34" charset="-122"/>
                <a:cs typeface="Aptos" pitchFamily="34" charset="-120"/>
              </a:rPr>
              <a:t>Clarify</a:t>
            </a:r>
            <a:endParaRPr lang="en-US" sz="1400" dirty="0"/>
          </a:p>
        </p:txBody>
      </p:sp>
      <p:sp>
        <p:nvSpPr>
          <p:cNvPr id="19" name="Text 17"/>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Sequence</a:t>
            </a:r>
            <a:endParaRPr lang="en-US" sz="1400" dirty="0"/>
          </a:p>
        </p:txBody>
      </p:sp>
      <p:sp>
        <p:nvSpPr>
          <p:cNvPr id="20" name="Text 18"/>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Choose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Start With the Immediate Situation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Begin with the present.</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current time safety scan</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person</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others</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environment</a:t>
            </a:r>
            <a:endParaRPr lang="en-US" sz="1180" dirty="0"/>
          </a:p>
        </p:txBody>
      </p:sp>
      <p:sp>
        <p:nvSpPr>
          <p:cNvPr id="16" name="Text 14"/>
          <p:cNvSpPr/>
          <p:nvPr/>
        </p:nvSpPr>
        <p:spPr>
          <a:xfrm>
            <a:off x="10116922" y="2148840"/>
            <a:ext cx="718718"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means</a:t>
            </a:r>
            <a:endParaRPr lang="en-US" sz="1180" dirty="0"/>
          </a:p>
        </p:txBody>
      </p:sp>
      <p:sp>
        <p:nvSpPr>
          <p:cNvPr id="17" name="Text 15"/>
          <p:cNvSpPr/>
          <p:nvPr/>
        </p:nvSpPr>
        <p:spPr>
          <a:xfrm>
            <a:off x="6949440" y="3063240"/>
            <a:ext cx="3246120" cy="1371600"/>
          </a:xfrm>
          <a:prstGeom prst="rect">
            <a:avLst/>
          </a:prstGeom>
          <a:solidFill>
            <a:srgbClr val="F7E7E5"/>
          </a:solidFill>
          <a:ln w="13970">
            <a:solidFill>
              <a:srgbClr val="B84C45">
                <a:alpha val="75000"/>
              </a:srgbClr>
            </a:solidFill>
          </a:ln>
        </p:spPr>
        <p:txBody>
          <a:bodyPr wrap="square" lIns="1016" tIns="1016" rIns="1016" bIns="1016"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current time safety scan</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Is the client currently safe?</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Current conditions determine whether the next step is continued assessment, urgent…</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Is Happening Right Now?</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Current conditions determine whether the next step is continued assessment, urgent evaluation, emergency response, or a protective action.</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Ask Directly About Suicide and Self-Harm</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the facts suggest suicide or self-harm, ask direct questions about current thoughts, intent, plan, access to means, timing, past attempts,…</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avoid the subject to preserve rapport.</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goal is to understand immediacy, lethality, ability to maintain safety, and the level of…</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Thoughts • Intent • Plan • Means • History • Protective Factors</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goal is to understand immediacy, lethality, ability to maintain safety, and the level of intervention required.</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Assess Violence and Danger to Others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For possible violence, clarify the nature of the threat, whether there is an identifiable target, current intent, plan, means, access, history,…</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violence risk pathway…</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intent</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means</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history</a:t>
            </a:r>
            <a:endParaRPr lang="en-US" sz="1180" dirty="0"/>
          </a:p>
        </p:txBody>
      </p:sp>
      <p:sp>
        <p:nvSpPr>
          <p:cNvPr id="16" name="Text 14"/>
          <p:cNvSpPr/>
          <p:nvPr/>
        </p:nvSpPr>
        <p:spPr>
          <a:xfrm>
            <a:off x="10116922" y="2148840"/>
            <a:ext cx="718718"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escalation.</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assume that anger equals imminent danger, but do not minimize specific threats.</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next response depends on the supported level of risk and any applicable legal or…</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Target • Intent • Plan • Means • History • Escalation</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next response depends on the supported level of risk and any applicable legal or organizational duty stated in the scenario.</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Recognize Medical and Substance Emergencies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Confusion, altered consciousness, severe intoxication, possible overdose, abrupt sedative withdrawal, worsening symptoms after a head injury, or new…</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Warning signs</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confusion</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gait change</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seizure risk</a:t>
            </a:r>
            <a:endParaRPr lang="en-US" sz="1180" dirty="0"/>
          </a:p>
        </p:txBody>
      </p:sp>
      <p:sp>
        <p:nvSpPr>
          <p:cNvPr id="16" name="Text 14"/>
          <p:cNvSpPr/>
          <p:nvPr/>
        </p:nvSpPr>
        <p:spPr>
          <a:xfrm>
            <a:off x="10116922" y="2148840"/>
            <a:ext cx="718718"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overdose</a:t>
            </a:r>
            <a:endParaRPr lang="en-US" sz="1180" dirty="0"/>
          </a:p>
        </p:txBody>
      </p:sp>
      <p:sp>
        <p:nvSpPr>
          <p:cNvPr id="17" name="Text 15"/>
          <p:cNvSpPr/>
          <p:nvPr/>
        </p:nvSpPr>
        <p:spPr>
          <a:xfrm>
            <a:off x="6949440" y="3063240"/>
            <a:ext cx="3246120" cy="1371600"/>
          </a:xfrm>
          <a:prstGeom prst="rect">
            <a:avLst/>
          </a:prstGeom>
          <a:solidFill>
            <a:srgbClr val="F7E7E5"/>
          </a:solidFill>
          <a:ln w="13970">
            <a:solidFill>
              <a:srgbClr val="B84C45">
                <a:alpha val="75000"/>
              </a:srgbClr>
            </a:solidFill>
          </a:ln>
        </p:spPr>
        <p:txBody>
          <a:bodyPr wrap="square" lIns="1016" tIns="1016" rIns="1016" bIns="1016"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Warning signs</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Assess immediate safety, what was taken, when symptoms began, and whether emergency medical…</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interpret a potentially medical presentation as resistance, anxiety, or manipulation…</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Medical Risk Before Psychological Interpretation</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Do not interpret a potentially medical presentation as resistance, anxiety, or manipulation before urgent health causes have been addressed.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Assess Abuse and Neglect Without Investigating Beyond Role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abuse or neglect is suspected, gather the information needed to assess immediate safety and determine whether a report or protective action is…</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disclosure leading to safety…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reporting decision</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supportive care rather than an…</a:t>
            </a:r>
            <a:endParaRPr lang="en-US" sz="1180" dirty="0"/>
          </a:p>
        </p:txBody>
      </p:sp>
      <p:sp>
        <p:nvSpPr>
          <p:cNvPr id="15" name="Text 13"/>
          <p:cNvSpPr/>
          <p:nvPr/>
        </p:nvSpPr>
        <p:spPr>
          <a:xfrm>
            <a:off x="6949440" y="3063240"/>
            <a:ext cx="3246120" cy="1371600"/>
          </a:xfrm>
          <a:prstGeom prst="rect">
            <a:avLst/>
          </a:prstGeom>
          <a:solidFill>
            <a:srgbClr val="F7E7E5"/>
          </a:solidFill>
          <a:ln w="13970">
            <a:solidFill>
              <a:srgbClr val="B84C45">
                <a:alpha val="75000"/>
              </a:srgbClr>
            </a:solidFill>
          </a:ln>
        </p:spPr>
        <p:txBody>
          <a:bodyPr wrap="square" lIns="1016" tIns="1016" rIns="1016" bIns="1016"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disclosure leading to safety…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Use open, nonleading questions and avoid repeated probing that could contaminate a disclosure…</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task is to recognize the concern, protect the client, follow the applicable duty, and…</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Enough to Act Safely</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task is to recognize the concern, protect the client, follow the applicable duty, and continue appropriate clinical care.</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Separate Reporting From Treatment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mandated or protective report does not complete the clinical response.</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Two parallel tracks</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legal</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protective report</a:t>
            </a:r>
            <a:endParaRPr lang="en-US" sz="1180" dirty="0"/>
          </a:p>
        </p:txBody>
      </p:sp>
      <p:sp>
        <p:nvSpPr>
          <p:cNvPr id="15" name="Text 13"/>
          <p:cNvSpPr/>
          <p:nvPr/>
        </p:nvSpPr>
        <p:spPr>
          <a:xfrm>
            <a:off x="9884664" y="2148840"/>
            <a:ext cx="950976"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ongoing clinical response.</a:t>
            </a:r>
            <a:endParaRPr lang="en-US" sz="118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client may still need safety planning, medical care, emotional support, coordination,…</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On the exam, identify whether the question is asking about assessment, reporting, immediate…</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Report Is One Action, Not the Whole Plan</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On the exam, identify whether the question is asking about assessment, reporting, immediate protection, stabilization, or treatment, because…</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Determine the Least Restrictive Safe Level of Care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Choose the least restrictive level of care that can safely manage the situation.</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Some clients can remain in outpatient care with a detailed safety plan, reliable supports,…</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hospitalize automatically because risk exists, and do not rely on outpatient planning…</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Match the Level of Care to the Supported Risk</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Do not hospitalize automatically because risk exists, and do not rely on outpatient planning when the client cannot maintain safety.</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Stabilize and Mobilize Supports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After determining the required response, reduce immediate danger when feasible, identify supportive people, arrange transportation or emergency…</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safety plan connecting coping…</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supportive people</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crisis resources</a:t>
            </a:r>
            <a:endParaRPr lang="en-US" sz="1180" dirty="0"/>
          </a:p>
        </p:txBody>
      </p:sp>
      <p:sp>
        <p:nvSpPr>
          <p:cNvPr id="15" name="Text 13"/>
          <p:cNvSpPr/>
          <p:nvPr/>
        </p:nvSpPr>
        <p:spPr>
          <a:xfrm>
            <a:off x="9884664" y="2148840"/>
            <a:ext cx="950976"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concrete next actions.</a:t>
            </a:r>
            <a:endParaRPr lang="en-US" sz="118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Include the client in decisions whenever possible.</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is not a generic worksheet and it is not a substitute for a higher level of care when…</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Reduce Danger • Increase Support • Make the Handoff Explicit</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It is not a generic worksheet and it is not a substitute for a higher level of care when needed.</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Limit Confidentiality Only as Necessary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If confidentiality must be limited for safety, reporting, or emergency coordination, disclose only the information needed to the appropriate…</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F7E7E5"/>
          </a:solidFill>
          <a:ln w="13970">
            <a:solidFill>
              <a:srgbClr val="B84C45">
                <a:alpha val="75000"/>
              </a:srgbClr>
            </a:solidFill>
          </a:ln>
        </p:spPr>
        <p:txBody>
          <a:bodyPr wrap="square" lIns="1016" tIns="1016" rIns="1016" bIns="1016"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Explain the limit to the client when safe and feasible.</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Crisis does not erase privacy, dignity, or the client’s right to understand what is happening.</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Share Only What the Safety Purpose Requires</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Crisis does not erase privacy, dignity, or the client’s right to understand what is happening.</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Passive Death Statement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client says, “Sometimes I think everyone would be better without me,” and then changes the subject.</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client says</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“Everyone would be better…</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 while the social worker…</a:t>
            </a:r>
            <a:endParaRPr lang="en-US" sz="1180" dirty="0"/>
          </a:p>
        </p:txBody>
      </p:sp>
      <p:sp>
        <p:nvSpPr>
          <p:cNvPr id="15" name="Text 13"/>
          <p:cNvSpPr/>
          <p:nvPr/>
        </p:nvSpPr>
        <p:spPr>
          <a:xfrm>
            <a:off x="6949440" y="3063240"/>
            <a:ext cx="3246120" cy="1371600"/>
          </a:xfrm>
          <a:prstGeom prst="rect">
            <a:avLst/>
          </a:prstGeom>
          <a:solidFill>
            <a:srgbClr val="F7E7E5"/>
          </a:solidFill>
          <a:ln w="13970">
            <a:solidFill>
              <a:srgbClr val="B84C45">
                <a:alpha val="75000"/>
              </a:srgbClr>
            </a:solidFill>
          </a:ln>
        </p:spPr>
        <p:txBody>
          <a:bodyPr wrap="square" lIns="1016" tIns="1016" rIns="1016" bIns="1016"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client says</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social worker should ask directly about current suicidal thoughts, intent, plan, access,…</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Direct inquiry is the next step; the level of intervention comes after the risk is clarified.</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Reassure or Change the Subject</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Direct inquiry is the next step; the level of intervention comes after the risk is clarified.</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Child Safety and Caregiver Impairment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caregiver reports falling asleep while supervising young children after starting a sedating medication, and a household hazard has already occurred.</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sedated caregiver</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young children</a:t>
            </a:r>
            <a:endParaRPr lang="en-US" sz="1180" dirty="0"/>
          </a:p>
        </p:txBody>
      </p:sp>
      <p:sp>
        <p:nvSpPr>
          <p:cNvPr id="14" name="Text 12"/>
          <p:cNvSpPr/>
          <p:nvPr/>
        </p:nvSpPr>
        <p:spPr>
          <a:xfrm>
            <a:off x="9497568" y="2148840"/>
            <a:ext cx="1338072"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home safety plan.</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social worker should assess the children’s immediate supervision and home safety, the…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direct a medication change, and do not focus only on guilt while the current…</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Secure Safe Supervision and Assess the Cause</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Do not direct a medication change, and do not focus only on guilt while the current caregiving risk remains unresolved.</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Crisis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Common traps include relying on a safety promise, delaying medical care, automatically hospitalizing without assessing risk, disclosing more…</a:t>
            </a:r>
            <a:endParaRPr lang="en-US" sz="2120" dirty="0"/>
          </a:p>
        </p:txBody>
      </p:sp>
      <p:sp>
        <p:nvSpPr>
          <p:cNvPr id="11" name="Text 9"/>
          <p:cNvSpPr/>
          <p:nvPr/>
        </p:nvSpPr>
        <p:spPr>
          <a:xfrm>
            <a:off x="6446520" y="1874520"/>
            <a:ext cx="2098548" cy="1092708"/>
          </a:xfrm>
          <a:prstGeom prst="rect">
            <a:avLst/>
          </a:prstGeom>
          <a:solidFill>
            <a:srgbClr val="F7E7E5"/>
          </a:solidFill>
          <a:ln w="10160">
            <a:solidFill>
              <a:srgbClr val="D9E0E8"/>
            </a:solidFill>
          </a:ln>
        </p:spPr>
        <p:txBody>
          <a:bodyPr wrap="square" lIns="1270" tIns="1270" rIns="1270" bIns="1270" rtlCol="0" anchor="ctr">
            <a:normAutofit/>
          </a:bodyPr>
          <a:lstStyle/>
          <a:p>
            <a:pPr indent="0" marL="0">
              <a:buNone/>
            </a:pPr>
            <a:r>
              <a:rPr lang="en-US" sz="1400" b="1" dirty="0">
                <a:solidFill>
                  <a:srgbClr val="B84C45"/>
                </a:solidFill>
                <a:latin typeface="Aptos" pitchFamily="34" charset="0"/>
                <a:ea typeface="Aptos" pitchFamily="34" charset="-122"/>
                <a:cs typeface="Aptos" pitchFamily="34" charset="-120"/>
              </a:rPr>
              <a:t>Warning signs</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vague promise</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delayed action</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automatic hospitalization</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Another trap is beginning therapy techniques while immediate danger remains unclear.</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Strong answers assess directly, match the response to the supported risk, stabilize,…</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Avoid Underreaction and Overreaction</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Strong answers assess directly, match the response to the supported risk, stabilize, coordinate, and follow up.</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B84C45"/>
          </a:solidFill>
          <a:ln w="12700">
            <a:solidFill>
              <a:srgbClr val="B84C45">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B84C45"/>
                </a:solidFill>
                <a:latin typeface="Aptos" pitchFamily="34" charset="0"/>
                <a:ea typeface="Aptos" pitchFamily="34" charset="-122"/>
                <a:cs typeface="Aptos" pitchFamily="34" charset="-120"/>
              </a:rPr>
              <a:t>CRISIS + SAFETY</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04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B84C45"/>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Crisis Sequence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Before answering, ask: What is the immediate safety or medical concern?</a:t>
            </a:r>
            <a:endParaRPr lang="en-US" sz="2120" dirty="0"/>
          </a:p>
        </p:txBody>
      </p:sp>
      <p:sp>
        <p:nvSpPr>
          <p:cNvPr id="11" name="Shape 9"/>
          <p:cNvSpPr/>
          <p:nvPr/>
        </p:nvSpPr>
        <p:spPr>
          <a:xfrm>
            <a:off x="6629400" y="2441448"/>
            <a:ext cx="3977640" cy="0"/>
          </a:xfrm>
          <a:prstGeom prst="line">
            <a:avLst/>
          </a:prstGeom>
          <a:noFill/>
          <a:ln w="15240">
            <a:solidFill>
              <a:srgbClr val="B84C45">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compact sequence</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immediate safety</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direct assessment</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duty</a:t>
            </a:r>
            <a:endParaRPr lang="en-US" sz="1180" dirty="0"/>
          </a:p>
        </p:txBody>
      </p:sp>
      <p:sp>
        <p:nvSpPr>
          <p:cNvPr id="16" name="Text 14"/>
          <p:cNvSpPr/>
          <p:nvPr/>
        </p:nvSpPr>
        <p:spPr>
          <a:xfrm>
            <a:off x="10116922" y="2148840"/>
            <a:ext cx="718718" cy="621792"/>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level of care</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direct assessment is still needed?</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This sequence keeps crisis reasoning proportionate and prevents both dangerous delay and…</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B84C45"/>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Safety → Assess → Protect/Report → Stabilize → Document → Follow Up</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B84C45"/>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This sequence keeps crisis reasoning proportionate and prevents both dangerous delay and unnecessary overreaction.</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Multimedia Script 04: Crisis, Safety, Abuse, and Neglect</dc:title>
  <dc:subject>LCSW-Specific Multimedia Script 04</dc:subject>
  <dc:creator>Clinical Training Academy</dc:creator>
  <cp:lastModifiedBy>Clinical Training Academy</cp:lastModifiedBy>
  <cp:revision>1</cp:revision>
  <dcterms:created xsi:type="dcterms:W3CDTF">2026-07-25T20:56:15Z</dcterms:created>
  <dcterms:modified xsi:type="dcterms:W3CDTF">2026-07-25T20:56:15Z</dcterms:modified>
</cp:coreProperties>
</file>