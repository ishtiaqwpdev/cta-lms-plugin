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Collaboration is more than being agreeable with other professionals. It requires a shared purpose, clear roles, appropriate information sharing, client participation, and follow-through. The exam may present a physician, school, probation officer, family member, agency, or community provider. The best answer identifies who has authority and responsibility, what consent is needed, and what coordinated action will move the client’s goal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contacting another person or convening a team, clarify the purpose. Is the goal to exchange assessment information, coordinate medication and symptoms, plan discharge, address school functioning, arrange housing, manage safety, or clarify service eligibility? A specific purpose determines who should be involved, what information is relevant, and what outcome should result. Collaboration without a defined purpose can create unnecessary disclosure and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team members hold different authority and expertise. The physician manages medical treatment, the school controls educational services, the agency determines eligibility, and the social worker may assess, coordinate, advocate, or provide treatment within role. Clarify who can make each decision and who is responsible for the next task. Do not assume that participation in a team meeting transfers another professional’s duty to the social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consent is required, make it meaningful. Explain who will receive information, what will be shared, why it is needed, how long authorization lasts, and any foreseeable consequences. The client should understand that consent can often be limited or revoked, subject to applicable law and the service context. Avoid broad releases merely for convenience. If an exception allows disclosure, share only what serves the specific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members do not automatically need the entire clinical record. Share the information relevant to the collaborative task. A housing provider may need functional or accommodation information, not a complete trauma history. A medical provider may need symptom timing, medication adherence, or safety concerns. Minimum necessary communication protects privacy while still allowing effective coordination.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Collaboration should not turn the client into an object of professional discussion. Ask how the client wants to participate, what information the client wants emphasized, and what concerns the client has about the team. Prepare the client for meetings and review decisions afterward. In some urgent or legally defined situations, full participation may not be possible, but the social worker should preserve transparency and involvement to the greatest safe extent.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Effective consultation begins with a focused question, relevant facts, identified uncertainty, and awareness of role and risk. Supervision can support competence, policy interpretation, and ethical reasoning. Consultation does not transfer responsibility for the final professional decision. Document the guidance received, how it informed the action, and any remaining steps. In emergencies, do not delay necessary protection while waiting for routine consultation.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communication should be concise and actionable. State the current situation, relevant background, your assessment within role, the specific request, and what response or next step is needed. Confirm who will act and by when. Avoid vague messages such as “Please follow up” when the task is urgent. Structured communication reduces missed information, duplicated effort, and assumptions about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handoff is not complete when a referral is sent. Confirm that the receiving service accepted the referral, that the client understands the next step, that access barriers are addressed, and that someone will verify the result. A warm handoff may involve a joint call, introduction, transfer of relevant information with consent, and a scheduled follow-up. Closing the loop protects continuity and reveals when the plan needs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team members disagree, avoid personalizing the conflict or simply deferring to the highest-status professional. Clarify the facts, each role, the client’s goals, safety concerns, applicable policy, and the evidence supporting each position. Seek a shared plan or appropriate escalation path. If the disagreement creates risk or an ethical concern, consult supervision and document the issue, proposed resolution, and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hospitalized client is medically ready for discharge but has unstable housing, limited transportation, and several medication changes. The social worker should clarify the client’s goals and consent, coordinate with medical staff and community services, confirm medication understanding, arrange feasible follow-up and transportation, identify housing or shelter options, assign responsibility, and establish a check-in point. A discharge date alone does not establish continuity 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school requests detailed therapy information about an adolescent with attendance problems. The social worker should clarify the purpose, review authorization and confidentiality, involve the adolescent and caregiver appropriately, and share only information necessary for the educational coordination. The school can address attendance and accommodations, while the clinician addresses treatment. Collaboration should support the student without turning therapy into unrestricted school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obtaining an overly broad release, sharing the entire record, assuming another provider will follow up, taking over decisions outside scope, excluding the client, or yielding to authority without examining risk and evidence. Another trap is confusing a team recommendation with informed client agreement. Strong answers clarify purpose, consent, role, task, timeline, and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answering, ask: What is the purpose of collaboration? What consent or authority applies? Who has the relevant role and decision-making power? What information is necessary? Who will do what and by when? How will the handoff and outcome be confirmed? This check keeps interdisciplinary work client-centered, private, efficient, and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01/14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01</a:t>
            </a:r>
            <a:endParaRPr lang="en-US" sz="3800" dirty="0"/>
          </a:p>
        </p:txBody>
      </p:sp>
      <p:sp>
        <p:nvSpPr>
          <p:cNvPr id="9" name="Text 7"/>
          <p:cNvSpPr/>
          <p:nvPr/>
        </p:nvSpPr>
        <p:spPr>
          <a:xfrm>
            <a:off x="566928" y="950976"/>
            <a:ext cx="6629400" cy="960120"/>
          </a:xfrm>
          <a:prstGeom prst="rect">
            <a:avLst/>
          </a:prstGeom>
          <a:noFill/>
          <a:ln/>
        </p:spPr>
        <p:txBody>
          <a:bodyPr wrap="square" lIns="254" tIns="254" rIns="254" bIns="254" rtlCol="0" anchor="ctr">
            <a:normAutofit/>
          </a:bodyPr>
          <a:lstStyle/>
          <a:p>
            <a:pPr indent="0" marL="0">
              <a:buNone/>
            </a:pPr>
            <a:r>
              <a:rPr lang="en-US" sz="3300" b="1" dirty="0">
                <a:solidFill>
                  <a:srgbClr val="10263F"/>
                </a:solidFill>
                <a:latin typeface="Aptos Display" pitchFamily="34" charset="0"/>
                <a:ea typeface="Aptos Display" pitchFamily="34" charset="-122"/>
                <a:cs typeface="Aptos Display" pitchFamily="34" charset="-120"/>
              </a:rPr>
              <a:t>Collaboration and Interdisciplinary Practice</a:t>
            </a:r>
            <a:endParaRPr lang="en-US" sz="3300" dirty="0"/>
          </a:p>
        </p:txBody>
      </p:sp>
      <p:sp>
        <p:nvSpPr>
          <p:cNvPr id="10" name="Text 8"/>
          <p:cNvSpPr/>
          <p:nvPr/>
        </p:nvSpPr>
        <p:spPr>
          <a:xfrm>
            <a:off x="585216" y="1938528"/>
            <a:ext cx="6903720" cy="310896"/>
          </a:xfrm>
          <a:prstGeom prst="rect">
            <a:avLst/>
          </a:prstGeom>
          <a:noFill/>
          <a:ln/>
        </p:spPr>
        <p:txBody>
          <a:bodyPr wrap="square" lIns="0" tIns="0" rIns="0" bIns="0" rtlCol="0" anchor="ctr"/>
          <a:lstStyle/>
          <a:p>
            <a:pPr indent="0" marL="0">
              <a:buNone/>
            </a:pPr>
            <a:r>
              <a:rPr lang="en-US" sz="1340" dirty="0">
                <a:solidFill>
                  <a:srgbClr val="5A6675"/>
                </a:solidFill>
                <a:latin typeface="Aptos" pitchFamily="34" charset="0"/>
                <a:ea typeface="Aptos" pitchFamily="34" charset="-122"/>
                <a:cs typeface="Aptos" pitchFamily="34" charset="-120"/>
              </a:rPr>
              <a:t>LCSW-Specific Multimedia Script 06 • Ready-to-record deck</a:t>
            </a:r>
            <a:endParaRPr lang="en-US" sz="1340" dirty="0"/>
          </a:p>
        </p:txBody>
      </p:sp>
      <p:sp>
        <p:nvSpPr>
          <p:cNvPr id="11" name="Text 9"/>
          <p:cNvSpPr/>
          <p:nvPr/>
        </p:nvSpPr>
        <p:spPr>
          <a:xfrm>
            <a:off x="7882128" y="2212848"/>
            <a:ext cx="3246120" cy="1005840"/>
          </a:xfrm>
          <a:prstGeom prst="rect">
            <a:avLst/>
          </a:prstGeom>
          <a:noFill/>
          <a:ln/>
        </p:spPr>
        <p:txBody>
          <a:bodyPr wrap="square" lIns="254" tIns="254" rIns="254" bIns="254" rtlCol="0" anchor="ctr">
            <a:normAutofit/>
          </a:bodyPr>
          <a:lstStyle/>
          <a:p>
            <a:pPr indent="0" marL="0">
              <a:buNone/>
            </a:pPr>
            <a:r>
              <a:rPr lang="en-US" sz="2050" b="1" dirty="0">
                <a:solidFill>
                  <a:srgbClr val="1D2838"/>
                </a:solidFill>
                <a:latin typeface="Aptos Display" pitchFamily="34" charset="0"/>
                <a:ea typeface="Aptos Display" pitchFamily="34" charset="-122"/>
                <a:cs typeface="Aptos Display" pitchFamily="34" charset="-120"/>
              </a:rPr>
              <a:t>Collaboration is more than being agreeable with other professionals.</a:t>
            </a:r>
            <a:endParaRPr lang="en-US" sz="2050" dirty="0"/>
          </a:p>
        </p:txBody>
      </p:sp>
      <p:sp>
        <p:nvSpPr>
          <p:cNvPr id="12" name="Text 10"/>
          <p:cNvSpPr/>
          <p:nvPr/>
        </p:nvSpPr>
        <p:spPr>
          <a:xfrm>
            <a:off x="7635240" y="5413248"/>
            <a:ext cx="3429000" cy="411480"/>
          </a:xfrm>
          <a:prstGeom prst="rect">
            <a:avLst/>
          </a:prstGeom>
          <a:noFill/>
          <a:ln/>
        </p:spPr>
        <p:txBody>
          <a:bodyPr wrap="square" lIns="0" tIns="0" rIns="0" bIns="0" rtlCol="0" anchor="ctr">
            <a:normAutofit/>
          </a:bodyPr>
          <a:lstStyle/>
          <a:p>
            <a:pPr indent="0" marL="0">
              <a:buNone/>
            </a:pPr>
            <a:r>
              <a:rPr lang="en-US" sz="1280" dirty="0">
                <a:solidFill>
                  <a:srgbClr val="5A6675"/>
                </a:solidFill>
                <a:latin typeface="Aptos" pitchFamily="34" charset="0"/>
                <a:ea typeface="Aptos" pitchFamily="34" charset="-122"/>
                <a:cs typeface="Aptos" pitchFamily="34" charset="-120"/>
              </a:rPr>
              <a:t>Speaker notes are synchronized with the Word narration script.</a:t>
            </a:r>
            <a:endParaRPr lang="en-US" sz="1280" dirty="0"/>
          </a:p>
        </p:txBody>
      </p:sp>
      <p:sp>
        <p:nvSpPr>
          <p:cNvPr id="13" name="Text 11"/>
          <p:cNvSpPr/>
          <p:nvPr/>
        </p:nvSpPr>
        <p:spPr>
          <a:xfrm>
            <a:off x="621792" y="5358384"/>
            <a:ext cx="2514600" cy="301752"/>
          </a:xfrm>
          <a:prstGeom prst="rect">
            <a:avLst/>
          </a:prstGeom>
          <a:solidFill>
            <a:srgbClr val="6B4BA3"/>
          </a:solidFill>
          <a:ln/>
        </p:spPr>
        <p:txBody>
          <a:bodyPr wrap="square" lIns="254" tIns="254" rIns="254" bIns="254"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READY TO RECORD</a:t>
            </a:r>
            <a:endParaRPr lang="en-US" sz="1050" dirty="0"/>
          </a:p>
        </p:txBody>
      </p:sp>
      <p:sp>
        <p:nvSpPr>
          <p:cNvPr id="14" name="Shape 12"/>
          <p:cNvSpPr/>
          <p:nvPr/>
        </p:nvSpPr>
        <p:spPr>
          <a:xfrm>
            <a:off x="1033272" y="3566160"/>
            <a:ext cx="5760720" cy="0"/>
          </a:xfrm>
          <a:prstGeom prst="line">
            <a:avLst/>
          </a:prstGeom>
          <a:noFill/>
          <a:ln w="15240">
            <a:solidFill>
              <a:srgbClr val="6B4BA3">
                <a:alpha val="75000"/>
              </a:srgbClr>
            </a:solidFill>
            <a:prstDash val="solid"/>
            <a:tailEnd type="triangle"/>
          </a:ln>
        </p:spPr>
      </p:sp>
      <p:sp>
        <p:nvSpPr>
          <p:cNvPr id="15" name="Text 13"/>
          <p:cNvSpPr/>
          <p:nvPr/>
        </p:nvSpPr>
        <p:spPr>
          <a:xfrm>
            <a:off x="804672"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6" name="Text 14"/>
          <p:cNvSpPr/>
          <p:nvPr/>
        </p:nvSpPr>
        <p:spPr>
          <a:xfrm>
            <a:off x="2947416" y="3273552"/>
            <a:ext cx="193243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7" name="Text 15"/>
          <p:cNvSpPr/>
          <p:nvPr/>
        </p:nvSpPr>
        <p:spPr>
          <a:xfrm>
            <a:off x="5090160" y="3273552"/>
            <a:ext cx="1932432"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8" name="Text 16"/>
          <p:cNvSpPr/>
          <p:nvPr/>
        </p:nvSpPr>
        <p:spPr>
          <a:xfrm>
            <a:off x="7635240" y="3364992"/>
            <a:ext cx="1687068" cy="758952"/>
          </a:xfrm>
          <a:prstGeom prst="rect">
            <a:avLst/>
          </a:prstGeom>
          <a:solidFill>
            <a:srgbClr val="EEE9F7"/>
          </a:solidFill>
          <a:ln w="10160">
            <a:solidFill>
              <a:srgbClr val="D9E0E8"/>
            </a:solidFill>
          </a:ln>
        </p:spPr>
        <p:txBody>
          <a:bodyPr wrap="square" lIns="1270" tIns="1270" rIns="1270" bIns="1270" rtlCol="0" anchor="ctr">
            <a:normAutofit/>
          </a:bodyPr>
          <a:lstStyle/>
          <a:p>
            <a:pPr indent="0" marL="0">
              <a:buNone/>
            </a:pPr>
            <a:r>
              <a:rPr lang="en-US" sz="1400" b="1" dirty="0">
                <a:solidFill>
                  <a:srgbClr val="6B4BA3"/>
                </a:solidFill>
                <a:latin typeface="Aptos" pitchFamily="34" charset="0"/>
                <a:ea typeface="Aptos" pitchFamily="34" charset="-122"/>
                <a:cs typeface="Aptos" pitchFamily="34" charset="-120"/>
              </a:rPr>
              <a:t>Clarify</a:t>
            </a:r>
            <a:endParaRPr lang="en-US" sz="1400" dirty="0"/>
          </a:p>
        </p:txBody>
      </p:sp>
      <p:sp>
        <p:nvSpPr>
          <p:cNvPr id="19" name="Text 17"/>
          <p:cNvSpPr/>
          <p:nvPr/>
        </p:nvSpPr>
        <p:spPr>
          <a:xfrm>
            <a:off x="9395460" y="3364992"/>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Sequence</a:t>
            </a:r>
            <a:endParaRPr lang="en-US" sz="1400" dirty="0"/>
          </a:p>
        </p:txBody>
      </p:sp>
      <p:sp>
        <p:nvSpPr>
          <p:cNvPr id="20" name="Text 18"/>
          <p:cNvSpPr/>
          <p:nvPr/>
        </p:nvSpPr>
        <p:spPr>
          <a:xfrm>
            <a:off x="7635240" y="4197096"/>
            <a:ext cx="1687068" cy="758952"/>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Choose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02/14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Start With the Purpose of Collaboration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Before contacting another person or convening a team, clarify the purpose.</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EE9F7"/>
          </a:solidFill>
          <a:ln w="13970">
            <a:solidFill>
              <a:srgbClr val="6B4BA3">
                <a:alpha val="75000"/>
              </a:srgbClr>
            </a:solidFill>
          </a:ln>
        </p:spPr>
        <p:txBody>
          <a:bodyPr wrap="square" lIns="1016" tIns="1016" rIns="1016" bIns="1016"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Is the goal to exchange assessment information, coordinate medication and symptoms, plan…</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Collaboration without a defined purpose can create unnecessary disclosure and confusion.</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Why Are We Coordinating?</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Collaboration without a defined purpose can create unnecessary disclosure and confusion.</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03/14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Clarify Roles, Authority, and Scope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Different team members hold different authority and expertise.</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team role map showing social…</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medical provider</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school</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agency</a:t>
            </a:r>
            <a:endParaRPr lang="en-US" sz="1180" dirty="0"/>
          </a:p>
        </p:txBody>
      </p:sp>
      <p:sp>
        <p:nvSpPr>
          <p:cNvPr id="16" name="Text 14"/>
          <p:cNvSpPr/>
          <p:nvPr/>
        </p:nvSpPr>
        <p:spPr>
          <a:xfrm>
            <a:off x="10116922" y="2148840"/>
            <a:ext cx="718718"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client</a:t>
            </a:r>
            <a:endParaRPr lang="en-US" sz="1180" dirty="0"/>
          </a:p>
        </p:txBody>
      </p:sp>
      <p:sp>
        <p:nvSpPr>
          <p:cNvPr id="17" name="Text 15"/>
          <p:cNvSpPr/>
          <p:nvPr/>
        </p:nvSpPr>
        <p:spPr>
          <a:xfrm>
            <a:off x="6949440" y="3063240"/>
            <a:ext cx="3246120" cy="1371600"/>
          </a:xfrm>
          <a:prstGeom prst="rect">
            <a:avLst/>
          </a:prstGeom>
          <a:solidFill>
            <a:srgbClr val="EEE9F7"/>
          </a:solidFill>
          <a:ln w="13970">
            <a:solidFill>
              <a:srgbClr val="6B4BA3">
                <a:alpha val="75000"/>
              </a:srgbClr>
            </a:solidFill>
          </a:ln>
        </p:spPr>
        <p:txBody>
          <a:bodyPr wrap="square" lIns="1016" tIns="1016" rIns="1016" bIns="1016"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team role map showing social…</a:t>
            </a:r>
            <a:endParaRPr lang="en-US" sz="2200" dirty="0"/>
          </a:p>
        </p:txBody>
      </p:sp>
      <p:sp>
        <p:nvSpPr>
          <p:cNvPr id="18" name="Text 16"/>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physician manages medical treatment, the school controls educational services, the agency…</a:t>
            </a:r>
            <a:endParaRPr lang="en-US" sz="1350" dirty="0"/>
          </a:p>
        </p:txBody>
      </p:sp>
      <p:sp>
        <p:nvSpPr>
          <p:cNvPr id="20" name="Text 18"/>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Do not assume that participation in a team meeting transfers another professional’s duty to…</a:t>
            </a:r>
            <a:endParaRPr lang="en-US" sz="135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3" name="Text 21"/>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Who Can Decide? Who Must Act?</a:t>
            </a:r>
            <a:endParaRPr lang="en-US" sz="1350" dirty="0"/>
          </a:p>
        </p:txBody>
      </p:sp>
      <p:sp>
        <p:nvSpPr>
          <p:cNvPr id="24" name="Text 22"/>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5" name="Text 23"/>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Do not assume that participation in a team meeting transfers another professional’s duty to the social worker.</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04/14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Obtain Consent and Explain Information Sharing</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consent is required, make it meaningful.</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consent pathway defining…</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purpose</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information</a:t>
            </a:r>
            <a:endParaRPr lang="en-US" sz="1180" dirty="0"/>
          </a:p>
        </p:txBody>
      </p:sp>
      <p:sp>
        <p:nvSpPr>
          <p:cNvPr id="15" name="Text 13"/>
          <p:cNvSpPr/>
          <p:nvPr/>
        </p:nvSpPr>
        <p:spPr>
          <a:xfrm>
            <a:off x="9884664" y="2148840"/>
            <a:ext cx="950976"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time.</a:t>
            </a:r>
            <a:endParaRPr lang="en-US" sz="1180" dirty="0"/>
          </a:p>
        </p:txBody>
      </p:sp>
      <p:sp>
        <p:nvSpPr>
          <p:cNvPr id="16" name="Text 14"/>
          <p:cNvSpPr/>
          <p:nvPr/>
        </p:nvSpPr>
        <p:spPr>
          <a:xfrm>
            <a:off x="6949440" y="3063240"/>
            <a:ext cx="3246120" cy="1371600"/>
          </a:xfrm>
          <a:prstGeom prst="rect">
            <a:avLst/>
          </a:prstGeom>
          <a:solidFill>
            <a:srgbClr val="EEE9F7"/>
          </a:solidFill>
          <a:ln w="13970">
            <a:solidFill>
              <a:srgbClr val="6B4BA3">
                <a:alpha val="75000"/>
              </a:srgbClr>
            </a:solidFill>
          </a:ln>
        </p:spPr>
        <p:txBody>
          <a:bodyPr wrap="square" lIns="1016" tIns="1016" rIns="1016" bIns="1016"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consent pathway defining…</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Explain who will receive information, what will be shared, why it is needed, how long…</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If an exception allows disclosure, share only what serves the specific purpose.</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Who • What • Why • How Long</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If an exception allows disclosure, share only what serves the specific purpose.</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05/14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05</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Minimum Necessary Communication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Team members do not automatically need the entire clinical record.</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Relevant</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Authorized</a:t>
            </a:r>
            <a:endParaRPr lang="en-US" sz="1180" dirty="0"/>
          </a:p>
        </p:txBody>
      </p:sp>
      <p:sp>
        <p:nvSpPr>
          <p:cNvPr id="14" name="Text 12"/>
          <p:cNvSpPr/>
          <p:nvPr/>
        </p:nvSpPr>
        <p:spPr>
          <a:xfrm>
            <a:off x="9497568" y="2148840"/>
            <a:ext cx="1338072"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No Broader Than Needed</a:t>
            </a:r>
            <a:endParaRPr lang="en-US" sz="1180" dirty="0"/>
          </a:p>
        </p:txBody>
      </p:sp>
      <p:sp>
        <p:nvSpPr>
          <p:cNvPr id="15" name="Text 13"/>
          <p:cNvSpPr/>
          <p:nvPr/>
        </p:nvSpPr>
        <p:spPr>
          <a:xfrm>
            <a:off x="6949440" y="3063240"/>
            <a:ext cx="3246120" cy="1371600"/>
          </a:xfrm>
          <a:prstGeom prst="rect">
            <a:avLst/>
          </a:prstGeom>
          <a:solidFill>
            <a:srgbClr val="EEE9F7"/>
          </a:solidFill>
          <a:ln w="13970">
            <a:solidFill>
              <a:srgbClr val="6B4BA3">
                <a:alpha val="75000"/>
              </a:srgbClr>
            </a:solidFill>
          </a:ln>
        </p:spPr>
        <p:txBody>
          <a:bodyPr wrap="square" lIns="1016" tIns="1016" rIns="1016" bIns="1016"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Relevant</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Share the information relevant to the collaborative task.</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Minimum necessary communication protects privacy while still allowing effective coordination.</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Relevant, Authorized, and No Broader Than Needed</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Minimum necessary communication protects privacy while still allowing effective coordination.</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06/14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06</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Keep the Client in the Team</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Collaboration should not turn the client into an object of professional discussion.</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EE9F7"/>
          </a:solidFill>
          <a:ln w="13970">
            <a:solidFill>
              <a:srgbClr val="6B4BA3">
                <a:alpha val="75000"/>
              </a:srgbClr>
            </a:solidFill>
          </a:ln>
        </p:spPr>
        <p:txBody>
          <a:bodyPr wrap="square" lIns="1016" tIns="1016" rIns="1016" bIns="1016"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Ask how the client wants to participate, what information the client wants emphasized, and…</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In some urgent or legally defined situations, full participation may not be possible, but the…</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Nothing About the Client Without the Client When Feasible</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In some urgent or legally defined situations, full participation may not be possible, but the social worker should preserve transparency and…</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07/14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07</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Use Consultation and Supervision Correctly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Effective consultation begins with a focused question, relevant facts, identified uncertainty, and awareness of role and risk.</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Clarify</a:t>
            </a:r>
            <a:endParaRPr lang="en-US" sz="1180" dirty="0"/>
          </a:p>
        </p:txBody>
      </p:sp>
      <p:sp>
        <p:nvSpPr>
          <p:cNvPr id="13" name="Text 11"/>
          <p:cNvSpPr/>
          <p:nvPr/>
        </p:nvSpPr>
        <p:spPr>
          <a:xfrm>
            <a:off x="7949184" y="2148840"/>
            <a:ext cx="1338072"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Sequence</a:t>
            </a:r>
            <a:endParaRPr lang="en-US" sz="1180" dirty="0"/>
          </a:p>
        </p:txBody>
      </p:sp>
      <p:sp>
        <p:nvSpPr>
          <p:cNvPr id="14" name="Text 12"/>
          <p:cNvSpPr/>
          <p:nvPr/>
        </p:nvSpPr>
        <p:spPr>
          <a:xfrm>
            <a:off x="9497568" y="2148840"/>
            <a:ext cx="1338072"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Choose</a:t>
            </a:r>
            <a:endParaRPr lang="en-US" sz="1180" dirty="0"/>
          </a:p>
        </p:txBody>
      </p:sp>
      <p:sp>
        <p:nvSpPr>
          <p:cNvPr id="15" name="Text 13"/>
          <p:cNvSpPr/>
          <p:nvPr/>
        </p:nvSpPr>
        <p:spPr>
          <a:xfrm>
            <a:off x="6949440" y="3063240"/>
            <a:ext cx="3246120" cy="1371600"/>
          </a:xfrm>
          <a:prstGeom prst="rect">
            <a:avLst/>
          </a:prstGeom>
          <a:solidFill>
            <a:srgbClr val="EEE9F7"/>
          </a:solidFill>
          <a:ln w="13970">
            <a:solidFill>
              <a:srgbClr val="6B4BA3">
                <a:alpha val="75000"/>
              </a:srgbClr>
            </a:solidFill>
          </a:ln>
        </p:spPr>
        <p:txBody>
          <a:bodyPr wrap="square" lIns="1016" tIns="1016" rIns="1016" bIns="1016"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Supervision can support competence, policy interpretation, and ethical reasoning.</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In emergencies, do not delay necessary protection while waiting for routine consultation.</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the Question • Bring the Facts • Retain Responsibility</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In emergencies, do not delay necessary protection while waiting for routine consultation.</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08/14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08</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Communicate in a Structured Way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Team communication should be concise and actionable.</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structured handoff</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situation</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background</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assessment</a:t>
            </a:r>
            <a:endParaRPr lang="en-US" sz="1180" dirty="0"/>
          </a:p>
        </p:txBody>
      </p:sp>
      <p:sp>
        <p:nvSpPr>
          <p:cNvPr id="16" name="Text 14"/>
          <p:cNvSpPr/>
          <p:nvPr/>
        </p:nvSpPr>
        <p:spPr>
          <a:xfrm>
            <a:off x="10116922" y="2148840"/>
            <a:ext cx="718718"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request</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State the current situation, relevant background, your assessment within role, the specific…</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Structured communication reduces missed information, duplicated effort, and assumptions about…</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Situation • Relevant Background • Assessment • Request • Next Step</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Structured communication reduces missed information, duplicated effort, and assumptions about responsibility.</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09/14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09</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Make Warm Handoffs and Close the Loop</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handoff is not complete when a referral is sent.</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handoff moving from contact to…</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appointment</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attendance</a:t>
            </a:r>
            <a:endParaRPr lang="en-US" sz="1180" dirty="0"/>
          </a:p>
        </p:txBody>
      </p:sp>
      <p:sp>
        <p:nvSpPr>
          <p:cNvPr id="15" name="Text 13"/>
          <p:cNvSpPr/>
          <p:nvPr/>
        </p:nvSpPr>
        <p:spPr>
          <a:xfrm>
            <a:off x="9884664" y="2148840"/>
            <a:ext cx="950976"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outcome.</a:t>
            </a:r>
            <a:endParaRPr lang="en-US" sz="1180" dirty="0"/>
          </a:p>
        </p:txBody>
      </p:sp>
      <p:sp>
        <p:nvSpPr>
          <p:cNvPr id="16" name="Text 14"/>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Confirm that the receiving service accepted the referral, that the client understands the…</a:t>
            </a:r>
            <a:endParaRPr lang="en-US" sz="1350" dirty="0"/>
          </a:p>
        </p:txBody>
      </p:sp>
      <p:sp>
        <p:nvSpPr>
          <p:cNvPr id="18" name="Text 16"/>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Closing the loop protects continuity and reveals when the plan needs revision.</a:t>
            </a:r>
            <a:endParaRPr lang="en-US" sz="135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1" name="Text 19"/>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Contact → Acceptance → Appointment → Follow-Up</a:t>
            </a:r>
            <a:endParaRPr lang="en-US" sz="1350" dirty="0"/>
          </a:p>
        </p:txBody>
      </p:sp>
      <p:sp>
        <p:nvSpPr>
          <p:cNvPr id="22" name="Text 20"/>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3" name="Text 21"/>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Closing the loop protects continuity and reveals when the plan needs revision.</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10/14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10</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Resolve Team Disagreement Professionally</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When team members disagree, avoid personalizing the conflict or simply deferring to the highest-status professional.</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Facts</a:t>
            </a:r>
            <a:endParaRPr lang="en-US" sz="1180" dirty="0"/>
          </a:p>
        </p:txBody>
      </p:sp>
      <p:sp>
        <p:nvSpPr>
          <p:cNvPr id="13" name="Text 11"/>
          <p:cNvSpPr/>
          <p:nvPr/>
        </p:nvSpPr>
        <p:spPr>
          <a:xfrm>
            <a:off x="7562088"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Roles</a:t>
            </a:r>
            <a:endParaRPr lang="en-US" sz="1180" dirty="0"/>
          </a:p>
        </p:txBody>
      </p:sp>
      <p:sp>
        <p:nvSpPr>
          <p:cNvPr id="14" name="Text 12"/>
          <p:cNvSpPr/>
          <p:nvPr/>
        </p:nvSpPr>
        <p:spPr>
          <a:xfrm>
            <a:off x="8723376" y="2148840"/>
            <a:ext cx="950976"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Risk</a:t>
            </a:r>
            <a:endParaRPr lang="en-US" sz="1180" dirty="0"/>
          </a:p>
        </p:txBody>
      </p:sp>
      <p:sp>
        <p:nvSpPr>
          <p:cNvPr id="15" name="Text 13"/>
          <p:cNvSpPr/>
          <p:nvPr/>
        </p:nvSpPr>
        <p:spPr>
          <a:xfrm>
            <a:off x="9884664" y="2148840"/>
            <a:ext cx="950976"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Client’s Goal</a:t>
            </a:r>
            <a:endParaRPr lang="en-US" sz="1180" dirty="0"/>
          </a:p>
        </p:txBody>
      </p:sp>
      <p:sp>
        <p:nvSpPr>
          <p:cNvPr id="16" name="Text 14"/>
          <p:cNvSpPr/>
          <p:nvPr/>
        </p:nvSpPr>
        <p:spPr>
          <a:xfrm>
            <a:off x="6949440" y="3063240"/>
            <a:ext cx="3246120" cy="1371600"/>
          </a:xfrm>
          <a:prstGeom prst="rect">
            <a:avLst/>
          </a:prstGeom>
          <a:solidFill>
            <a:srgbClr val="EEE9F7"/>
          </a:solidFill>
          <a:ln w="13970">
            <a:solidFill>
              <a:srgbClr val="6B4BA3">
                <a:alpha val="75000"/>
              </a:srgbClr>
            </a:solidFill>
          </a:ln>
        </p:spPr>
        <p:txBody>
          <a:bodyPr wrap="square" lIns="1016" tIns="1016" rIns="1016" bIns="1016" rtlCol="0" anchor="ctr">
            <a:normAutofit/>
          </a:bodyPr>
          <a:lstStyle/>
          <a:p>
            <a:pPr algn="ctr" indent="0" marL="0">
              <a:buNone/>
            </a:pPr>
            <a:r>
              <a:rPr lang="en-US" sz="2200" b="1" dirty="0">
                <a:solidFill>
                  <a:srgbClr val="6B4BA3"/>
                </a:solidFill>
                <a:latin typeface="Aptos Display" pitchFamily="34" charset="0"/>
                <a:ea typeface="Aptos Display" pitchFamily="34" charset="-122"/>
                <a:cs typeface="Aptos Display" pitchFamily="34" charset="-120"/>
              </a:rPr>
              <a:t>Facts</a:t>
            </a:r>
            <a:endParaRPr lang="en-US" sz="220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the facts, each role, the client’s goals, safety concerns, applicable policy, and the…</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If the disagreement creates risk or an ethical concern, consult supervision and document the…</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Clarify Facts, Roles, Risk, and the Client’s Goal</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If the disagreement creates risk or an ethical concern, consult supervision and document the issue, proposed resolution, and follow-up.</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11/14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11</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Hospital Discharge</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hospitalized client is medically ready for discharge but has unstable housing, limited transportation, and several medication changes.</a:t>
            </a:r>
            <a:endParaRPr lang="en-US" sz="2120" dirty="0"/>
          </a:p>
        </p:txBody>
      </p:sp>
      <p:sp>
        <p:nvSpPr>
          <p:cNvPr id="11" name="Shape 9"/>
          <p:cNvSpPr/>
          <p:nvPr/>
        </p:nvSpPr>
        <p:spPr>
          <a:xfrm>
            <a:off x="6629400" y="2441448"/>
            <a:ext cx="3977640" cy="0"/>
          </a:xfrm>
          <a:prstGeom prst="line">
            <a:avLst/>
          </a:prstGeom>
          <a:noFill/>
          <a:ln w="15240">
            <a:solidFill>
              <a:srgbClr val="6B4BA3">
                <a:alpha val="75000"/>
              </a:srgbClr>
            </a:solidFill>
            <a:prstDash val="solid"/>
            <a:tailEnd type="triangle"/>
          </a:ln>
        </p:spPr>
      </p:sp>
      <p:sp>
        <p:nvSpPr>
          <p:cNvPr id="12" name="Text 10"/>
          <p:cNvSpPr/>
          <p:nvPr/>
        </p:nvSpPr>
        <p:spPr>
          <a:xfrm>
            <a:off x="640080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discharge team coordinating…</a:t>
            </a:r>
            <a:endParaRPr lang="en-US" sz="1180" dirty="0"/>
          </a:p>
        </p:txBody>
      </p:sp>
      <p:sp>
        <p:nvSpPr>
          <p:cNvPr id="13" name="Text 11"/>
          <p:cNvSpPr/>
          <p:nvPr/>
        </p:nvSpPr>
        <p:spPr>
          <a:xfrm>
            <a:off x="7329830"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housing</a:t>
            </a:r>
            <a:endParaRPr lang="en-US" sz="1180" dirty="0"/>
          </a:p>
        </p:txBody>
      </p:sp>
      <p:sp>
        <p:nvSpPr>
          <p:cNvPr id="14" name="Text 12"/>
          <p:cNvSpPr/>
          <p:nvPr/>
        </p:nvSpPr>
        <p:spPr>
          <a:xfrm>
            <a:off x="825886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follow up care</a:t>
            </a:r>
            <a:endParaRPr lang="en-US" sz="1180" dirty="0"/>
          </a:p>
        </p:txBody>
      </p:sp>
      <p:sp>
        <p:nvSpPr>
          <p:cNvPr id="15" name="Text 13"/>
          <p:cNvSpPr/>
          <p:nvPr/>
        </p:nvSpPr>
        <p:spPr>
          <a:xfrm>
            <a:off x="9187891" y="2148840"/>
            <a:ext cx="718718" cy="621792"/>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80" b="1" dirty="0">
                <a:solidFill>
                  <a:srgbClr val="1D2838"/>
                </a:solidFill>
                <a:latin typeface="Aptos" pitchFamily="34" charset="0"/>
                <a:ea typeface="Aptos" pitchFamily="34" charset="-122"/>
                <a:cs typeface="Aptos" pitchFamily="34" charset="-120"/>
              </a:rPr>
              <a:t>transportation</a:t>
            </a:r>
            <a:endParaRPr lang="en-US" sz="1180" dirty="0"/>
          </a:p>
        </p:txBody>
      </p:sp>
      <p:sp>
        <p:nvSpPr>
          <p:cNvPr id="16" name="Text 14"/>
          <p:cNvSpPr/>
          <p:nvPr/>
        </p:nvSpPr>
        <p:spPr>
          <a:xfrm>
            <a:off x="10116922" y="2148840"/>
            <a:ext cx="718718" cy="621792"/>
          </a:xfrm>
          <a:prstGeom prst="rect">
            <a:avLst/>
          </a:prstGeom>
          <a:solidFill>
            <a:srgbClr val="6B4BA3"/>
          </a:solidFill>
          <a:ln w="10160">
            <a:solidFill>
              <a:srgbClr val="6B4BA3"/>
            </a:solidFill>
          </a:ln>
        </p:spPr>
        <p:txBody>
          <a:bodyPr wrap="square" lIns="508" tIns="508" rIns="508" bIns="508" rtlCol="0" anchor="ctr">
            <a:normAutofit/>
          </a:bodyPr>
          <a:lstStyle/>
          <a:p>
            <a:pPr algn="ctr" indent="0" marL="0">
              <a:buNone/>
            </a:pPr>
            <a:r>
              <a:rPr lang="en-US" sz="1180" b="1" dirty="0">
                <a:solidFill>
                  <a:srgbClr val="FFFFFF"/>
                </a:solidFill>
                <a:latin typeface="Aptos" pitchFamily="34" charset="0"/>
                <a:ea typeface="Aptos" pitchFamily="34" charset="-122"/>
                <a:cs typeface="Aptos" pitchFamily="34" charset="-120"/>
              </a:rPr>
              <a:t>client preferences.</a:t>
            </a:r>
            <a:endParaRPr lang="en-US" sz="1180" dirty="0"/>
          </a:p>
        </p:txBody>
      </p:sp>
      <p:sp>
        <p:nvSpPr>
          <p:cNvPr id="17" name="Text 15"/>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social worker should clarify the client’s goals and consent, coordinate with medical…</a:t>
            </a:r>
            <a:endParaRPr lang="en-US" sz="1350" dirty="0"/>
          </a:p>
        </p:txBody>
      </p:sp>
      <p:sp>
        <p:nvSpPr>
          <p:cNvPr id="19" name="Text 17"/>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discharge date alone does not establish continuity or safety.</a:t>
            </a:r>
            <a:endParaRPr lang="en-US" sz="1350" dirty="0"/>
          </a:p>
        </p:txBody>
      </p:sp>
      <p:sp>
        <p:nvSpPr>
          <p:cNvPr id="21" name="Text 19"/>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2" name="Text 20"/>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 Safe Discharge Requires More Than an Appointment</a:t>
            </a:r>
            <a:endParaRPr lang="en-US" sz="1350" dirty="0"/>
          </a:p>
        </p:txBody>
      </p:sp>
      <p:sp>
        <p:nvSpPr>
          <p:cNvPr id="23" name="Text 21"/>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4" name="Text 22"/>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A discharge date alone does not establish continuity or safety.</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12/14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12</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Example: School and Family Coordination</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A school requests detailed therapy information about an adolescent with attendance problems.</a:t>
            </a:r>
            <a:endParaRPr lang="en-US" sz="2120" dirty="0"/>
          </a:p>
        </p:txBody>
      </p:sp>
      <p:sp>
        <p:nvSpPr>
          <p:cNvPr id="11" name="Text 9"/>
          <p:cNvSpPr/>
          <p:nvPr/>
        </p:nvSpPr>
        <p:spPr>
          <a:xfrm>
            <a:off x="6629400" y="1901952"/>
            <a:ext cx="3931920" cy="475488"/>
          </a:xfrm>
          <a:prstGeom prst="rect">
            <a:avLst/>
          </a:prstGeom>
          <a:solidFill>
            <a:srgbClr val="EEE9F7"/>
          </a:solidFill>
          <a:ln w="15240">
            <a:solidFill>
              <a:srgbClr val="6B4BA3">
                <a:alpha val="82000"/>
              </a:srgbClr>
            </a:solidFill>
          </a:ln>
        </p:spPr>
        <p:txBody>
          <a:bodyPr wrap="square" lIns="508" tIns="508" rIns="508" bIns="508" rtlCol="0" anchor="ctr">
            <a:normAutofit/>
          </a:bodyPr>
          <a:lstStyle/>
          <a:p>
            <a:pPr indent="0" marL="0">
              <a:buNone/>
            </a:pPr>
            <a:r>
              <a:rPr lang="en-US" sz="1320" b="1" dirty="0">
                <a:solidFill>
                  <a:srgbClr val="6B4BA3"/>
                </a:solidFill>
                <a:latin typeface="Aptos" pitchFamily="34" charset="0"/>
                <a:ea typeface="Aptos" pitchFamily="34" charset="-122"/>
                <a:cs typeface="Aptos" pitchFamily="34" charset="-120"/>
              </a:rPr>
              <a:t>student</a:t>
            </a:r>
            <a:endParaRPr lang="en-US" sz="1320" dirty="0"/>
          </a:p>
        </p:txBody>
      </p:sp>
      <p:sp>
        <p:nvSpPr>
          <p:cNvPr id="12" name="Text 10"/>
          <p:cNvSpPr/>
          <p:nvPr/>
        </p:nvSpPr>
        <p:spPr>
          <a:xfrm>
            <a:off x="6629400" y="2560320"/>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caregiver</a:t>
            </a:r>
            <a:endParaRPr lang="en-US" sz="1320" dirty="0"/>
          </a:p>
        </p:txBody>
      </p:sp>
      <p:sp>
        <p:nvSpPr>
          <p:cNvPr id="13" name="Text 11"/>
          <p:cNvSpPr/>
          <p:nvPr/>
        </p:nvSpPr>
        <p:spPr>
          <a:xfrm>
            <a:off x="6629400" y="3218688"/>
            <a:ext cx="3931920" cy="475488"/>
          </a:xfrm>
          <a:prstGeom prst="rect">
            <a:avLst/>
          </a:prstGeom>
          <a:solidFill>
            <a:srgbClr val="EEE9F7"/>
          </a:solidFill>
          <a:ln w="9525">
            <a:solidFill>
              <a:srgbClr val="6B4BA3"/>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school team</a:t>
            </a:r>
            <a:endParaRPr lang="en-US" sz="1320" dirty="0"/>
          </a:p>
        </p:txBody>
      </p:sp>
      <p:sp>
        <p:nvSpPr>
          <p:cNvPr id="14" name="Text 12"/>
          <p:cNvSpPr/>
          <p:nvPr/>
        </p:nvSpPr>
        <p:spPr>
          <a:xfrm>
            <a:off x="6629400" y="3877056"/>
            <a:ext cx="3931920" cy="475488"/>
          </a:xfrm>
          <a:prstGeom prst="rect">
            <a:avLst/>
          </a:prstGeom>
          <a:solidFill>
            <a:srgbClr val="FFFFFF"/>
          </a:solidFill>
          <a:ln w="9525">
            <a:solidFill>
              <a:srgbClr val="D9E0E8"/>
            </a:solidFill>
          </a:ln>
        </p:spPr>
        <p:txBody>
          <a:bodyPr wrap="square" lIns="508" tIns="508" rIns="508" bIns="508"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social worker reviewing roles</a:t>
            </a:r>
            <a:endParaRPr lang="en-US" sz="132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The social worker should clarify the purpose, review authorization and confidentiality,…</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Collaboration should support the student without turning therapy into unrestricted school…</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Protect the Student’s Voice and Clarify Each System’s Role</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Collaboration should support the student without turning therapy into unrestricted school reporting.</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13/14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13</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Common Collaboration Traps</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Common traps include obtaining an overly broad release, sharing the entire record, assuming another provider will follow up, taking over decisions…</a:t>
            </a:r>
            <a:endParaRPr lang="en-US" sz="2120" dirty="0"/>
          </a:p>
        </p:txBody>
      </p:sp>
      <p:sp>
        <p:nvSpPr>
          <p:cNvPr id="11" name="Text 9"/>
          <p:cNvSpPr/>
          <p:nvPr/>
        </p:nvSpPr>
        <p:spPr>
          <a:xfrm>
            <a:off x="6446520" y="1874520"/>
            <a:ext cx="2098548" cy="1092708"/>
          </a:xfrm>
          <a:prstGeom prst="rect">
            <a:avLst/>
          </a:prstGeom>
          <a:solidFill>
            <a:srgbClr val="EEE9F7"/>
          </a:solidFill>
          <a:ln w="10160">
            <a:solidFill>
              <a:srgbClr val="D9E0E8"/>
            </a:solidFill>
          </a:ln>
        </p:spPr>
        <p:txBody>
          <a:bodyPr wrap="square" lIns="1270" tIns="1270" rIns="1270" bIns="1270" rtlCol="0" anchor="ctr">
            <a:normAutofit/>
          </a:bodyPr>
          <a:lstStyle/>
          <a:p>
            <a:pPr indent="0" marL="0">
              <a:buNone/>
            </a:pPr>
            <a:r>
              <a:rPr lang="en-US" sz="1400" b="1" dirty="0">
                <a:solidFill>
                  <a:srgbClr val="6B4BA3"/>
                </a:solidFill>
                <a:latin typeface="Aptos" pitchFamily="34" charset="0"/>
                <a:ea typeface="Aptos" pitchFamily="34" charset="-122"/>
                <a:cs typeface="Aptos" pitchFamily="34" charset="-120"/>
              </a:rPr>
              <a:t>Avoid Over Sharing</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Assumed Roles</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Open Loops</a:t>
            </a:r>
            <a:endParaRPr lang="en-US" sz="1400" dirty="0"/>
          </a:p>
        </p:txBody>
      </p:sp>
      <p:sp>
        <p:nvSpPr>
          <p:cNvPr id="14" name="Text 12"/>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5" name="Text 13"/>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Another trap is confusing a team recommendation with informed client agreement.</a:t>
            </a:r>
            <a:endParaRPr lang="en-US" sz="1350" dirty="0"/>
          </a:p>
        </p:txBody>
      </p:sp>
      <p:sp>
        <p:nvSpPr>
          <p:cNvPr id="16" name="Text 14"/>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7" name="Text 15"/>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Strong answers clarify purpose, consent, role, task, timeline, and outcome.</a:t>
            </a:r>
            <a:endParaRPr lang="en-US" sz="1350" dirty="0"/>
          </a:p>
        </p:txBody>
      </p:sp>
      <p:sp>
        <p:nvSpPr>
          <p:cNvPr id="18" name="Text 16"/>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9" name="Text 17"/>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Avoid Over-Sharing, Assumed Roles, and Open Loops</a:t>
            </a:r>
            <a:endParaRPr lang="en-US" sz="1350" dirty="0"/>
          </a:p>
        </p:txBody>
      </p:sp>
      <p:sp>
        <p:nvSpPr>
          <p:cNvPr id="20" name="Text 18"/>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1" name="Text 19"/>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Strong answers clarify purpose, consent, role, task, timeline, and outcome.</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66928" y="283464"/>
            <a:ext cx="3291840" cy="201168"/>
          </a:xfrm>
          <a:prstGeom prst="rect">
            <a:avLst/>
          </a:prstGeom>
          <a:noFill/>
          <a:ln/>
        </p:spPr>
        <p:txBody>
          <a:bodyPr wrap="square" lIns="0" tIns="0" rIns="0" bIns="0" rtlCol="0" anchor="ctr"/>
          <a:lstStyle/>
          <a:p>
            <a:pPr indent="0" marL="0">
              <a:buNone/>
            </a:pPr>
            <a:r>
              <a:rPr lang="en-US" sz="940" b="1" dirty="0">
                <a:solidFill>
                  <a:srgbClr val="10263F"/>
                </a:solidFill>
                <a:latin typeface="Aptos" pitchFamily="34" charset="0"/>
                <a:ea typeface="Aptos" pitchFamily="34" charset="-122"/>
                <a:cs typeface="Aptos" pitchFamily="34" charset="-120"/>
              </a:rPr>
              <a:t>CLINICAL TRAINING ACADEMY</a:t>
            </a:r>
            <a:endParaRPr lang="en-US" sz="940" dirty="0"/>
          </a:p>
        </p:txBody>
      </p:sp>
      <p:sp>
        <p:nvSpPr>
          <p:cNvPr id="3" name="Shape 1"/>
          <p:cNvSpPr/>
          <p:nvPr/>
        </p:nvSpPr>
        <p:spPr>
          <a:xfrm>
            <a:off x="566928" y="566928"/>
            <a:ext cx="1234440" cy="50292"/>
          </a:xfrm>
          <a:prstGeom prst="rect">
            <a:avLst/>
          </a:prstGeom>
          <a:solidFill>
            <a:srgbClr val="6B4BA3"/>
          </a:solidFill>
          <a:ln w="12700">
            <a:solidFill>
              <a:srgbClr val="6B4BA3">
                <a:alpha val="0"/>
              </a:srgbClr>
            </a:solidFill>
            <a:prstDash val="solid"/>
          </a:ln>
        </p:spPr>
      </p:sp>
      <p:sp>
        <p:nvSpPr>
          <p:cNvPr id="4" name="Text 2"/>
          <p:cNvSpPr/>
          <p:nvPr/>
        </p:nvSpPr>
        <p:spPr>
          <a:xfrm>
            <a:off x="8458200" y="283464"/>
            <a:ext cx="3154680" cy="219456"/>
          </a:xfrm>
          <a:prstGeom prst="rect">
            <a:avLst/>
          </a:prstGeom>
          <a:noFill/>
          <a:ln/>
        </p:spPr>
        <p:txBody>
          <a:bodyPr wrap="square" lIns="0" tIns="0" rIns="0" bIns="0" rtlCol="0" anchor="ctr"/>
          <a:lstStyle/>
          <a:p>
            <a:pPr algn="r" indent="0" marL="0">
              <a:buNone/>
            </a:pPr>
            <a:r>
              <a:rPr lang="en-US" sz="940" b="1" dirty="0">
                <a:solidFill>
                  <a:srgbClr val="6B4BA3"/>
                </a:solidFill>
                <a:latin typeface="Aptos" pitchFamily="34" charset="0"/>
                <a:ea typeface="Aptos" pitchFamily="34" charset="-122"/>
                <a:cs typeface="Aptos" pitchFamily="34" charset="-120"/>
              </a:rPr>
              <a:t>COLLABORATION</a:t>
            </a:r>
            <a:endParaRPr lang="en-US" sz="940" dirty="0"/>
          </a:p>
        </p:txBody>
      </p:sp>
      <p:sp>
        <p:nvSpPr>
          <p:cNvPr id="5" name="Shape 3"/>
          <p:cNvSpPr/>
          <p:nvPr/>
        </p:nvSpPr>
        <p:spPr>
          <a:xfrm>
            <a:off x="502920" y="6419088"/>
            <a:ext cx="11155680"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50" dirty="0">
                <a:solidFill>
                  <a:srgbClr val="5A6675"/>
                </a:solidFill>
                <a:latin typeface="Aptos" pitchFamily="34" charset="0"/>
                <a:ea typeface="Aptos" pitchFamily="34" charset="-122"/>
                <a:cs typeface="Aptos" pitchFamily="34" charset="-120"/>
              </a:rPr>
              <a:t>Clinical Training Academy</a:t>
            </a:r>
            <a:endParaRPr lang="en-US" sz="850" dirty="0"/>
          </a:p>
        </p:txBody>
      </p:sp>
      <p:sp>
        <p:nvSpPr>
          <p:cNvPr id="7" name="Text 5"/>
          <p:cNvSpPr/>
          <p:nvPr/>
        </p:nvSpPr>
        <p:spPr>
          <a:xfrm>
            <a:off x="7772400" y="6473952"/>
            <a:ext cx="3840480" cy="201168"/>
          </a:xfrm>
          <a:prstGeom prst="rect">
            <a:avLst/>
          </a:prstGeom>
          <a:noFill/>
          <a:ln/>
        </p:spPr>
        <p:txBody>
          <a:bodyPr wrap="square" lIns="0" tIns="0" rIns="0" bIns="0" rtlCol="0" anchor="ctr"/>
          <a:lstStyle/>
          <a:p>
            <a:pPr algn="r" indent="0" marL="0">
              <a:buNone/>
            </a:pPr>
            <a:r>
              <a:rPr lang="en-US" sz="850" dirty="0">
                <a:solidFill>
                  <a:srgbClr val="5A6675"/>
                </a:solidFill>
                <a:latin typeface="Aptos" pitchFamily="34" charset="0"/>
                <a:ea typeface="Aptos" pitchFamily="34" charset="-122"/>
                <a:cs typeface="Aptos" pitchFamily="34" charset="-120"/>
              </a:rPr>
              <a:t>LCSW-Specific Script 06  •  14/14</a:t>
            </a:r>
            <a:endParaRPr lang="en-US" sz="850" dirty="0"/>
          </a:p>
        </p:txBody>
      </p:sp>
      <p:sp>
        <p:nvSpPr>
          <p:cNvPr id="8" name="Text 6"/>
          <p:cNvSpPr/>
          <p:nvPr/>
        </p:nvSpPr>
        <p:spPr>
          <a:xfrm>
            <a:off x="10094976" y="932688"/>
            <a:ext cx="1417320" cy="713232"/>
          </a:xfrm>
          <a:prstGeom prst="rect">
            <a:avLst/>
          </a:prstGeom>
          <a:noFill/>
          <a:ln/>
        </p:spPr>
        <p:txBody>
          <a:bodyPr wrap="square" lIns="0" tIns="0" rIns="0" bIns="0" rtlCol="0" anchor="ctr"/>
          <a:lstStyle/>
          <a:p>
            <a:pPr algn="r" indent="0" marL="0">
              <a:buNone/>
            </a:pPr>
            <a:r>
              <a:rPr lang="en-US" sz="3800" b="1" dirty="0">
                <a:solidFill>
                  <a:srgbClr val="6B4BA3"/>
                </a:solidFill>
                <a:latin typeface="Aptos Display" pitchFamily="34" charset="0"/>
                <a:ea typeface="Aptos Display" pitchFamily="34" charset="-122"/>
                <a:cs typeface="Aptos Display" pitchFamily="34" charset="-120"/>
              </a:rPr>
              <a:t>14</a:t>
            </a:r>
            <a:endParaRPr lang="en-US" sz="3800" dirty="0"/>
          </a:p>
        </p:txBody>
      </p:sp>
      <p:sp>
        <p:nvSpPr>
          <p:cNvPr id="9" name="Text 7"/>
          <p:cNvSpPr/>
          <p:nvPr/>
        </p:nvSpPr>
        <p:spPr>
          <a:xfrm>
            <a:off x="566928" y="941832"/>
            <a:ext cx="8211312" cy="694944"/>
          </a:xfrm>
          <a:prstGeom prst="rect">
            <a:avLst/>
          </a:prstGeom>
          <a:noFill/>
          <a:ln/>
        </p:spPr>
        <p:txBody>
          <a:bodyPr wrap="square" lIns="254" tIns="254" rIns="254" bIns="254" rtlCol="0" anchor="ctr">
            <a:normAutofit/>
          </a:bodyPr>
          <a:lstStyle/>
          <a:p>
            <a:pPr indent="0" marL="0">
              <a:buNone/>
            </a:pPr>
            <a:r>
              <a:rPr lang="en-US" sz="2950" b="1" dirty="0">
                <a:solidFill>
                  <a:srgbClr val="10263F"/>
                </a:solidFill>
                <a:latin typeface="Aptos Display" pitchFamily="34" charset="0"/>
                <a:ea typeface="Aptos Display" pitchFamily="34" charset="-122"/>
                <a:cs typeface="Aptos Display" pitchFamily="34" charset="-120"/>
              </a:rPr>
              <a:t>Your Collaboration Check</a:t>
            </a:r>
            <a:endParaRPr lang="en-US" sz="2950" dirty="0"/>
          </a:p>
        </p:txBody>
      </p:sp>
      <p:sp>
        <p:nvSpPr>
          <p:cNvPr id="10" name="Text 8"/>
          <p:cNvSpPr/>
          <p:nvPr/>
        </p:nvSpPr>
        <p:spPr>
          <a:xfrm>
            <a:off x="621792" y="1810512"/>
            <a:ext cx="5349240" cy="1005840"/>
          </a:xfrm>
          <a:prstGeom prst="rect">
            <a:avLst/>
          </a:prstGeom>
          <a:noFill/>
          <a:ln/>
        </p:spPr>
        <p:txBody>
          <a:bodyPr wrap="square" lIns="254" tIns="254" rIns="254" bIns="254" rtlCol="0" anchor="ctr">
            <a:normAutofit/>
          </a:bodyPr>
          <a:lstStyle/>
          <a:p>
            <a:pPr indent="0" marL="0">
              <a:buNone/>
            </a:pPr>
            <a:r>
              <a:rPr lang="en-US" sz="2120" b="1" dirty="0">
                <a:solidFill>
                  <a:srgbClr val="1D2838"/>
                </a:solidFill>
                <a:latin typeface="Aptos Display" pitchFamily="34" charset="0"/>
                <a:ea typeface="Aptos Display" pitchFamily="34" charset="-122"/>
                <a:cs typeface="Aptos Display" pitchFamily="34" charset="-120"/>
              </a:rPr>
              <a:t>Before answering, ask: What is the purpose of collaboration?</a:t>
            </a:r>
            <a:endParaRPr lang="en-US" sz="2120" dirty="0"/>
          </a:p>
        </p:txBody>
      </p:sp>
      <p:sp>
        <p:nvSpPr>
          <p:cNvPr id="11" name="Text 9"/>
          <p:cNvSpPr/>
          <p:nvPr/>
        </p:nvSpPr>
        <p:spPr>
          <a:xfrm>
            <a:off x="6446520" y="1874520"/>
            <a:ext cx="2098548" cy="1092708"/>
          </a:xfrm>
          <a:prstGeom prst="rect">
            <a:avLst/>
          </a:prstGeom>
          <a:solidFill>
            <a:srgbClr val="EEE9F7"/>
          </a:solidFill>
          <a:ln w="10160">
            <a:solidFill>
              <a:srgbClr val="D9E0E8"/>
            </a:solidFill>
          </a:ln>
        </p:spPr>
        <p:txBody>
          <a:bodyPr wrap="square" lIns="1270" tIns="1270" rIns="1270" bIns="1270" rtlCol="0" anchor="ctr">
            <a:normAutofit/>
          </a:bodyPr>
          <a:lstStyle/>
          <a:p>
            <a:pPr indent="0" marL="0">
              <a:buNone/>
            </a:pPr>
            <a:r>
              <a:rPr lang="en-US" sz="1400" b="1" dirty="0">
                <a:solidFill>
                  <a:srgbClr val="6B4BA3"/>
                </a:solidFill>
                <a:latin typeface="Aptos" pitchFamily="34" charset="0"/>
                <a:ea typeface="Aptos" pitchFamily="34" charset="-122"/>
                <a:cs typeface="Aptos" pitchFamily="34" charset="-120"/>
              </a:rPr>
              <a:t>compact check</a:t>
            </a:r>
            <a:endParaRPr lang="en-US" sz="1400" dirty="0"/>
          </a:p>
        </p:txBody>
      </p:sp>
      <p:sp>
        <p:nvSpPr>
          <p:cNvPr id="12" name="Text 10"/>
          <p:cNvSpPr/>
          <p:nvPr/>
        </p:nvSpPr>
        <p:spPr>
          <a:xfrm>
            <a:off x="8618220" y="187452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purpose</a:t>
            </a:r>
            <a:endParaRPr lang="en-US" sz="1400" dirty="0"/>
          </a:p>
        </p:txBody>
      </p:sp>
      <p:sp>
        <p:nvSpPr>
          <p:cNvPr id="13" name="Text 11"/>
          <p:cNvSpPr/>
          <p:nvPr/>
        </p:nvSpPr>
        <p:spPr>
          <a:xfrm>
            <a:off x="64465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consent</a:t>
            </a:r>
            <a:endParaRPr lang="en-US" sz="1400" dirty="0"/>
          </a:p>
        </p:txBody>
      </p:sp>
      <p:sp>
        <p:nvSpPr>
          <p:cNvPr id="14" name="Text 12"/>
          <p:cNvSpPr/>
          <p:nvPr/>
        </p:nvSpPr>
        <p:spPr>
          <a:xfrm>
            <a:off x="8618220" y="3040380"/>
            <a:ext cx="2098548" cy="1092708"/>
          </a:xfrm>
          <a:prstGeom prst="rect">
            <a:avLst/>
          </a:prstGeom>
          <a:solidFill>
            <a:srgbClr val="FFFFFF"/>
          </a:solidFill>
          <a:ln w="10160">
            <a:solidFill>
              <a:srgbClr val="D9E0E8"/>
            </a:solidFill>
          </a:ln>
        </p:spPr>
        <p:txBody>
          <a:bodyPr wrap="square" lIns="1270" tIns="1270" rIns="1270" bIns="1270" rtlCol="0" anchor="ctr">
            <a:normAutofit/>
          </a:bodyPr>
          <a:lstStyle/>
          <a:p>
            <a:pPr indent="0" marL="0">
              <a:buNone/>
            </a:pPr>
            <a:r>
              <a:rPr lang="en-US" sz="1400" b="1" dirty="0">
                <a:solidFill>
                  <a:srgbClr val="1D2838"/>
                </a:solidFill>
                <a:latin typeface="Aptos" pitchFamily="34" charset="0"/>
                <a:ea typeface="Aptos" pitchFamily="34" charset="-122"/>
                <a:cs typeface="Aptos" pitchFamily="34" charset="-120"/>
              </a:rPr>
              <a:t>roles</a:t>
            </a:r>
            <a:endParaRPr lang="en-US" sz="1400" dirty="0"/>
          </a:p>
        </p:txBody>
      </p:sp>
      <p:sp>
        <p:nvSpPr>
          <p:cNvPr id="15" name="Text 13"/>
          <p:cNvSpPr/>
          <p:nvPr/>
        </p:nvSpPr>
        <p:spPr>
          <a:xfrm>
            <a:off x="658368" y="3273552"/>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6" name="Text 14"/>
          <p:cNvSpPr/>
          <p:nvPr/>
        </p:nvSpPr>
        <p:spPr>
          <a:xfrm>
            <a:off x="1042416" y="3255264"/>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What consent or authority applies?</a:t>
            </a:r>
            <a:endParaRPr lang="en-US" sz="1350" dirty="0"/>
          </a:p>
        </p:txBody>
      </p:sp>
      <p:sp>
        <p:nvSpPr>
          <p:cNvPr id="17" name="Text 15"/>
          <p:cNvSpPr/>
          <p:nvPr/>
        </p:nvSpPr>
        <p:spPr>
          <a:xfrm>
            <a:off x="658368" y="3840480"/>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18" name="Text 16"/>
          <p:cNvSpPr/>
          <p:nvPr/>
        </p:nvSpPr>
        <p:spPr>
          <a:xfrm>
            <a:off x="1042416" y="3822192"/>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This check keeps interdisciplinary work client-centered, private, efficient, and accountable.</a:t>
            </a:r>
            <a:endParaRPr lang="en-US" sz="135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600" b="1" dirty="0">
                <a:solidFill>
                  <a:srgbClr val="6B4BA3"/>
                </a:solidFill>
                <a:latin typeface="Aptos" pitchFamily="34" charset="0"/>
                <a:ea typeface="Aptos" pitchFamily="34" charset="-122"/>
                <a:cs typeface="Aptos" pitchFamily="34" charset="-120"/>
              </a:rPr>
              <a:t>✓</a:t>
            </a:r>
            <a:endParaRPr lang="en-US" sz="1600" dirty="0"/>
          </a:p>
        </p:txBody>
      </p:sp>
      <p:sp>
        <p:nvSpPr>
          <p:cNvPr id="20" name="Text 18"/>
          <p:cNvSpPr/>
          <p:nvPr/>
        </p:nvSpPr>
        <p:spPr>
          <a:xfrm>
            <a:off x="1042416" y="4389120"/>
            <a:ext cx="4526280" cy="384048"/>
          </a:xfrm>
          <a:prstGeom prst="rect">
            <a:avLst/>
          </a:prstGeom>
          <a:noFill/>
          <a:ln/>
        </p:spPr>
        <p:txBody>
          <a:bodyPr wrap="square" lIns="127" tIns="127" rIns="127" bIns="127" rtlCol="0" anchor="ctr">
            <a:normAutofit/>
          </a:bodyPr>
          <a:lstStyle/>
          <a:p>
            <a:pPr indent="0" marL="0">
              <a:buNone/>
            </a:pPr>
            <a:r>
              <a:rPr lang="en-US" sz="1350" dirty="0">
                <a:solidFill>
                  <a:srgbClr val="1D2838"/>
                </a:solidFill>
                <a:latin typeface="Aptos" pitchFamily="34" charset="0"/>
                <a:ea typeface="Aptos" pitchFamily="34" charset="-122"/>
                <a:cs typeface="Aptos" pitchFamily="34" charset="-120"/>
              </a:rPr>
              <a:t>Purpose • Consent • Roles • Information • Responsibility • Follow-Up</a:t>
            </a:r>
            <a:endParaRPr lang="en-US" sz="1350" dirty="0"/>
          </a:p>
        </p:txBody>
      </p:sp>
      <p:sp>
        <p:nvSpPr>
          <p:cNvPr id="21" name="Text 19"/>
          <p:cNvSpPr/>
          <p:nvPr/>
        </p:nvSpPr>
        <p:spPr>
          <a:xfrm>
            <a:off x="621792" y="5687568"/>
            <a:ext cx="1170432" cy="237744"/>
          </a:xfrm>
          <a:prstGeom prst="rect">
            <a:avLst/>
          </a:prstGeom>
          <a:noFill/>
          <a:ln/>
        </p:spPr>
        <p:txBody>
          <a:bodyPr wrap="square" lIns="0" tIns="0" rIns="0" bIns="0" rtlCol="0" anchor="ctr"/>
          <a:lstStyle/>
          <a:p>
            <a:pPr indent="0" marL="0">
              <a:buNone/>
            </a:pPr>
            <a:r>
              <a:rPr lang="en-US" sz="950" b="1" dirty="0">
                <a:solidFill>
                  <a:srgbClr val="6B4BA3"/>
                </a:solidFill>
                <a:latin typeface="Aptos" pitchFamily="34" charset="0"/>
                <a:ea typeface="Aptos" pitchFamily="34" charset="-122"/>
                <a:cs typeface="Aptos" pitchFamily="34" charset="-120"/>
              </a:rPr>
              <a:t>EXAM MOVE</a:t>
            </a:r>
            <a:endParaRPr lang="en-US" sz="950" dirty="0"/>
          </a:p>
        </p:txBody>
      </p:sp>
      <p:sp>
        <p:nvSpPr>
          <p:cNvPr id="22" name="Text 20"/>
          <p:cNvSpPr/>
          <p:nvPr/>
        </p:nvSpPr>
        <p:spPr>
          <a:xfrm>
            <a:off x="1847088" y="5623560"/>
            <a:ext cx="9006840" cy="411480"/>
          </a:xfrm>
          <a:prstGeom prst="rect">
            <a:avLst/>
          </a:prstGeom>
          <a:noFill/>
          <a:ln/>
        </p:spPr>
        <p:txBody>
          <a:bodyPr wrap="square" lIns="0" tIns="0" rIns="0" bIns="0" rtlCol="0" anchor="ctr">
            <a:normAutofit/>
          </a:bodyPr>
          <a:lstStyle/>
          <a:p>
            <a:pPr indent="0" marL="0">
              <a:buNone/>
            </a:pPr>
            <a:r>
              <a:rPr lang="en-US" sz="1320" dirty="0">
                <a:solidFill>
                  <a:srgbClr val="1D2838"/>
                </a:solidFill>
                <a:latin typeface="Aptos" pitchFamily="34" charset="0"/>
                <a:ea typeface="Aptos" pitchFamily="34" charset="-122"/>
                <a:cs typeface="Aptos" pitchFamily="34" charset="-120"/>
              </a:rPr>
              <a:t>This check keeps interdisciplinary work client-centered, private, efficient, and accountable.</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LCSW Multimedia Script 06: Collaboration and Interdisciplinary Practice</dc:title>
  <dc:subject>LCSW-Specific Multimedia Script 06</dc:subject>
  <dc:creator>Clinical Training Academy</dc:creator>
  <cp:lastModifiedBy>Clinical Training Academy</cp:lastModifiedBy>
  <cp:revision>1</cp:revision>
  <dcterms:created xsi:type="dcterms:W3CDTF">2026-07-25T20:56:15Z</dcterms:created>
  <dcterms:modified xsi:type="dcterms:W3CDTF">2026-07-25T20:56:15Z</dcterms:modified>
</cp:coreProperties>
</file>