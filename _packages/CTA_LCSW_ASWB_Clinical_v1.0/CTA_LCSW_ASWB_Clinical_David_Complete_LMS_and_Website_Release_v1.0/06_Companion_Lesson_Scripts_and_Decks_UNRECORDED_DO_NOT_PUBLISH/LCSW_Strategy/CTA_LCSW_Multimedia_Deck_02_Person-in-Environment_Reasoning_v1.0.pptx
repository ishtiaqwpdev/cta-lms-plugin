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Person-in-environment reasoning asks not only what symptoms a client has, but how the client’s functioning, relationships, resources, institutions, culture, and living conditions interact. A strong LCSW answer can recognize depression while also noticing eviction risk, caregiving demands, transportation barriers, or discrimination. The goal is not to replace clinical assessment with social context. It is to understand the full pattern that controls what should happen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person side, assess symptoms, health, development, coping, strengths, beliefs, trauma, substance use, and daily functioning. On the environment side, assess family, peers, school, work, housing, income, benefits, legal systems, health care, culture, community, and service access. Then examine the interaction. A client’s difficulty attending treatment may reflect anxiety, but it may also reflect an inflexible work schedule, inaccessible transportation, or fear related to immigration or discrimination.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conditions can create immediate clinical priorities. An eviction deadline, unsafe housing, food insecurity, loss of medication access, or caregiving breakdown may require action before long-term exploration. This does not mean abandoning psychotherapy. It means recognizing that safety and stability can determine whether treatment is possible. On the exam, the strongest answer often assesses the urgent condition and coordinates a feasible response with the client before moving to less immediate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alone does not show how a client is functioning. Ask how the concern affects self-care, sleep, work, school, parenting, relationships, health management, decision-making, and community participation. Two clients with similar symptoms may need different responses because their supports, risks, and responsibilities differ. Functional assessment helps determine urgency, level of care, accommodations, and whether a referral or intervention is realistically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Person-in-environment practice remains client-centered. Ask what the client sees as the problem, what matters most, what has helped before, what risks the client is willing to take, and what role the client wants in advocacy or coordination. A professional may see housing as the priority while the client sees child custody, pain, or safety as more urgent. The task is to clarify and collaborate, not to impose a hierarchy without understanding the client’s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are not positive comments added after the real assessment. They influence risk, readiness, and planning. Identify coping strategies, supportive relationships, cultural and spiritual resources, practical skills, past successes, community ties, motivation, and the ability to seek help. A plan that builds on existing strengths is often more feasible and less intrusive than one that assumes the professional must create every resource from the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client misses appointments or does not use a referral, assess barriers before labeling the behavior resistance or noncompliance. Clarify cost, insurance, eligibility, transportation, language, disability access, technology, childcare, work schedule, safety, prior discrimination, and whether the service fits the client’s goals. The next action may be to adapt the plan, make a warm handoff, advocate for access, or identify a different resource rather than confronting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and identity shape meaning, help-seeking, family roles, communication, and experiences with institutions. Use cultural humility by asking how the client understands the concern and what practices, relationships, or barriers matter. Avoid assuming that every member of a group shares the same values or that a behavior has one cultural explanation. Cultural responsiveness improves assessment accuracy and supports a plan the client can trust 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Person-in-environment reasoning helps identify the level where change is needed. Individual therapy may address coping, while family work addresses interaction patterns, case management addresses fragmented services, organizational advocacy addresses an inaccessible policy, and community action addresses a broader resource gap. The exam may offer several helpful actions. Choose the level that most directly addresses the stated barrier while preserving the client’s participation and role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Coordination should strengthen the client’s agency rather than replace it. Clarify consent, what information can be shared, who is responsible for each step, what the client wants to do personally, and where support is needed. A warm handoff may include making contact together, confirming eligibility, arranging language access, and setting a follow-up point. The social worker should not assume that giving a phone number completes the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reports depression and also brings an eviction notice requiring a response within five days. The social worker should assess immediate safety, housing urgency, available supports, legal or benefit resources, and the client’s priorities. Long-term exploration may remain important, but the time-sensitive housing threat can worsen symptoms and destabilize treatment. The best next step integrates clinical support with a feasible housing response rather than treating the issues as unrelated.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with a serious health condition has missed two specialty appointments. Before concluding the client is unmotivated, ask about transportation, disability access, language, cost, work, caregiving, fear, and understanding of the referral. The response may involve accessible scheduling, transportation assistance, interpretation, a warm handoff, or coordination with the medical team. The person-in-environment answer addresses the barrier that is actually preventing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focusing only on symptoms, giving a generic resource list without checking fit, interpreting access barriers as resistance, or taking control of advocacy without the client’s consent. Another trap is assuming that an environmental problem means clinical assessment is unnecessary. Strong answers integrate symptoms, functioning, context, strengths, barriers, and client choice, then select the intervention level that addresses the maintaining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ask: What is happening within the person? What environmental conditions matter? How do the person and environment interact? What is most urgent? What strengths and supports are available? At what level should the next action occur? This check helps you move beyond a diagnosis-only response and choose a practical, client-centered intervention that fits the real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Person-in-Environment Reasoning</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LCSW-Specific Multimedia Script 02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Person-in-environment reasoning asks not only what symptoms a client has, but how the client’s functioning, relationships, resources, institutions, culture, and…</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3D7A4D"/>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3D7A4D">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Person</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Environment</a:t>
            </a:r>
            <a:endParaRPr lang="en-US" sz="1180" dirty="0"/>
          </a:p>
        </p:txBody>
      </p:sp>
      <p:sp>
        <p:nvSpPr>
          <p:cNvPr id="17" name="Text 15"/>
          <p:cNvSpPr/>
          <p:nvPr/>
        </p:nvSpPr>
        <p:spPr>
          <a:xfrm>
            <a:off x="5090160" y="3273552"/>
            <a:ext cx="193243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Interaction</a:t>
            </a:r>
            <a:endParaRPr lang="en-US" sz="1180" dirty="0"/>
          </a:p>
        </p:txBody>
      </p:sp>
      <p:sp>
        <p:nvSpPr>
          <p:cNvPr id="18" name="Text 16"/>
          <p:cNvSpPr/>
          <p:nvPr/>
        </p:nvSpPr>
        <p:spPr>
          <a:xfrm>
            <a:off x="7635240" y="3364992"/>
            <a:ext cx="1687068" cy="758952"/>
          </a:xfrm>
          <a:prstGeom prst="rect">
            <a:avLst/>
          </a:prstGeom>
          <a:solidFill>
            <a:srgbClr val="EAF3EC"/>
          </a:solidFill>
          <a:ln w="10160">
            <a:solidFill>
              <a:srgbClr val="D9E0E8"/>
            </a:solidFill>
          </a:ln>
        </p:spPr>
        <p:txBody>
          <a:bodyPr wrap="square" lIns="1270" tIns="1270" rIns="1270" bIns="1270" rtlCol="0" anchor="ctr">
            <a:normAutofit/>
          </a:bodyPr>
          <a:lstStyle/>
          <a:p>
            <a:pPr indent="0" marL="0">
              <a:buNone/>
            </a:pPr>
            <a:r>
              <a:rPr lang="en-US" sz="1400" b="1" dirty="0">
                <a:solidFill>
                  <a:srgbClr val="3D7A4D"/>
                </a:solidFill>
                <a:latin typeface="Aptos" pitchFamily="34" charset="0"/>
                <a:ea typeface="Aptos" pitchFamily="34" charset="-122"/>
                <a:cs typeface="Aptos" pitchFamily="34" charset="-120"/>
              </a:rPr>
              <a:t>Person</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Environment</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Interaction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Map the Person and the Environment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On the person side, assess symptoms, health, development, coping, strengths, beliefs, trauma, substance use, and daily functioning.</a:t>
            </a:r>
            <a:endParaRPr lang="en-US" sz="2120" dirty="0"/>
          </a:p>
        </p:txBody>
      </p:sp>
      <p:sp>
        <p:nvSpPr>
          <p:cNvPr id="11" name="Text 9"/>
          <p:cNvSpPr/>
          <p:nvPr/>
        </p:nvSpPr>
        <p:spPr>
          <a:xfrm>
            <a:off x="6629400" y="1901952"/>
            <a:ext cx="3931920" cy="475488"/>
          </a:xfrm>
          <a:prstGeom prst="rect">
            <a:avLst/>
          </a:prstGeom>
          <a:solidFill>
            <a:srgbClr val="EAF3EC"/>
          </a:solidFill>
          <a:ln w="15240">
            <a:solidFill>
              <a:srgbClr val="3D7A4D">
                <a:alpha val="82000"/>
              </a:srgbClr>
            </a:solidFill>
          </a:ln>
        </p:spPr>
        <p:txBody>
          <a:bodyPr wrap="square" lIns="508" tIns="508" rIns="508" bIns="508" rtlCol="0" anchor="ctr">
            <a:normAutofit/>
          </a:bodyPr>
          <a:lstStyle/>
          <a:p>
            <a:pPr indent="0" marL="0">
              <a:buNone/>
            </a:pPr>
            <a:r>
              <a:rPr lang="en-US" sz="1320" b="1" dirty="0">
                <a:solidFill>
                  <a:srgbClr val="3D7A4D"/>
                </a:solidFill>
                <a:latin typeface="Aptos" pitchFamily="34" charset="0"/>
                <a:ea typeface="Aptos" pitchFamily="34" charset="-122"/>
                <a:cs typeface="Aptos" pitchFamily="34" charset="-120"/>
              </a:rPr>
              <a:t>Two linked maps</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internal functioning</a:t>
            </a:r>
            <a:endParaRPr lang="en-US" sz="1320" dirty="0"/>
          </a:p>
        </p:txBody>
      </p:sp>
      <p:sp>
        <p:nvSpPr>
          <p:cNvPr id="13" name="Text 11"/>
          <p:cNvSpPr/>
          <p:nvPr/>
        </p:nvSpPr>
        <p:spPr>
          <a:xfrm>
            <a:off x="6629400" y="3218688"/>
            <a:ext cx="3931920" cy="475488"/>
          </a:xfrm>
          <a:prstGeom prst="rect">
            <a:avLst/>
          </a:prstGeom>
          <a:solidFill>
            <a:srgbClr val="EAF3EC"/>
          </a:solidFill>
          <a:ln w="9525">
            <a:solidFill>
              <a:srgbClr val="3D7A4D"/>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external systems.</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 the environment side, assess family, peers, school, work, housing, income, benefits, legal…</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client’s difficulty attending treatment may reflect anxiety, but it may also reflect an…</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Individual Functioning ↔ Environmental Conditions</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client’s difficulty attending treatment may reflect anxiety, but it may also reflect an inflexible work schedule, inaccessible…</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Prioritize Threats to Safety and Stability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Environmental conditions can create immediate clinical priorities.</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priority ladder</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immediate safety</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medical need</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housing</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basic needs</a:t>
            </a:r>
            <a:endParaRPr lang="en-US" sz="1180" dirty="0"/>
          </a:p>
        </p:txBody>
      </p:sp>
      <p:sp>
        <p:nvSpPr>
          <p:cNvPr id="17" name="Text 15"/>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priority ladder</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 eviction deadline, unsafe housing, food insecurity, loss of medication access, or…</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 the exam, the strongest answer often assesses the urgent condition and coordinates a…</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Urgency Before Depth</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On the exam, the strongest answer often assesses the urgent condition and coordinates a feasible response with the client before moving to less…</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Function, Not Just Diagnosis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Diagnosis alone does not show how a client is functioning.</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Daily activities including sleep</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work</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school</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parenting</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self care</a:t>
            </a:r>
            <a:endParaRPr lang="en-US" sz="1180" dirty="0"/>
          </a:p>
        </p:txBody>
      </p:sp>
      <p:sp>
        <p:nvSpPr>
          <p:cNvPr id="17" name="Text 15"/>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Daily activities including sleep</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how the concern affects self-care, sleep, work, school, parenting, relationships, health…</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Functional assessment helps determine urgency, level of care, accommodations, and whether a…</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How Is the Problem Affecting Daily Life?</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Functional assessment helps determine urgency, level of care, accommodations, and whether a referral or intervention is realistically usable.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Center the Client’s Meaning and Goals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Person-in-environment practice remains client-centered.</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what the client sees as the problem, what matters most, what has helped before, what…</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task is to clarify and collaborate, not to impose a hierarchy without understanding the…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Does the Client Want to Change?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task is to clarify and collaborate, not to impose a hierarchy without understanding the client’s perspective.</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Identify Strengths and Protective Factors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Strengths are not positive comments added after the real assessment.</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Strength icons</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coping skills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supportive relationships</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cultural resources</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faith</a:t>
            </a:r>
            <a:endParaRPr lang="en-US" sz="1180" dirty="0"/>
          </a:p>
        </p:txBody>
      </p:sp>
      <p:sp>
        <p:nvSpPr>
          <p:cNvPr id="17" name="Text 15"/>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Strength icons</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They influence risk, readiness, and planning.</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plan that builds on existing strengths is often more feasible and less intrusive than one…</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Resources Are Part of the Assessment</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plan that builds on existing strengths is often more feasible and less intrusive than one that assumes the professional must create every…</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Distinguish Barriers From Resistance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 client misses appointments or does not use a referral, assess barriers before labeling the behavior resistance or noncompliance.</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blocked service pathway…</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transportation</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language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disability</a:t>
            </a:r>
            <a:endParaRPr lang="en-US" sz="1180" dirty="0"/>
          </a:p>
        </p:txBody>
      </p:sp>
      <p:sp>
        <p:nvSpPr>
          <p:cNvPr id="16" name="Text 14"/>
          <p:cNvSpPr/>
          <p:nvPr/>
        </p:nvSpPr>
        <p:spPr>
          <a:xfrm>
            <a:off x="10116922" y="2148840"/>
            <a:ext cx="718718"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schedule</a:t>
            </a:r>
            <a:endParaRPr lang="en-US" sz="1180" dirty="0"/>
          </a:p>
        </p:txBody>
      </p:sp>
      <p:sp>
        <p:nvSpPr>
          <p:cNvPr id="17" name="Text 15"/>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blocked service pathway…</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cost, insurance, eligibility, transportation, language, disability access,…</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next action may be to adapt the plan, make a warm handoff, advocate for access, or…</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Nonuse May Signal an Access Problem</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next action may be to adapt the plan, make a warm handoff, advocate for access, or identify a different resource rather than confronting…</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Culture and Identity Responsively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Culture and identity shape meaning, help-seeking, family roles, communication, and experiences with institutions.</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Use cultural humility by asking how the client understands the concern and what practices,…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Cultural responsiveness improves assessment accuracy and supports a plan the client can trust…</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Do Not Assume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Cultural responsiveness improves assessment accuracy and supports a plan the client can trust and use.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Choose the Correct Level of Intervention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Person-in-environment reasoning helps identify the level where change is needed.</a:t>
            </a:r>
            <a:endParaRPr lang="en-US" sz="2120" dirty="0"/>
          </a:p>
        </p:txBody>
      </p:sp>
      <p:sp>
        <p:nvSpPr>
          <p:cNvPr id="11" name="Text 9"/>
          <p:cNvSpPr/>
          <p:nvPr/>
        </p:nvSpPr>
        <p:spPr>
          <a:xfrm>
            <a:off x="6629400" y="1901952"/>
            <a:ext cx="3931920" cy="475488"/>
          </a:xfrm>
          <a:prstGeom prst="rect">
            <a:avLst/>
          </a:prstGeom>
          <a:solidFill>
            <a:srgbClr val="EAF3EC"/>
          </a:solidFill>
          <a:ln w="15240">
            <a:solidFill>
              <a:srgbClr val="3D7A4D">
                <a:alpha val="82000"/>
              </a:srgbClr>
            </a:solidFill>
          </a:ln>
        </p:spPr>
        <p:txBody>
          <a:bodyPr wrap="square" lIns="508" tIns="508" rIns="508" bIns="508" rtlCol="0" anchor="ctr">
            <a:normAutofit/>
          </a:bodyPr>
          <a:lstStyle/>
          <a:p>
            <a:pPr indent="0" marL="0">
              <a:buNone/>
            </a:pPr>
            <a:r>
              <a:rPr lang="en-US" sz="1320" b="1" dirty="0">
                <a:solidFill>
                  <a:srgbClr val="3D7A4D"/>
                </a:solidFill>
                <a:latin typeface="Aptos" pitchFamily="34" charset="0"/>
                <a:ea typeface="Aptos" pitchFamily="34" charset="-122"/>
                <a:cs typeface="Aptos" pitchFamily="34" charset="-120"/>
              </a:rPr>
              <a:t>Intervention levels</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individual</a:t>
            </a:r>
            <a:endParaRPr lang="en-US" sz="1320" dirty="0"/>
          </a:p>
        </p:txBody>
      </p:sp>
      <p:sp>
        <p:nvSpPr>
          <p:cNvPr id="13" name="Text 11"/>
          <p:cNvSpPr/>
          <p:nvPr/>
        </p:nvSpPr>
        <p:spPr>
          <a:xfrm>
            <a:off x="6629400" y="3218688"/>
            <a:ext cx="3931920" cy="475488"/>
          </a:xfrm>
          <a:prstGeom prst="rect">
            <a:avLst/>
          </a:prstGeom>
          <a:solidFill>
            <a:srgbClr val="EAF3EC"/>
          </a:solidFill>
          <a:ln w="9525">
            <a:solidFill>
              <a:srgbClr val="3D7A4D"/>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family</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group</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Individual therapy may address coping, while family work addresses interaction patterns, case…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Choose the level that most directly addresses the stated barrier while preserving the…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Match the Level to the Maintaining Barrier</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Choose the level that most directly addresses the stated barrier while preserving the client’s participation and role clarity.</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Coordinate Without Taking Over</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Coordination should strengthen the client’s agency rather than replace it.</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Support Agency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Consent</a:t>
            </a:r>
            <a:endParaRPr lang="en-US" sz="1180" dirty="0"/>
          </a:p>
        </p:txBody>
      </p:sp>
      <p:sp>
        <p:nvSpPr>
          <p:cNvPr id="14" name="Text 12"/>
          <p:cNvSpPr/>
          <p:nvPr/>
        </p:nvSpPr>
        <p:spPr>
          <a:xfrm>
            <a:off x="9497568" y="2148840"/>
            <a:ext cx="133807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Follow Through</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consent, what information can be shared, who is responsible for each step, what the…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should not assume that giving a phone number completes the intervention.</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Support Agency, Consent, and Follow-Through</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social worker should not assume that giving a phone number completes the intervention.</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Depression and Eviction Risk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reports depression and also brings an eviction notice requiring a response within five days.</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should assess immediate safety, housing urgency, available supports, legal…</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best next step integrates clinical support with a feasible housing response rather than…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Address the Time-Sensitive Environmental Threat</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best next step integrates clinical support with a feasible housing response rather than treating the issues as unrelated.</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Missed Medical Appointments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with a serious health condition has missed two specialty appointments.</a:t>
            </a:r>
            <a:endParaRPr lang="en-US" sz="2120" dirty="0"/>
          </a:p>
        </p:txBody>
      </p:sp>
      <p:sp>
        <p:nvSpPr>
          <p:cNvPr id="11" name="Shape 9"/>
          <p:cNvSpPr/>
          <p:nvPr/>
        </p:nvSpPr>
        <p:spPr>
          <a:xfrm>
            <a:off x="6629400" y="2441448"/>
            <a:ext cx="3977640" cy="0"/>
          </a:xfrm>
          <a:prstGeom prst="line">
            <a:avLst/>
          </a:prstGeom>
          <a:noFill/>
          <a:ln w="15240">
            <a:solidFill>
              <a:srgbClr val="3D7A4D">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3EC"/>
          </a:solidFill>
          <a:ln w="13970">
            <a:solidFill>
              <a:srgbClr val="3D7A4D">
                <a:alpha val="75000"/>
              </a:srgbClr>
            </a:solidFill>
          </a:ln>
        </p:spPr>
        <p:txBody>
          <a:bodyPr wrap="square" lIns="1016" tIns="1016" rIns="1016" bIns="1016"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Before concluding the client is unmotivated, ask about transportation, disability access,…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person-in-environment answer addresses the barrier that is actually preventing care.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Test Access Before Interpreting Motivation</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person-in-environment answer addresses the barrier that is actually preventing care.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Person-in-Environment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Common traps include focusing only on symptoms, giving a generic resource list without checking fit, interpreting access barriers as resistance, or…</a:t>
            </a:r>
            <a:endParaRPr lang="en-US" sz="2120" dirty="0"/>
          </a:p>
        </p:txBody>
      </p:sp>
      <p:sp>
        <p:nvSpPr>
          <p:cNvPr id="11" name="Text 9"/>
          <p:cNvSpPr/>
          <p:nvPr/>
        </p:nvSpPr>
        <p:spPr>
          <a:xfrm>
            <a:off x="6446520" y="1874520"/>
            <a:ext cx="2098548" cy="1092708"/>
          </a:xfrm>
          <a:prstGeom prst="rect">
            <a:avLst/>
          </a:prstGeom>
          <a:solidFill>
            <a:srgbClr val="EAF3EC"/>
          </a:solidFill>
          <a:ln w="10160">
            <a:solidFill>
              <a:srgbClr val="D9E0E8"/>
            </a:solidFill>
          </a:ln>
        </p:spPr>
        <p:txBody>
          <a:bodyPr wrap="square" lIns="1270" tIns="1270" rIns="1270" bIns="1270" rtlCol="0" anchor="ctr">
            <a:normAutofit/>
          </a:bodyPr>
          <a:lstStyle/>
          <a:p>
            <a:pPr indent="0" marL="0">
              <a:buNone/>
            </a:pPr>
            <a:r>
              <a:rPr lang="en-US" sz="1400" b="1" dirty="0">
                <a:solidFill>
                  <a:srgbClr val="3D7A4D"/>
                </a:solidFill>
                <a:latin typeface="Aptos" pitchFamily="34" charset="0"/>
                <a:ea typeface="Aptos" pitchFamily="34" charset="-122"/>
                <a:cs typeface="Aptos" pitchFamily="34" charset="-120"/>
              </a:rPr>
              <a:t>Warning signs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diagnosis only</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resource list only</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blaming nonuse</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Another trap is assuming that an environmental problem means clinical assessment is…</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answers integrate symptoms, functioning, context, strengths, barriers, and client…</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Narrow Formulations and Incomplete Referrals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answers integrate symptoms, functioning, context, strengths, barriers, and client choice, then select the intervention level that…</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D7A4D"/>
          </a:solidFill>
          <a:ln w="12700">
            <a:solidFill>
              <a:srgbClr val="3D7A4D">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D7A4D"/>
                </a:solidFill>
                <a:latin typeface="Aptos" pitchFamily="34" charset="0"/>
                <a:ea typeface="Aptos" pitchFamily="34" charset="-122"/>
                <a:cs typeface="Aptos" pitchFamily="34" charset="-120"/>
              </a:rPr>
              <a:t>PERSON-IN-ENVIRONMENT</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02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D7A4D"/>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Person-in-Environment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answering, ask: What is happening within the person?</a:t>
            </a:r>
            <a:endParaRPr lang="en-US" sz="2120" dirty="0"/>
          </a:p>
        </p:txBody>
      </p:sp>
      <p:sp>
        <p:nvSpPr>
          <p:cNvPr id="11" name="Text 9"/>
          <p:cNvSpPr/>
          <p:nvPr/>
        </p:nvSpPr>
        <p:spPr>
          <a:xfrm>
            <a:off x="6446520" y="1874520"/>
            <a:ext cx="2098548" cy="1092708"/>
          </a:xfrm>
          <a:prstGeom prst="rect">
            <a:avLst/>
          </a:prstGeom>
          <a:solidFill>
            <a:srgbClr val="EAF3EC"/>
          </a:solidFill>
          <a:ln w="10160">
            <a:solidFill>
              <a:srgbClr val="D9E0E8"/>
            </a:solidFill>
          </a:ln>
        </p:spPr>
        <p:txBody>
          <a:bodyPr wrap="square" lIns="1270" tIns="1270" rIns="1270" bIns="1270" rtlCol="0" anchor="ctr">
            <a:normAutofit/>
          </a:bodyPr>
          <a:lstStyle/>
          <a:p>
            <a:pPr indent="0" marL="0">
              <a:buNone/>
            </a:pPr>
            <a:r>
              <a:rPr lang="en-US" sz="1400" b="1" dirty="0">
                <a:solidFill>
                  <a:srgbClr val="3D7A4D"/>
                </a:solidFill>
                <a:latin typeface="Aptos" pitchFamily="34" charset="0"/>
                <a:ea typeface="Aptos" pitchFamily="34" charset="-122"/>
                <a:cs typeface="Aptos" pitchFamily="34" charset="-120"/>
              </a:rPr>
              <a:t>six part check</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person</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environment</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interaction</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environmental conditions matter?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check helps you move beyond a diagnosis-only response and choose a practical,…</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D7A4D"/>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Person • Environment • Interaction • Urgency • Strengths • Level</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D7A4D"/>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check helps you move beyond a diagnosis-only response and choose a practical, client-centered intervention that fits the real barrier.</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Multimedia Script 02: Person-in-Environment Reasoning</dc:title>
  <dc:subject>LCSW-Specific Multimedia Script 02</dc:subject>
  <dc:creator>Clinical Training Academy</dc:creator>
  <cp:lastModifiedBy>Clinical Training Academy</cp:lastModifiedBy>
  <cp:revision>1</cp:revision>
  <dcterms:created xsi:type="dcterms:W3CDTF">2026-07-25T20:56:15Z</dcterms:created>
  <dcterms:modified xsi:type="dcterms:W3CDTF">2026-07-25T20:56:15Z</dcterms:modified>
</cp:coreProperties>
</file>