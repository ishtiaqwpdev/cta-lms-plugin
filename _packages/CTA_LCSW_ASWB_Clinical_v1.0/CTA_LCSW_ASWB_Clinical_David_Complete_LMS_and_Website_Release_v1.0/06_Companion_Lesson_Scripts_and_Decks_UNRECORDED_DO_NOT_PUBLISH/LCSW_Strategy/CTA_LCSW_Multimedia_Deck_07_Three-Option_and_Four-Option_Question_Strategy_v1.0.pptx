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LCSW candidates may encounter practice items with three options and others with four. The number of choices changes the comparison set, but it does not change the clinical reasoning method. Read the task word, identify the priority, determine what information is available, and compare the answers for timing, scope, and fit. Do not assume a three-option item is missing a fourth answer or that a four-option item must contain a special distractor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stem. Identify who the professional is, what has already happened, what the immediate concern is, and whether the question asks for the first, next, best, most appropriate, or most likely response. Decide whether the task is assessment, intervention, reporting, consultation, referral, evaluation, or follow-up. This prevents the options from pulling you toward an answer that is helpful but mistimed.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and NEXT questions focus heavily on sequence. Ask what must happen before the later actions can be safe or effective. BEST and MOST questions compare the quality of available responses, including accuracy, proportionality, client participation, and scope. The task word does not replace clinical judgment, but it tells you how to compare the choices. A later intervention can be correct in general and still be wrong for a FIRST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item has three options, compare those three. Do not spend time imagining the answer you wish had been included. The best available option may be less detailed than the response you would write in practice, but it can still be clearly superior to the other choices. Exam reasoning asks which presented answer is best, not whether the item contains every action that might eventually occur.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distractor is a clinically reasonable action offered too early. Treatment techniques may appear before essential assessment. A report may appear before the facts support a duty, or a detailed plan may appear before the priority problem is clear. Mark each option as assessment, action, or follow-up and ask whether it belongs at this point in the scenario. Timing often eliminates one or two choices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 options that exceed the social worker’s role or authority. The clinician may assess medication effects and coordinate medical review but should not direct dosage changes. The social worker may advocate but should not make another agency’s eligibility decision. A treating clinician should not assume a forensic role without appropriate authority and competence. Scope errors remain wrong whether the item has three or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cautious with absolute promises, automatic conclusions, and unsupported motives. A diagnosis does not prove incapacity. Missed appointments do not prove resistance. Family concern does not automatically authorize disclosure. Strong answers gather relevant information, use qualified language, and match the response to the evidence. An absolute can be correct when a clear rule applies, but the stem must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eliminating weak choices, compare the strongest two. Which one addresses the highest priority? Which is better timed? Which stays within role? Which preserves client participation and dignity? Which is complete enough to manage the stated concern? This structured comparison is especially useful when a three-option item leaves two plausible choices or a four-option item contains two answers that could both occur eventually.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three-option item may feel easier because there is one less distractor, but the remaining options can be closely matched. Do not rush. Use the same sequence and comparison process. The absence of a fourth choice does not signal that the answer is obvious. It simply means the test is asking you to discriminate among the options that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client develops new confusion after a medication change. The options are to interpret the change as resistance, continue routine therapy, or assess chronology and safety and coordinate medical evaluation. There is no fourth option, and none is needed. The third choice is best because a new cognitive change may be medically significant and must be assessed before psychological interpretation or routine treatment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says that everyone would be better without them. Four options include reassurance, changing the subject, obtaining a safety promise, or asking directly about suicidal thoughts, intent, plan, means, history, and protective factors. The direct assessment is best. The other choices may appear supportive, but none establishes the level of risk. The fourth option does not change the method; it simply adds another distractor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give three-option items less care or four-option items excessive time. Use a consistent process: read the stem, identify the task, decide the likely sequence before looking deeply at options, compare the strongest choices, commit, and move on. If uncertain, mark the item according to your testing plan and return only if time remains. Option count should not control your confidence or 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error log, record whether the item had three or four options, but focus on the actual reasoning error. Did you invent a missing choice, miss the task word, choose a premature intervention, exceed scope, or misread the priority? Write a correction rule such as, “Compare only presented options,” or, “New cognitive change requires medical assessment before interpretation.” This turns format discomfort into a specific skill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selecting an answer, ask: What is the task word? What is the priority and sequence? Am I comparing only the choices presented? Which options fail because of timing, scope, assumptions, or incompleteness? Between the finalists, which answer best fits the facts and role? Then commit and move on. The option count is a format detail; disciplined clinical reasoning remains the core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Three-Option and Four-Option Question Strategy</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07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LCSW candidates may encounter practice items with three options and others with four.</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C99700"/>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C99700">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Read the Stem Before Studying the Options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Begin with the stem.</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who the professional is, what has already happened, what the immediate concern is,…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prevents the options from pulling you toward an answer that is helpful but mistimed.</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Question Asking You to Do?</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prevents the options from pulling you toward an answer that is helpful but mistimed.</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Task Word</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FIRST and NEXT questions focus heavily on sequence.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FIRST</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NEXT</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BEST</a:t>
            </a:r>
            <a:endParaRPr lang="en-US" sz="1180" dirty="0"/>
          </a:p>
        </p:txBody>
      </p:sp>
      <p:sp>
        <p:nvSpPr>
          <p:cNvPr id="15" name="Text 13"/>
          <p:cNvSpPr/>
          <p:nvPr/>
        </p:nvSpPr>
        <p:spPr>
          <a:xfrm>
            <a:off x="9884664" y="2148840"/>
            <a:ext cx="950976"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MOST displayed along a sequence.</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what must happen before the later actions can be safe or effective.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later intervention can be correct in general and still be wrong for a FIRST question.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FIRST/NEXT = Sequence • BEST/MOST = Comparison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later intervention can be correct in general and still be wrong for a FIRST question.</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Do Not Invent a Missing Option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an item has three options, compare those three.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spend time imagining the answer you wish had been included.</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Exam reasoning asks which presented answer is best, not whether the item contains every…</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Choose From the Answers That Exist</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Exam reasoning asks which presented answer is best, not whether the item contains every action that might eventually occur.</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Eliminate by Timing</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 most common distractor is a clinically reasonable action offered too early.</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Answer choices placed too early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correctly timed</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too late on a timeline.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Treatment techniques may appear before essential assessment.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Timing often eliminates one or two choices quickly.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Helpful Later Can Be Wrong Now</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Timing often eliminates one or two choices quickly.</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Eliminate by Scope and Role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Reject options that exceed the social worker’s role or authority.</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clinician may assess medication effects and coordinate medical review but should not…</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Scope errors remain wrong whether the item has three or four options.</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Stay Within Role and Authority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Scope errors remain wrong whether the item has three or four options.</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Eliminate Absolutes and Unsupported Assumptions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 cautious with absolute promises, automatic conclusions, and unsupported motives.</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Words such as always</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never</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immediately</a:t>
            </a:r>
            <a:endParaRPr lang="en-US" sz="1180" dirty="0"/>
          </a:p>
        </p:txBody>
      </p:sp>
      <p:sp>
        <p:nvSpPr>
          <p:cNvPr id="15" name="Text 13"/>
          <p:cNvSpPr/>
          <p:nvPr/>
        </p:nvSpPr>
        <p:spPr>
          <a:xfrm>
            <a:off x="9884664" y="2148840"/>
            <a:ext cx="950976"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prove highlighted as warning…</a:t>
            </a:r>
            <a:endParaRPr lang="en-US" sz="1180" dirty="0"/>
          </a:p>
        </p:txBody>
      </p:sp>
      <p:sp>
        <p:nvSpPr>
          <p:cNvPr id="16" name="Text 14"/>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Words such as always</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diagnosis does not prove incapacity.</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 absolute can be correct when a clear rule applies, but the stem must support it.</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Test the Evidence Before Accepting Certainty</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An absolute can be correct when a clear rule applies, but the stem must support it.</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Compare the Strongest Two Answers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After eliminating weak choices, compare the strongest two.</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Two finalist options compared…</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timing</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role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client participation</a:t>
            </a:r>
            <a:endParaRPr lang="en-US" sz="1180" dirty="0"/>
          </a:p>
        </p:txBody>
      </p:sp>
      <p:sp>
        <p:nvSpPr>
          <p:cNvPr id="16" name="Text 14"/>
          <p:cNvSpPr/>
          <p:nvPr/>
        </p:nvSpPr>
        <p:spPr>
          <a:xfrm>
            <a:off x="10116922" y="2148840"/>
            <a:ext cx="718718"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completeness.</a:t>
            </a:r>
            <a:endParaRPr lang="en-US" sz="1180" dirty="0"/>
          </a:p>
        </p:txBody>
      </p:sp>
      <p:sp>
        <p:nvSpPr>
          <p:cNvPr id="17" name="Text 15"/>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Two finalist options compared…</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Which one addresses the highest priority?</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structured comparison is especially useful when a three-option item leaves two plausible…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Priority • Timing • Role • Participation • Completeness</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structured comparison is especially useful when a three-option item leaves two plausible choices or a four-option item contains two…</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Three Options Can Increase Precision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three-option item may feel easier because there is one less distractor, but the remaining options can be closely matched.</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rush.</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simply means the test is asking you to discriminate among the options that remain.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Fewer Choices Still Require Careful Discrimination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It simply means the test is asking you to discriminate among the options that remain.</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Three-Option Assessment Item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Suppose a client develops new confusion after a medication change.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New Change</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Medication = Assess</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Coordinate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New Change</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options are to interpret the change as resistance, continue routine therapy, or assess…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third choice is best because a new cognitive change may be medically significant and must…</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New Change + Medication = Assess and Coordinate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third choice is best because a new cognitive change may be medically significant and must be assessed before psychological interpretation…</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Four-Option Sequencing Item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says that everyone would be better without them.</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Four options include reassurance, changing the subject, obtaining a safety promise, or asking…</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fourth option does not change the method; it simply adds another distractor to compare.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Direct Risk Assessment Comes Before Reassurance or Planning</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fourth option does not change the method; it simply adds another distractor to compare.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Manage Time Without Guessing by Format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Do not give three-option items less care or four-option items excessive time.</a:t>
            </a:r>
            <a:endParaRPr lang="en-US" sz="2120" dirty="0"/>
          </a:p>
        </p:txBody>
      </p:sp>
      <p:sp>
        <p:nvSpPr>
          <p:cNvPr id="11" name="Shape 9"/>
          <p:cNvSpPr/>
          <p:nvPr/>
        </p:nvSpPr>
        <p:spPr>
          <a:xfrm>
            <a:off x="6629400" y="2441448"/>
            <a:ext cx="3977640" cy="0"/>
          </a:xfrm>
          <a:prstGeom prst="line">
            <a:avLst/>
          </a:prstGeom>
          <a:noFill/>
          <a:ln w="15240">
            <a:solidFill>
              <a:srgbClr val="C99700">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FF6DD"/>
          </a:solidFill>
          <a:ln w="13970">
            <a:solidFill>
              <a:srgbClr val="C99700">
                <a:alpha val="75000"/>
              </a:srgbClr>
            </a:solidFill>
          </a:ln>
        </p:spPr>
        <p:txBody>
          <a:bodyPr wrap="square" lIns="1016" tIns="1016" rIns="1016" bIns="1016"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Use a consistent process: read the stem, identify the task, decide the likely sequence before…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Option count should not control your confidence or pacing.</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Read • Decide • Compare • Commit • Move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Option count should not control your confidence or pacing.</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Mixed-Format Errors for Remediation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 the error log, record whether the item had three or four options, but focus on the actual reasoning error.</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error log with columns for…</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task word</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error type</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correction rule.</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Did you invent a missing choice, miss the task word, choose a premature intervention, exceed…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Write a correction rule such as, “Compare only presented options,” or, “New cognitive change…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Track Why You Missed It, Not Just the Answer</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Write a correction rule such as, “Compare only presented options,” or, “New cognitive change requires medical assessment before…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C99700"/>
          </a:solidFill>
          <a:ln w="12700">
            <a:solidFill>
              <a:srgbClr val="C99700">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C99700"/>
                </a:solidFill>
                <a:latin typeface="Aptos" pitchFamily="34" charset="0"/>
                <a:ea typeface="Aptos" pitchFamily="34" charset="-122"/>
                <a:cs typeface="Aptos" pitchFamily="34" charset="-120"/>
              </a:rPr>
              <a:t>OPTION STRATEGY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07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C99700"/>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Mixed-Option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selecting an answer, ask: What is the task word?</a:t>
            </a:r>
            <a:endParaRPr lang="en-US" sz="2120" dirty="0"/>
          </a:p>
        </p:txBody>
      </p:sp>
      <p:sp>
        <p:nvSpPr>
          <p:cNvPr id="11" name="Text 9"/>
          <p:cNvSpPr/>
          <p:nvPr/>
        </p:nvSpPr>
        <p:spPr>
          <a:xfrm>
            <a:off x="6446520" y="1874520"/>
            <a:ext cx="2098548" cy="1092708"/>
          </a:xfrm>
          <a:prstGeom prst="rect">
            <a:avLst/>
          </a:prstGeom>
          <a:solidFill>
            <a:srgbClr val="FFF6DD"/>
          </a:solidFill>
          <a:ln w="10160">
            <a:solidFill>
              <a:srgbClr val="D9E0E8"/>
            </a:solidFill>
          </a:ln>
        </p:spPr>
        <p:txBody>
          <a:bodyPr wrap="square" lIns="1270" tIns="1270" rIns="1270" bIns="1270" rtlCol="0" anchor="ctr">
            <a:normAutofit/>
          </a:bodyPr>
          <a:lstStyle/>
          <a:p>
            <a:pPr indent="0" marL="0">
              <a:buNone/>
            </a:pPr>
            <a:r>
              <a:rPr lang="en-US" sz="1400" b="1" dirty="0">
                <a:solidFill>
                  <a:srgbClr val="C99700"/>
                </a:solidFill>
                <a:latin typeface="Aptos" pitchFamily="34" charset="0"/>
                <a:ea typeface="Aptos" pitchFamily="34" charset="-122"/>
                <a:cs typeface="Aptos" pitchFamily="34" charset="-120"/>
              </a:rPr>
              <a:t>compact checklist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stem</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task</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priority</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priority and sequence?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option count is a format detail; disciplined clinical reasoning remains the core skill.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C99700"/>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Stem • Task • Priority • Presented Options • Compare • Commit</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C99700"/>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option count is a format detail; disciplined clinical reasoning remains the core skill.</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07: Three-Option and Four-Option Question Strategy</dc:title>
  <dc:subject>LCSW-Specific Multimedia Script 07</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