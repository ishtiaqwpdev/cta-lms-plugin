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LCSW intervention questions often include several helpful options. The best answer is the one that addresses the stated need at the correct level and time. A coping skill may help distress, but it will not resolve an urgent eviction deadline. A referral may identify a service, but it does not guarantee access. Advocacy may be needed when the barrier is organizational or systemic. First identify what is maintaining the problem and what the client wants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 should follow from the assessment and collaborative plan. Clarify the priority need, the client’s goal, safety, readiness, strengths, and environmental barriers. Then select the action that is most likely to move the stated target. Avoid choosing a technique simply because it is familiar or evidence-based in general. The question is whether it fits this client, this problem, this setting, and this point in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Therapy focuses on symptoms, coping, relationships, behavior, meaning, and change processes. Case management connects assessment, planning, resources, coordination, monitoring, and continuity across systems. The functions can overlap, but they are not the same. A client may need trauma treatment and also help coordinating housing, benefits, medical care, transportation, and legal resources. The exam may test whether you add the missing coordination function rather than substituting one service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referral requires more than naming an agency. Confirm that the service matches the need, that the client is eligible, and that cost, language, disability, transportation, scheduling, technology, and safety barriers have been considered. Clarify who will make contact and when. Use a warm handoff when needed and set a follow-up point. The referral is clinically useful only when the client can actually reach and use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CTA coordination sequence is BRIDGE. Begin with the priority need. Respect the client’s goals, consent, and preferred role. Identify people, systems, eligibility rules, and barriers. Design a plan with clear responsibilities and deadlines. Guide the handoff and communication. Evaluate access, follow-through, and outcomes. This sequence turns case management into an accountable process rather than a collection of disconnected referrals.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Coordination fails when everyone assumes someone else is responsible. State who will contact the agency, obtain consent, send information, arrange transportation, attend the meeting, and confirm the result. Preserve the client’s agency by asking which steps the client wants to handle and where support is needed. The social worker coordinates and advocates without silently taking over every task or abandoning the client to a confusing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Trauma-informed practice emphasizes physical and emotional safety, transparency, choice, collaboration, strengths, cultural responsiveness, and avoidance of unnecessary coercion. It does not mean avoiding difficult topics or assuming every behavior is caused by trauma. The intervention should reduce preventable power struggles, explain what will happen, support control where possible, and pace exposure or disclosure according to readiness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intervention may target coping or symptoms. Family or couple work may address interactional patterns. Group intervention may provide skills, support, universality, or interpersonal learning. Community or organizational action may address a shared barrier. Choose the format that can realistically change the target, considering safety, consent, readiness, and access. Do not select conjoint work when coercion or retaliation makes participation unsafe.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Advocacy begins with the client’s goal, the barrier, the risks, and the client’s desired level of participation. The least intrusive effective action may be helping the client prepare, clarifying a policy, making a supported call, requesting an accommodation, escalating within an organization, or pursuing broader systems change. Do not assume that the most confrontational action is strongest. Match the advocacy level to the barrier and preserve privacy and client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client does not follow through, assess whether the plan was understandable, accessible, affordable, culturally responsive, and aligned with the client’s priorities. Ask about transportation, technology, language, disability, work, childcare, fear, and prior experiences with the system. Revise the plan when the barrier is practical or systemic. Accountability matters, but it should be based on accurate assessment rather than moral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has worsening medical symptoms, unstable housing, and several unconnected referrals. The best response is not to give another list or transfer the entire case. Prioritize medical and housing safety with the client, map the relevant providers and barriers, obtain consent for necessary coordination, begin accessible warm handoffs, assign responsibility, and set a follow-up point. The intervention integrates clinical urgency with practical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reports that an agency denied a needed disability accommodation. Begin by clarifying what the client requested, the stated reason for denial, relevant documentation, risks, and the client’s preferred role. The next action may be to help the client make a clearer request, contact the appropriate office with consent, or escalate through a grievance process. Media or legal action may be considered later, but not automatically as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choosing a therapy technique before clarifying the target, treating a resource list as case management, assuming responsibility that belongs to another provider, excluding the client from coordination, or escalating advocacy before understanding the barrier and risk. Another trap is failing to evaluate whether the intervention worked. Strong answers connect assessment, action, responsibility, access,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ask: What is the priority target? At what level is the maintaining barrier? Does the intervention fit the client’s goals, readiness, culture, and safety? Can the service be accessed? Who is responsible for each step? How will follow-through and outcome be evaluated? This check helps you distinguish a helpful idea from a complete, well-timed social work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Intervention, Case Management, and Advocacy</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05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LCSW intervention questions often include several helpful options.</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D66B4A"/>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D66B4A">
                <a:alpha val="75000"/>
              </a:srgbClr>
            </a:solidFill>
            <a:prstDash val="solid"/>
            <a:tailEnd type="triangle"/>
          </a:ln>
        </p:spPr>
      </p:sp>
      <p:sp>
        <p:nvSpPr>
          <p:cNvPr id="15" name="Text 13"/>
          <p:cNvSpPr/>
          <p:nvPr/>
        </p:nvSpPr>
        <p:spPr>
          <a:xfrm>
            <a:off x="804672"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problem matched to individual</a:t>
            </a:r>
            <a:endParaRPr lang="en-US" sz="1180" dirty="0"/>
          </a:p>
        </p:txBody>
      </p:sp>
      <p:sp>
        <p:nvSpPr>
          <p:cNvPr id="16" name="Text 14"/>
          <p:cNvSpPr/>
          <p:nvPr/>
        </p:nvSpPr>
        <p:spPr>
          <a:xfrm>
            <a:off x="2090318"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a:t>
            </a:r>
            <a:endParaRPr lang="en-US" sz="1180" dirty="0"/>
          </a:p>
        </p:txBody>
      </p:sp>
      <p:sp>
        <p:nvSpPr>
          <p:cNvPr id="17" name="Text 15"/>
          <p:cNvSpPr/>
          <p:nvPr/>
        </p:nvSpPr>
        <p:spPr>
          <a:xfrm>
            <a:off x="3375965"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group</a:t>
            </a:r>
            <a:endParaRPr lang="en-US" sz="1180" dirty="0"/>
          </a:p>
        </p:txBody>
      </p:sp>
      <p:sp>
        <p:nvSpPr>
          <p:cNvPr id="18" name="Text 16"/>
          <p:cNvSpPr/>
          <p:nvPr/>
        </p:nvSpPr>
        <p:spPr>
          <a:xfrm>
            <a:off x="4661611"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case management</a:t>
            </a:r>
            <a:endParaRPr lang="en-US" sz="1180" dirty="0"/>
          </a:p>
        </p:txBody>
      </p:sp>
      <p:sp>
        <p:nvSpPr>
          <p:cNvPr id="19" name="Text 17"/>
          <p:cNvSpPr/>
          <p:nvPr/>
        </p:nvSpPr>
        <p:spPr>
          <a:xfrm>
            <a:off x="5947258" y="3273552"/>
            <a:ext cx="1075334"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organizational</a:t>
            </a:r>
            <a:endParaRPr lang="en-US" sz="1180" dirty="0"/>
          </a:p>
        </p:txBody>
      </p:sp>
      <p:sp>
        <p:nvSpPr>
          <p:cNvPr id="20" name="Text 18"/>
          <p:cNvSpPr/>
          <p:nvPr/>
        </p:nvSpPr>
        <p:spPr>
          <a:xfrm>
            <a:off x="7635240" y="3364992"/>
            <a:ext cx="1687068" cy="758952"/>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problem matched to individual</a:t>
            </a:r>
            <a:endParaRPr lang="en-US" sz="1400" dirty="0"/>
          </a:p>
        </p:txBody>
      </p:sp>
      <p:sp>
        <p:nvSpPr>
          <p:cNvPr id="21" name="Text 19"/>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family</a:t>
            </a:r>
            <a:endParaRPr lang="en-US" sz="1400" dirty="0"/>
          </a:p>
        </p:txBody>
      </p:sp>
      <p:sp>
        <p:nvSpPr>
          <p:cNvPr id="22" name="Text 20"/>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group</a:t>
            </a:r>
            <a:endParaRPr lang="en-US" sz="1400" dirty="0"/>
          </a:p>
        </p:txBody>
      </p:sp>
      <p:sp>
        <p:nvSpPr>
          <p:cNvPr id="23" name="Text 21"/>
          <p:cNvSpPr/>
          <p:nvPr/>
        </p:nvSpPr>
        <p:spPr>
          <a:xfrm>
            <a:off x="939546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case management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Link Intervention to Assessment and Plan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Intervention should follow from the assessment and collaborative plan.</a:t>
            </a:r>
            <a:endParaRPr lang="en-US" sz="2120" dirty="0"/>
          </a:p>
        </p:txBody>
      </p:sp>
      <p:sp>
        <p:nvSpPr>
          <p:cNvPr id="11" name="Text 9"/>
          <p:cNvSpPr/>
          <p:nvPr/>
        </p:nvSpPr>
        <p:spPr>
          <a:xfrm>
            <a:off x="6629400" y="1901952"/>
            <a:ext cx="3931920" cy="475488"/>
          </a:xfrm>
          <a:prstGeom prst="rect">
            <a:avLst/>
          </a:prstGeom>
          <a:solidFill>
            <a:srgbClr val="F9EAE5"/>
          </a:solidFill>
          <a:ln w="15240">
            <a:solidFill>
              <a:srgbClr val="D66B4A">
                <a:alpha val="82000"/>
              </a:srgbClr>
            </a:solidFill>
          </a:ln>
        </p:spPr>
        <p:txBody>
          <a:bodyPr wrap="square" lIns="508" tIns="508" rIns="508" bIns="508" rtlCol="0" anchor="ctr">
            <a:normAutofit/>
          </a:bodyPr>
          <a:lstStyle/>
          <a:p>
            <a:pPr indent="0" marL="0">
              <a:buNone/>
            </a:pPr>
            <a:r>
              <a:rPr lang="en-US" sz="1320" b="1" dirty="0">
                <a:solidFill>
                  <a:srgbClr val="D66B4A"/>
                </a:solidFill>
                <a:latin typeface="Aptos" pitchFamily="34" charset="0"/>
                <a:ea typeface="Aptos" pitchFamily="34" charset="-122"/>
                <a:cs typeface="Aptos" pitchFamily="34" charset="-120"/>
              </a:rPr>
              <a:t>Need</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Goal</a:t>
            </a:r>
            <a:endParaRPr lang="en-US" sz="1320" dirty="0"/>
          </a:p>
        </p:txBody>
      </p:sp>
      <p:sp>
        <p:nvSpPr>
          <p:cNvPr id="13" name="Text 11"/>
          <p:cNvSpPr/>
          <p:nvPr/>
        </p:nvSpPr>
        <p:spPr>
          <a:xfrm>
            <a:off x="6629400" y="3218688"/>
            <a:ext cx="3931920" cy="475488"/>
          </a:xfrm>
          <a:prstGeom prst="rect">
            <a:avLst/>
          </a:prstGeom>
          <a:solidFill>
            <a:srgbClr val="F9EAE5"/>
          </a:solidFill>
          <a:ln w="9525">
            <a:solidFill>
              <a:srgbClr val="D66B4A"/>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Context = Intervention</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priority need, the client’s goal, safety, readiness, strengths, and environmental…</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question is whether it fits this client, this problem, this setting, and this point in…</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Need + Goal + Context = Intervention</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question is whether it fits this client, this problem, this setting, and this point in the sequence.</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Distinguish Therapy From Case Management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Therapy focuses on symptoms, coping, relationships, behavior, meaning, and change processes.</a:t>
            </a:r>
            <a:endParaRPr lang="en-US" sz="2120" dirty="0"/>
          </a:p>
        </p:txBody>
      </p:sp>
      <p:sp>
        <p:nvSpPr>
          <p:cNvPr id="11" name="Text 9"/>
          <p:cNvSpPr/>
          <p:nvPr/>
        </p:nvSpPr>
        <p:spPr>
          <a:xfrm>
            <a:off x="6629400" y="1901952"/>
            <a:ext cx="3931920" cy="475488"/>
          </a:xfrm>
          <a:prstGeom prst="rect">
            <a:avLst/>
          </a:prstGeom>
          <a:solidFill>
            <a:srgbClr val="F9EAE5"/>
          </a:solidFill>
          <a:ln w="15240">
            <a:solidFill>
              <a:srgbClr val="D66B4A">
                <a:alpha val="82000"/>
              </a:srgbClr>
            </a:solidFill>
          </a:ln>
        </p:spPr>
        <p:txBody>
          <a:bodyPr wrap="square" lIns="508" tIns="508" rIns="508" bIns="508" rtlCol="0" anchor="ctr">
            <a:normAutofit/>
          </a:bodyPr>
          <a:lstStyle/>
          <a:p>
            <a:pPr indent="0" marL="0">
              <a:buNone/>
            </a:pPr>
            <a:r>
              <a:rPr lang="en-US" sz="1320" b="1" dirty="0">
                <a:solidFill>
                  <a:srgbClr val="D66B4A"/>
                </a:solidFill>
                <a:latin typeface="Aptos" pitchFamily="34" charset="0"/>
                <a:ea typeface="Aptos" pitchFamily="34" charset="-122"/>
                <a:cs typeface="Aptos" pitchFamily="34" charset="-120"/>
              </a:rPr>
              <a:t>Two overlapping lanes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clinical change</a:t>
            </a:r>
            <a:endParaRPr lang="en-US" sz="1320" dirty="0"/>
          </a:p>
        </p:txBody>
      </p:sp>
      <p:sp>
        <p:nvSpPr>
          <p:cNvPr id="13" name="Text 11"/>
          <p:cNvSpPr/>
          <p:nvPr/>
        </p:nvSpPr>
        <p:spPr>
          <a:xfrm>
            <a:off x="6629400" y="3218688"/>
            <a:ext cx="3931920" cy="475488"/>
          </a:xfrm>
          <a:prstGeom prst="rect">
            <a:avLst/>
          </a:prstGeom>
          <a:solidFill>
            <a:srgbClr val="F9EAE5"/>
          </a:solidFill>
          <a:ln w="9525">
            <a:solidFill>
              <a:srgbClr val="D66B4A"/>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service coordination.</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Case management connects assessment, planning, resources, coordination, monitoring, and…</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may test whether you add the missing coordination function rather than substituting…</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Therapy Changes Clinical Patterns • Case Management Connects Systems</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may test whether you add the missing coordination function rather than substituting one service for another.</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 Referral Is Not Complete at the Phone Number</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Effective referral requires more than naming an agency.</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referral pathway extending…</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access</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handoff</a:t>
            </a:r>
            <a:endParaRPr lang="en-US" sz="1180" dirty="0"/>
          </a:p>
        </p:txBody>
      </p:sp>
      <p:sp>
        <p:nvSpPr>
          <p:cNvPr id="15" name="Text 13"/>
          <p:cNvSpPr/>
          <p:nvPr/>
        </p:nvSpPr>
        <p:spPr>
          <a:xfrm>
            <a:off x="9884664" y="2148840"/>
            <a:ext cx="950976"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confirmation.</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Confirm that the service matches the need, that the client is eligible, and that cost,…</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referral is clinically useful only when the client can actually reach and use the service.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Fit • Access • Responsibility • Follow-Through</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referral is clinically useful only when the client can actually reach and use the service.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BRIDGE Coordination Sequence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practical CTA coordination sequence is BRIDGE.</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Begin with the priority need.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sequence turns case management into an accountable process rather than a collection of…</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Begin • Respect • Identify • Design • Guide • Evaluate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sequence turns case management into an accountable process rather than a collection of disconnected referrals.</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Clarify Roles and Responsibility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Coordination fails when everyone assumes someone else is responsible.</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responsibility map showing…</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social worker</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agency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provider</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support person.</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responsibility map showing…</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State who will contact the agency, obtain consent, send information, arrange transportation,…</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coordinates and advocates without silently taking over every task or…</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Who Will Do What, By When?</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social worker coordinates and advocates without silently taking over every task or abandoning the client to a confusing system.</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Trauma-Informed Intervention Principles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Trauma-informed practice emphasizes physical and emotional safety, transparency, choice, collaboration, strengths, cultural responsiveness, and…</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Trauma informed principles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choice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collaboration</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trust</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Trauma informed principles</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does not mean avoiding difficult topics or assuming every behavior is caused by trauma.</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intervention should reduce preventable power struggles, explain what will happen, support…</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Safety • Choice • Collaboration • Empowerment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intervention should reduce preventable power struggles, explain what will happen, support control where possible, and pace exposure or…</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Match Modality to the Clinical Target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Individual intervention may target coping or symptoms.</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Individual</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couple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group</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community formats matched to…</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Individual</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Family or couple work may address interactional patterns.</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select conjoint work when coercion or retaliation makes participation unsafe.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Choose the Format That Can Change the Target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select conjoint work when coercion or retaliation makes participation unsafe.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Advocate at the Least Intrusive Effective Level</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Advocacy begins with the client’s goal, the barrier, the risks, and the client’s desired level of participation.</a:t>
            </a:r>
            <a:endParaRPr lang="en-US" sz="2120" dirty="0"/>
          </a:p>
        </p:txBody>
      </p:sp>
      <p:sp>
        <p:nvSpPr>
          <p:cNvPr id="11" name="Text 9"/>
          <p:cNvSpPr/>
          <p:nvPr/>
        </p:nvSpPr>
        <p:spPr>
          <a:xfrm>
            <a:off x="6629400" y="1901952"/>
            <a:ext cx="3931920" cy="475488"/>
          </a:xfrm>
          <a:prstGeom prst="rect">
            <a:avLst/>
          </a:prstGeom>
          <a:solidFill>
            <a:srgbClr val="F9EAE5"/>
          </a:solidFill>
          <a:ln w="15240">
            <a:solidFill>
              <a:srgbClr val="D66B4A">
                <a:alpha val="82000"/>
              </a:srgbClr>
            </a:solidFill>
          </a:ln>
        </p:spPr>
        <p:txBody>
          <a:bodyPr wrap="square" lIns="508" tIns="508" rIns="508" bIns="508" rtlCol="0" anchor="ctr">
            <a:normAutofit/>
          </a:bodyPr>
          <a:lstStyle/>
          <a:p>
            <a:pPr indent="0" marL="0">
              <a:buNone/>
            </a:pPr>
            <a:r>
              <a:rPr lang="en-US" sz="1320" b="1" dirty="0">
                <a:solidFill>
                  <a:srgbClr val="D66B4A"/>
                </a:solidFill>
                <a:latin typeface="Aptos" pitchFamily="34" charset="0"/>
                <a:ea typeface="Aptos" pitchFamily="34" charset="-122"/>
                <a:cs typeface="Aptos" pitchFamily="34" charset="-120"/>
              </a:rPr>
              <a:t>advocacy ladder</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information</a:t>
            </a:r>
            <a:endParaRPr lang="en-US" sz="1320" dirty="0"/>
          </a:p>
        </p:txBody>
      </p:sp>
      <p:sp>
        <p:nvSpPr>
          <p:cNvPr id="13" name="Text 11"/>
          <p:cNvSpPr/>
          <p:nvPr/>
        </p:nvSpPr>
        <p:spPr>
          <a:xfrm>
            <a:off x="6629400" y="3218688"/>
            <a:ext cx="3931920" cy="475488"/>
          </a:xfrm>
          <a:prstGeom prst="rect">
            <a:avLst/>
          </a:prstGeom>
          <a:solidFill>
            <a:srgbClr val="F9EAE5"/>
          </a:solidFill>
          <a:ln w="9525">
            <a:solidFill>
              <a:srgbClr val="D66B4A"/>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coaching</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direct contact</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least intrusive effective action may be helping the client prepare, clarifying a policy,…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Match the advocacy level to the barrier and preserve privacy and client control.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Start With the Client’s Goal and the Smallest Effective Step</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Match the advocacy level to the barrier and preserve privacy and client control.</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Address Access Before Labeling Noncompliance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client does not follow through, assess whether the plan was understandable, accessible, affordable, culturally responsive, and aligned with…</a:t>
            </a:r>
            <a:endParaRPr lang="en-US" sz="2120" dirty="0"/>
          </a:p>
        </p:txBody>
      </p:sp>
      <p:sp>
        <p:nvSpPr>
          <p:cNvPr id="11" name="Text 9"/>
          <p:cNvSpPr/>
          <p:nvPr/>
        </p:nvSpPr>
        <p:spPr>
          <a:xfrm>
            <a:off x="6629400" y="1901952"/>
            <a:ext cx="3931920" cy="475488"/>
          </a:xfrm>
          <a:prstGeom prst="rect">
            <a:avLst/>
          </a:prstGeom>
          <a:solidFill>
            <a:srgbClr val="F9EAE5"/>
          </a:solidFill>
          <a:ln w="15240">
            <a:solidFill>
              <a:srgbClr val="D66B4A">
                <a:alpha val="82000"/>
              </a:srgbClr>
            </a:solidFill>
          </a:ln>
        </p:spPr>
        <p:txBody>
          <a:bodyPr wrap="square" lIns="508" tIns="508" rIns="508" bIns="508" rtlCol="0" anchor="ctr">
            <a:normAutofit/>
          </a:bodyPr>
          <a:lstStyle/>
          <a:p>
            <a:pPr indent="0" marL="0">
              <a:buNone/>
            </a:pPr>
            <a:r>
              <a:rPr lang="en-US" sz="1320" b="1" dirty="0">
                <a:solidFill>
                  <a:srgbClr val="D66B4A"/>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F9EAE5"/>
          </a:solidFill>
          <a:ln w="9525">
            <a:solidFill>
              <a:srgbClr val="D66B4A"/>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about transportation, technology, language, disability, work, childcare, fear, and prior…</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Accountability matters, but it should be based on accurate assessment rather than moral…</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Test the System Before Blaming the Client</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Accountability matters, but it should be based on accurate assessment rather than moral judgment.</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Multiple Urgent Needs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has worsening medical symptoms, unstable housing, and several unconnected referrals.</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Prioritize</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Coordinate</a:t>
            </a:r>
            <a:endParaRPr lang="en-US" sz="1180" dirty="0"/>
          </a:p>
        </p:txBody>
      </p:sp>
      <p:sp>
        <p:nvSpPr>
          <p:cNvPr id="14" name="Text 12"/>
          <p:cNvSpPr/>
          <p:nvPr/>
        </p:nvSpPr>
        <p:spPr>
          <a:xfrm>
            <a:off x="9497568" y="2148840"/>
            <a:ext cx="1338072"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Set Follow Up</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best response is not to give another list or transfer the entire case.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intervention integrates clinical urgency with practical continuity.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Prioritize, Coordinate, and Set Follow-Up</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intervention integrates clinical urgency with practical continuity.</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Denied Accommodation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reports that an agency denied a needed disability accommodation.</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the Goal</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Policy</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Evidence</a:t>
            </a:r>
            <a:endParaRPr lang="en-US" sz="1180" dirty="0"/>
          </a:p>
        </p:txBody>
      </p:sp>
      <p:sp>
        <p:nvSpPr>
          <p:cNvPr id="15" name="Text 13"/>
          <p:cNvSpPr/>
          <p:nvPr/>
        </p:nvSpPr>
        <p:spPr>
          <a:xfrm>
            <a:off x="9884664" y="2148840"/>
            <a:ext cx="950976"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Next Level</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Begin by clarifying what the client requested, the stated reason for denial, relevant…</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Media or legal action may be considered later, but not automatically as the first step.</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Goal, Policy, Evidence, and Next Level</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Media or legal action may be considered later, but not automatically as the first step.</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Intervention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Common traps include choosing a therapy technique before clarifying the target, treating a resource list as case management, assuming responsibility…</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Avoid Premature</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Incomplete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Overcontrolling Actions</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Another trap is failing to evaluate whether the intervention worked.</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connect assessment, action, responsibility, access, and follow-up.</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Premature, Incomplete, and Overcontrolling Actions</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connect assessment, action, responsibility, access, and follow-up.</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 ADVOCACY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05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Intervention and Advocacy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answering, ask: What is the priority target?</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compact check</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target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level</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fit</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At what level is the maintaining barrier?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check helps you distinguish a helpful idea from a complete, well-timed social work…</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Target • Level • Fit • Access • Responsibility • Follow-Up</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check helps you distinguish a helpful idea from a complete, well-timed social work intervention.</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05: Intervention, Case Management, and Advocacy</dc:title>
  <dc:subject>LCSW-Specific Multimedia Script 05</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