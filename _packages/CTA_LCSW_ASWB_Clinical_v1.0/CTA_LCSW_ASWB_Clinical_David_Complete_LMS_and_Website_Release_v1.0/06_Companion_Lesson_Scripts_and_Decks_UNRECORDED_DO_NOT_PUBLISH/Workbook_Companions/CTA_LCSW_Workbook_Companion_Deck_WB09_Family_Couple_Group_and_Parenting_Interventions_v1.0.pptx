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social work questions cannot be solved by choosing only an individual psychotherapy technique. The target may involve family roles, parenting, caregiving, couple interaction, group support, school or health teams, service networks, or community barriers. Select the client system based on the goal, safety, voluntariness, maintaining pattern, and the smallest effective level of intervention. More participants do not automatically produce a better plan. Clarify who the client is, who is participating, whose consent or authorization is needed, what information can be shared, and how power differences may affect disclosure or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or caregiver involvement can improve support, understanding, adherence, parenting, safety, and continuity, but it should not be assumed. Ask whom the client considers family and what role, if any, the client wants them to have. Assess caregiving burden, development, family hierarchy, culture, conflict, housing, food, health, transportation, and other practical conditions that shape interaction. Clarify confidentiality and individual-contact policies. Family conflict may be partly maintained by an environmental crisis, so communication training alone may be premature when housing, safety, or medical needs are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Conjoint work is not automatically appropriate because the problem occurs in a relationship. Assess threats, coercive control, violence, stalking, intimidation, unsafe disclosure, severe instability, substance risk, and whether each person can participate voluntarily. Do not encourage immediate honesty in front of a partner when disclosure may increase danger. Clarify treatment format, confidentiality expectations, and the purpose of any individual contacts. A relational or family lens should not flatten power differences or assign equal responsibility for abuse. Safety and informed participation determine whether joint work, separate services, or another level of care is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treatment requires a clear purpose and screening for readiness, goals, safety, cognitive and emotional capacity, communication needs, culture, language, accessibility, and compatibility with group structure. Explain confidentiality limits, expectations, attendance, and voluntary participation. Early groups need orientation and predictable norms. Middle-stage groups work on cohesion, feedback, conflict, and task. Later stages consolidate learning, address ending, and connect gains to life outside the group. The facilitator monitors monopolizing, withdrawal, scapegoating, exclusion, ruptures, and accessibility. A group is not simply an efficient substitute for individual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Parenting and caregiver interventions may include developmentally appropriate expectations, routines, reinforcement, modeling, rehearsal, emotion coaching, and support for caregiver stress. Referrals should match eligibility, availability, cost, transportation, language, disability, technology, safety, and client preference. Interdisciplinary teams require role clarity, consent, relevant information, independent judgment, and assigned follow-up. In schools, health care, permanency, end-of-life, and community settings, the social worker keeps the client or client system involved and ensures that responsibility does not disappear between professionals or agencies.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involving family without client choice or authority, beginning conjoint communication work before assessing violence or coercion, using a group because it is available without screening for fit, treating a silent member as resistant, giving parenting advice without assessing development or basic needs, sharing team information beyond what is relevant, assuming a referral is complete when a number is provided, and labeling missed services as poor motivation before checking access. Strong answers select the client system deliberately and preserve safety, participation, role clarity, and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family reports escalating arguments after receiving an eviction notice. Beginning communication training alone misses the immediate environmental crisis. The social worker first clarifies safety, the timing of housing loss, children’s needs, transportation, eligibility, and the family’s priorities. The worker mobilizes accessible resources and assigns follow-up. Communication, parenting, and coping interventions can then be integrated into the coordinated plan. The strong answer does not reduce the problem to family dysfunction or treat housing as separate from clinical work. It selects the family and service-network levels because both are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9 vignette, identify the goal, the smallest effective client-system level, safety and voluntariness, who should participate, what access barriers exist, what information may be shared, and who owns follow-up. In your error log, mark automatic family involvement, missed power differences, group-fit errors, parenting without assessment, team-role confusion, or referral without continuity. The best answer coordinates people and systems while preserving the client’s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3467A6"/>
                </a:solidFill>
                <a:latin typeface="Aptos" pitchFamily="34" charset="0"/>
                <a:ea typeface="Aptos" pitchFamily="34" charset="-122"/>
                <a:cs typeface="Aptos" pitchFamily="34" charset="-120"/>
              </a:rPr>
              <a:t>Workbook 9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Family, Couple, Group, and Parenting Interventions</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Many social work questions cannot be solved by choosing only an individual psychotherapy technique.</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3467A6"/>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3467A6">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Individual</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family</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couple</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caregiver</a:t>
            </a:r>
            <a:endParaRPr lang="en-US" sz="1140" dirty="0"/>
          </a:p>
        </p:txBody>
      </p:sp>
      <p:sp>
        <p:nvSpPr>
          <p:cNvPr id="20" name="Text 18"/>
          <p:cNvSpPr/>
          <p:nvPr/>
        </p:nvSpPr>
        <p:spPr>
          <a:xfrm>
            <a:off x="5325466" y="3822192"/>
            <a:ext cx="1002182"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group</a:t>
            </a:r>
            <a:endParaRPr lang="en-US" sz="1140" dirty="0"/>
          </a:p>
        </p:txBody>
      </p:sp>
      <p:sp>
        <p:nvSpPr>
          <p:cNvPr id="21" name="Text 19"/>
          <p:cNvSpPr/>
          <p:nvPr/>
        </p:nvSpPr>
        <p:spPr>
          <a:xfrm>
            <a:off x="7498080" y="3474720"/>
            <a:ext cx="1668780" cy="800100"/>
          </a:xfrm>
          <a:prstGeom prst="rect">
            <a:avLst/>
          </a:prstGeom>
          <a:solidFill>
            <a:srgbClr val="EAF0F8"/>
          </a:solidFill>
          <a:ln w="11430">
            <a:solidFill>
              <a:srgbClr val="3467A6"/>
            </a:solidFill>
          </a:ln>
        </p:spPr>
        <p:txBody>
          <a:bodyPr wrap="square" lIns="1016" tIns="1016" rIns="1016" bIns="1016" rtlCol="0" anchor="ctr">
            <a:normAutofit/>
          </a:bodyPr>
          <a:lstStyle/>
          <a:p>
            <a:pPr algn="ctr" indent="0" marL="0">
              <a:buNone/>
            </a:pPr>
            <a:r>
              <a:rPr lang="en-US" sz="1500" b="1" dirty="0">
                <a:solidFill>
                  <a:srgbClr val="3467A6"/>
                </a:solidFill>
                <a:latin typeface="Aptos Display" pitchFamily="34" charset="0"/>
                <a:ea typeface="Aptos Display" pitchFamily="34" charset="-122"/>
                <a:cs typeface="Aptos Display" pitchFamily="34" charset="-120"/>
              </a:rPr>
              <a:t>Individual</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family</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couple</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caregiver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Family and Caregiver Participation Must Fit the Situation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Family or caregiver involvement can improve support, understanding, adherence, parenting, safety, and continuity, but it should not be assumed.</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Client choice</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family definition</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support</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burden</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Client choice</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whom the client considers family and what role, if any, the client wants them to have.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Family conflict may be partly maintained by an environmental crisis, so communication training…</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Who the Client Considers Family and What Involvement Would Help</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Family conflict may be partly maintained by an environmental crisis, so communication training alone may be premature when housing, safety, 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Couple and Family Safety Comes Before Conjoint Process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Conjoint work is not automatically appropriate because the problem occurs in a relationship.</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 Coercion</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Retaliation</a:t>
            </a:r>
            <a:endParaRPr lang="en-US" sz="1140" dirty="0"/>
          </a:p>
        </p:txBody>
      </p:sp>
      <p:sp>
        <p:nvSpPr>
          <p:cNvPr id="14" name="Text 12"/>
          <p:cNvSpPr/>
          <p:nvPr/>
        </p:nvSpPr>
        <p:spPr>
          <a:xfrm>
            <a:off x="9467088" y="2331720"/>
            <a:ext cx="1368552"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Voluntariness First</a:t>
            </a:r>
            <a:endParaRPr lang="en-US" sz="1140" dirty="0"/>
          </a:p>
        </p:txBody>
      </p:sp>
      <p:sp>
        <p:nvSpPr>
          <p:cNvPr id="15" name="Text 13"/>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Assess Coercion</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threats, coercive control, violence, stalking, intimidation, unsafe disclosure, severe…</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Safety and informed participation determine whether joint work, separate services, or another…</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Coercion, Retaliation, and Voluntariness First</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Safety and informed participation determine whether joint work, separate services, or another level of care is appropriate.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Group Screening, Stage, and Facilitation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Group treatment requires a clear purpose and screening for readiness, goals, safety, cognitive and emotional capacity, communication needs, culture,…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3467A6"/>
            </a:solidFill>
          </a:ln>
        </p:spPr>
        <p:txBody>
          <a:bodyPr wrap="square" lIns="508" tIns="508" rIns="508" bIns="508" rtlCol="0" anchor="ctr">
            <a:normAutofit/>
          </a:bodyPr>
          <a:lstStyle/>
          <a:p>
            <a:pPr algn="ctr" indent="0" marL="0">
              <a:buNone/>
            </a:pPr>
            <a:r>
              <a:rPr lang="en-US" sz="1220" b="1" dirty="0">
                <a:solidFill>
                  <a:srgbClr val="3467A6"/>
                </a:solidFill>
                <a:latin typeface="Aptos" pitchFamily="34" charset="0"/>
                <a:ea typeface="Aptos" pitchFamily="34" charset="-122"/>
                <a:cs typeface="Aptos" pitchFamily="34" charset="-120"/>
              </a:rPr>
              <a:t>Group purpose</a:t>
            </a:r>
            <a:endParaRPr lang="en-US" sz="1220" dirty="0"/>
          </a:p>
        </p:txBody>
      </p:sp>
      <p:sp>
        <p:nvSpPr>
          <p:cNvPr id="12" name="Text 10"/>
          <p:cNvSpPr/>
          <p:nvPr/>
        </p:nvSpPr>
        <p:spPr>
          <a:xfrm>
            <a:off x="6793992" y="2368296"/>
            <a:ext cx="3557016" cy="438912"/>
          </a:xfrm>
          <a:prstGeom prst="rect">
            <a:avLst/>
          </a:prstGeom>
          <a:solidFill>
            <a:srgbClr val="EAF0F8"/>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readiness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composition</a:t>
            </a:r>
            <a:endParaRPr lang="en-US" sz="1220" dirty="0"/>
          </a:p>
        </p:txBody>
      </p:sp>
      <p:sp>
        <p:nvSpPr>
          <p:cNvPr id="14" name="Text 12"/>
          <p:cNvSpPr/>
          <p:nvPr/>
        </p:nvSpPr>
        <p:spPr>
          <a:xfrm>
            <a:off x="7123176" y="3355848"/>
            <a:ext cx="2898648" cy="438912"/>
          </a:xfrm>
          <a:prstGeom prst="rect">
            <a:avLst/>
          </a:prstGeom>
          <a:solidFill>
            <a:srgbClr val="EAF0F8"/>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norms</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stage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Explain confidentiality limits, expectations, attendance, and voluntary participation.</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group is not simply an efficient substitute for individual care.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Screen for Fit Before Using the Group</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 group is not simply an efficient substitute for individual care.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Parenting, Referral, Teams, and Community Resources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Parenting and caregiver interventions may include developmentally appropriate expectations, routines, reinforcement, modeling, rehearsal, emotion…</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Parent coaching</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school teams</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referrals</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service networks</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community advocacy connect…</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Parent coaching</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Referrals should match eligibility, availability, cost, transportation, language, disability,…</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schools, health care, permanency, end-of-life, and community settings, the social worker…</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Coordinate the System Without Losing the Client</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In schools, health care, permanency, end-of-life, and community settings, the social worker keeps the client or client system involved and…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involving family without client choice or authority, beginning conjoint communication work before assessing violence or…</a:t>
            </a:r>
            <a:endParaRPr lang="en-US" sz="2080" dirty="0"/>
          </a:p>
        </p:txBody>
      </p:sp>
      <p:sp>
        <p:nvSpPr>
          <p:cNvPr id="11" name="Text 9"/>
          <p:cNvSpPr/>
          <p:nvPr/>
        </p:nvSpPr>
        <p:spPr>
          <a:xfrm>
            <a:off x="6446520" y="2011680"/>
            <a:ext cx="2103120" cy="1097280"/>
          </a:xfrm>
          <a:prstGeom prst="rect">
            <a:avLst/>
          </a:prstGeom>
          <a:solidFill>
            <a:srgbClr val="EAF0F8"/>
          </a:solidFill>
          <a:ln w="11430">
            <a:solidFill>
              <a:srgbClr val="3467A6"/>
            </a:solidFill>
          </a:ln>
        </p:spPr>
        <p:txBody>
          <a:bodyPr wrap="square" lIns="1016" tIns="1016" rIns="1016" bIns="1016" rtlCol="0" anchor="ctr">
            <a:normAutofit/>
          </a:bodyPr>
          <a:lstStyle/>
          <a:p>
            <a:pPr algn="ctr" indent="0" marL="0">
              <a:buNone/>
            </a:pPr>
            <a:r>
              <a:rPr lang="en-US" sz="1500" b="1" dirty="0">
                <a:solidFill>
                  <a:srgbClr val="3467A6"/>
                </a:solidFill>
                <a:latin typeface="Aptos Display" pitchFamily="34" charset="0"/>
                <a:ea typeface="Aptos Display" pitchFamily="34" charset="-122"/>
                <a:cs typeface="Aptos Display" pitchFamily="34" charset="-120"/>
              </a:rPr>
              <a:t>Trap cards show automatic…</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group without screening</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communication before safety</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referral without access.</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select the client system deliberately and preserve safety, participation, role…</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select the client system deliberately and preserve safety, participation, role…</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More Participants or Services Is Not Automatically Better</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answers select the client system deliberately and preserve safety, participation, role clarity, and continuity.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Family Conflict During Housing Instability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family reports escalating arguments after receiving an eviction notice.</a:t>
            </a:r>
            <a:endParaRPr lang="en-US" sz="2080" dirty="0"/>
          </a:p>
        </p:txBody>
      </p:sp>
      <p:sp>
        <p:nvSpPr>
          <p:cNvPr id="11" name="Shape 9"/>
          <p:cNvSpPr/>
          <p:nvPr/>
        </p:nvSpPr>
        <p:spPr>
          <a:xfrm>
            <a:off x="6537960" y="2148840"/>
            <a:ext cx="4160520" cy="2743200"/>
          </a:xfrm>
          <a:prstGeom prst="rect">
            <a:avLst>
              <a:gd name="adj" fmla="val 3333"/>
            </a:avLst>
          </a:prstGeom>
          <a:solidFill>
            <a:srgbClr val="EAF0F8"/>
          </a:solidFill>
          <a:ln w="15240">
            <a:solidFill>
              <a:srgbClr val="3467A6">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3467A6"/>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3467A6">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Beginning communication training alone misses the immediate environmental crisis.</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selects the family and service-network levels because both are necessary.</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Address the Environmental Crisis Before Communication Training Alone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selects the family and service-network levels because both are necessary.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LCSW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9 vignette, identify the goal, the smallest effective client-system level, safety and voluntariness, who should participate, what…</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Goal</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System Level</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Safety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Participation</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Access</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Goal</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automatic family involvement, missed power differences, group-fit…</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best answer coordinates people and systems while preserving the client’s voice.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Goal • System Level • Safety • Participation • Access • Role • Follow-Up</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best answer coordinates people and systems while preserving the client’s voice.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09 Companion: Workbook 9 Companion: Family, Couple, Group, and Parenting Interventions</dc:title>
  <dc:subject>LCSW Workbook 09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