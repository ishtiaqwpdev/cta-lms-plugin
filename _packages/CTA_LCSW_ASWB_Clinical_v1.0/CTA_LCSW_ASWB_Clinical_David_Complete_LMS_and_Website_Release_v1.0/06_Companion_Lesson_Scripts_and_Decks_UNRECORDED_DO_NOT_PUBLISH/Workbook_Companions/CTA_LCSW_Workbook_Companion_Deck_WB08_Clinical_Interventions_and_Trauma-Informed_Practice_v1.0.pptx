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answer choices may name evidence-informed interventions. The best answer is the one that fits the current formulation, level of urgency, maintaining mechanism, readiness, culture, development, access, client preference, and social worker competence. A familiar method can still be wrong if the client needs stabilization, medical care, a resource intervention, or a higher level of care first. A method can also be clinically appropriate in theory but unusable because of language, disability, cost, transportation, technology, or service availability. Workbook 8 teaches you to select the function and timing of intervention rather than simply recognizing technique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 means formulate the problem in person-in-environment context. I means check immediacy: safety, medical stability, severe impairment, basic needs, and level of care. T means identify the target mechanism, such as avoidance, distorted appraisal, skill deficit, ambivalence, reinforcement, dysregulation, grief, isolation, or an environmental barrier. S means evaluate suitability, including readiness, culture, development, language, disability, health literacy, access, preference, evidence, and competence. The response check asks how you will know the intervention is helping. FITS keeps the technique connected to the reason for using it and to the data that will guide continuation or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Trauma-informed care is an approach rather than one branded method. It recognizes trauma effects, supports safety and transparency, restores meaningful choice, collaborates on pacing, and reduces avoidable re-traumatization. A trauma disclosure does not automatically mean the next step is detailed processing. Assess current danger, regulation, sleep, substance use, support, dissociation, medical needs, housing, and the client’s readiness and goals. Orienting, grounding, crisis planning, resource support, and a predictable treatment frame may come first. Deeper exposure or trauma processing requires adequate stabilization, informed participation, competence, and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Cognitive methods examine appraisals and beliefs. Behavioral methods use activation, exposure, reinforcement, rehearsal, and skill practice. DBT-informed strategies address mindfulness, distress tolerance, emotion regulation, interpersonal effectiveness, and behavioral chains. Motivational interviewing fits ambivalence or externally pressured change. Psychoeducation improves understandable knowledge, and teach-back checks comprehension. Grief support may focus on meaning, connection, functioning, and adaptation without pathologizing expected mourning. Harm reduction seeks realistic risk reduction and engagement when abstinence is not the client’s current goal. The method should match the mechanism and stage rather than the social worker’s preference.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Intervention fit includes how the service is delivered. Adjust language, pace, materials, homework, setting, technology, participant involvement, and coordination based on development, culture, disability, neurodiversity, health literacy, caregiving, work, housing, transportation, cost, and safety. Use interpreters and accessibility supports appropriately. Integrate strengths, community resources, advocacy, and health care when environmental barriers maintain symptoms or prevent participation. Do not label an inaccessible intervention ineffective until implementation and access have been assessed. Then define how the adaptation will be evaluated through symptoms, functioning, participation, client experience, or resource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traps include choosing a named method before identifying the target; processing trauma while the client is acutely dysregulated; treating ambivalence as defiance; assuming “evidence-based” means automatically appropriate; giving information without checking understanding; ignoring functional and environmental needs during grief or depression; attempting specialized treatment outside competence; repeating an intervention without reassessment; and blaming the client when access or implementation failed. Strong answers connect the method to the formulation, readiness, access, competence, and a measurable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client becomes quiet and avoids eye contact when asked about childhood abuse. The next step is not to insist on completing the history or to change the subject permanently. A trauma-informed response acknowledges possible discomfort, explains the purpose of the question, reminds the client of choice, and offers options about whether and how to continue. The social worker assesses current safety, regulation, support, and the information actually needed for the immediate decision. This protects engagement and reduces avoidable re-traumatization while keeping assessment purposeful. Later work can proceed when the client is adequately stabilized and informed.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Workbook 8 vignette, write the formulation, immediate priority, target mechanism, intervention function, suitability and access check, and response measure. In your error log, mark technique-before-target, premature trauma processing, ignored readiness, inaccessible delivery, competence limits, or failure to reassess. The aim is to explain why the intervention fits now and how you will know whether it should continue, change, or escalate.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0E7C86"/>
          </a:solidFill>
          <a:ln w="12700">
            <a:solidFill>
              <a:srgbClr val="0E7C8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0E7C86"/>
                </a:solidFill>
                <a:latin typeface="Aptos" pitchFamily="34" charset="0"/>
                <a:ea typeface="Aptos" pitchFamily="34" charset="-122"/>
                <a:cs typeface="Aptos" pitchFamily="34" charset="-120"/>
              </a:rPr>
              <a:t>LCSW WORKBOOK 08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WB08 • 01/8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0E7C86"/>
                </a:solidFill>
                <a:latin typeface="Aptos Display" pitchFamily="34" charset="0"/>
                <a:ea typeface="Aptos Display" pitchFamily="34" charset="-122"/>
                <a:cs typeface="Aptos Display" pitchFamily="34" charset="-120"/>
              </a:rPr>
              <a:t>01</a:t>
            </a:r>
            <a:endParaRPr lang="en-US" sz="3200" dirty="0"/>
          </a:p>
        </p:txBody>
      </p:sp>
      <p:sp>
        <p:nvSpPr>
          <p:cNvPr id="9" name="Text 7"/>
          <p:cNvSpPr/>
          <p:nvPr/>
        </p:nvSpPr>
        <p:spPr>
          <a:xfrm>
            <a:off x="566928" y="914400"/>
            <a:ext cx="3840480" cy="310896"/>
          </a:xfrm>
          <a:prstGeom prst="rect">
            <a:avLst/>
          </a:prstGeom>
          <a:noFill/>
          <a:ln/>
        </p:spPr>
        <p:txBody>
          <a:bodyPr wrap="square" lIns="0" tIns="0" rIns="0" bIns="0" rtlCol="0" anchor="ctr"/>
          <a:lstStyle/>
          <a:p>
            <a:pPr indent="0" marL="0">
              <a:buNone/>
            </a:pPr>
            <a:r>
              <a:rPr lang="en-US" sz="1420" b="1" dirty="0">
                <a:solidFill>
                  <a:srgbClr val="0E7C86"/>
                </a:solidFill>
                <a:latin typeface="Aptos" pitchFamily="34" charset="0"/>
                <a:ea typeface="Aptos" pitchFamily="34" charset="-122"/>
                <a:cs typeface="Aptos" pitchFamily="34" charset="-120"/>
              </a:rPr>
              <a:t>Workbook 8 Companion</a:t>
            </a:r>
            <a:endParaRPr lang="en-US" sz="1420" dirty="0"/>
          </a:p>
        </p:txBody>
      </p:sp>
      <p:sp>
        <p:nvSpPr>
          <p:cNvPr id="10" name="Text 8"/>
          <p:cNvSpPr/>
          <p:nvPr/>
        </p:nvSpPr>
        <p:spPr>
          <a:xfrm>
            <a:off x="566928" y="1298448"/>
            <a:ext cx="6583680" cy="1024128"/>
          </a:xfrm>
          <a:prstGeom prst="rect">
            <a:avLst/>
          </a:prstGeom>
          <a:noFill/>
          <a:ln/>
        </p:spPr>
        <p:txBody>
          <a:bodyPr wrap="square" lIns="127" tIns="127" rIns="127" bIns="127" rtlCol="0" anchor="ctr">
            <a:normAutofit/>
          </a:bodyPr>
          <a:lstStyle/>
          <a:p>
            <a:pPr indent="0" marL="0">
              <a:buNone/>
            </a:pPr>
            <a:r>
              <a:rPr lang="en-US" sz="3100" b="1" dirty="0">
                <a:solidFill>
                  <a:srgbClr val="10263F"/>
                </a:solidFill>
                <a:latin typeface="Aptos Display" pitchFamily="34" charset="0"/>
                <a:ea typeface="Aptos Display" pitchFamily="34" charset="-122"/>
                <a:cs typeface="Aptos Display" pitchFamily="34" charset="-120"/>
              </a:rPr>
              <a:t>Clinical Interventions and Trauma-Informed Practice</a:t>
            </a:r>
            <a:endParaRPr lang="en-US" sz="3100" dirty="0"/>
          </a:p>
        </p:txBody>
      </p:sp>
      <p:sp>
        <p:nvSpPr>
          <p:cNvPr id="11" name="Text 9"/>
          <p:cNvSpPr/>
          <p:nvPr/>
        </p:nvSpPr>
        <p:spPr>
          <a:xfrm>
            <a:off x="585216" y="2432304"/>
            <a:ext cx="5852160" cy="310896"/>
          </a:xfrm>
          <a:prstGeom prst="rect">
            <a:avLst/>
          </a:prstGeom>
          <a:noFill/>
          <a:ln/>
        </p:spPr>
        <p:txBody>
          <a:bodyPr wrap="square" lIns="0" tIns="0" rIns="0" bIns="0" rtlCol="0" anchor="ctr"/>
          <a:lstStyle/>
          <a:p>
            <a:pPr indent="0" marL="0">
              <a:buNone/>
            </a:pPr>
            <a:r>
              <a:rPr lang="en-US" sz="1320" dirty="0">
                <a:solidFill>
                  <a:srgbClr val="5A6675"/>
                </a:solidFill>
                <a:latin typeface="Aptos" pitchFamily="34" charset="0"/>
                <a:ea typeface="Aptos" pitchFamily="34" charset="-122"/>
                <a:cs typeface="Aptos" pitchFamily="34" charset="-120"/>
              </a:rPr>
              <a:t>Ready-to-record CTA workbook companion deck</a:t>
            </a:r>
            <a:endParaRPr lang="en-US" sz="1320" dirty="0"/>
          </a:p>
        </p:txBody>
      </p:sp>
      <p:sp>
        <p:nvSpPr>
          <p:cNvPr id="12" name="Text 10"/>
          <p:cNvSpPr/>
          <p:nvPr/>
        </p:nvSpPr>
        <p:spPr>
          <a:xfrm>
            <a:off x="7571232" y="1810512"/>
            <a:ext cx="3429000" cy="1188720"/>
          </a:xfrm>
          <a:prstGeom prst="rect">
            <a:avLst/>
          </a:prstGeom>
          <a:noFill/>
          <a:ln/>
        </p:spPr>
        <p:txBody>
          <a:bodyPr wrap="square" lIns="254" tIns="254" rIns="254" bIns="254" rtlCol="0" anchor="ctr">
            <a:normAutofit/>
          </a:bodyPr>
          <a:lstStyle/>
          <a:p>
            <a:pPr indent="0" marL="0">
              <a:buNone/>
            </a:pPr>
            <a:r>
              <a:rPr lang="en-US" sz="1960" b="1" dirty="0">
                <a:solidFill>
                  <a:srgbClr val="1D2838"/>
                </a:solidFill>
                <a:latin typeface="Aptos Display" pitchFamily="34" charset="0"/>
                <a:ea typeface="Aptos Display" pitchFamily="34" charset="-122"/>
                <a:cs typeface="Aptos Display" pitchFamily="34" charset="-120"/>
              </a:rPr>
              <a:t>Several answer choices may name evidence-informed interventions.</a:t>
            </a:r>
            <a:endParaRPr lang="en-US" sz="1960" dirty="0"/>
          </a:p>
        </p:txBody>
      </p:sp>
      <p:sp>
        <p:nvSpPr>
          <p:cNvPr id="13" name="Text 11"/>
          <p:cNvSpPr/>
          <p:nvPr/>
        </p:nvSpPr>
        <p:spPr>
          <a:xfrm>
            <a:off x="7552944" y="5468112"/>
            <a:ext cx="3520440" cy="384048"/>
          </a:xfrm>
          <a:prstGeom prst="rect">
            <a:avLst/>
          </a:prstGeom>
          <a:noFill/>
          <a:ln/>
        </p:spPr>
        <p:txBody>
          <a:bodyPr wrap="square" lIns="0" tIns="0" rIns="0" bIns="0" rtlCol="0" anchor="ctr">
            <a:normAutofit/>
          </a:bodyPr>
          <a:lstStyle/>
          <a:p>
            <a:pPr indent="0" marL="0">
              <a:buNone/>
            </a:pPr>
            <a:r>
              <a:rPr lang="en-US" sz="1220" dirty="0">
                <a:solidFill>
                  <a:srgbClr val="5A6675"/>
                </a:solidFill>
                <a:latin typeface="Aptos" pitchFamily="34" charset="0"/>
                <a:ea typeface="Aptos" pitchFamily="34" charset="-122"/>
                <a:cs typeface="Aptos" pitchFamily="34" charset="-120"/>
              </a:rPr>
              <a:t>Speaker notes are synchronized with the Word narration script.</a:t>
            </a:r>
            <a:endParaRPr lang="en-US" sz="1220" dirty="0"/>
          </a:p>
        </p:txBody>
      </p:sp>
      <p:sp>
        <p:nvSpPr>
          <p:cNvPr id="14" name="Text 12"/>
          <p:cNvSpPr/>
          <p:nvPr/>
        </p:nvSpPr>
        <p:spPr>
          <a:xfrm>
            <a:off x="585216" y="5340096"/>
            <a:ext cx="3429000" cy="301752"/>
          </a:xfrm>
          <a:prstGeom prst="rect">
            <a:avLst/>
          </a:prstGeom>
          <a:solidFill>
            <a:srgbClr val="0E7C86"/>
          </a:solidFill>
          <a:ln/>
        </p:spPr>
        <p:txBody>
          <a:bodyPr wrap="square" lIns="254" tIns="254" rIns="254" bIns="254" rtlCol="0" anchor="ctr"/>
          <a:lstStyle/>
          <a:p>
            <a:pPr algn="ctr" indent="0" marL="0">
              <a:buNone/>
            </a:pPr>
            <a:r>
              <a:rPr lang="en-US" sz="1030" b="1" dirty="0">
                <a:solidFill>
                  <a:srgbClr val="FFFFFF"/>
                </a:solidFill>
                <a:latin typeface="Aptos" pitchFamily="34" charset="0"/>
                <a:ea typeface="Aptos" pitchFamily="34" charset="-122"/>
                <a:cs typeface="Aptos" pitchFamily="34" charset="-120"/>
              </a:rPr>
              <a:t>8–10 MINUTE COMPANION LESSON</a:t>
            </a:r>
            <a:endParaRPr lang="en-US" sz="1030" dirty="0"/>
          </a:p>
        </p:txBody>
      </p:sp>
      <p:sp>
        <p:nvSpPr>
          <p:cNvPr id="15" name="Shape 13"/>
          <p:cNvSpPr/>
          <p:nvPr/>
        </p:nvSpPr>
        <p:spPr>
          <a:xfrm>
            <a:off x="795528" y="4114800"/>
            <a:ext cx="5394960" cy="0"/>
          </a:xfrm>
          <a:prstGeom prst="line">
            <a:avLst/>
          </a:prstGeom>
          <a:noFill/>
          <a:ln w="13970">
            <a:solidFill>
              <a:srgbClr val="0E7C86">
                <a:alpha val="75000"/>
              </a:srgbClr>
            </a:solidFill>
            <a:prstDash val="solid"/>
            <a:tailEnd type="triangle"/>
          </a:ln>
        </p:spPr>
      </p:sp>
      <p:sp>
        <p:nvSpPr>
          <p:cNvPr id="16" name="Text 14"/>
          <p:cNvSpPr/>
          <p:nvPr/>
        </p:nvSpPr>
        <p:spPr>
          <a:xfrm>
            <a:off x="658368"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Formulation</a:t>
            </a:r>
            <a:endParaRPr lang="en-US" sz="1140" dirty="0"/>
          </a:p>
        </p:txBody>
      </p:sp>
      <p:sp>
        <p:nvSpPr>
          <p:cNvPr id="17" name="Text 15"/>
          <p:cNvSpPr/>
          <p:nvPr/>
        </p:nvSpPr>
        <p:spPr>
          <a:xfrm>
            <a:off x="1825142"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urgency</a:t>
            </a:r>
            <a:endParaRPr lang="en-US" sz="1140" dirty="0"/>
          </a:p>
        </p:txBody>
      </p:sp>
      <p:sp>
        <p:nvSpPr>
          <p:cNvPr id="18" name="Text 16"/>
          <p:cNvSpPr/>
          <p:nvPr/>
        </p:nvSpPr>
        <p:spPr>
          <a:xfrm>
            <a:off x="2991917"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mechanism</a:t>
            </a:r>
            <a:endParaRPr lang="en-US" sz="1140" dirty="0"/>
          </a:p>
        </p:txBody>
      </p:sp>
      <p:sp>
        <p:nvSpPr>
          <p:cNvPr id="19" name="Text 17"/>
          <p:cNvSpPr/>
          <p:nvPr/>
        </p:nvSpPr>
        <p:spPr>
          <a:xfrm>
            <a:off x="4158691"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suitability</a:t>
            </a:r>
            <a:endParaRPr lang="en-US" sz="1140" dirty="0"/>
          </a:p>
        </p:txBody>
      </p:sp>
      <p:sp>
        <p:nvSpPr>
          <p:cNvPr id="20" name="Text 18"/>
          <p:cNvSpPr/>
          <p:nvPr/>
        </p:nvSpPr>
        <p:spPr>
          <a:xfrm>
            <a:off x="5325466" y="3822192"/>
            <a:ext cx="1002182" cy="594360"/>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response check form a…</a:t>
            </a:r>
            <a:endParaRPr lang="en-US" sz="1140" dirty="0"/>
          </a:p>
        </p:txBody>
      </p:sp>
      <p:sp>
        <p:nvSpPr>
          <p:cNvPr id="21" name="Text 19"/>
          <p:cNvSpPr/>
          <p:nvPr/>
        </p:nvSpPr>
        <p:spPr>
          <a:xfrm>
            <a:off x="7498080" y="3474720"/>
            <a:ext cx="1668780" cy="800100"/>
          </a:xfrm>
          <a:prstGeom prst="rect">
            <a:avLst/>
          </a:prstGeom>
          <a:solidFill>
            <a:srgbClr val="E5F3F4"/>
          </a:solidFill>
          <a:ln w="11430">
            <a:solidFill>
              <a:srgbClr val="0E7C86"/>
            </a:solidFill>
          </a:ln>
        </p:spPr>
        <p:txBody>
          <a:bodyPr wrap="square" lIns="1016" tIns="1016" rIns="1016" bIns="1016" rtlCol="0" anchor="ctr">
            <a:normAutofit/>
          </a:bodyPr>
          <a:lstStyle/>
          <a:p>
            <a:pPr algn="ctr" indent="0" marL="0">
              <a:buNone/>
            </a:pPr>
            <a:r>
              <a:rPr lang="en-US" sz="1500" b="1" dirty="0">
                <a:solidFill>
                  <a:srgbClr val="0E7C86"/>
                </a:solidFill>
                <a:latin typeface="Aptos Display" pitchFamily="34" charset="0"/>
                <a:ea typeface="Aptos Display" pitchFamily="34" charset="-122"/>
                <a:cs typeface="Aptos Display" pitchFamily="34" charset="-120"/>
              </a:rPr>
              <a:t>Formulation</a:t>
            </a:r>
            <a:endParaRPr lang="en-US" sz="1500" dirty="0"/>
          </a:p>
        </p:txBody>
      </p:sp>
      <p:sp>
        <p:nvSpPr>
          <p:cNvPr id="22" name="Text 20"/>
          <p:cNvSpPr/>
          <p:nvPr/>
        </p:nvSpPr>
        <p:spPr>
          <a:xfrm>
            <a:off x="9304020" y="347472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urgency</a:t>
            </a:r>
            <a:endParaRPr lang="en-US" sz="1500" dirty="0"/>
          </a:p>
        </p:txBody>
      </p:sp>
      <p:sp>
        <p:nvSpPr>
          <p:cNvPr id="23" name="Text 21"/>
          <p:cNvSpPr/>
          <p:nvPr/>
        </p:nvSpPr>
        <p:spPr>
          <a:xfrm>
            <a:off x="749808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mechanism</a:t>
            </a:r>
            <a:endParaRPr lang="en-US" sz="1500" dirty="0"/>
          </a:p>
        </p:txBody>
      </p:sp>
      <p:sp>
        <p:nvSpPr>
          <p:cNvPr id="24" name="Text 22"/>
          <p:cNvSpPr/>
          <p:nvPr/>
        </p:nvSpPr>
        <p:spPr>
          <a:xfrm>
            <a:off x="930402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suitability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0E7C86"/>
          </a:solidFill>
          <a:ln w="12700">
            <a:solidFill>
              <a:srgbClr val="0E7C8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0E7C86"/>
                </a:solidFill>
                <a:latin typeface="Aptos" pitchFamily="34" charset="0"/>
                <a:ea typeface="Aptos" pitchFamily="34" charset="-122"/>
                <a:cs typeface="Aptos" pitchFamily="34" charset="-120"/>
              </a:rPr>
              <a:t>LCSW WORKBOOK 08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WB08 • 02/8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0E7C86"/>
                </a:solidFill>
                <a:latin typeface="Aptos Display" pitchFamily="34" charset="0"/>
                <a:ea typeface="Aptos Display" pitchFamily="34" charset="-122"/>
                <a:cs typeface="Aptos Display" pitchFamily="34" charset="-120"/>
              </a:rPr>
              <a:t>02</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Use FITS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F means formulate the problem in person-in-environment context.</a:t>
            </a:r>
            <a:endParaRPr lang="en-US" sz="2080" dirty="0"/>
          </a:p>
        </p:txBody>
      </p:sp>
      <p:sp>
        <p:nvSpPr>
          <p:cNvPr id="11" name="Text 9"/>
          <p:cNvSpPr/>
          <p:nvPr/>
        </p:nvSpPr>
        <p:spPr>
          <a:xfrm>
            <a:off x="6629400" y="1874520"/>
            <a:ext cx="3886200" cy="438912"/>
          </a:xfrm>
          <a:prstGeom prst="rect">
            <a:avLst/>
          </a:prstGeom>
          <a:solidFill>
            <a:srgbClr val="FFFFFF"/>
          </a:solidFill>
          <a:ln w="10795">
            <a:solidFill>
              <a:srgbClr val="0E7C86"/>
            </a:solidFill>
          </a:ln>
        </p:spPr>
        <p:txBody>
          <a:bodyPr wrap="square" lIns="508" tIns="508" rIns="508" bIns="508" rtlCol="0" anchor="ctr">
            <a:normAutofit/>
          </a:bodyPr>
          <a:lstStyle/>
          <a:p>
            <a:pPr algn="ctr" indent="0" marL="0">
              <a:buNone/>
            </a:pPr>
            <a:r>
              <a:rPr lang="en-US" sz="1220" b="1" dirty="0">
                <a:solidFill>
                  <a:srgbClr val="0E7C86"/>
                </a:solidFill>
                <a:latin typeface="Aptos" pitchFamily="34" charset="0"/>
                <a:ea typeface="Aptos" pitchFamily="34" charset="-122"/>
                <a:cs typeface="Aptos" pitchFamily="34" charset="-120"/>
              </a:rPr>
              <a:t>Formulation</a:t>
            </a:r>
            <a:endParaRPr lang="en-US" sz="1220" dirty="0"/>
          </a:p>
        </p:txBody>
      </p:sp>
      <p:sp>
        <p:nvSpPr>
          <p:cNvPr id="12" name="Text 10"/>
          <p:cNvSpPr/>
          <p:nvPr/>
        </p:nvSpPr>
        <p:spPr>
          <a:xfrm>
            <a:off x="6793992" y="2368296"/>
            <a:ext cx="3557016" cy="438912"/>
          </a:xfrm>
          <a:prstGeom prst="rect">
            <a:avLst/>
          </a:prstGeom>
          <a:solidFill>
            <a:srgbClr val="E5F3F4"/>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Immediacy</a:t>
            </a:r>
            <a:endParaRPr lang="en-US" sz="1220" dirty="0"/>
          </a:p>
        </p:txBody>
      </p:sp>
      <p:sp>
        <p:nvSpPr>
          <p:cNvPr id="13" name="Text 11"/>
          <p:cNvSpPr/>
          <p:nvPr/>
        </p:nvSpPr>
        <p:spPr>
          <a:xfrm>
            <a:off x="6958584" y="2862072"/>
            <a:ext cx="3227832"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Target</a:t>
            </a:r>
            <a:endParaRPr lang="en-US" sz="1220" dirty="0"/>
          </a:p>
        </p:txBody>
      </p:sp>
      <p:sp>
        <p:nvSpPr>
          <p:cNvPr id="14" name="Text 12"/>
          <p:cNvSpPr/>
          <p:nvPr/>
        </p:nvSpPr>
        <p:spPr>
          <a:xfrm>
            <a:off x="7123176" y="3355848"/>
            <a:ext cx="2898648" cy="438912"/>
          </a:xfrm>
          <a:prstGeom prst="rect">
            <a:avLst/>
          </a:prstGeom>
          <a:solidFill>
            <a:srgbClr val="E5F3F4"/>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Suitability</a:t>
            </a:r>
            <a:endParaRPr lang="en-US" sz="1220" dirty="0"/>
          </a:p>
        </p:txBody>
      </p:sp>
      <p:sp>
        <p:nvSpPr>
          <p:cNvPr id="15" name="Text 13"/>
          <p:cNvSpPr/>
          <p:nvPr/>
        </p:nvSpPr>
        <p:spPr>
          <a:xfrm>
            <a:off x="7287768" y="3849624"/>
            <a:ext cx="2569464"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Response Check</a:t>
            </a:r>
            <a:endParaRPr lang="en-US" sz="122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 means check immediacy: safety, medical stability, severe impairment, basic needs, and level…</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FITS keeps the technique connected to the reason for using it and to the data that will guide…</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Formulation • Immediacy • Target • Suitability • Response Check</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0E7C86"/>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FITS keeps the technique connected to the reason for using it and to the data that will guide continuation or revision.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0E7C86"/>
          </a:solidFill>
          <a:ln w="12700">
            <a:solidFill>
              <a:srgbClr val="0E7C8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0E7C86"/>
                </a:solidFill>
                <a:latin typeface="Aptos" pitchFamily="34" charset="0"/>
                <a:ea typeface="Aptos" pitchFamily="34" charset="-122"/>
                <a:cs typeface="Aptos" pitchFamily="34" charset="-120"/>
              </a:rPr>
              <a:t>LCSW WORKBOOK 08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WB08 • 03/8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0E7C86"/>
                </a:solidFill>
                <a:latin typeface="Aptos Display" pitchFamily="34" charset="0"/>
                <a:ea typeface="Aptos Display" pitchFamily="34" charset="-122"/>
                <a:cs typeface="Aptos Display" pitchFamily="34" charset="-120"/>
              </a:rPr>
              <a:t>03</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Trauma-Informed Care and Stabilization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Trauma-informed care is an approach rather than one branded method.</a:t>
            </a:r>
            <a:endParaRPr lang="en-US" sz="2080" dirty="0"/>
          </a:p>
        </p:txBody>
      </p:sp>
      <p:sp>
        <p:nvSpPr>
          <p:cNvPr id="11" name="Shape 9"/>
          <p:cNvSpPr/>
          <p:nvPr/>
        </p:nvSpPr>
        <p:spPr>
          <a:xfrm>
            <a:off x="6537960" y="2624328"/>
            <a:ext cx="4160520" cy="0"/>
          </a:xfrm>
          <a:prstGeom prst="line">
            <a:avLst/>
          </a:prstGeom>
          <a:noFill/>
          <a:ln w="13970">
            <a:solidFill>
              <a:srgbClr val="0E7C86">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Safety</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transparency</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choice</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collaboration</a:t>
            </a:r>
            <a:endParaRPr lang="en-US" sz="1140" dirty="0"/>
          </a:p>
        </p:txBody>
      </p:sp>
      <p:sp>
        <p:nvSpPr>
          <p:cNvPr id="16" name="Text 14"/>
          <p:cNvSpPr/>
          <p:nvPr/>
        </p:nvSpPr>
        <p:spPr>
          <a:xfrm>
            <a:off x="10080346" y="2331720"/>
            <a:ext cx="755294" cy="594360"/>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pacing</a:t>
            </a:r>
            <a:endParaRPr lang="en-US" sz="1140" dirty="0"/>
          </a:p>
        </p:txBody>
      </p:sp>
      <p:sp>
        <p:nvSpPr>
          <p:cNvPr id="17" name="Text 15"/>
          <p:cNvSpPr/>
          <p:nvPr/>
        </p:nvSpPr>
        <p:spPr>
          <a:xfrm>
            <a:off x="7086600" y="3401568"/>
            <a:ext cx="3063240" cy="914400"/>
          </a:xfrm>
          <a:prstGeom prst="rect">
            <a:avLst/>
          </a:prstGeom>
          <a:solidFill>
            <a:srgbClr val="E5F3F4"/>
          </a:solidFill>
          <a:ln w="13970">
            <a:solidFill>
              <a:srgbClr val="0E7C86">
                <a:alpha val="75000"/>
              </a:srgbClr>
            </a:solidFill>
          </a:ln>
        </p:spPr>
        <p:txBody>
          <a:bodyPr wrap="square" lIns="635" tIns="635" rIns="635" bIns="635" rtlCol="0" anchor="ctr">
            <a:normAutofit/>
          </a:bodyPr>
          <a:lstStyle/>
          <a:p>
            <a:pPr algn="ctr" indent="0" marL="0">
              <a:buNone/>
            </a:pPr>
            <a:r>
              <a:rPr lang="en-US" sz="2200" b="1" dirty="0">
                <a:solidFill>
                  <a:srgbClr val="0E7C86"/>
                </a:solidFill>
                <a:latin typeface="Aptos Display" pitchFamily="34" charset="0"/>
                <a:ea typeface="Aptos Display" pitchFamily="34" charset="-122"/>
                <a:cs typeface="Aptos Display" pitchFamily="34" charset="-120"/>
              </a:rPr>
              <a:t>Safety</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It recognizes trauma effects, supports safety and transparency, restores meaningful choice,…</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Deeper exposure or trauma processing requires adequate stabilization, informed participation,…</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Reduce Re-Traumatization and Restore Choice</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0E7C86"/>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Deeper exposure or trauma processing requires adequate stabilization, informed participation, competence, and monitoring.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0E7C86"/>
          </a:solidFill>
          <a:ln w="12700">
            <a:solidFill>
              <a:srgbClr val="0E7C8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0E7C86"/>
                </a:solidFill>
                <a:latin typeface="Aptos" pitchFamily="34" charset="0"/>
                <a:ea typeface="Aptos" pitchFamily="34" charset="-122"/>
                <a:cs typeface="Aptos" pitchFamily="34" charset="-120"/>
              </a:rPr>
              <a:t>LCSW WORKBOOK 08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WB08 • 04/8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0E7C86"/>
                </a:solidFill>
                <a:latin typeface="Aptos Display" pitchFamily="34" charset="0"/>
                <a:ea typeface="Aptos Display" pitchFamily="34" charset="-122"/>
                <a:cs typeface="Aptos Display" pitchFamily="34" charset="-120"/>
              </a:rPr>
              <a:t>04</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Match the Mechanism to the Method</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Cognitive methods examine appraisals and beliefs.</a:t>
            </a:r>
            <a:endParaRPr lang="en-US" sz="2080" dirty="0"/>
          </a:p>
        </p:txBody>
      </p:sp>
      <p:sp>
        <p:nvSpPr>
          <p:cNvPr id="11" name="Shape 9"/>
          <p:cNvSpPr/>
          <p:nvPr/>
        </p:nvSpPr>
        <p:spPr>
          <a:xfrm>
            <a:off x="6537960" y="2624328"/>
            <a:ext cx="4160520" cy="0"/>
          </a:xfrm>
          <a:prstGeom prst="line">
            <a:avLst/>
          </a:prstGeom>
          <a:noFill/>
          <a:ln w="13970">
            <a:solidFill>
              <a:srgbClr val="0E7C86">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Maintaining mechanisms…</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behavioral</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DBT-informed</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MI</a:t>
            </a:r>
            <a:endParaRPr lang="en-US" sz="1140" dirty="0"/>
          </a:p>
        </p:txBody>
      </p:sp>
      <p:sp>
        <p:nvSpPr>
          <p:cNvPr id="16" name="Text 14"/>
          <p:cNvSpPr/>
          <p:nvPr/>
        </p:nvSpPr>
        <p:spPr>
          <a:xfrm>
            <a:off x="10080346" y="2331720"/>
            <a:ext cx="755294" cy="594360"/>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psychoeducation</a:t>
            </a:r>
            <a:endParaRPr lang="en-US" sz="1140" dirty="0"/>
          </a:p>
        </p:txBody>
      </p:sp>
      <p:sp>
        <p:nvSpPr>
          <p:cNvPr id="17" name="Text 15"/>
          <p:cNvSpPr/>
          <p:nvPr/>
        </p:nvSpPr>
        <p:spPr>
          <a:xfrm>
            <a:off x="7086600" y="3401568"/>
            <a:ext cx="3063240" cy="914400"/>
          </a:xfrm>
          <a:prstGeom prst="rect">
            <a:avLst/>
          </a:prstGeom>
          <a:solidFill>
            <a:srgbClr val="E5F3F4"/>
          </a:solidFill>
          <a:ln w="13970">
            <a:solidFill>
              <a:srgbClr val="0E7C86">
                <a:alpha val="75000"/>
              </a:srgbClr>
            </a:solidFill>
          </a:ln>
        </p:spPr>
        <p:txBody>
          <a:bodyPr wrap="square" lIns="635" tIns="635" rIns="635" bIns="635" rtlCol="0" anchor="ctr">
            <a:normAutofit/>
          </a:bodyPr>
          <a:lstStyle/>
          <a:p>
            <a:pPr algn="ctr" indent="0" marL="0">
              <a:buNone/>
            </a:pPr>
            <a:r>
              <a:rPr lang="en-US" sz="2200" b="1" dirty="0">
                <a:solidFill>
                  <a:srgbClr val="0E7C86"/>
                </a:solidFill>
                <a:latin typeface="Aptos Display" pitchFamily="34" charset="0"/>
                <a:ea typeface="Aptos Display" pitchFamily="34" charset="-122"/>
                <a:cs typeface="Aptos Display" pitchFamily="34" charset="-120"/>
              </a:rPr>
              <a:t>Maintaining mechanisms…</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Behavioral methods use activation, exposure, reinforcement, rehearsal, and skill practice.</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method should match the mechanism and stage rather than the social worker’s preference.</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Choose the Method Because of What It Changes</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0E7C86"/>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method should match the mechanism and stage rather than the social worker’s preference.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0E7C86"/>
          </a:solidFill>
          <a:ln w="12700">
            <a:solidFill>
              <a:srgbClr val="0E7C8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0E7C86"/>
                </a:solidFill>
                <a:latin typeface="Aptos" pitchFamily="34" charset="0"/>
                <a:ea typeface="Aptos" pitchFamily="34" charset="-122"/>
                <a:cs typeface="Aptos" pitchFamily="34" charset="-120"/>
              </a:rPr>
              <a:t>LCSW WORKBOOK 08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WB08 • 05/8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0E7C86"/>
                </a:solidFill>
                <a:latin typeface="Aptos Display" pitchFamily="34" charset="0"/>
                <a:ea typeface="Aptos Display" pitchFamily="34" charset="-122"/>
                <a:cs typeface="Aptos Display" pitchFamily="34" charset="-120"/>
              </a:rPr>
              <a:t>05</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Adapt for Person-in-Environment and Access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Intervention fit includes how the service is delivered.</a:t>
            </a:r>
            <a:endParaRPr lang="en-US" sz="2080" dirty="0"/>
          </a:p>
        </p:txBody>
      </p:sp>
      <p:sp>
        <p:nvSpPr>
          <p:cNvPr id="11" name="Shape 9"/>
          <p:cNvSpPr/>
          <p:nvPr/>
        </p:nvSpPr>
        <p:spPr>
          <a:xfrm>
            <a:off x="6537960" y="2624328"/>
            <a:ext cx="4160520" cy="0"/>
          </a:xfrm>
          <a:prstGeom prst="line">
            <a:avLst/>
          </a:prstGeom>
          <a:noFill/>
          <a:ln w="13970">
            <a:solidFill>
              <a:srgbClr val="0E7C86">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Development</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culture</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language</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disability</a:t>
            </a:r>
            <a:endParaRPr lang="en-US" sz="1140" dirty="0"/>
          </a:p>
        </p:txBody>
      </p:sp>
      <p:sp>
        <p:nvSpPr>
          <p:cNvPr id="16" name="Text 14"/>
          <p:cNvSpPr/>
          <p:nvPr/>
        </p:nvSpPr>
        <p:spPr>
          <a:xfrm>
            <a:off x="10080346" y="2331720"/>
            <a:ext cx="755294" cy="594360"/>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strengths</a:t>
            </a:r>
            <a:endParaRPr lang="en-US" sz="1140" dirty="0"/>
          </a:p>
        </p:txBody>
      </p:sp>
      <p:sp>
        <p:nvSpPr>
          <p:cNvPr id="17" name="Text 15"/>
          <p:cNvSpPr/>
          <p:nvPr/>
        </p:nvSpPr>
        <p:spPr>
          <a:xfrm>
            <a:off x="7086600" y="3401568"/>
            <a:ext cx="3063240" cy="914400"/>
          </a:xfrm>
          <a:prstGeom prst="rect">
            <a:avLst/>
          </a:prstGeom>
          <a:solidFill>
            <a:srgbClr val="E5F3F4"/>
          </a:solidFill>
          <a:ln w="13970">
            <a:solidFill>
              <a:srgbClr val="0E7C86">
                <a:alpha val="75000"/>
              </a:srgbClr>
            </a:solidFill>
          </a:ln>
        </p:spPr>
        <p:txBody>
          <a:bodyPr wrap="square" lIns="635" tIns="635" rIns="635" bIns="635" rtlCol="0" anchor="ctr">
            <a:normAutofit/>
          </a:bodyPr>
          <a:lstStyle/>
          <a:p>
            <a:pPr algn="ctr" indent="0" marL="0">
              <a:buNone/>
            </a:pPr>
            <a:r>
              <a:rPr lang="en-US" sz="2200" b="1" dirty="0">
                <a:solidFill>
                  <a:srgbClr val="0E7C86"/>
                </a:solidFill>
                <a:latin typeface="Aptos Display" pitchFamily="34" charset="0"/>
                <a:ea typeface="Aptos Display" pitchFamily="34" charset="-122"/>
                <a:cs typeface="Aptos Display" pitchFamily="34" charset="-120"/>
              </a:rPr>
              <a:t>Development</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Adjust language, pace, materials, homework, setting, technology, participant involvement, and…</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Then define how the adaptation will be evaluated through symptoms, functioning, participation,…</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Adapt the Delivery and Measure the Result</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0E7C86"/>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Then define how the adaptation will be evaluated through symptoms, functioning, participation, client experience, or resource outcomes.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0E7C86"/>
          </a:solidFill>
          <a:ln w="12700">
            <a:solidFill>
              <a:srgbClr val="0E7C8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0E7C86"/>
                </a:solidFill>
                <a:latin typeface="Aptos" pitchFamily="34" charset="0"/>
                <a:ea typeface="Aptos" pitchFamily="34" charset="-122"/>
                <a:cs typeface="Aptos" pitchFamily="34" charset="-120"/>
              </a:rPr>
              <a:t>LCSW WORKBOOK 08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WB08 • 06/8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0E7C86"/>
                </a:solidFill>
                <a:latin typeface="Aptos Display" pitchFamily="34" charset="0"/>
                <a:ea typeface="Aptos Display" pitchFamily="34" charset="-122"/>
                <a:cs typeface="Aptos Display" pitchFamily="34" charset="-120"/>
              </a:rPr>
              <a:t>06</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Common Exam Traps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Common traps include choosing a named method before identifying the target; processing trauma while the client is acutely dysregulated; treating…</a:t>
            </a:r>
            <a:endParaRPr lang="en-US" sz="2080" dirty="0"/>
          </a:p>
        </p:txBody>
      </p:sp>
      <p:sp>
        <p:nvSpPr>
          <p:cNvPr id="11" name="Text 9"/>
          <p:cNvSpPr/>
          <p:nvPr/>
        </p:nvSpPr>
        <p:spPr>
          <a:xfrm>
            <a:off x="6446520" y="2011680"/>
            <a:ext cx="2103120" cy="1097280"/>
          </a:xfrm>
          <a:prstGeom prst="rect">
            <a:avLst/>
          </a:prstGeom>
          <a:solidFill>
            <a:srgbClr val="E5F3F4"/>
          </a:solidFill>
          <a:ln w="11430">
            <a:solidFill>
              <a:srgbClr val="0E7C86"/>
            </a:solidFill>
          </a:ln>
        </p:spPr>
        <p:txBody>
          <a:bodyPr wrap="square" lIns="1016" tIns="1016" rIns="1016" bIns="1016" rtlCol="0" anchor="ctr">
            <a:normAutofit/>
          </a:bodyPr>
          <a:lstStyle/>
          <a:p>
            <a:pPr algn="ctr" indent="0" marL="0">
              <a:buNone/>
            </a:pPr>
            <a:r>
              <a:rPr lang="en-US" sz="1500" b="1" dirty="0">
                <a:solidFill>
                  <a:srgbClr val="0E7C86"/>
                </a:solidFill>
                <a:latin typeface="Aptos Display" pitchFamily="34" charset="0"/>
                <a:ea typeface="Aptos Display" pitchFamily="34" charset="-122"/>
                <a:cs typeface="Aptos Display" pitchFamily="34" charset="-120"/>
              </a:rPr>
              <a:t>Trap cards show technique…</a:t>
            </a:r>
            <a:endParaRPr lang="en-US" sz="1500" dirty="0"/>
          </a:p>
        </p:txBody>
      </p:sp>
      <p:sp>
        <p:nvSpPr>
          <p:cNvPr id="12" name="Text 10"/>
          <p:cNvSpPr/>
          <p:nvPr/>
        </p:nvSpPr>
        <p:spPr>
          <a:xfrm>
            <a:off x="8686800" y="201168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trauma processing during…</a:t>
            </a:r>
            <a:endParaRPr lang="en-US" sz="1500" dirty="0"/>
          </a:p>
        </p:txBody>
      </p:sp>
      <p:sp>
        <p:nvSpPr>
          <p:cNvPr id="13" name="Text 11"/>
          <p:cNvSpPr/>
          <p:nvPr/>
        </p:nvSpPr>
        <p:spPr>
          <a:xfrm>
            <a:off x="644652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ambivalence-as-defiance</a:t>
            </a:r>
            <a:endParaRPr lang="en-US" sz="1500" dirty="0"/>
          </a:p>
        </p:txBody>
      </p:sp>
      <p:sp>
        <p:nvSpPr>
          <p:cNvPr id="14" name="Text 12"/>
          <p:cNvSpPr/>
          <p:nvPr/>
        </p:nvSpPr>
        <p:spPr>
          <a:xfrm>
            <a:off x="868680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evidence-without-fit.</a:t>
            </a:r>
            <a:endParaRPr lang="en-US" sz="1500" dirty="0"/>
          </a:p>
        </p:txBody>
      </p:sp>
      <p:sp>
        <p:nvSpPr>
          <p:cNvPr id="15" name="Text 13"/>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6" name="Text 14"/>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Strong answers connect the method to the formulation, readiness, access, competence, and a…</a:t>
            </a:r>
            <a:endParaRPr lang="en-US" sz="1330" dirty="0"/>
          </a:p>
        </p:txBody>
      </p:sp>
      <p:sp>
        <p:nvSpPr>
          <p:cNvPr id="17" name="Text 15"/>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Strong answers connect the method to the formulation, readiness, access, competence, and a…</a:t>
            </a:r>
            <a:endParaRPr lang="en-US" sz="133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Mechanism Before Technique Name</a:t>
            </a:r>
            <a:endParaRPr lang="en-US" sz="1330" dirty="0"/>
          </a:p>
        </p:txBody>
      </p:sp>
      <p:sp>
        <p:nvSpPr>
          <p:cNvPr id="21" name="Text 19"/>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0E7C86"/>
                </a:solidFill>
                <a:latin typeface="Aptos" pitchFamily="34" charset="0"/>
                <a:ea typeface="Aptos" pitchFamily="34" charset="-122"/>
                <a:cs typeface="Aptos" pitchFamily="34" charset="-120"/>
              </a:rPr>
              <a:t>STUDENT MOVE</a:t>
            </a:r>
            <a:endParaRPr lang="en-US" sz="940" dirty="0"/>
          </a:p>
        </p:txBody>
      </p:sp>
      <p:sp>
        <p:nvSpPr>
          <p:cNvPr id="22" name="Text 20"/>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Strong answers connect the method to the formulation, readiness, access, competence, and a measurable response.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0E7C86"/>
          </a:solidFill>
          <a:ln w="12700">
            <a:solidFill>
              <a:srgbClr val="0E7C8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0E7C86"/>
                </a:solidFill>
                <a:latin typeface="Aptos" pitchFamily="34" charset="0"/>
                <a:ea typeface="Aptos" pitchFamily="34" charset="-122"/>
                <a:cs typeface="Aptos" pitchFamily="34" charset="-120"/>
              </a:rPr>
              <a:t>LCSW WORKBOOK 08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WB08 • 07/8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0E7C86"/>
                </a:solidFill>
                <a:latin typeface="Aptos Display" pitchFamily="34" charset="0"/>
                <a:ea typeface="Aptos Display" pitchFamily="34" charset="-122"/>
                <a:cs typeface="Aptos Display" pitchFamily="34" charset="-120"/>
              </a:rPr>
              <a:t>07</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Mini Scenario: Trauma Disclosure and Withdrawal</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 client becomes quiet and avoids eye contact when asked about childhood abuse.</a:t>
            </a:r>
            <a:endParaRPr lang="en-US" sz="2080" dirty="0"/>
          </a:p>
        </p:txBody>
      </p:sp>
      <p:sp>
        <p:nvSpPr>
          <p:cNvPr id="11" name="Shape 9"/>
          <p:cNvSpPr/>
          <p:nvPr/>
        </p:nvSpPr>
        <p:spPr>
          <a:xfrm>
            <a:off x="6537960" y="2148840"/>
            <a:ext cx="4160520" cy="2743200"/>
          </a:xfrm>
          <a:prstGeom prst="rect">
            <a:avLst>
              <a:gd name="adj" fmla="val 3333"/>
            </a:avLst>
          </a:prstGeom>
          <a:solidFill>
            <a:srgbClr val="E5F3F4"/>
          </a:solidFill>
          <a:ln w="15240">
            <a:solidFill>
              <a:srgbClr val="0E7C86">
                <a:alpha val="85000"/>
              </a:srgbClr>
            </a:solidFill>
            <a:prstDash val="solid"/>
          </a:ln>
        </p:spPr>
      </p:sp>
      <p:sp>
        <p:nvSpPr>
          <p:cNvPr id="12" name="Text 10"/>
          <p:cNvSpPr/>
          <p:nvPr/>
        </p:nvSpPr>
        <p:spPr>
          <a:xfrm>
            <a:off x="6766560" y="2350008"/>
            <a:ext cx="3703320" cy="228600"/>
          </a:xfrm>
          <a:prstGeom prst="rect">
            <a:avLst/>
          </a:prstGeom>
          <a:noFill/>
          <a:ln/>
        </p:spPr>
        <p:txBody>
          <a:bodyPr wrap="square" lIns="0" tIns="0" rIns="0" bIns="0" rtlCol="0" anchor="ctr"/>
          <a:lstStyle/>
          <a:p>
            <a:pPr indent="0" marL="0">
              <a:buNone/>
            </a:pPr>
            <a:r>
              <a:rPr lang="en-US" sz="1000" b="1" dirty="0">
                <a:solidFill>
                  <a:srgbClr val="0E7C86"/>
                </a:solidFill>
                <a:latin typeface="Aptos" pitchFamily="34" charset="0"/>
                <a:ea typeface="Aptos" pitchFamily="34" charset="-122"/>
                <a:cs typeface="Aptos" pitchFamily="34" charset="-120"/>
              </a:rPr>
              <a:t>MINI SCENARIO</a:t>
            </a:r>
            <a:endParaRPr lang="en-US" sz="1000" dirty="0"/>
          </a:p>
        </p:txBody>
      </p:sp>
      <p:sp>
        <p:nvSpPr>
          <p:cNvPr id="13" name="Text 11"/>
          <p:cNvSpPr/>
          <p:nvPr/>
        </p:nvSpPr>
        <p:spPr>
          <a:xfrm>
            <a:off x="6766560" y="2770632"/>
            <a:ext cx="3703320" cy="713232"/>
          </a:xfrm>
          <a:prstGeom prst="rect">
            <a:avLst/>
          </a:prstGeom>
          <a:noFill/>
          <a:ln/>
        </p:spPr>
        <p:txBody>
          <a:bodyPr wrap="square" lIns="254" tIns="254" rIns="254" bIns="254" rtlCol="0" anchor="ctr">
            <a:normAutofit/>
          </a:bodyPr>
          <a:lstStyle/>
          <a:p>
            <a:pPr indent="0" marL="0">
              <a:buNone/>
            </a:pPr>
            <a:r>
              <a:rPr lang="en-US" sz="2000" b="1" dirty="0">
                <a:solidFill>
                  <a:srgbClr val="1D2838"/>
                </a:solidFill>
                <a:latin typeface="Aptos Display" pitchFamily="34" charset="0"/>
                <a:ea typeface="Aptos Display" pitchFamily="34" charset="-122"/>
                <a:cs typeface="Aptos Display" pitchFamily="34" charset="-120"/>
              </a:rPr>
              <a:t>Facts → Safety → Role → Next step</a:t>
            </a:r>
            <a:endParaRPr lang="en-US" sz="2000" dirty="0"/>
          </a:p>
        </p:txBody>
      </p:sp>
      <p:sp>
        <p:nvSpPr>
          <p:cNvPr id="14" name="Shape 12"/>
          <p:cNvSpPr/>
          <p:nvPr/>
        </p:nvSpPr>
        <p:spPr>
          <a:xfrm>
            <a:off x="6995160" y="3922776"/>
            <a:ext cx="3246120" cy="0"/>
          </a:xfrm>
          <a:prstGeom prst="line">
            <a:avLst/>
          </a:prstGeom>
          <a:noFill/>
          <a:ln w="13970">
            <a:solidFill>
              <a:srgbClr val="0E7C86">
                <a:alpha val="75000"/>
              </a:srgbClr>
            </a:solidFill>
            <a:prstDash val="solid"/>
            <a:tailEnd type="triangle"/>
          </a:ln>
        </p:spPr>
      </p:sp>
      <p:sp>
        <p:nvSpPr>
          <p:cNvPr id="15" name="Text 13"/>
          <p:cNvSpPr/>
          <p:nvPr/>
        </p:nvSpPr>
        <p:spPr>
          <a:xfrm>
            <a:off x="6858000"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Facts</a:t>
            </a:r>
            <a:endParaRPr lang="en-US" sz="1140" dirty="0"/>
          </a:p>
        </p:txBody>
      </p:sp>
      <p:sp>
        <p:nvSpPr>
          <p:cNvPr id="16" name="Text 14"/>
          <p:cNvSpPr/>
          <p:nvPr/>
        </p:nvSpPr>
        <p:spPr>
          <a:xfrm>
            <a:off x="7779258"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Risk</a:t>
            </a:r>
            <a:endParaRPr lang="en-US" sz="1140" dirty="0"/>
          </a:p>
        </p:txBody>
      </p:sp>
      <p:sp>
        <p:nvSpPr>
          <p:cNvPr id="17" name="Text 15"/>
          <p:cNvSpPr/>
          <p:nvPr/>
        </p:nvSpPr>
        <p:spPr>
          <a:xfrm>
            <a:off x="8700516"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18" name="Text 16"/>
          <p:cNvSpPr/>
          <p:nvPr/>
        </p:nvSpPr>
        <p:spPr>
          <a:xfrm>
            <a:off x="9621774" y="3630168"/>
            <a:ext cx="756666" cy="594360"/>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Action</a:t>
            </a:r>
            <a:endParaRPr lang="en-US" sz="1140" dirty="0"/>
          </a:p>
        </p:txBody>
      </p:sp>
      <p:sp>
        <p:nvSpPr>
          <p:cNvPr id="19" name="Text 17"/>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next step is not to insist on completing the history or to change the subject permanently.</a:t>
            </a:r>
            <a:endParaRPr lang="en-US" sz="1330" dirty="0"/>
          </a:p>
        </p:txBody>
      </p:sp>
      <p:sp>
        <p:nvSpPr>
          <p:cNvPr id="21" name="Text 19"/>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Later work can proceed when the client is adequately stabilized and informed.</a:t>
            </a:r>
            <a:endParaRPr lang="en-US" sz="1330" dirty="0"/>
          </a:p>
        </p:txBody>
      </p:sp>
      <p:sp>
        <p:nvSpPr>
          <p:cNvPr id="23" name="Text 21"/>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4" name="Text 22"/>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Acknowledge, Restore Choice, and Assess Readiness</a:t>
            </a:r>
            <a:endParaRPr lang="en-US" sz="1330" dirty="0"/>
          </a:p>
        </p:txBody>
      </p:sp>
      <p:sp>
        <p:nvSpPr>
          <p:cNvPr id="25" name="Text 23"/>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0E7C86"/>
                </a:solidFill>
                <a:latin typeface="Aptos" pitchFamily="34" charset="0"/>
                <a:ea typeface="Aptos" pitchFamily="34" charset="-122"/>
                <a:cs typeface="Aptos" pitchFamily="34" charset="-120"/>
              </a:rPr>
              <a:t>STUDENT MOVE</a:t>
            </a:r>
            <a:endParaRPr lang="en-US" sz="940" dirty="0"/>
          </a:p>
        </p:txBody>
      </p:sp>
      <p:sp>
        <p:nvSpPr>
          <p:cNvPr id="26" name="Text 24"/>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Later work can proceed when the client is adequately stabilized and informed.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0E7C86"/>
          </a:solidFill>
          <a:ln w="12700">
            <a:solidFill>
              <a:srgbClr val="0E7C8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0E7C86"/>
                </a:solidFill>
                <a:latin typeface="Aptos" pitchFamily="34" charset="0"/>
                <a:ea typeface="Aptos" pitchFamily="34" charset="-122"/>
                <a:cs typeface="Aptos" pitchFamily="34" charset="-120"/>
              </a:rPr>
              <a:t>LCSW WORKBOOK 08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WB08 • 08/8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0E7C86"/>
                </a:solidFill>
                <a:latin typeface="Aptos Display" pitchFamily="34" charset="0"/>
                <a:ea typeface="Aptos Display" pitchFamily="34" charset="-122"/>
                <a:cs typeface="Aptos Display" pitchFamily="34" charset="-120"/>
              </a:rPr>
              <a:t>08</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Study Direction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For each Workbook 8 vignette, write the formulation, immediate priority, target mechanism, intervention function, suitability and access check, and…</a:t>
            </a:r>
            <a:endParaRPr lang="en-US" sz="2080" dirty="0"/>
          </a:p>
        </p:txBody>
      </p:sp>
      <p:sp>
        <p:nvSpPr>
          <p:cNvPr id="11" name="Shape 9"/>
          <p:cNvSpPr/>
          <p:nvPr/>
        </p:nvSpPr>
        <p:spPr>
          <a:xfrm>
            <a:off x="6537960" y="2624328"/>
            <a:ext cx="4160520" cy="0"/>
          </a:xfrm>
          <a:prstGeom prst="line">
            <a:avLst/>
          </a:prstGeom>
          <a:noFill/>
          <a:ln w="13970">
            <a:solidFill>
              <a:srgbClr val="0E7C86">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Formulation</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Urgency</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Target</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Suitability</a:t>
            </a:r>
            <a:endParaRPr lang="en-US" sz="1140" dirty="0"/>
          </a:p>
        </p:txBody>
      </p:sp>
      <p:sp>
        <p:nvSpPr>
          <p:cNvPr id="16" name="Text 14"/>
          <p:cNvSpPr/>
          <p:nvPr/>
        </p:nvSpPr>
        <p:spPr>
          <a:xfrm>
            <a:off x="10080346" y="2331720"/>
            <a:ext cx="755294" cy="594360"/>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Measure</a:t>
            </a:r>
            <a:endParaRPr lang="en-US" sz="1140" dirty="0"/>
          </a:p>
        </p:txBody>
      </p:sp>
      <p:sp>
        <p:nvSpPr>
          <p:cNvPr id="17" name="Text 15"/>
          <p:cNvSpPr/>
          <p:nvPr/>
        </p:nvSpPr>
        <p:spPr>
          <a:xfrm>
            <a:off x="7086600" y="3401568"/>
            <a:ext cx="3063240" cy="914400"/>
          </a:xfrm>
          <a:prstGeom prst="rect">
            <a:avLst/>
          </a:prstGeom>
          <a:solidFill>
            <a:srgbClr val="E5F3F4"/>
          </a:solidFill>
          <a:ln w="13970">
            <a:solidFill>
              <a:srgbClr val="0E7C86">
                <a:alpha val="75000"/>
              </a:srgbClr>
            </a:solidFill>
          </a:ln>
        </p:spPr>
        <p:txBody>
          <a:bodyPr wrap="square" lIns="635" tIns="635" rIns="635" bIns="635" rtlCol="0" anchor="ctr">
            <a:normAutofit/>
          </a:bodyPr>
          <a:lstStyle/>
          <a:p>
            <a:pPr algn="ctr" indent="0" marL="0">
              <a:buNone/>
            </a:pPr>
            <a:r>
              <a:rPr lang="en-US" sz="2200" b="1" dirty="0">
                <a:solidFill>
                  <a:srgbClr val="0E7C86"/>
                </a:solidFill>
                <a:latin typeface="Aptos Display" pitchFamily="34" charset="0"/>
                <a:ea typeface="Aptos Display" pitchFamily="34" charset="-122"/>
                <a:cs typeface="Aptos Display" pitchFamily="34" charset="-120"/>
              </a:rPr>
              <a:t>Formulation</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In your error log, mark technique-before-target, premature trauma processing, ignored…</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aim is to explain why the intervention fits now and how you will know whether it should…</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Formulation • Urgency • Target • Suitability • Measure</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0E7C86"/>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aim is to explain why the intervention fits now and how you will know whether it should continue, change, or escalate.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LCSW Workbook 08 Companion: Workbook 8 Companion: Clinical Interventions and Trauma-Informed Practice</dc:title>
  <dc:subject>LCSW Workbook 08 Companion</dc:subject>
  <dc:creator>Clinical Training Academy</dc:creator>
  <cp:lastModifiedBy>Clinical Training Academy</cp:lastModifiedBy>
  <cp:revision>1</cp:revision>
  <dcterms:created xsi:type="dcterms:W3CDTF">2026-07-25T22:41:47Z</dcterms:created>
  <dcterms:modified xsi:type="dcterms:W3CDTF">2026-07-25T22:41:47Z</dcterms:modified>
</cp:coreProperties>
</file>