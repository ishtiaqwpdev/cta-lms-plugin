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and administration questions are rarely tests of advanced statistics. They ask whether the social worker can define a useful question, choose data that fit the question, protect participants, interpret findings within design limits, and use results to improve practice. A measure is not useful simply because it is standardized. A program can collect large amounts of data and still fail to answer the decision that matters. Begin by asking what should continue, change, stop, expand, or be studied further and whose outcomes and experience must be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the clinical, program, policy, staffing, or quality decision. Value client and stakeholder goals by identifying whose outcomes matter and how affected people will participate. Articulate a measurable objective with the population, change, indicator, timeframe, and data source. Locate baseline and an ethical, feasible comparison. Use measures that are relevant, sufficiently reliable and valid, accessible, culturally responsive, and practical. Analyze within the limits of the design. Translate findings into action. Then evaluate again to determine whether the change improved outcomes, equity, safety, implementation, and client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needs assessment asks what problem, population, gap, or resource is present. Process or formative evaluation asks whether the program is being implemented as intended and what barriers affect delivery. Outcome or summative evaluation asks whether intended results occurred after sufficient implementation. Cost-effectiveness compares cost with nonmonetary outcomes; cost-benefit translates both costs and benefits into monetary terms when appropriate. Practice evaluation may track an individual client’s symptoms, functioning, goals, and experience over time. Choose the least burdensome data that can answer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concerns consistency. Validity concerns whether the intended interpretation or use is supported. A measure can be reliable but not meaningful for the population or purpose. Feasibility, sensitivity, language, disability access, culture, burden, and bias also affect usefulness. Sampling affects whose experience is represented. Missing data and nonresponse may be systematic rather than random. Descriptive or correlational findings can show patterns or associations but do not prove causation. A pre-post change may be meaningful without proving that the program alone caused it. The exam rewards cautious interpretation matched to design and data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and evaluation require voluntary informed consent when applicable, confidentiality, equitable selection, data integrity, risk-benefit balance, and independent review when required. In supervision, use SUPERVISE: address safety, uncertainty, professional role, evidence and ethics, reactions and bias, verification of the plan, implementation, study of the result, and escalation when needed. Bring risk, competence limits, countertransference, and uncertainty forward early. Administrative responses should examine systems rather than only blaming individuals, clarify responsibility, protect reporting, implement targeted training or policy change, and monitor whether outcomes improve equitably.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choosing a measure before defining the decision; using a broad satisfaction survey for a specific clinical outcome; treating correlation as causation; ignoring accessibility or cultural validity; selecting a biased or unrepresentative sample without considering the limitation; collecting identifiable data beyond what is needed; waiting to seek supervision until harm has occurred; using supervision to transfer responsibility; disciplining one worker before examining workload, training, policy, or reporting systems; and implementing a policy change without checking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clinician wants to know whether a new anxiety intervention is helping a client. The clinician first defines the target and the decision that will follow from the data. The clinician selects a brief accessible measure, functional indicators, and the client’s own experience, obtains a baseline, and reviews change at planned intervals. A score is interpreted with context rather than as the sole decision maker. If expected change does not occur, the clinician reassesses formulation, implementation, access, alliance, risk, and level of care. The purpose of evaluation is not to defend the chosen method. It is to improve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11 vignette, identify the decision, outcome, data source, ethical safeguard, design limit, appropriate claim, action, and re-evaluation point. For supervision or administration items, add safety, uncertainty, role, bias, responsibility, and systems follow-up. In your error log, mark question-measure mismatch, validity or sampling errors, overclaiming, delayed supervision, individual blame without systems review, or change without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6B4BA3"/>
                </a:solidFill>
                <a:latin typeface="Aptos" pitchFamily="34" charset="0"/>
                <a:ea typeface="Aptos" pitchFamily="34" charset="-122"/>
                <a:cs typeface="Aptos" pitchFamily="34" charset="-120"/>
              </a:rPr>
              <a:t>Workbook 11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Practice Evaluation, Research, Supervision, and Administration</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Evaluation and administration questions are rarely tests of advanced statistics.</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6B4BA3"/>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6B4BA3">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clinical</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program decision leads to…</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data</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analysis</a:t>
            </a:r>
            <a:endParaRPr lang="en-US" sz="1140" dirty="0"/>
          </a:p>
        </p:txBody>
      </p:sp>
      <p:sp>
        <p:nvSpPr>
          <p:cNvPr id="20" name="Text 18"/>
          <p:cNvSpPr/>
          <p:nvPr/>
        </p:nvSpPr>
        <p:spPr>
          <a:xfrm>
            <a:off x="5325466" y="3822192"/>
            <a:ext cx="1002182"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21" name="Text 19"/>
          <p:cNvSpPr/>
          <p:nvPr/>
        </p:nvSpPr>
        <p:spPr>
          <a:xfrm>
            <a:off x="7498080" y="3474720"/>
            <a:ext cx="1668780" cy="80010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A clinical</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program decision leads to…</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data</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analysis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EVALUATE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Establish the clinical, program, policy, staffing, or quality decision.</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6B4BA3"/>
            </a:solidFill>
          </a:ln>
        </p:spPr>
        <p:txBody>
          <a:bodyPr wrap="square" lIns="508" tIns="508" rIns="508" bIns="508" rtlCol="0" anchor="ctr">
            <a:normAutofit/>
          </a:bodyPr>
          <a:lstStyle/>
          <a:p>
            <a:pPr algn="ctr" indent="0" marL="0">
              <a:buNone/>
            </a:pPr>
            <a:r>
              <a:rPr lang="en-US" sz="1220" b="1" dirty="0">
                <a:solidFill>
                  <a:srgbClr val="6B4BA3"/>
                </a:solidFill>
                <a:latin typeface="Aptos" pitchFamily="34" charset="0"/>
                <a:ea typeface="Aptos" pitchFamily="34" charset="-122"/>
                <a:cs typeface="Aptos" pitchFamily="34" charset="-120"/>
              </a:rPr>
              <a:t>Establish</a:t>
            </a:r>
            <a:endParaRPr lang="en-US" sz="1220" dirty="0"/>
          </a:p>
        </p:txBody>
      </p:sp>
      <p:sp>
        <p:nvSpPr>
          <p:cNvPr id="12" name="Text 10"/>
          <p:cNvSpPr/>
          <p:nvPr/>
        </p:nvSpPr>
        <p:spPr>
          <a:xfrm>
            <a:off x="6793992" y="2368296"/>
            <a:ext cx="3557016"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Value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Articulate</a:t>
            </a:r>
            <a:endParaRPr lang="en-US" sz="1220" dirty="0"/>
          </a:p>
        </p:txBody>
      </p:sp>
      <p:sp>
        <p:nvSpPr>
          <p:cNvPr id="14" name="Text 12"/>
          <p:cNvSpPr/>
          <p:nvPr/>
        </p:nvSpPr>
        <p:spPr>
          <a:xfrm>
            <a:off x="7123176" y="3355848"/>
            <a:ext cx="2898648"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Locate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Use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Value client and stakeholder goals by identifying whose outcomes matter and how affected…</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evaluate again to determine whether the change improved outcomes, equity, safety,…</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Establish • Value • Articulate • Locate • Use • Analyze • Translate • Evaluate Again</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Then evaluate again to determine whether the change improved outcomes, equity, safety, implementation, and client experience.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the Evaluation Type to the Question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needs assessment asks what problem, population, gap, or resource is present.</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Ask Whether You Need Need</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Implementation</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Outcome</a:t>
            </a:r>
            <a:endParaRPr lang="en-US" sz="1140" dirty="0"/>
          </a:p>
        </p:txBody>
      </p:sp>
      <p:sp>
        <p:nvSpPr>
          <p:cNvPr id="15" name="Text 13"/>
          <p:cNvSpPr/>
          <p:nvPr/>
        </p:nvSpPr>
        <p:spPr>
          <a:xfrm>
            <a:off x="9850374" y="2331720"/>
            <a:ext cx="985266"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Value</a:t>
            </a:r>
            <a:endParaRPr lang="en-US" sz="1140" dirty="0"/>
          </a:p>
        </p:txBody>
      </p:sp>
      <p:sp>
        <p:nvSpPr>
          <p:cNvPr id="16" name="Text 14"/>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Ask Whether You Need Need</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Process or formative evaluation asks whether the program is being implemented as intended and…</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Choose the least burdensome data that can answer the question.</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Whether You Need Need, Implementation, Outcome, or Value</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Choose the least burdensome data that can answer the question.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Measurement, Design, Sampling, and Claims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Reliability concerns consistency.</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Reliability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validity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feasibility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accessibility</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bias</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Reliability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Validity concerns whether the intended interpretation or use is supported.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exam rewards cautious interpretation matched to design and data quality.</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Make No Stronger Claim Than the Design Supports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exam rewards cautious interpretation matched to design and data quality.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Ethics, Supervision, and Administration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Research and evaluation require voluntary informed consent when applicable, confidentiality, equitable selection, data integrity, risk-benefit…</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Research ethics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SUPERVISE connect to human…</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bias</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Research ethics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supervision, use SUPERVISE: address safety, uncertainty, professional role, evidence and…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Administrative responses should examine systems rather than only blaming individuals, clarify…</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Protect Participants and Bring Risk Up Early</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Administrative responses should examine systems rather than only blaming individuals, clarify responsibility, protect reporting, implement…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choosing a measure before defining the decision; using a broad satisfaction survey for a specific clinical outcome; treating…</a:t>
            </a:r>
            <a:endParaRPr lang="en-US" sz="2080" dirty="0"/>
          </a:p>
        </p:txBody>
      </p:sp>
      <p:sp>
        <p:nvSpPr>
          <p:cNvPr id="11" name="Text 9"/>
          <p:cNvSpPr/>
          <p:nvPr/>
        </p:nvSpPr>
        <p:spPr>
          <a:xfrm>
            <a:off x="6446520" y="2011680"/>
            <a:ext cx="2103120" cy="109728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Question First</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Claim Within Limits</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Improve the System</a:t>
            </a:r>
            <a:endParaRPr lang="en-US" sz="1500" dirty="0"/>
          </a:p>
        </p:txBody>
      </p:sp>
      <p:sp>
        <p:nvSpPr>
          <p:cNvPr id="14" name="Text 12"/>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5" name="Text 13"/>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endParaRPr lang="en-US" sz="1330" dirty="0"/>
          </a:p>
        </p:txBody>
      </p:sp>
      <p:sp>
        <p:nvSpPr>
          <p:cNvPr id="16" name="Text 14"/>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Common traps include choosing a measure before defining the decision; using a broad…</a:t>
            </a:r>
            <a:endParaRPr lang="en-US" sz="133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Question First; Claim Within Limits; Improve the System</a:t>
            </a:r>
            <a:endParaRPr lang="en-US" sz="1330" dirty="0"/>
          </a:p>
        </p:txBody>
      </p:sp>
      <p:sp>
        <p:nvSpPr>
          <p:cNvPr id="20" name="Text 18"/>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1" name="Text 19"/>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Common traps include choosing a measure before defining the decision; using a broad satisfaction survey for a specific clinical outcome;…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Evaluating a New Anxiety Intervention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clinician wants to know whether a new anxiety intervention is helping a client.</a:t>
            </a:r>
            <a:endParaRPr lang="en-US" sz="2080" dirty="0"/>
          </a:p>
        </p:txBody>
      </p:sp>
      <p:sp>
        <p:nvSpPr>
          <p:cNvPr id="11" name="Shape 9"/>
          <p:cNvSpPr/>
          <p:nvPr/>
        </p:nvSpPr>
        <p:spPr>
          <a:xfrm>
            <a:off x="6537960" y="2148840"/>
            <a:ext cx="4160520" cy="2743200"/>
          </a:xfrm>
          <a:prstGeom prst="rect">
            <a:avLst>
              <a:gd name="adj" fmla="val 3333"/>
            </a:avLst>
          </a:prstGeom>
          <a:solidFill>
            <a:srgbClr val="EEE9F7"/>
          </a:solidFill>
          <a:ln w="15240">
            <a:solidFill>
              <a:srgbClr val="6B4BA3">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6B4BA3"/>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6B4BA3">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clinician first defines the target and the decision that will follow from the data.</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improve the decision.</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Define the Target and Use Data to Revise Practice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is to improve the decision.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11 vignette, identify the decision, outcome, data source, ethical safeguard, design limit, appropriate claim, action, and…</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Decision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Outcome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Data</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Ethics</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Claim</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Decision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 supervision or administration items, add safety, uncertainty, role, bias, responsibility,…</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question-measure mismatch, validity or sampling errors, overclaiming,…</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Decision • Outcome • Data • Ethics • Claim • Action • Recheck</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In your error log, mark question-measure mismatch, validity or sampling errors, overclaiming, delayed supervision, individual blame without…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11 Companion: Workbook 11 Companion: Practice Evaluation, Research, Supervision, and Administration</dc:title>
  <dc:subject>LCSW Workbook 11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