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questions test whether the social worker can move from assessment to a feasible response. A recommendation may be clinically reasonable yet still be wrong if it ignores an urgent basic need, the client’s goals, resource eligibility, transportation, language, disability access, cost, or the stage of service. A strong plan names the priority, explains the connection to the formulation, includes the client or client system, specifies who will do what and by when, and defines how progress will be measured. Planning is a cycle. If the plan does not work, the answer is usually reassessment and revision rather than blame or automatic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means prioritize what requires attention first, including safety, medical stability, basic needs, functioning, and client priorities. L means link the goal to the assessment and person-in-environment formulation. A means agree through client or client-system participation, informed choice, and realistic expectations. N means name the action, responsible party, timeframe, access step, and indicator. E means evaluate symptoms, functioning, resource access, participation, alliance, and environmental barriers. R means revise through reassessment, advocacy, coordination, modification, consultation, referral, or transition. PLAN-ER prevents the plan from becoming a list of services disconnected from the problem or from the client’s ability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“Feel better,” “find housing,” or “use resources” are too vague for strong planning. A useful objective states the expected change, the responsible person, the timeframe, and the measure. Clinical goals may track symptom severity or coping. Functional goals may track work, school, self-care, parenting, or relationships. Resource goals may track applications, appointments, benefits, housing, medication access, or transportation. Access objectives may address language, technology, disability, childcare, cost, or documentation. Measures should be meaningful to the client and realistic for the setting. The exam rewards plans that can be monitored and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intervention is not automatically the social worker’s preferred theory or the agency default. Match modality to the formulation, risk, goals, readiness, development, culture, evidence, competence, and service availability. A resource is useful only when the client is eligible and can realistically access it. Check availability, eligibility, language, disability access, cultural responsiveness, cost, transportation, technology, hours, waitlists, childcare, safety, and client preference. Use a warm handoff when the client needs more than a phone number: obtain authorization, make contact together, prepare the client, clarify responsibility, and confirm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symptoms, risk, functioning, resource access, service outcomes, participation, alliance, and environmental barriers. If progress is absent, check whether the formulation was accurate, the intervention was implemented, the client understood and agreed, the service was accessible, new risks emerged, or the level of care is wrong. For termination or transfer, use CLOSE: clarify the reason, look at risk and need, organize aftercare, share information with authority, and ensure continuity. Administrative limits, missed visits, or fixed session counts do not automatically prove clinical readiness. Reasonable outreach and transition planning protect against abandonment.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starting psychotherapy while imminent housing or safety needs remain unresolved; treating client participation as optional; choosing the provider’s preferred theory; making a generic referral; calling refusal noncompliance; repeating an ineffective plan because it was implemented as written; discharging automatically after missed visits; and using a fixed session count as proof of readiness. Another trap is measuring only symptoms while ignoring functioning or resource access. The strongest answer links the plan to the assessed priority and includes a method for checking whether the intervention or service actually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seeking treatment for depression has an eviction notice and no safe place to stay after the week ends. Cognitive intervention may eventually help, but the first planning task is to assess the immediacy of the housing need, available emergency resources, safety, and the client’s priorities. The social worker then integrates depression treatment into the broader plan, names responsible parties and timeframes, addresses transportation and eligibility, and schedules review. The answer is not to abandon clinical care for case management or to ignore housing in favor of therapy. It is to sequence both within one accountable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7 vignette, write the priority, the assessment link, the client’s stated goal, the specific action and measure, the access check, and the revision or continuity step. In your error log, mark premature intervention, imposed goals, vague objectives, poor modality fit, generic referral, failure to reassess, or incomplete termination planning. A strong plan makes responsibility, access, measurement, and follow-up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D66B4A"/>
                </a:solidFill>
                <a:latin typeface="Aptos" pitchFamily="34" charset="0"/>
                <a:ea typeface="Aptos" pitchFamily="34" charset="-122"/>
                <a:cs typeface="Aptos" pitchFamily="34" charset="-120"/>
              </a:rPr>
              <a:t>Workbook 7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Treatment and Service Planning</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Planning questions test whether the social worker can move from assessment to a feasible response.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D66B4A"/>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D66B4A">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Assessment flows into…</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goal</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access</a:t>
            </a:r>
            <a:endParaRPr lang="en-US" sz="1140" dirty="0"/>
          </a:p>
        </p:txBody>
      </p:sp>
      <p:sp>
        <p:nvSpPr>
          <p:cNvPr id="20" name="Text 18"/>
          <p:cNvSpPr/>
          <p:nvPr/>
        </p:nvSpPr>
        <p:spPr>
          <a:xfrm>
            <a:off x="5325466" y="3822192"/>
            <a:ext cx="1002182"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measure</a:t>
            </a:r>
            <a:endParaRPr lang="en-US" sz="1140" dirty="0"/>
          </a:p>
        </p:txBody>
      </p:sp>
      <p:sp>
        <p:nvSpPr>
          <p:cNvPr id="21" name="Text 19"/>
          <p:cNvSpPr/>
          <p:nvPr/>
        </p:nvSpPr>
        <p:spPr>
          <a:xfrm>
            <a:off x="7498080" y="3474720"/>
            <a:ext cx="1668780" cy="800100"/>
          </a:xfrm>
          <a:prstGeom prst="rect">
            <a:avLst/>
          </a:prstGeom>
          <a:solidFill>
            <a:srgbClr val="F9EAE5"/>
          </a:solidFill>
          <a:ln w="11430">
            <a:solidFill>
              <a:srgbClr val="D66B4A"/>
            </a:solidFill>
          </a:ln>
        </p:spPr>
        <p:txBody>
          <a:bodyPr wrap="square" lIns="1016" tIns="1016" rIns="1016" bIns="1016" rtlCol="0" anchor="ctr">
            <a:normAutofit/>
          </a:bodyPr>
          <a:lstStyle/>
          <a:p>
            <a:pPr algn="ctr" indent="0" marL="0">
              <a:buNone/>
            </a:pPr>
            <a:r>
              <a:rPr lang="en-US" sz="1500" b="1" dirty="0">
                <a:solidFill>
                  <a:srgbClr val="D66B4A"/>
                </a:solidFill>
                <a:latin typeface="Aptos Display" pitchFamily="34" charset="0"/>
                <a:ea typeface="Aptos Display" pitchFamily="34" charset="-122"/>
                <a:cs typeface="Aptos Display" pitchFamily="34" charset="-120"/>
              </a:rPr>
              <a:t>Assessment flows into…</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goal</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action</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access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PLAN-ER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 means prioritize what requires attention first, including safety, medical stability, basic needs, functioning, and client priorities.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D66B4A"/>
            </a:solidFill>
          </a:ln>
        </p:spPr>
        <p:txBody>
          <a:bodyPr wrap="square" lIns="508" tIns="508" rIns="508" bIns="508" rtlCol="0" anchor="ctr">
            <a:normAutofit/>
          </a:bodyPr>
          <a:lstStyle/>
          <a:p>
            <a:pPr algn="ctr" indent="0" marL="0">
              <a:buNone/>
            </a:pPr>
            <a:r>
              <a:rPr lang="en-US" sz="1220" b="1" dirty="0">
                <a:solidFill>
                  <a:srgbClr val="D66B4A"/>
                </a:solidFill>
                <a:latin typeface="Aptos" pitchFamily="34" charset="0"/>
                <a:ea typeface="Aptos" pitchFamily="34" charset="-122"/>
                <a:cs typeface="Aptos" pitchFamily="34" charset="-120"/>
              </a:rPr>
              <a:t>Prioritize</a:t>
            </a:r>
            <a:endParaRPr lang="en-US" sz="1220" dirty="0"/>
          </a:p>
        </p:txBody>
      </p:sp>
      <p:sp>
        <p:nvSpPr>
          <p:cNvPr id="12" name="Text 10"/>
          <p:cNvSpPr/>
          <p:nvPr/>
        </p:nvSpPr>
        <p:spPr>
          <a:xfrm>
            <a:off x="6793992" y="2368296"/>
            <a:ext cx="3557016" cy="438912"/>
          </a:xfrm>
          <a:prstGeom prst="rect">
            <a:avLst/>
          </a:prstGeom>
          <a:solidFill>
            <a:srgbClr val="F9EA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Link</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Agree</a:t>
            </a:r>
            <a:endParaRPr lang="en-US" sz="1220" dirty="0"/>
          </a:p>
        </p:txBody>
      </p:sp>
      <p:sp>
        <p:nvSpPr>
          <p:cNvPr id="14" name="Text 12"/>
          <p:cNvSpPr/>
          <p:nvPr/>
        </p:nvSpPr>
        <p:spPr>
          <a:xfrm>
            <a:off x="7123176" y="3355848"/>
            <a:ext cx="2898648" cy="438912"/>
          </a:xfrm>
          <a:prstGeom prst="rect">
            <a:avLst/>
          </a:prstGeom>
          <a:solidFill>
            <a:srgbClr val="F9EA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Name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Evaluate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 means link the goal to the assessment and person-in-environment formulation.</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PLAN-ER prevents the plan from becoming a list of services disconnected from the problem or…</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Prioritize • Link • Agree • Name • Evaluate • Revise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PLAN-ER prevents the plan from becoming a list of services disconnected from the problem or from the client’s ability to use them.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Write Measurable Clinical, Functional, and Service Goals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“Feel better,” “find housing,” or “use resources” are too vague for strong planning.</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What Change</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Who Acts</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By When</a:t>
            </a:r>
            <a:endParaRPr lang="en-US" sz="1140" dirty="0"/>
          </a:p>
        </p:txBody>
      </p:sp>
      <p:sp>
        <p:nvSpPr>
          <p:cNvPr id="15" name="Text 13"/>
          <p:cNvSpPr/>
          <p:nvPr/>
        </p:nvSpPr>
        <p:spPr>
          <a:xfrm>
            <a:off x="9850374" y="2331720"/>
            <a:ext cx="985266"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How Measured</a:t>
            </a:r>
            <a:endParaRPr lang="en-US" sz="1140" dirty="0"/>
          </a:p>
        </p:txBody>
      </p:sp>
      <p:sp>
        <p:nvSpPr>
          <p:cNvPr id="16" name="Text 14"/>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What Change</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useful objective states the expected change, the responsible person, the timeframe, and the…</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rewards plans that can be monitored and revised.</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What Change • Who Acts • By When • How Measured</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exam rewards plans that can be monitored and revised.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Intervention and Resource Fit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The best intervention is not automatically the social worker’s preferred theory or the agency default.</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Clinical modality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resource checks include…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eligibility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accessibility</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acceptability</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Clinical modality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Match modality to the formulation, risk, goals, readiness, development, culture, evidence,…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a warm handoff when the client needs more than a phone number: obtain authorization, make…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Available Is Not the Same as Accessible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Use a warm handoff when the client needs more than a phone number: obtain authorization, make contact together, prepare the client, clarify…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Evaluate, Revise, and Use CLOSE for Transitions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Monitor symptoms, risk, functioning, resource access, service outcomes, participation, alliance, and environmental barriers.</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Outcome review leads to…</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advocacy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referral</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transfer</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closure.</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Outcome review leads to…</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If progress is absent, check whether the formulation was accurate, the intervention was…</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Reasonable outreach and transition planning protect against abandonment.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No Progress = Reassess Before Blaming</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Reasonable outreach and transition planning protect against abandonment.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starting psychotherapy while imminent housing or safety needs remain unresolved; treating client participation as optional;…</a:t>
            </a:r>
            <a:endParaRPr lang="en-US" sz="2080" dirty="0"/>
          </a:p>
        </p:txBody>
      </p:sp>
      <p:sp>
        <p:nvSpPr>
          <p:cNvPr id="11" name="Text 9"/>
          <p:cNvSpPr/>
          <p:nvPr/>
        </p:nvSpPr>
        <p:spPr>
          <a:xfrm>
            <a:off x="6446520" y="2011680"/>
            <a:ext cx="2103120" cy="1097280"/>
          </a:xfrm>
          <a:prstGeom prst="rect">
            <a:avLst/>
          </a:prstGeom>
          <a:solidFill>
            <a:srgbClr val="F9EAE5"/>
          </a:solidFill>
          <a:ln w="11430">
            <a:solidFill>
              <a:srgbClr val="D66B4A"/>
            </a:solidFill>
          </a:ln>
        </p:spPr>
        <p:txBody>
          <a:bodyPr wrap="square" lIns="1016" tIns="1016" rIns="1016" bIns="1016" rtlCol="0" anchor="ctr">
            <a:normAutofit/>
          </a:bodyPr>
          <a:lstStyle/>
          <a:p>
            <a:pPr algn="ctr" indent="0" marL="0">
              <a:buNone/>
            </a:pPr>
            <a:r>
              <a:rPr lang="en-US" sz="1500" b="1" dirty="0">
                <a:solidFill>
                  <a:srgbClr val="D66B4A"/>
                </a:solidFill>
                <a:latin typeface="Aptos Display" pitchFamily="34" charset="0"/>
                <a:ea typeface="Aptos Display" pitchFamily="34" charset="-122"/>
                <a:cs typeface="Aptos Display" pitchFamily="34" charset="-120"/>
              </a:rPr>
              <a:t>Trap cards show therapy…</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imposed goals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generic referral</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noncompliance labels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measuring only symptoms while ignoring functioning or resource access.</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links the plan to the assessed priority and includes a method for…</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Plan With the Client, Then Test the Plan</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strongest answer links the plan to the assessed priority and includes a method for checking whether the intervention or service actually…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Depression and Imminent Eviction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seeking treatment for depression has an eviction notice and no safe place to stay after the week ends.</a:t>
            </a:r>
            <a:endParaRPr lang="en-US" sz="2080" dirty="0"/>
          </a:p>
        </p:txBody>
      </p:sp>
      <p:sp>
        <p:nvSpPr>
          <p:cNvPr id="11" name="Shape 9"/>
          <p:cNvSpPr/>
          <p:nvPr/>
        </p:nvSpPr>
        <p:spPr>
          <a:xfrm>
            <a:off x="6537960" y="2148840"/>
            <a:ext cx="4160520" cy="2743200"/>
          </a:xfrm>
          <a:prstGeom prst="rect">
            <a:avLst>
              <a:gd name="adj" fmla="val 3333"/>
            </a:avLst>
          </a:prstGeom>
          <a:solidFill>
            <a:srgbClr val="F9EAE5"/>
          </a:solidFill>
          <a:ln w="15240">
            <a:solidFill>
              <a:srgbClr val="D66B4A">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D66B4A"/>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D66B4A">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Cognitive intervention may eventually help, but the first planning task is to assess the…</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sequence both within one accountable plan.</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Prioritize Housing Urgency While Preserving the Clinical Plan</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sequence both within one accountable plan.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LCSW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7 vignette, write the priority, the assessment link, the client’s stated goal, the specific action and measure, the access check,…</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Link</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Agreement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Action/Measure</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Outcome</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Priority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premature intervention, imposed goals, vague objectives, poor modality…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strong plan makes responsibility, access, measurement, and follow-up visible.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Priority • Link • Agreement • Action/Measure • Outcome • Revision/Continuity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strong plan makes responsibility, access, measurement, and follow-up visible.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07 Companion: Workbook 7 Companion: Treatment and Service Planning</dc:title>
  <dc:subject>LCSW Workbook 07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