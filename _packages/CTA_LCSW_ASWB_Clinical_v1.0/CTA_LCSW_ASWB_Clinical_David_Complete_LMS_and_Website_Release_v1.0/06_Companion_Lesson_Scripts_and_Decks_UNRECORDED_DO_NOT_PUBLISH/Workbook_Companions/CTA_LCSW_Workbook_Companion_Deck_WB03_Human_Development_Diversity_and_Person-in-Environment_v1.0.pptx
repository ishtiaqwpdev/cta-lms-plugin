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Human development and diversity are not background sections added after symptom assessment. They shape the meaning, severity, function, and treatment implications of the presenting concern. A behavior may reflect developmental capacity, a family or community transition, discrimination, migration, disability access, caregiving burden, housing instability, school conditions, health needs, or a combination of factors. Person-in-environment reasoning does not minimize individual symptoms or responsibility. It prevents the social worker from reducing a complex problem to an internal defect and helps identify which change is most urgent, feasible, and aligned with the client’s priorities.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locate the client in time: age, developmental level, life stage, family or community transition, and recent change. Second, identify the systems: family, peers, school, work, health care, legal, military, community, culture, and services. Third, ask what changed, including loss, illness, conflict, discrimination, displacement, role change, or access barrier. Fourth, assess meaning and impact on symptoms, functioning, identity, relationships, safety, and goals. Fifth, identify strengths and barriers. Sixth, include the client or client system in priorities and choices. Seventh, select the next action: assess further, address an urgent need, adapt access, coordinate a resource, plan, refer, advocate, or intervene.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Chronological age does not determine cognitive, emotional, social, or adaptive capacity. Developmental assessment considers communication, executive functioning, identity, attachment, health, relationships, independence, caregiving, school or work roles, and the client’s own understanding. A teenager may need privacy and meaningful choices while still requiring caregiver support. An adult may face developmental disruption after disability, migration, parenthood, or job loss. An older adult may have intact decision-making alongside sensory or mobility barriers. The exam rewards answers that adapt communication and participation to demonstrated capacity rather than relying on stereotypes about a life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Cultural humility requires openness, self-reflection, attention to power, and willingness to be corrected. Ask how the client understands the concern, what identities and communities matter, what experiences of discrimination or exclusion are relevant, and what would make the service respectful and useful. Intersectionality means that identities and social positions combine rather than operate separately. Do not treat culture, spirituality, gender, sexual orientation, disability, race, migration, or family structure as pathology. At the same time, do not romanticize culture or ignore danger. Use the client’s meaning, actual behavior, context, and functioning to guide the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Housing, food, income, transportation, health care, education, employment, caregiving, legal status, technology, language, and disability access can produce or maintain distress and determine whether a plan is usable. Missed appointments, incomplete applications, or difficulty following recommendations are not automatic evidence of poor motivation. Assess the barrier and the client’s prior experiences with systems. Identify resilience, mutual aid, family or community support, practical skills, spirituality, advocacy experience, and prior successful coping. Strengths matter when they can be mobilized to reduce risk, improve access, or support a client-defined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Common traps include assuming developmental capacity from age, treating cultural norms as symptoms, asking the client to educate the worker instead of doing appropriate consultation, focusing only on individual coping when a structural barrier is actionable, labeling access problems as resistance, involving family automatically, ignoring language or disability access, and describing strengths without showing how they change the plan. Another trap is using context to explain away a serious symptom or danger. Person-in-environment reasoning integrates individual and environmental information; it does not replace direct risk or medical assessment.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15-year-old begins missing school after the family is displaced and moves between relatives. A caregiver describes the youth as defiant and requests behavior consequences. A stronger first response assesses immediate safety, transportation, sleep, privacy, peer and school experiences, developmental needs, family stress, discrimination, symptoms, and the youth’s perspective. The social worker identifies practical barriers and strengths, such as a supportive teacher or relative, before selecting an intervention. This does not excuse all behavior. It prevents a premature plan that ignores the conditions maintaining the problem and excludes the youth from defining what would help.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Workbook 3 question, complete the seven-line person-in-environment sequence. Then ask which contextual factor actually changes the next action. In your error log, mark age assumptions, cultural stereotyping, ignored social determinants, missed accessibility needs, pathologized identity, unsupported family involvement, or strengths that were named but not used. Your goal is not to mention every system. It is to identify the system, barrier, strength, or meaning that most affects safety, functioning, participation, and the next social work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6B4BA3"/>
          </a:solidFill>
          <a:ln w="12700">
            <a:solidFill>
              <a:srgbClr val="6B4BA3">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6B4BA3"/>
                </a:solidFill>
                <a:latin typeface="Aptos" pitchFamily="34" charset="0"/>
                <a:ea typeface="Aptos" pitchFamily="34" charset="-122"/>
                <a:cs typeface="Aptos" pitchFamily="34" charset="-120"/>
              </a:rPr>
              <a:t>LCSW WORKBOOK 03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WB03 • 01/8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6B4BA3"/>
                </a:solidFill>
                <a:latin typeface="Aptos Display" pitchFamily="34" charset="0"/>
                <a:ea typeface="Aptos Display" pitchFamily="34" charset="-122"/>
                <a:cs typeface="Aptos Display" pitchFamily="34" charset="-120"/>
              </a:rPr>
              <a:t>01</a:t>
            </a:r>
            <a:endParaRPr lang="en-US" sz="3200" dirty="0"/>
          </a:p>
        </p:txBody>
      </p:sp>
      <p:sp>
        <p:nvSpPr>
          <p:cNvPr id="9" name="Text 7"/>
          <p:cNvSpPr/>
          <p:nvPr/>
        </p:nvSpPr>
        <p:spPr>
          <a:xfrm>
            <a:off x="566928" y="914400"/>
            <a:ext cx="3840480" cy="310896"/>
          </a:xfrm>
          <a:prstGeom prst="rect">
            <a:avLst/>
          </a:prstGeom>
          <a:noFill/>
          <a:ln/>
        </p:spPr>
        <p:txBody>
          <a:bodyPr wrap="square" lIns="0" tIns="0" rIns="0" bIns="0" rtlCol="0" anchor="ctr"/>
          <a:lstStyle/>
          <a:p>
            <a:pPr indent="0" marL="0">
              <a:buNone/>
            </a:pPr>
            <a:r>
              <a:rPr lang="en-US" sz="1420" b="1" dirty="0">
                <a:solidFill>
                  <a:srgbClr val="6B4BA3"/>
                </a:solidFill>
                <a:latin typeface="Aptos" pitchFamily="34" charset="0"/>
                <a:ea typeface="Aptos" pitchFamily="34" charset="-122"/>
                <a:cs typeface="Aptos" pitchFamily="34" charset="-120"/>
              </a:rPr>
              <a:t>Workbook 3 Companion</a:t>
            </a:r>
            <a:endParaRPr lang="en-US" sz="1420" dirty="0"/>
          </a:p>
        </p:txBody>
      </p:sp>
      <p:sp>
        <p:nvSpPr>
          <p:cNvPr id="10" name="Text 8"/>
          <p:cNvSpPr/>
          <p:nvPr/>
        </p:nvSpPr>
        <p:spPr>
          <a:xfrm>
            <a:off x="566928" y="1298448"/>
            <a:ext cx="6583680" cy="1024128"/>
          </a:xfrm>
          <a:prstGeom prst="rect">
            <a:avLst/>
          </a:prstGeom>
          <a:noFill/>
          <a:ln/>
        </p:spPr>
        <p:txBody>
          <a:bodyPr wrap="square" lIns="127" tIns="127" rIns="127" bIns="127" rtlCol="0" anchor="ctr">
            <a:normAutofit/>
          </a:bodyPr>
          <a:lstStyle/>
          <a:p>
            <a:pPr indent="0" marL="0">
              <a:buNone/>
            </a:pPr>
            <a:r>
              <a:rPr lang="en-US" sz="3100" b="1" dirty="0">
                <a:solidFill>
                  <a:srgbClr val="10263F"/>
                </a:solidFill>
                <a:latin typeface="Aptos Display" pitchFamily="34" charset="0"/>
                <a:ea typeface="Aptos Display" pitchFamily="34" charset="-122"/>
                <a:cs typeface="Aptos Display" pitchFamily="34" charset="-120"/>
              </a:rPr>
              <a:t>Human Development, Diversity, and Person-in-Environment</a:t>
            </a:r>
            <a:endParaRPr lang="en-US" sz="3100" dirty="0"/>
          </a:p>
        </p:txBody>
      </p:sp>
      <p:sp>
        <p:nvSpPr>
          <p:cNvPr id="11" name="Text 9"/>
          <p:cNvSpPr/>
          <p:nvPr/>
        </p:nvSpPr>
        <p:spPr>
          <a:xfrm>
            <a:off x="585216" y="2432304"/>
            <a:ext cx="5852160" cy="310896"/>
          </a:xfrm>
          <a:prstGeom prst="rect">
            <a:avLst/>
          </a:prstGeom>
          <a:noFill/>
          <a:ln/>
        </p:spPr>
        <p:txBody>
          <a:bodyPr wrap="square" lIns="0" tIns="0" rIns="0" bIns="0" rtlCol="0" anchor="ctr"/>
          <a:lstStyle/>
          <a:p>
            <a:pPr indent="0" marL="0">
              <a:buNone/>
            </a:pPr>
            <a:r>
              <a:rPr lang="en-US" sz="1320" dirty="0">
                <a:solidFill>
                  <a:srgbClr val="5A6675"/>
                </a:solidFill>
                <a:latin typeface="Aptos" pitchFamily="34" charset="0"/>
                <a:ea typeface="Aptos" pitchFamily="34" charset="-122"/>
                <a:cs typeface="Aptos" pitchFamily="34" charset="-120"/>
              </a:rPr>
              <a:t>Ready-to-record CTA workbook companion deck</a:t>
            </a:r>
            <a:endParaRPr lang="en-US" sz="1320" dirty="0"/>
          </a:p>
        </p:txBody>
      </p:sp>
      <p:sp>
        <p:nvSpPr>
          <p:cNvPr id="12" name="Text 10"/>
          <p:cNvSpPr/>
          <p:nvPr/>
        </p:nvSpPr>
        <p:spPr>
          <a:xfrm>
            <a:off x="7571232" y="1810512"/>
            <a:ext cx="3429000" cy="1188720"/>
          </a:xfrm>
          <a:prstGeom prst="rect">
            <a:avLst/>
          </a:prstGeom>
          <a:noFill/>
          <a:ln/>
        </p:spPr>
        <p:txBody>
          <a:bodyPr wrap="square" lIns="254" tIns="254" rIns="254" bIns="254" rtlCol="0" anchor="ctr">
            <a:normAutofit/>
          </a:bodyPr>
          <a:lstStyle/>
          <a:p>
            <a:pPr indent="0" marL="0">
              <a:buNone/>
            </a:pPr>
            <a:r>
              <a:rPr lang="en-US" sz="1960" b="1" dirty="0">
                <a:solidFill>
                  <a:srgbClr val="1D2838"/>
                </a:solidFill>
                <a:latin typeface="Aptos Display" pitchFamily="34" charset="0"/>
                <a:ea typeface="Aptos Display" pitchFamily="34" charset="-122"/>
                <a:cs typeface="Aptos Display" pitchFamily="34" charset="-120"/>
              </a:rPr>
              <a:t>Human development and diversity are not background sections added after symptom assessment.</a:t>
            </a:r>
            <a:endParaRPr lang="en-US" sz="1960" dirty="0"/>
          </a:p>
        </p:txBody>
      </p:sp>
      <p:sp>
        <p:nvSpPr>
          <p:cNvPr id="13" name="Text 11"/>
          <p:cNvSpPr/>
          <p:nvPr/>
        </p:nvSpPr>
        <p:spPr>
          <a:xfrm>
            <a:off x="7552944" y="5468112"/>
            <a:ext cx="3520440" cy="384048"/>
          </a:xfrm>
          <a:prstGeom prst="rect">
            <a:avLst/>
          </a:prstGeom>
          <a:noFill/>
          <a:ln/>
        </p:spPr>
        <p:txBody>
          <a:bodyPr wrap="square" lIns="0" tIns="0" rIns="0" bIns="0" rtlCol="0" anchor="ctr">
            <a:normAutofit/>
          </a:bodyPr>
          <a:lstStyle/>
          <a:p>
            <a:pPr indent="0" marL="0">
              <a:buNone/>
            </a:pPr>
            <a:r>
              <a:rPr lang="en-US" sz="1220" dirty="0">
                <a:solidFill>
                  <a:srgbClr val="5A6675"/>
                </a:solidFill>
                <a:latin typeface="Aptos" pitchFamily="34" charset="0"/>
                <a:ea typeface="Aptos" pitchFamily="34" charset="-122"/>
                <a:cs typeface="Aptos" pitchFamily="34" charset="-120"/>
              </a:rPr>
              <a:t>Speaker notes are synchronized with the Word narration script.</a:t>
            </a:r>
            <a:endParaRPr lang="en-US" sz="1220" dirty="0"/>
          </a:p>
        </p:txBody>
      </p:sp>
      <p:sp>
        <p:nvSpPr>
          <p:cNvPr id="14" name="Text 12"/>
          <p:cNvSpPr/>
          <p:nvPr/>
        </p:nvSpPr>
        <p:spPr>
          <a:xfrm>
            <a:off x="585216" y="5340096"/>
            <a:ext cx="3429000" cy="301752"/>
          </a:xfrm>
          <a:prstGeom prst="rect">
            <a:avLst/>
          </a:prstGeom>
          <a:solidFill>
            <a:srgbClr val="6B4BA3"/>
          </a:solidFill>
          <a:ln/>
        </p:spPr>
        <p:txBody>
          <a:bodyPr wrap="square" lIns="254" tIns="254" rIns="254" bIns="254" rtlCol="0" anchor="ctr"/>
          <a:lstStyle/>
          <a:p>
            <a:pPr algn="ctr" indent="0" marL="0">
              <a:buNone/>
            </a:pPr>
            <a:r>
              <a:rPr lang="en-US" sz="1030" b="1" dirty="0">
                <a:solidFill>
                  <a:srgbClr val="FFFFFF"/>
                </a:solidFill>
                <a:latin typeface="Aptos" pitchFamily="34" charset="0"/>
                <a:ea typeface="Aptos" pitchFamily="34" charset="-122"/>
                <a:cs typeface="Aptos" pitchFamily="34" charset="-120"/>
              </a:rPr>
              <a:t>8–10 MINUTE COMPANION LESSON</a:t>
            </a:r>
            <a:endParaRPr lang="en-US" sz="1030" dirty="0"/>
          </a:p>
        </p:txBody>
      </p:sp>
      <p:sp>
        <p:nvSpPr>
          <p:cNvPr id="15" name="Shape 13"/>
          <p:cNvSpPr/>
          <p:nvPr/>
        </p:nvSpPr>
        <p:spPr>
          <a:xfrm>
            <a:off x="795528" y="4114800"/>
            <a:ext cx="5394960" cy="0"/>
          </a:xfrm>
          <a:prstGeom prst="line">
            <a:avLst/>
          </a:prstGeom>
          <a:noFill/>
          <a:ln w="13970">
            <a:solidFill>
              <a:srgbClr val="6B4BA3">
                <a:alpha val="75000"/>
              </a:srgbClr>
            </a:solidFill>
            <a:prstDash val="solid"/>
            <a:tailEnd type="triangle"/>
          </a:ln>
        </p:spPr>
      </p:sp>
      <p:sp>
        <p:nvSpPr>
          <p:cNvPr id="16" name="Text 14"/>
          <p:cNvSpPr/>
          <p:nvPr/>
        </p:nvSpPr>
        <p:spPr>
          <a:xfrm>
            <a:off x="658368" y="3822192"/>
            <a:ext cx="1002182"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A person is shown within…</a:t>
            </a:r>
            <a:endParaRPr lang="en-US" sz="1140" dirty="0"/>
          </a:p>
        </p:txBody>
      </p:sp>
      <p:sp>
        <p:nvSpPr>
          <p:cNvPr id="17" name="Text 15"/>
          <p:cNvSpPr/>
          <p:nvPr/>
        </p:nvSpPr>
        <p:spPr>
          <a:xfrm>
            <a:off x="1825142" y="3822192"/>
            <a:ext cx="1002182"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community</a:t>
            </a:r>
            <a:endParaRPr lang="en-US" sz="1140" dirty="0"/>
          </a:p>
        </p:txBody>
      </p:sp>
      <p:sp>
        <p:nvSpPr>
          <p:cNvPr id="18" name="Text 16"/>
          <p:cNvSpPr/>
          <p:nvPr/>
        </p:nvSpPr>
        <p:spPr>
          <a:xfrm>
            <a:off x="2991917" y="3822192"/>
            <a:ext cx="1002182"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institutions</a:t>
            </a:r>
            <a:endParaRPr lang="en-US" sz="1140" dirty="0"/>
          </a:p>
        </p:txBody>
      </p:sp>
      <p:sp>
        <p:nvSpPr>
          <p:cNvPr id="19" name="Text 17"/>
          <p:cNvSpPr/>
          <p:nvPr/>
        </p:nvSpPr>
        <p:spPr>
          <a:xfrm>
            <a:off x="4158691" y="3822192"/>
            <a:ext cx="1002182"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resources</a:t>
            </a:r>
            <a:endParaRPr lang="en-US" sz="1140" dirty="0"/>
          </a:p>
        </p:txBody>
      </p:sp>
      <p:sp>
        <p:nvSpPr>
          <p:cNvPr id="20" name="Text 18"/>
          <p:cNvSpPr/>
          <p:nvPr/>
        </p:nvSpPr>
        <p:spPr>
          <a:xfrm>
            <a:off x="5325466" y="3822192"/>
            <a:ext cx="1002182" cy="594360"/>
          </a:xfrm>
          <a:prstGeom prst="rect">
            <a:avLst/>
          </a:prstGeom>
          <a:solidFill>
            <a:srgbClr val="6B4BA3"/>
          </a:solidFill>
          <a:ln w="10160">
            <a:solidFill>
              <a:srgbClr val="6B4BA3"/>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history.</a:t>
            </a:r>
            <a:endParaRPr lang="en-US" sz="1140" dirty="0"/>
          </a:p>
        </p:txBody>
      </p:sp>
      <p:sp>
        <p:nvSpPr>
          <p:cNvPr id="21" name="Text 19"/>
          <p:cNvSpPr/>
          <p:nvPr/>
        </p:nvSpPr>
        <p:spPr>
          <a:xfrm>
            <a:off x="7498080" y="3474720"/>
            <a:ext cx="1668780" cy="800100"/>
          </a:xfrm>
          <a:prstGeom prst="rect">
            <a:avLst/>
          </a:prstGeom>
          <a:solidFill>
            <a:srgbClr val="EEE9F7"/>
          </a:solidFill>
          <a:ln w="11430">
            <a:solidFill>
              <a:srgbClr val="6B4BA3"/>
            </a:solidFill>
          </a:ln>
        </p:spPr>
        <p:txBody>
          <a:bodyPr wrap="square" lIns="1016" tIns="1016" rIns="1016" bIns="1016" rtlCol="0" anchor="ctr">
            <a:normAutofit/>
          </a:bodyPr>
          <a:lstStyle/>
          <a:p>
            <a:pPr algn="ctr" indent="0" marL="0">
              <a:buNone/>
            </a:pPr>
            <a:r>
              <a:rPr lang="en-US" sz="1500" b="1" dirty="0">
                <a:solidFill>
                  <a:srgbClr val="6B4BA3"/>
                </a:solidFill>
                <a:latin typeface="Aptos Display" pitchFamily="34" charset="0"/>
                <a:ea typeface="Aptos Display" pitchFamily="34" charset="-122"/>
                <a:cs typeface="Aptos Display" pitchFamily="34" charset="-120"/>
              </a:rPr>
              <a:t>A person is shown within…</a:t>
            </a:r>
            <a:endParaRPr lang="en-US" sz="1500" dirty="0"/>
          </a:p>
        </p:txBody>
      </p:sp>
      <p:sp>
        <p:nvSpPr>
          <p:cNvPr id="22" name="Text 20"/>
          <p:cNvSpPr/>
          <p:nvPr/>
        </p:nvSpPr>
        <p:spPr>
          <a:xfrm>
            <a:off x="9304020" y="3474720"/>
            <a:ext cx="1668780" cy="80010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community</a:t>
            </a:r>
            <a:endParaRPr lang="en-US" sz="1500" dirty="0"/>
          </a:p>
        </p:txBody>
      </p:sp>
      <p:sp>
        <p:nvSpPr>
          <p:cNvPr id="23" name="Text 21"/>
          <p:cNvSpPr/>
          <p:nvPr/>
        </p:nvSpPr>
        <p:spPr>
          <a:xfrm>
            <a:off x="7498080" y="4411980"/>
            <a:ext cx="1668780" cy="80010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institutions</a:t>
            </a:r>
            <a:endParaRPr lang="en-US" sz="1500" dirty="0"/>
          </a:p>
        </p:txBody>
      </p:sp>
      <p:sp>
        <p:nvSpPr>
          <p:cNvPr id="24" name="Text 22"/>
          <p:cNvSpPr/>
          <p:nvPr/>
        </p:nvSpPr>
        <p:spPr>
          <a:xfrm>
            <a:off x="9304020" y="4411980"/>
            <a:ext cx="1668780" cy="80010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resources</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6B4BA3"/>
          </a:solidFill>
          <a:ln w="12700">
            <a:solidFill>
              <a:srgbClr val="6B4BA3">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6B4BA3"/>
                </a:solidFill>
                <a:latin typeface="Aptos" pitchFamily="34" charset="0"/>
                <a:ea typeface="Aptos" pitchFamily="34" charset="-122"/>
                <a:cs typeface="Aptos" pitchFamily="34" charset="-120"/>
              </a:rPr>
              <a:t>LCSW WORKBOOK 03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WB03 • 02/8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6B4BA3"/>
                </a:solidFill>
                <a:latin typeface="Aptos Display" pitchFamily="34" charset="0"/>
                <a:ea typeface="Aptos Display" pitchFamily="34" charset="-122"/>
                <a:cs typeface="Aptos Display" pitchFamily="34" charset="-120"/>
              </a:rPr>
              <a:t>02</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Use the Seven-Step PIE Sequence</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First, locate the client in time: age, developmental level, life stage, family or community transition, and recent change.</a:t>
            </a:r>
            <a:endParaRPr lang="en-US" sz="2080" dirty="0"/>
          </a:p>
        </p:txBody>
      </p:sp>
      <p:sp>
        <p:nvSpPr>
          <p:cNvPr id="11" name="Text 9"/>
          <p:cNvSpPr/>
          <p:nvPr/>
        </p:nvSpPr>
        <p:spPr>
          <a:xfrm>
            <a:off x="6629400" y="1874520"/>
            <a:ext cx="3886200" cy="438912"/>
          </a:xfrm>
          <a:prstGeom prst="rect">
            <a:avLst/>
          </a:prstGeom>
          <a:solidFill>
            <a:srgbClr val="FFFFFF"/>
          </a:solidFill>
          <a:ln w="10795">
            <a:solidFill>
              <a:srgbClr val="6B4BA3"/>
            </a:solidFill>
          </a:ln>
        </p:spPr>
        <p:txBody>
          <a:bodyPr wrap="square" lIns="508" tIns="508" rIns="508" bIns="508" rtlCol="0" anchor="ctr">
            <a:normAutofit/>
          </a:bodyPr>
          <a:lstStyle/>
          <a:p>
            <a:pPr algn="ctr" indent="0" marL="0">
              <a:buNone/>
            </a:pPr>
            <a:r>
              <a:rPr lang="en-US" sz="1220" b="1" dirty="0">
                <a:solidFill>
                  <a:srgbClr val="6B4BA3"/>
                </a:solidFill>
                <a:latin typeface="Aptos" pitchFamily="34" charset="0"/>
                <a:ea typeface="Aptos" pitchFamily="34" charset="-122"/>
                <a:cs typeface="Aptos" pitchFamily="34" charset="-120"/>
              </a:rPr>
              <a:t>Time</a:t>
            </a:r>
            <a:endParaRPr lang="en-US" sz="1220" dirty="0"/>
          </a:p>
        </p:txBody>
      </p:sp>
      <p:sp>
        <p:nvSpPr>
          <p:cNvPr id="12" name="Text 10"/>
          <p:cNvSpPr/>
          <p:nvPr/>
        </p:nvSpPr>
        <p:spPr>
          <a:xfrm>
            <a:off x="6793992" y="2368296"/>
            <a:ext cx="3557016" cy="438912"/>
          </a:xfrm>
          <a:prstGeom prst="rect">
            <a:avLst/>
          </a:prstGeom>
          <a:solidFill>
            <a:srgbClr val="EEE9F7"/>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Systems</a:t>
            </a:r>
            <a:endParaRPr lang="en-US" sz="1220" dirty="0"/>
          </a:p>
        </p:txBody>
      </p:sp>
      <p:sp>
        <p:nvSpPr>
          <p:cNvPr id="13" name="Text 11"/>
          <p:cNvSpPr/>
          <p:nvPr/>
        </p:nvSpPr>
        <p:spPr>
          <a:xfrm>
            <a:off x="6958584" y="2862072"/>
            <a:ext cx="3227832" cy="438912"/>
          </a:xfrm>
          <a:prstGeom prst="rect">
            <a:avLst/>
          </a:prstGeom>
          <a:solidFill>
            <a:srgbClr val="FFFFFF"/>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Change</a:t>
            </a:r>
            <a:endParaRPr lang="en-US" sz="1220" dirty="0"/>
          </a:p>
        </p:txBody>
      </p:sp>
      <p:sp>
        <p:nvSpPr>
          <p:cNvPr id="14" name="Text 12"/>
          <p:cNvSpPr/>
          <p:nvPr/>
        </p:nvSpPr>
        <p:spPr>
          <a:xfrm>
            <a:off x="7123176" y="3355848"/>
            <a:ext cx="2898648" cy="438912"/>
          </a:xfrm>
          <a:prstGeom prst="rect">
            <a:avLst/>
          </a:prstGeom>
          <a:solidFill>
            <a:srgbClr val="EEE9F7"/>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Meaning</a:t>
            </a:r>
            <a:endParaRPr lang="en-US" sz="1220" dirty="0"/>
          </a:p>
        </p:txBody>
      </p:sp>
      <p:sp>
        <p:nvSpPr>
          <p:cNvPr id="15" name="Text 13"/>
          <p:cNvSpPr/>
          <p:nvPr/>
        </p:nvSpPr>
        <p:spPr>
          <a:xfrm>
            <a:off x="7287768" y="3849624"/>
            <a:ext cx="2569464" cy="438912"/>
          </a:xfrm>
          <a:prstGeom prst="rect">
            <a:avLst/>
          </a:prstGeom>
          <a:solidFill>
            <a:srgbClr val="FFFFFF"/>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Strengths/Barriers</a:t>
            </a:r>
            <a:endParaRPr lang="en-US" sz="1220" dirty="0"/>
          </a:p>
        </p:txBody>
      </p:sp>
      <p:sp>
        <p:nvSpPr>
          <p:cNvPr id="16" name="Text 14"/>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6B4BA3"/>
                </a:solidFill>
                <a:latin typeface="Aptos" pitchFamily="34" charset="0"/>
                <a:ea typeface="Aptos" pitchFamily="34" charset="-122"/>
                <a:cs typeface="Aptos" pitchFamily="34" charset="-120"/>
              </a:rPr>
              <a:t>✓</a:t>
            </a:r>
            <a:endParaRPr lang="en-US" sz="1500" dirty="0"/>
          </a:p>
        </p:txBody>
      </p:sp>
      <p:sp>
        <p:nvSpPr>
          <p:cNvPr id="17" name="Text 15"/>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Second, identify the systems: family, peers, school, work, health care, legal, military,…</a:t>
            </a:r>
            <a:endParaRPr lang="en-US" sz="1330" dirty="0"/>
          </a:p>
        </p:txBody>
      </p:sp>
      <p:sp>
        <p:nvSpPr>
          <p:cNvPr id="18" name="Text 16"/>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6B4BA3"/>
                </a:solidFill>
                <a:latin typeface="Aptos" pitchFamily="34" charset="0"/>
                <a:ea typeface="Aptos" pitchFamily="34" charset="-122"/>
                <a:cs typeface="Aptos" pitchFamily="34" charset="-120"/>
              </a:rPr>
              <a:t>✓</a:t>
            </a:r>
            <a:endParaRPr lang="en-US" sz="1500" dirty="0"/>
          </a:p>
        </p:txBody>
      </p:sp>
      <p:sp>
        <p:nvSpPr>
          <p:cNvPr id="19" name="Text 17"/>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Seventh, select the next action: assess further, address an urgent need, adapt access,…</a:t>
            </a:r>
            <a:endParaRPr lang="en-US" sz="1330" dirty="0"/>
          </a:p>
        </p:txBody>
      </p:sp>
      <p:sp>
        <p:nvSpPr>
          <p:cNvPr id="20" name="Text 18"/>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6B4BA3"/>
                </a:solidFill>
                <a:latin typeface="Aptos" pitchFamily="34" charset="0"/>
                <a:ea typeface="Aptos" pitchFamily="34" charset="-122"/>
                <a:cs typeface="Aptos" pitchFamily="34" charset="-120"/>
              </a:rPr>
              <a:t>✓</a:t>
            </a:r>
            <a:endParaRPr lang="en-US" sz="1500" dirty="0"/>
          </a:p>
        </p:txBody>
      </p:sp>
      <p:sp>
        <p:nvSpPr>
          <p:cNvPr id="21" name="Text 19"/>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Time • Systems • Change • Meaning • Strengths/Barriers • Choice • Action</a:t>
            </a:r>
            <a:endParaRPr lang="en-US" sz="1330" dirty="0"/>
          </a:p>
        </p:txBody>
      </p:sp>
      <p:sp>
        <p:nvSpPr>
          <p:cNvPr id="22" name="Text 20"/>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6B4BA3"/>
                </a:solidFill>
                <a:latin typeface="Aptos" pitchFamily="34" charset="0"/>
                <a:ea typeface="Aptos" pitchFamily="34" charset="-122"/>
                <a:cs typeface="Aptos" pitchFamily="34" charset="-120"/>
              </a:rPr>
              <a:t>STUDENT MOVE</a:t>
            </a:r>
            <a:endParaRPr lang="en-US" sz="940" dirty="0"/>
          </a:p>
        </p:txBody>
      </p:sp>
      <p:sp>
        <p:nvSpPr>
          <p:cNvPr id="23" name="Text 21"/>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Seventh, select the next action: assess further, address an urgent need, adapt access, coordinate a resource, plan, refer, advocate, or…</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6B4BA3"/>
          </a:solidFill>
          <a:ln w="12700">
            <a:solidFill>
              <a:srgbClr val="6B4BA3">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6B4BA3"/>
                </a:solidFill>
                <a:latin typeface="Aptos" pitchFamily="34" charset="0"/>
                <a:ea typeface="Aptos" pitchFamily="34" charset="-122"/>
                <a:cs typeface="Aptos" pitchFamily="34" charset="-120"/>
              </a:rPr>
              <a:t>LCSW WORKBOOK 03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WB03 • 03/8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6B4BA3"/>
                </a:solidFill>
                <a:latin typeface="Aptos Display" pitchFamily="34" charset="0"/>
                <a:ea typeface="Aptos Display" pitchFamily="34" charset="-122"/>
                <a:cs typeface="Aptos Display" pitchFamily="34" charset="-120"/>
              </a:rPr>
              <a:t>03</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Development Is More Than Chronological Age</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Chronological age does not determine cognitive, emotional, social, or adaptive capacity.</a:t>
            </a:r>
            <a:endParaRPr lang="en-US" sz="2080" dirty="0"/>
          </a:p>
        </p:txBody>
      </p:sp>
      <p:sp>
        <p:nvSpPr>
          <p:cNvPr id="11" name="Shape 9"/>
          <p:cNvSpPr/>
          <p:nvPr/>
        </p:nvSpPr>
        <p:spPr>
          <a:xfrm>
            <a:off x="6537960" y="2624328"/>
            <a:ext cx="4160520" cy="0"/>
          </a:xfrm>
          <a:prstGeom prst="line">
            <a:avLst/>
          </a:prstGeom>
          <a:noFill/>
          <a:ln w="13970">
            <a:solidFill>
              <a:srgbClr val="6B4BA3">
                <a:alpha val="75000"/>
              </a:srgbClr>
            </a:solidFill>
            <a:prstDash val="solid"/>
            <a:tailEnd type="triangle"/>
          </a:ln>
        </p:spPr>
      </p:sp>
      <p:sp>
        <p:nvSpPr>
          <p:cNvPr id="12" name="Text 10"/>
          <p:cNvSpPr/>
          <p:nvPr/>
        </p:nvSpPr>
        <p:spPr>
          <a:xfrm>
            <a:off x="6400800" y="2331720"/>
            <a:ext cx="1368552"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Assess Capacity</a:t>
            </a:r>
            <a:endParaRPr lang="en-US" sz="1140" dirty="0"/>
          </a:p>
        </p:txBody>
      </p:sp>
      <p:sp>
        <p:nvSpPr>
          <p:cNvPr id="13" name="Text 11"/>
          <p:cNvSpPr/>
          <p:nvPr/>
        </p:nvSpPr>
        <p:spPr>
          <a:xfrm>
            <a:off x="7933944" y="2331720"/>
            <a:ext cx="1368552"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Context</a:t>
            </a:r>
            <a:endParaRPr lang="en-US" sz="1140" dirty="0"/>
          </a:p>
        </p:txBody>
      </p:sp>
      <p:sp>
        <p:nvSpPr>
          <p:cNvPr id="14" name="Text 12"/>
          <p:cNvSpPr/>
          <p:nvPr/>
        </p:nvSpPr>
        <p:spPr>
          <a:xfrm>
            <a:off x="9467088" y="2331720"/>
            <a:ext cx="1368552" cy="594360"/>
          </a:xfrm>
          <a:prstGeom prst="rect">
            <a:avLst/>
          </a:prstGeom>
          <a:solidFill>
            <a:srgbClr val="6B4BA3"/>
          </a:solidFill>
          <a:ln w="10160">
            <a:solidFill>
              <a:srgbClr val="6B4BA3"/>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Not Age Alone</a:t>
            </a:r>
            <a:endParaRPr lang="en-US" sz="1140" dirty="0"/>
          </a:p>
        </p:txBody>
      </p:sp>
      <p:sp>
        <p:nvSpPr>
          <p:cNvPr id="15" name="Text 13"/>
          <p:cNvSpPr/>
          <p:nvPr/>
        </p:nvSpPr>
        <p:spPr>
          <a:xfrm>
            <a:off x="7086600" y="3401568"/>
            <a:ext cx="3063240" cy="914400"/>
          </a:xfrm>
          <a:prstGeom prst="rect">
            <a:avLst/>
          </a:prstGeom>
          <a:solidFill>
            <a:srgbClr val="EEE9F7"/>
          </a:solidFill>
          <a:ln w="13970">
            <a:solidFill>
              <a:srgbClr val="6B4BA3">
                <a:alpha val="75000"/>
              </a:srgbClr>
            </a:solidFill>
          </a:ln>
        </p:spPr>
        <p:txBody>
          <a:bodyPr wrap="square" lIns="635" tIns="635" rIns="635" bIns="635" rtlCol="0" anchor="ctr">
            <a:normAutofit/>
          </a:bodyPr>
          <a:lstStyle/>
          <a:p>
            <a:pPr algn="ctr" indent="0" marL="0">
              <a:buNone/>
            </a:pPr>
            <a:r>
              <a:rPr lang="en-US" sz="2200" b="1" dirty="0">
                <a:solidFill>
                  <a:srgbClr val="6B4BA3"/>
                </a:solidFill>
                <a:latin typeface="Aptos Display" pitchFamily="34" charset="0"/>
                <a:ea typeface="Aptos Display" pitchFamily="34" charset="-122"/>
                <a:cs typeface="Aptos Display" pitchFamily="34" charset="-120"/>
              </a:rPr>
              <a:t>Assess Capacity</a:t>
            </a:r>
            <a:endParaRPr lang="en-US" sz="2200" dirty="0"/>
          </a:p>
        </p:txBody>
      </p:sp>
      <p:sp>
        <p:nvSpPr>
          <p:cNvPr id="16" name="Text 14"/>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6B4BA3"/>
                </a:solidFill>
                <a:latin typeface="Aptos" pitchFamily="34" charset="0"/>
                <a:ea typeface="Aptos" pitchFamily="34" charset="-122"/>
                <a:cs typeface="Aptos" pitchFamily="34" charset="-120"/>
              </a:rPr>
              <a:t>✓</a:t>
            </a:r>
            <a:endParaRPr lang="en-US" sz="1500" dirty="0"/>
          </a:p>
        </p:txBody>
      </p:sp>
      <p:sp>
        <p:nvSpPr>
          <p:cNvPr id="17" name="Text 15"/>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Developmental assessment considers communication, executive functioning, identity, attachment,…</a:t>
            </a:r>
            <a:endParaRPr lang="en-US" sz="1330" dirty="0"/>
          </a:p>
        </p:txBody>
      </p:sp>
      <p:sp>
        <p:nvSpPr>
          <p:cNvPr id="18" name="Text 16"/>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6B4BA3"/>
                </a:solidFill>
                <a:latin typeface="Aptos" pitchFamily="34" charset="0"/>
                <a:ea typeface="Aptos" pitchFamily="34" charset="-122"/>
                <a:cs typeface="Aptos" pitchFamily="34" charset="-120"/>
              </a:rPr>
              <a:t>✓</a:t>
            </a:r>
            <a:endParaRPr lang="en-US" sz="1500" dirty="0"/>
          </a:p>
        </p:txBody>
      </p:sp>
      <p:sp>
        <p:nvSpPr>
          <p:cNvPr id="19" name="Text 17"/>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The exam rewards answers that adapt communication and participation to demonstrated capacity…</a:t>
            </a:r>
            <a:endParaRPr lang="en-US" sz="1330" dirty="0"/>
          </a:p>
        </p:txBody>
      </p:sp>
      <p:sp>
        <p:nvSpPr>
          <p:cNvPr id="20" name="Text 18"/>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6B4BA3"/>
                </a:solidFill>
                <a:latin typeface="Aptos" pitchFamily="34" charset="0"/>
                <a:ea typeface="Aptos" pitchFamily="34" charset="-122"/>
                <a:cs typeface="Aptos" pitchFamily="34" charset="-120"/>
              </a:rPr>
              <a:t>✓</a:t>
            </a:r>
            <a:endParaRPr lang="en-US" sz="1500" dirty="0"/>
          </a:p>
        </p:txBody>
      </p:sp>
      <p:sp>
        <p:nvSpPr>
          <p:cNvPr id="21" name="Text 19"/>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Assess Capacity and Context, Not Age Alone</a:t>
            </a:r>
            <a:endParaRPr lang="en-US" sz="1330" dirty="0"/>
          </a:p>
        </p:txBody>
      </p:sp>
      <p:sp>
        <p:nvSpPr>
          <p:cNvPr id="22" name="Text 20"/>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6B4BA3"/>
                </a:solidFill>
                <a:latin typeface="Aptos" pitchFamily="34" charset="0"/>
                <a:ea typeface="Aptos" pitchFamily="34" charset="-122"/>
                <a:cs typeface="Aptos" pitchFamily="34" charset="-120"/>
              </a:rPr>
              <a:t>STUDENT MOVE</a:t>
            </a:r>
            <a:endParaRPr lang="en-US" sz="940" dirty="0"/>
          </a:p>
        </p:txBody>
      </p:sp>
      <p:sp>
        <p:nvSpPr>
          <p:cNvPr id="23" name="Text 21"/>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The exam rewards answers that adapt communication and participation to demonstrated capacity rather than relying on stereotypes about a life…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6B4BA3"/>
          </a:solidFill>
          <a:ln w="12700">
            <a:solidFill>
              <a:srgbClr val="6B4BA3">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6B4BA3"/>
                </a:solidFill>
                <a:latin typeface="Aptos" pitchFamily="34" charset="0"/>
                <a:ea typeface="Aptos" pitchFamily="34" charset="-122"/>
                <a:cs typeface="Aptos" pitchFamily="34" charset="-120"/>
              </a:rPr>
              <a:t>LCSW WORKBOOK 03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WB03 • 04/8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6B4BA3"/>
                </a:solidFill>
                <a:latin typeface="Aptos Display" pitchFamily="34" charset="0"/>
                <a:ea typeface="Aptos Display" pitchFamily="34" charset="-122"/>
                <a:cs typeface="Aptos Display" pitchFamily="34" charset="-120"/>
              </a:rPr>
              <a:t>04</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Culture, Identity, Intersectionality, and Power</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Cultural humility requires openness, self-reflection, attention to power, and willingness to be corrected.</a:t>
            </a:r>
            <a:endParaRPr lang="en-US" sz="2080" dirty="0"/>
          </a:p>
        </p:txBody>
      </p:sp>
      <p:sp>
        <p:nvSpPr>
          <p:cNvPr id="11" name="Shape 9"/>
          <p:cNvSpPr/>
          <p:nvPr/>
        </p:nvSpPr>
        <p:spPr>
          <a:xfrm>
            <a:off x="6537960" y="2624328"/>
            <a:ext cx="4160520" cy="0"/>
          </a:xfrm>
          <a:prstGeom prst="line">
            <a:avLst/>
          </a:prstGeom>
          <a:noFill/>
          <a:ln w="13970">
            <a:solidFill>
              <a:srgbClr val="6B4BA3">
                <a:alpha val="75000"/>
              </a:srgbClr>
            </a:solidFill>
            <a:prstDash val="solid"/>
            <a:tailEnd type="triangle"/>
          </a:ln>
        </p:spPr>
      </p:sp>
      <p:sp>
        <p:nvSpPr>
          <p:cNvPr id="12" name="Text 10"/>
          <p:cNvSpPr/>
          <p:nvPr/>
        </p:nvSpPr>
        <p:spPr>
          <a:xfrm>
            <a:off x="6400800" y="2331720"/>
            <a:ext cx="9852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Identity dimensions…</a:t>
            </a:r>
            <a:endParaRPr lang="en-US" sz="1140" dirty="0"/>
          </a:p>
        </p:txBody>
      </p:sp>
      <p:sp>
        <p:nvSpPr>
          <p:cNvPr id="13" name="Text 11"/>
          <p:cNvSpPr/>
          <p:nvPr/>
        </p:nvSpPr>
        <p:spPr>
          <a:xfrm>
            <a:off x="7550658" y="2331720"/>
            <a:ext cx="9852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minority stress</a:t>
            </a:r>
            <a:endParaRPr lang="en-US" sz="1140" dirty="0"/>
          </a:p>
        </p:txBody>
      </p:sp>
      <p:sp>
        <p:nvSpPr>
          <p:cNvPr id="14" name="Text 12"/>
          <p:cNvSpPr/>
          <p:nvPr/>
        </p:nvSpPr>
        <p:spPr>
          <a:xfrm>
            <a:off x="8700516" y="2331720"/>
            <a:ext cx="9852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community supports</a:t>
            </a:r>
            <a:endParaRPr lang="en-US" sz="1140" dirty="0"/>
          </a:p>
        </p:txBody>
      </p:sp>
      <p:sp>
        <p:nvSpPr>
          <p:cNvPr id="15" name="Text 13"/>
          <p:cNvSpPr/>
          <p:nvPr/>
        </p:nvSpPr>
        <p:spPr>
          <a:xfrm>
            <a:off x="9850374" y="2331720"/>
            <a:ext cx="985266" cy="594360"/>
          </a:xfrm>
          <a:prstGeom prst="rect">
            <a:avLst/>
          </a:prstGeom>
          <a:solidFill>
            <a:srgbClr val="6B4BA3"/>
          </a:solidFill>
          <a:ln w="10160">
            <a:solidFill>
              <a:srgbClr val="6B4BA3"/>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power.</a:t>
            </a:r>
            <a:endParaRPr lang="en-US" sz="1140" dirty="0"/>
          </a:p>
        </p:txBody>
      </p:sp>
      <p:sp>
        <p:nvSpPr>
          <p:cNvPr id="16" name="Text 14"/>
          <p:cNvSpPr/>
          <p:nvPr/>
        </p:nvSpPr>
        <p:spPr>
          <a:xfrm>
            <a:off x="7086600" y="3401568"/>
            <a:ext cx="3063240" cy="914400"/>
          </a:xfrm>
          <a:prstGeom prst="rect">
            <a:avLst/>
          </a:prstGeom>
          <a:solidFill>
            <a:srgbClr val="EEE9F7"/>
          </a:solidFill>
          <a:ln w="13970">
            <a:solidFill>
              <a:srgbClr val="6B4BA3">
                <a:alpha val="75000"/>
              </a:srgbClr>
            </a:solidFill>
          </a:ln>
        </p:spPr>
        <p:txBody>
          <a:bodyPr wrap="square" lIns="635" tIns="635" rIns="635" bIns="635" rtlCol="0" anchor="ctr">
            <a:normAutofit/>
          </a:bodyPr>
          <a:lstStyle/>
          <a:p>
            <a:pPr algn="ctr" indent="0" marL="0">
              <a:buNone/>
            </a:pPr>
            <a:r>
              <a:rPr lang="en-US" sz="2200" b="1" dirty="0">
                <a:solidFill>
                  <a:srgbClr val="6B4BA3"/>
                </a:solidFill>
                <a:latin typeface="Aptos Display" pitchFamily="34" charset="0"/>
                <a:ea typeface="Aptos Display" pitchFamily="34" charset="-122"/>
                <a:cs typeface="Aptos Display" pitchFamily="34" charset="-120"/>
              </a:rPr>
              <a:t>Identity dimensions…</a:t>
            </a:r>
            <a:endParaRPr lang="en-US" sz="2200" dirty="0"/>
          </a:p>
        </p:txBody>
      </p:sp>
      <p:sp>
        <p:nvSpPr>
          <p:cNvPr id="17" name="Text 15"/>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6B4BA3"/>
                </a:solidFill>
                <a:latin typeface="Aptos" pitchFamily="34" charset="0"/>
                <a:ea typeface="Aptos" pitchFamily="34" charset="-122"/>
                <a:cs typeface="Aptos" pitchFamily="34" charset="-120"/>
              </a:rPr>
              <a:t>✓</a:t>
            </a:r>
            <a:endParaRPr lang="en-US" sz="1500" dirty="0"/>
          </a:p>
        </p:txBody>
      </p:sp>
      <p:sp>
        <p:nvSpPr>
          <p:cNvPr id="18" name="Text 16"/>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Ask how the client understands the concern, what identities and communities matter, what…</a:t>
            </a:r>
            <a:endParaRPr lang="en-US" sz="1330" dirty="0"/>
          </a:p>
        </p:txBody>
      </p:sp>
      <p:sp>
        <p:nvSpPr>
          <p:cNvPr id="19" name="Text 17"/>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6B4BA3"/>
                </a:solidFill>
                <a:latin typeface="Aptos" pitchFamily="34" charset="0"/>
                <a:ea typeface="Aptos" pitchFamily="34" charset="-122"/>
                <a:cs typeface="Aptos" pitchFamily="34" charset="-120"/>
              </a:rPr>
              <a:t>✓</a:t>
            </a:r>
            <a:endParaRPr lang="en-US" sz="1500" dirty="0"/>
          </a:p>
        </p:txBody>
      </p:sp>
      <p:sp>
        <p:nvSpPr>
          <p:cNvPr id="20" name="Text 18"/>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Use the client’s meaning, actual behavior, context, and functioning to guide the next step.</a:t>
            </a:r>
            <a:endParaRPr lang="en-US" sz="1330" dirty="0"/>
          </a:p>
        </p:txBody>
      </p:sp>
      <p:sp>
        <p:nvSpPr>
          <p:cNvPr id="21" name="Text 19"/>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6B4BA3"/>
                </a:solidFill>
                <a:latin typeface="Aptos" pitchFamily="34" charset="0"/>
                <a:ea typeface="Aptos" pitchFamily="34" charset="-122"/>
                <a:cs typeface="Aptos" pitchFamily="34" charset="-120"/>
              </a:rPr>
              <a:t>✓</a:t>
            </a:r>
            <a:endParaRPr lang="en-US" sz="1500" dirty="0"/>
          </a:p>
        </p:txBody>
      </p:sp>
      <p:sp>
        <p:nvSpPr>
          <p:cNvPr id="22" name="Text 20"/>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Ask How the Client Understands the Situation</a:t>
            </a:r>
            <a:endParaRPr lang="en-US" sz="1330" dirty="0"/>
          </a:p>
        </p:txBody>
      </p:sp>
      <p:sp>
        <p:nvSpPr>
          <p:cNvPr id="23" name="Text 21"/>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6B4BA3"/>
                </a:solidFill>
                <a:latin typeface="Aptos" pitchFamily="34" charset="0"/>
                <a:ea typeface="Aptos" pitchFamily="34" charset="-122"/>
                <a:cs typeface="Aptos" pitchFamily="34" charset="-120"/>
              </a:rPr>
              <a:t>STUDENT MOVE</a:t>
            </a:r>
            <a:endParaRPr lang="en-US" sz="940" dirty="0"/>
          </a:p>
        </p:txBody>
      </p:sp>
      <p:sp>
        <p:nvSpPr>
          <p:cNvPr id="24" name="Text 22"/>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Use the client’s meaning, actual behavior, context, and functioning to guide the next step.</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6B4BA3"/>
          </a:solidFill>
          <a:ln w="12700">
            <a:solidFill>
              <a:srgbClr val="6B4BA3">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6B4BA3"/>
                </a:solidFill>
                <a:latin typeface="Aptos" pitchFamily="34" charset="0"/>
                <a:ea typeface="Aptos" pitchFamily="34" charset="-122"/>
                <a:cs typeface="Aptos" pitchFamily="34" charset="-120"/>
              </a:rPr>
              <a:t>LCSW WORKBOOK 03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WB03 • 05/8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6B4BA3"/>
                </a:solidFill>
                <a:latin typeface="Aptos Display" pitchFamily="34" charset="0"/>
                <a:ea typeface="Aptos Display" pitchFamily="34" charset="-122"/>
                <a:cs typeface="Aptos Display" pitchFamily="34" charset="-120"/>
              </a:rPr>
              <a:t>05</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Social Determinants, Accessibility, and Resilience</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Housing, food, income, transportation, health care, education, employment, caregiving, legal status, technology, language, and disability access can…</a:t>
            </a:r>
            <a:endParaRPr lang="en-US" sz="2080" dirty="0"/>
          </a:p>
        </p:txBody>
      </p:sp>
      <p:sp>
        <p:nvSpPr>
          <p:cNvPr id="11" name="Shape 9"/>
          <p:cNvSpPr/>
          <p:nvPr/>
        </p:nvSpPr>
        <p:spPr>
          <a:xfrm>
            <a:off x="6537960" y="2624328"/>
            <a:ext cx="4160520" cy="0"/>
          </a:xfrm>
          <a:prstGeom prst="line">
            <a:avLst/>
          </a:prstGeom>
          <a:noFill/>
          <a:ln w="13970">
            <a:solidFill>
              <a:srgbClr val="6B4BA3">
                <a:alpha val="75000"/>
              </a:srgbClr>
            </a:solidFill>
            <a:prstDash val="solid"/>
            <a:tailEnd type="triangle"/>
          </a:ln>
        </p:spPr>
      </p:sp>
      <p:sp>
        <p:nvSpPr>
          <p:cNvPr id="12" name="Text 10"/>
          <p:cNvSpPr/>
          <p:nvPr/>
        </p:nvSpPr>
        <p:spPr>
          <a:xfrm>
            <a:off x="6400800"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Housing</a:t>
            </a:r>
            <a:endParaRPr lang="en-US" sz="1140" dirty="0"/>
          </a:p>
        </p:txBody>
      </p:sp>
      <p:sp>
        <p:nvSpPr>
          <p:cNvPr id="13" name="Text 11"/>
          <p:cNvSpPr/>
          <p:nvPr/>
        </p:nvSpPr>
        <p:spPr>
          <a:xfrm>
            <a:off x="7320686"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income</a:t>
            </a:r>
            <a:endParaRPr lang="en-US" sz="1140" dirty="0"/>
          </a:p>
        </p:txBody>
      </p:sp>
      <p:sp>
        <p:nvSpPr>
          <p:cNvPr id="14" name="Text 12"/>
          <p:cNvSpPr/>
          <p:nvPr/>
        </p:nvSpPr>
        <p:spPr>
          <a:xfrm>
            <a:off x="8240573"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food</a:t>
            </a:r>
            <a:endParaRPr lang="en-US" sz="1140" dirty="0"/>
          </a:p>
        </p:txBody>
      </p:sp>
      <p:sp>
        <p:nvSpPr>
          <p:cNvPr id="15" name="Text 13"/>
          <p:cNvSpPr/>
          <p:nvPr/>
        </p:nvSpPr>
        <p:spPr>
          <a:xfrm>
            <a:off x="9160459"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transportation</a:t>
            </a:r>
            <a:endParaRPr lang="en-US" sz="1140" dirty="0"/>
          </a:p>
        </p:txBody>
      </p:sp>
      <p:sp>
        <p:nvSpPr>
          <p:cNvPr id="16" name="Text 14"/>
          <p:cNvSpPr/>
          <p:nvPr/>
        </p:nvSpPr>
        <p:spPr>
          <a:xfrm>
            <a:off x="10080346" y="2331720"/>
            <a:ext cx="755294" cy="594360"/>
          </a:xfrm>
          <a:prstGeom prst="rect">
            <a:avLst/>
          </a:prstGeom>
          <a:solidFill>
            <a:srgbClr val="6B4BA3"/>
          </a:solidFill>
          <a:ln w="10160">
            <a:solidFill>
              <a:srgbClr val="6B4BA3"/>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language</a:t>
            </a:r>
            <a:endParaRPr lang="en-US" sz="1140" dirty="0"/>
          </a:p>
        </p:txBody>
      </p:sp>
      <p:sp>
        <p:nvSpPr>
          <p:cNvPr id="17" name="Text 15"/>
          <p:cNvSpPr/>
          <p:nvPr/>
        </p:nvSpPr>
        <p:spPr>
          <a:xfrm>
            <a:off x="7086600" y="3401568"/>
            <a:ext cx="3063240" cy="914400"/>
          </a:xfrm>
          <a:prstGeom prst="rect">
            <a:avLst/>
          </a:prstGeom>
          <a:solidFill>
            <a:srgbClr val="EEE9F7"/>
          </a:solidFill>
          <a:ln w="13970">
            <a:solidFill>
              <a:srgbClr val="6B4BA3">
                <a:alpha val="75000"/>
              </a:srgbClr>
            </a:solidFill>
          </a:ln>
        </p:spPr>
        <p:txBody>
          <a:bodyPr wrap="square" lIns="635" tIns="635" rIns="635" bIns="635" rtlCol="0" anchor="ctr">
            <a:normAutofit/>
          </a:bodyPr>
          <a:lstStyle/>
          <a:p>
            <a:pPr algn="ctr" indent="0" marL="0">
              <a:buNone/>
            </a:pPr>
            <a:r>
              <a:rPr lang="en-US" sz="2200" b="1" dirty="0">
                <a:solidFill>
                  <a:srgbClr val="6B4BA3"/>
                </a:solidFill>
                <a:latin typeface="Aptos Display" pitchFamily="34" charset="0"/>
                <a:ea typeface="Aptos Display" pitchFamily="34" charset="-122"/>
                <a:cs typeface="Aptos Display" pitchFamily="34" charset="-120"/>
              </a:rPr>
              <a:t>Housing</a:t>
            </a:r>
            <a:endParaRPr lang="en-US" sz="2200" dirty="0"/>
          </a:p>
        </p:txBody>
      </p:sp>
      <p:sp>
        <p:nvSpPr>
          <p:cNvPr id="18" name="Text 16"/>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6B4BA3"/>
                </a:solidFill>
                <a:latin typeface="Aptos" pitchFamily="34" charset="0"/>
                <a:ea typeface="Aptos" pitchFamily="34" charset="-122"/>
                <a:cs typeface="Aptos" pitchFamily="34" charset="-120"/>
              </a:rPr>
              <a:t>✓</a:t>
            </a:r>
            <a:endParaRPr lang="en-US" sz="1500" dirty="0"/>
          </a:p>
        </p:txBody>
      </p:sp>
      <p:sp>
        <p:nvSpPr>
          <p:cNvPr id="19" name="Text 17"/>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Missed appointments, incomplete applications, or difficulty following recommendations are not…</a:t>
            </a:r>
            <a:endParaRPr lang="en-US" sz="1330" dirty="0"/>
          </a:p>
        </p:txBody>
      </p:sp>
      <p:sp>
        <p:nvSpPr>
          <p:cNvPr id="20" name="Text 18"/>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6B4BA3"/>
                </a:solidFill>
                <a:latin typeface="Aptos" pitchFamily="34" charset="0"/>
                <a:ea typeface="Aptos" pitchFamily="34" charset="-122"/>
                <a:cs typeface="Aptos" pitchFamily="34" charset="-120"/>
              </a:rPr>
              <a:t>✓</a:t>
            </a:r>
            <a:endParaRPr lang="en-US" sz="1500" dirty="0"/>
          </a:p>
        </p:txBody>
      </p:sp>
      <p:sp>
        <p:nvSpPr>
          <p:cNvPr id="21" name="Text 19"/>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Strengths matter when they can be mobilized to reduce risk, improve access, or support a…</a:t>
            </a:r>
            <a:endParaRPr lang="en-US" sz="1330" dirty="0"/>
          </a:p>
        </p:txBody>
      </p:sp>
      <p:sp>
        <p:nvSpPr>
          <p:cNvPr id="22" name="Text 20"/>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6B4BA3"/>
                </a:solidFill>
                <a:latin typeface="Aptos" pitchFamily="34" charset="0"/>
                <a:ea typeface="Aptos" pitchFamily="34" charset="-122"/>
                <a:cs typeface="Aptos" pitchFamily="34" charset="-120"/>
              </a:rPr>
              <a:t>✓</a:t>
            </a:r>
            <a:endParaRPr lang="en-US" sz="1500" dirty="0"/>
          </a:p>
        </p:txBody>
      </p:sp>
      <p:sp>
        <p:nvSpPr>
          <p:cNvPr id="23" name="Text 21"/>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Barrier + Resource + Strength + Access Plan</a:t>
            </a:r>
            <a:endParaRPr lang="en-US" sz="1330" dirty="0"/>
          </a:p>
        </p:txBody>
      </p:sp>
      <p:sp>
        <p:nvSpPr>
          <p:cNvPr id="24" name="Text 22"/>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6B4BA3"/>
                </a:solidFill>
                <a:latin typeface="Aptos" pitchFamily="34" charset="0"/>
                <a:ea typeface="Aptos" pitchFamily="34" charset="-122"/>
                <a:cs typeface="Aptos" pitchFamily="34" charset="-120"/>
              </a:rPr>
              <a:t>STUDENT MOVE</a:t>
            </a:r>
            <a:endParaRPr lang="en-US" sz="940" dirty="0"/>
          </a:p>
        </p:txBody>
      </p:sp>
      <p:sp>
        <p:nvSpPr>
          <p:cNvPr id="25" name="Text 23"/>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Strengths matter when they can be mobilized to reduce risk, improve access, or support a client-defined goal.</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6B4BA3"/>
          </a:solidFill>
          <a:ln w="12700">
            <a:solidFill>
              <a:srgbClr val="6B4BA3">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6B4BA3"/>
                </a:solidFill>
                <a:latin typeface="Aptos" pitchFamily="34" charset="0"/>
                <a:ea typeface="Aptos" pitchFamily="34" charset="-122"/>
                <a:cs typeface="Aptos" pitchFamily="34" charset="-120"/>
              </a:rPr>
              <a:t>LCSW WORKBOOK 03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WB03 • 06/8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6B4BA3"/>
                </a:solidFill>
                <a:latin typeface="Aptos Display" pitchFamily="34" charset="0"/>
                <a:ea typeface="Aptos Display" pitchFamily="34" charset="-122"/>
                <a:cs typeface="Aptos Display" pitchFamily="34" charset="-120"/>
              </a:rPr>
              <a:t>06</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Common Exam Traps</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Common traps include assuming developmental capacity from age, treating cultural norms as symptoms, asking the client to educate the worker instead…</a:t>
            </a:r>
            <a:endParaRPr lang="en-US" sz="2080" dirty="0"/>
          </a:p>
        </p:txBody>
      </p:sp>
      <p:sp>
        <p:nvSpPr>
          <p:cNvPr id="11" name="Text 9"/>
          <p:cNvSpPr/>
          <p:nvPr/>
        </p:nvSpPr>
        <p:spPr>
          <a:xfrm>
            <a:off x="6446520" y="2011680"/>
            <a:ext cx="2103120" cy="1097280"/>
          </a:xfrm>
          <a:prstGeom prst="rect">
            <a:avLst/>
          </a:prstGeom>
          <a:solidFill>
            <a:srgbClr val="EEE9F7"/>
          </a:solidFill>
          <a:ln w="11430">
            <a:solidFill>
              <a:srgbClr val="6B4BA3"/>
            </a:solidFill>
          </a:ln>
        </p:spPr>
        <p:txBody>
          <a:bodyPr wrap="square" lIns="1016" tIns="1016" rIns="1016" bIns="1016" rtlCol="0" anchor="ctr">
            <a:normAutofit/>
          </a:bodyPr>
          <a:lstStyle/>
          <a:p>
            <a:pPr algn="ctr" indent="0" marL="0">
              <a:buNone/>
            </a:pPr>
            <a:r>
              <a:rPr lang="en-US" sz="1500" b="1" dirty="0">
                <a:solidFill>
                  <a:srgbClr val="6B4BA3"/>
                </a:solidFill>
                <a:latin typeface="Aptos Display" pitchFamily="34" charset="0"/>
                <a:ea typeface="Aptos Display" pitchFamily="34" charset="-122"/>
                <a:cs typeface="Aptos Display" pitchFamily="34" charset="-120"/>
              </a:rPr>
              <a:t>Trap cards show age…</a:t>
            </a:r>
            <a:endParaRPr lang="en-US" sz="1500" dirty="0"/>
          </a:p>
        </p:txBody>
      </p:sp>
      <p:sp>
        <p:nvSpPr>
          <p:cNvPr id="12" name="Text 10"/>
          <p:cNvSpPr/>
          <p:nvPr/>
        </p:nvSpPr>
        <p:spPr>
          <a:xfrm>
            <a:off x="8686800" y="2011680"/>
            <a:ext cx="2103120" cy="109728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cultural assumptions</a:t>
            </a:r>
            <a:endParaRPr lang="en-US" sz="1500" dirty="0"/>
          </a:p>
        </p:txBody>
      </p:sp>
      <p:sp>
        <p:nvSpPr>
          <p:cNvPr id="13" name="Text 11"/>
          <p:cNvSpPr/>
          <p:nvPr/>
        </p:nvSpPr>
        <p:spPr>
          <a:xfrm>
            <a:off x="6446520" y="3246120"/>
            <a:ext cx="2103120" cy="109728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intrapsychic-only answers</a:t>
            </a:r>
            <a:endParaRPr lang="en-US" sz="1500" dirty="0"/>
          </a:p>
        </p:txBody>
      </p:sp>
      <p:sp>
        <p:nvSpPr>
          <p:cNvPr id="14" name="Text 12"/>
          <p:cNvSpPr/>
          <p:nvPr/>
        </p:nvSpPr>
        <p:spPr>
          <a:xfrm>
            <a:off x="8686800" y="3246120"/>
            <a:ext cx="2103120" cy="109728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access-as-resistance.</a:t>
            </a:r>
            <a:endParaRPr lang="en-US" sz="1500" dirty="0"/>
          </a:p>
        </p:txBody>
      </p:sp>
      <p:sp>
        <p:nvSpPr>
          <p:cNvPr id="15" name="Text 13"/>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6B4BA3"/>
                </a:solidFill>
                <a:latin typeface="Aptos" pitchFamily="34" charset="0"/>
                <a:ea typeface="Aptos" pitchFamily="34" charset="-122"/>
                <a:cs typeface="Aptos" pitchFamily="34" charset="-120"/>
              </a:rPr>
              <a:t>✓</a:t>
            </a:r>
            <a:endParaRPr lang="en-US" sz="1500" dirty="0"/>
          </a:p>
        </p:txBody>
      </p:sp>
      <p:sp>
        <p:nvSpPr>
          <p:cNvPr id="16" name="Text 14"/>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Another trap is using context to explain away a serious symptom or danger.</a:t>
            </a:r>
            <a:endParaRPr lang="en-US" sz="1330" dirty="0"/>
          </a:p>
        </p:txBody>
      </p:sp>
      <p:sp>
        <p:nvSpPr>
          <p:cNvPr id="17" name="Text 15"/>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6B4BA3"/>
                </a:solidFill>
                <a:latin typeface="Aptos" pitchFamily="34" charset="0"/>
                <a:ea typeface="Aptos" pitchFamily="34" charset="-122"/>
                <a:cs typeface="Aptos" pitchFamily="34" charset="-120"/>
              </a:rPr>
              <a:t>✓</a:t>
            </a:r>
            <a:endParaRPr lang="en-US" sz="1500" dirty="0"/>
          </a:p>
        </p:txBody>
      </p:sp>
      <p:sp>
        <p:nvSpPr>
          <p:cNvPr id="18" name="Text 16"/>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Person-in-environment reasoning integrates individual and environmental information; it does…</a:t>
            </a:r>
            <a:endParaRPr lang="en-US" sz="1330" dirty="0"/>
          </a:p>
        </p:txBody>
      </p:sp>
      <p:sp>
        <p:nvSpPr>
          <p:cNvPr id="19" name="Text 17"/>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6B4BA3"/>
                </a:solidFill>
                <a:latin typeface="Aptos" pitchFamily="34" charset="0"/>
                <a:ea typeface="Aptos" pitchFamily="34" charset="-122"/>
                <a:cs typeface="Aptos" pitchFamily="34" charset="-120"/>
              </a:rPr>
              <a:t>✓</a:t>
            </a:r>
            <a:endParaRPr lang="en-US" sz="1500" dirty="0"/>
          </a:p>
        </p:txBody>
      </p:sp>
      <p:sp>
        <p:nvSpPr>
          <p:cNvPr id="20" name="Text 18"/>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Do Not Stereotype or Decontextualize</a:t>
            </a:r>
            <a:endParaRPr lang="en-US" sz="1330" dirty="0"/>
          </a:p>
        </p:txBody>
      </p:sp>
      <p:sp>
        <p:nvSpPr>
          <p:cNvPr id="21" name="Text 19"/>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6B4BA3"/>
                </a:solidFill>
                <a:latin typeface="Aptos" pitchFamily="34" charset="0"/>
                <a:ea typeface="Aptos" pitchFamily="34" charset="-122"/>
                <a:cs typeface="Aptos" pitchFamily="34" charset="-120"/>
              </a:rPr>
              <a:t>STUDENT MOVE</a:t>
            </a:r>
            <a:endParaRPr lang="en-US" sz="940" dirty="0"/>
          </a:p>
        </p:txBody>
      </p:sp>
      <p:sp>
        <p:nvSpPr>
          <p:cNvPr id="22" name="Text 20"/>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Person-in-environment reasoning integrates individual and environmental information; it does not replace direct risk or medical assessment.</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6B4BA3"/>
          </a:solidFill>
          <a:ln w="12700">
            <a:solidFill>
              <a:srgbClr val="6B4BA3">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6B4BA3"/>
                </a:solidFill>
                <a:latin typeface="Aptos" pitchFamily="34" charset="0"/>
                <a:ea typeface="Aptos" pitchFamily="34" charset="-122"/>
                <a:cs typeface="Aptos" pitchFamily="34" charset="-120"/>
              </a:rPr>
              <a:t>LCSW WORKBOOK 03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WB03 • 07/8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6B4BA3"/>
                </a:solidFill>
                <a:latin typeface="Aptos Display" pitchFamily="34" charset="0"/>
                <a:ea typeface="Aptos Display" pitchFamily="34" charset="-122"/>
                <a:cs typeface="Aptos Display" pitchFamily="34" charset="-120"/>
              </a:rPr>
              <a:t>07</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Mini Scenario: School Absence After Displacement</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A 15-year-old begins missing school after the family is displaced and moves between relatives.</a:t>
            </a:r>
            <a:endParaRPr lang="en-US" sz="2080" dirty="0"/>
          </a:p>
        </p:txBody>
      </p:sp>
      <p:sp>
        <p:nvSpPr>
          <p:cNvPr id="11" name="Shape 9"/>
          <p:cNvSpPr/>
          <p:nvPr/>
        </p:nvSpPr>
        <p:spPr>
          <a:xfrm>
            <a:off x="6537960" y="2148840"/>
            <a:ext cx="4160520" cy="2743200"/>
          </a:xfrm>
          <a:prstGeom prst="rect">
            <a:avLst>
              <a:gd name="adj" fmla="val 3333"/>
            </a:avLst>
          </a:prstGeom>
          <a:solidFill>
            <a:srgbClr val="EEE9F7"/>
          </a:solidFill>
          <a:ln w="15240">
            <a:solidFill>
              <a:srgbClr val="6B4BA3">
                <a:alpha val="85000"/>
              </a:srgbClr>
            </a:solidFill>
            <a:prstDash val="solid"/>
          </a:ln>
        </p:spPr>
      </p:sp>
      <p:sp>
        <p:nvSpPr>
          <p:cNvPr id="12" name="Text 10"/>
          <p:cNvSpPr/>
          <p:nvPr/>
        </p:nvSpPr>
        <p:spPr>
          <a:xfrm>
            <a:off x="6766560" y="2350008"/>
            <a:ext cx="3703320" cy="228600"/>
          </a:xfrm>
          <a:prstGeom prst="rect">
            <a:avLst/>
          </a:prstGeom>
          <a:noFill/>
          <a:ln/>
        </p:spPr>
        <p:txBody>
          <a:bodyPr wrap="square" lIns="0" tIns="0" rIns="0" bIns="0" rtlCol="0" anchor="ctr"/>
          <a:lstStyle/>
          <a:p>
            <a:pPr indent="0" marL="0">
              <a:buNone/>
            </a:pPr>
            <a:r>
              <a:rPr lang="en-US" sz="1000" b="1" dirty="0">
                <a:solidFill>
                  <a:srgbClr val="6B4BA3"/>
                </a:solidFill>
                <a:latin typeface="Aptos" pitchFamily="34" charset="0"/>
                <a:ea typeface="Aptos" pitchFamily="34" charset="-122"/>
                <a:cs typeface="Aptos" pitchFamily="34" charset="-120"/>
              </a:rPr>
              <a:t>MINI SCENARIO</a:t>
            </a:r>
            <a:endParaRPr lang="en-US" sz="1000" dirty="0"/>
          </a:p>
        </p:txBody>
      </p:sp>
      <p:sp>
        <p:nvSpPr>
          <p:cNvPr id="13" name="Text 11"/>
          <p:cNvSpPr/>
          <p:nvPr/>
        </p:nvSpPr>
        <p:spPr>
          <a:xfrm>
            <a:off x="6766560" y="2770632"/>
            <a:ext cx="3703320" cy="713232"/>
          </a:xfrm>
          <a:prstGeom prst="rect">
            <a:avLst/>
          </a:prstGeom>
          <a:noFill/>
          <a:ln/>
        </p:spPr>
        <p:txBody>
          <a:bodyPr wrap="square" lIns="254" tIns="254" rIns="254" bIns="254" rtlCol="0" anchor="ctr">
            <a:normAutofit/>
          </a:bodyPr>
          <a:lstStyle/>
          <a:p>
            <a:pPr indent="0" marL="0">
              <a:buNone/>
            </a:pPr>
            <a:r>
              <a:rPr lang="en-US" sz="2000" b="1" dirty="0">
                <a:solidFill>
                  <a:srgbClr val="1D2838"/>
                </a:solidFill>
                <a:latin typeface="Aptos Display" pitchFamily="34" charset="0"/>
                <a:ea typeface="Aptos Display" pitchFamily="34" charset="-122"/>
                <a:cs typeface="Aptos Display" pitchFamily="34" charset="-120"/>
              </a:rPr>
              <a:t>Facts → Safety → Role → Next step</a:t>
            </a:r>
            <a:endParaRPr lang="en-US" sz="2000" dirty="0"/>
          </a:p>
        </p:txBody>
      </p:sp>
      <p:sp>
        <p:nvSpPr>
          <p:cNvPr id="14" name="Shape 12"/>
          <p:cNvSpPr/>
          <p:nvPr/>
        </p:nvSpPr>
        <p:spPr>
          <a:xfrm>
            <a:off x="6995160" y="3922776"/>
            <a:ext cx="3246120" cy="0"/>
          </a:xfrm>
          <a:prstGeom prst="line">
            <a:avLst/>
          </a:prstGeom>
          <a:noFill/>
          <a:ln w="13970">
            <a:solidFill>
              <a:srgbClr val="6B4BA3">
                <a:alpha val="75000"/>
              </a:srgbClr>
            </a:solidFill>
            <a:prstDash val="solid"/>
            <a:tailEnd type="triangle"/>
          </a:ln>
        </p:spPr>
      </p:sp>
      <p:sp>
        <p:nvSpPr>
          <p:cNvPr id="15" name="Text 13"/>
          <p:cNvSpPr/>
          <p:nvPr/>
        </p:nvSpPr>
        <p:spPr>
          <a:xfrm>
            <a:off x="6858000" y="3630168"/>
            <a:ext cx="7566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Facts</a:t>
            </a:r>
            <a:endParaRPr lang="en-US" sz="1140" dirty="0"/>
          </a:p>
        </p:txBody>
      </p:sp>
      <p:sp>
        <p:nvSpPr>
          <p:cNvPr id="16" name="Text 14"/>
          <p:cNvSpPr/>
          <p:nvPr/>
        </p:nvSpPr>
        <p:spPr>
          <a:xfrm>
            <a:off x="7779258" y="3630168"/>
            <a:ext cx="7566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Risk</a:t>
            </a:r>
            <a:endParaRPr lang="en-US" sz="1140" dirty="0"/>
          </a:p>
        </p:txBody>
      </p:sp>
      <p:sp>
        <p:nvSpPr>
          <p:cNvPr id="17" name="Text 15"/>
          <p:cNvSpPr/>
          <p:nvPr/>
        </p:nvSpPr>
        <p:spPr>
          <a:xfrm>
            <a:off x="8700516" y="3630168"/>
            <a:ext cx="7566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Role</a:t>
            </a:r>
            <a:endParaRPr lang="en-US" sz="1140" dirty="0"/>
          </a:p>
        </p:txBody>
      </p:sp>
      <p:sp>
        <p:nvSpPr>
          <p:cNvPr id="18" name="Text 16"/>
          <p:cNvSpPr/>
          <p:nvPr/>
        </p:nvSpPr>
        <p:spPr>
          <a:xfrm>
            <a:off x="9621774" y="3630168"/>
            <a:ext cx="756666" cy="594360"/>
          </a:xfrm>
          <a:prstGeom prst="rect">
            <a:avLst/>
          </a:prstGeom>
          <a:solidFill>
            <a:srgbClr val="6B4BA3"/>
          </a:solidFill>
          <a:ln w="10160">
            <a:solidFill>
              <a:srgbClr val="6B4BA3"/>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Action</a:t>
            </a:r>
            <a:endParaRPr lang="en-US" sz="1140" dirty="0"/>
          </a:p>
        </p:txBody>
      </p:sp>
      <p:sp>
        <p:nvSpPr>
          <p:cNvPr id="19" name="Text 17"/>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6B4BA3"/>
                </a:solidFill>
                <a:latin typeface="Aptos" pitchFamily="34" charset="0"/>
                <a:ea typeface="Aptos" pitchFamily="34" charset="-122"/>
                <a:cs typeface="Aptos" pitchFamily="34" charset="-120"/>
              </a:rPr>
              <a:t>✓</a:t>
            </a:r>
            <a:endParaRPr lang="en-US" sz="1500" dirty="0"/>
          </a:p>
        </p:txBody>
      </p:sp>
      <p:sp>
        <p:nvSpPr>
          <p:cNvPr id="20" name="Text 18"/>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A caregiver describes the youth as defiant and requests behavior consequences.</a:t>
            </a:r>
            <a:endParaRPr lang="en-US" sz="1330" dirty="0"/>
          </a:p>
        </p:txBody>
      </p:sp>
      <p:sp>
        <p:nvSpPr>
          <p:cNvPr id="21" name="Text 19"/>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6B4BA3"/>
                </a:solidFill>
                <a:latin typeface="Aptos" pitchFamily="34" charset="0"/>
                <a:ea typeface="Aptos" pitchFamily="34" charset="-122"/>
                <a:cs typeface="Aptos" pitchFamily="34" charset="-120"/>
              </a:rPr>
              <a:t>✓</a:t>
            </a:r>
            <a:endParaRPr lang="en-US" sz="1500" dirty="0"/>
          </a:p>
        </p:txBody>
      </p:sp>
      <p:sp>
        <p:nvSpPr>
          <p:cNvPr id="22" name="Text 20"/>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It prevents a premature plan that ignores the conditions maintaining the problem and excludes…</a:t>
            </a:r>
            <a:endParaRPr lang="en-US" sz="1330" dirty="0"/>
          </a:p>
        </p:txBody>
      </p:sp>
      <p:sp>
        <p:nvSpPr>
          <p:cNvPr id="23" name="Text 21"/>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6B4BA3"/>
                </a:solidFill>
                <a:latin typeface="Aptos" pitchFamily="34" charset="0"/>
                <a:ea typeface="Aptos" pitchFamily="34" charset="-122"/>
                <a:cs typeface="Aptos" pitchFamily="34" charset="-120"/>
              </a:rPr>
              <a:t>✓</a:t>
            </a:r>
            <a:endParaRPr lang="en-US" sz="1500" dirty="0"/>
          </a:p>
        </p:txBody>
      </p:sp>
      <p:sp>
        <p:nvSpPr>
          <p:cNvPr id="24" name="Text 22"/>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Assess the Transition and Systems Before Labeling Defiance</a:t>
            </a:r>
            <a:endParaRPr lang="en-US" sz="1330" dirty="0"/>
          </a:p>
        </p:txBody>
      </p:sp>
      <p:sp>
        <p:nvSpPr>
          <p:cNvPr id="25" name="Text 23"/>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6B4BA3"/>
                </a:solidFill>
                <a:latin typeface="Aptos" pitchFamily="34" charset="0"/>
                <a:ea typeface="Aptos" pitchFamily="34" charset="-122"/>
                <a:cs typeface="Aptos" pitchFamily="34" charset="-120"/>
              </a:rPr>
              <a:t>STUDENT MOVE</a:t>
            </a:r>
            <a:endParaRPr lang="en-US" sz="940" dirty="0"/>
          </a:p>
        </p:txBody>
      </p:sp>
      <p:sp>
        <p:nvSpPr>
          <p:cNvPr id="26" name="Text 24"/>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It prevents a premature plan that ignores the conditions maintaining the problem and excludes the youth from defining what would help.</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6B4BA3"/>
          </a:solidFill>
          <a:ln w="12700">
            <a:solidFill>
              <a:srgbClr val="6B4BA3">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6B4BA3"/>
                </a:solidFill>
                <a:latin typeface="Aptos" pitchFamily="34" charset="0"/>
                <a:ea typeface="Aptos" pitchFamily="34" charset="-122"/>
                <a:cs typeface="Aptos" pitchFamily="34" charset="-120"/>
              </a:rPr>
              <a:t>LCSW WORKBOOK 03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WB03 • 08/8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6B4BA3"/>
                </a:solidFill>
                <a:latin typeface="Aptos Display" pitchFamily="34" charset="0"/>
                <a:ea typeface="Aptos Display" pitchFamily="34" charset="-122"/>
                <a:cs typeface="Aptos Display" pitchFamily="34" charset="-120"/>
              </a:rPr>
              <a:t>08</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Study Direction</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For each Workbook 3 question, complete the seven-line person-in-environment sequence.</a:t>
            </a:r>
            <a:endParaRPr lang="en-US" sz="2080" dirty="0"/>
          </a:p>
        </p:txBody>
      </p:sp>
      <p:sp>
        <p:nvSpPr>
          <p:cNvPr id="11" name="Shape 9"/>
          <p:cNvSpPr/>
          <p:nvPr/>
        </p:nvSpPr>
        <p:spPr>
          <a:xfrm>
            <a:off x="6537960" y="2624328"/>
            <a:ext cx="4160520" cy="0"/>
          </a:xfrm>
          <a:prstGeom prst="line">
            <a:avLst/>
          </a:prstGeom>
          <a:noFill/>
          <a:ln w="13970">
            <a:solidFill>
              <a:srgbClr val="6B4BA3">
                <a:alpha val="75000"/>
              </a:srgbClr>
            </a:solidFill>
            <a:prstDash val="solid"/>
            <a:tailEnd type="triangle"/>
          </a:ln>
        </p:spPr>
      </p:sp>
      <p:sp>
        <p:nvSpPr>
          <p:cNvPr id="12" name="Text 10"/>
          <p:cNvSpPr/>
          <p:nvPr/>
        </p:nvSpPr>
        <p:spPr>
          <a:xfrm>
            <a:off x="6400800"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Time</a:t>
            </a:r>
            <a:endParaRPr lang="en-US" sz="1140" dirty="0"/>
          </a:p>
        </p:txBody>
      </p:sp>
      <p:sp>
        <p:nvSpPr>
          <p:cNvPr id="13" name="Text 11"/>
          <p:cNvSpPr/>
          <p:nvPr/>
        </p:nvSpPr>
        <p:spPr>
          <a:xfrm>
            <a:off x="7320686"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Systems</a:t>
            </a:r>
            <a:endParaRPr lang="en-US" sz="1140" dirty="0"/>
          </a:p>
        </p:txBody>
      </p:sp>
      <p:sp>
        <p:nvSpPr>
          <p:cNvPr id="14" name="Text 12"/>
          <p:cNvSpPr/>
          <p:nvPr/>
        </p:nvSpPr>
        <p:spPr>
          <a:xfrm>
            <a:off x="8240573"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Change</a:t>
            </a:r>
            <a:endParaRPr lang="en-US" sz="1140" dirty="0"/>
          </a:p>
        </p:txBody>
      </p:sp>
      <p:sp>
        <p:nvSpPr>
          <p:cNvPr id="15" name="Text 13"/>
          <p:cNvSpPr/>
          <p:nvPr/>
        </p:nvSpPr>
        <p:spPr>
          <a:xfrm>
            <a:off x="9160459"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Meaning</a:t>
            </a:r>
            <a:endParaRPr lang="en-US" sz="1140" dirty="0"/>
          </a:p>
        </p:txBody>
      </p:sp>
      <p:sp>
        <p:nvSpPr>
          <p:cNvPr id="16" name="Text 14"/>
          <p:cNvSpPr/>
          <p:nvPr/>
        </p:nvSpPr>
        <p:spPr>
          <a:xfrm>
            <a:off x="10080346" y="2331720"/>
            <a:ext cx="755294" cy="594360"/>
          </a:xfrm>
          <a:prstGeom prst="rect">
            <a:avLst/>
          </a:prstGeom>
          <a:solidFill>
            <a:srgbClr val="6B4BA3"/>
          </a:solidFill>
          <a:ln w="10160">
            <a:solidFill>
              <a:srgbClr val="6B4BA3"/>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Strengths</a:t>
            </a:r>
            <a:endParaRPr lang="en-US" sz="1140" dirty="0"/>
          </a:p>
        </p:txBody>
      </p:sp>
      <p:sp>
        <p:nvSpPr>
          <p:cNvPr id="17" name="Text 15"/>
          <p:cNvSpPr/>
          <p:nvPr/>
        </p:nvSpPr>
        <p:spPr>
          <a:xfrm>
            <a:off x="7086600" y="3401568"/>
            <a:ext cx="3063240" cy="914400"/>
          </a:xfrm>
          <a:prstGeom prst="rect">
            <a:avLst/>
          </a:prstGeom>
          <a:solidFill>
            <a:srgbClr val="EEE9F7"/>
          </a:solidFill>
          <a:ln w="13970">
            <a:solidFill>
              <a:srgbClr val="6B4BA3">
                <a:alpha val="75000"/>
              </a:srgbClr>
            </a:solidFill>
          </a:ln>
        </p:spPr>
        <p:txBody>
          <a:bodyPr wrap="square" lIns="635" tIns="635" rIns="635" bIns="635" rtlCol="0" anchor="ctr">
            <a:normAutofit/>
          </a:bodyPr>
          <a:lstStyle/>
          <a:p>
            <a:pPr algn="ctr" indent="0" marL="0">
              <a:buNone/>
            </a:pPr>
            <a:r>
              <a:rPr lang="en-US" sz="2200" b="1" dirty="0">
                <a:solidFill>
                  <a:srgbClr val="6B4BA3"/>
                </a:solidFill>
                <a:latin typeface="Aptos Display" pitchFamily="34" charset="0"/>
                <a:ea typeface="Aptos Display" pitchFamily="34" charset="-122"/>
                <a:cs typeface="Aptos Display" pitchFamily="34" charset="-120"/>
              </a:rPr>
              <a:t>Time</a:t>
            </a:r>
            <a:endParaRPr lang="en-US" sz="2200" dirty="0"/>
          </a:p>
        </p:txBody>
      </p:sp>
      <p:sp>
        <p:nvSpPr>
          <p:cNvPr id="18" name="Text 16"/>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6B4BA3"/>
                </a:solidFill>
                <a:latin typeface="Aptos" pitchFamily="34" charset="0"/>
                <a:ea typeface="Aptos" pitchFamily="34" charset="-122"/>
                <a:cs typeface="Aptos" pitchFamily="34" charset="-120"/>
              </a:rPr>
              <a:t>✓</a:t>
            </a:r>
            <a:endParaRPr lang="en-US" sz="1500" dirty="0"/>
          </a:p>
        </p:txBody>
      </p:sp>
      <p:sp>
        <p:nvSpPr>
          <p:cNvPr id="19" name="Text 17"/>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Then ask which contextual factor actually changes the next action.</a:t>
            </a:r>
            <a:endParaRPr lang="en-US" sz="1330" dirty="0"/>
          </a:p>
        </p:txBody>
      </p:sp>
      <p:sp>
        <p:nvSpPr>
          <p:cNvPr id="20" name="Text 18"/>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6B4BA3"/>
                </a:solidFill>
                <a:latin typeface="Aptos" pitchFamily="34" charset="0"/>
                <a:ea typeface="Aptos" pitchFamily="34" charset="-122"/>
                <a:cs typeface="Aptos" pitchFamily="34" charset="-120"/>
              </a:rPr>
              <a:t>✓</a:t>
            </a:r>
            <a:endParaRPr lang="en-US" sz="1500" dirty="0"/>
          </a:p>
        </p:txBody>
      </p:sp>
      <p:sp>
        <p:nvSpPr>
          <p:cNvPr id="21" name="Text 19"/>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It is to identify the system, barrier, strength, or meaning that most affects safety,…</a:t>
            </a:r>
            <a:endParaRPr lang="en-US" sz="1330" dirty="0"/>
          </a:p>
        </p:txBody>
      </p:sp>
      <p:sp>
        <p:nvSpPr>
          <p:cNvPr id="22" name="Text 20"/>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6B4BA3"/>
                </a:solidFill>
                <a:latin typeface="Aptos" pitchFamily="34" charset="0"/>
                <a:ea typeface="Aptos" pitchFamily="34" charset="-122"/>
                <a:cs typeface="Aptos" pitchFamily="34" charset="-120"/>
              </a:rPr>
              <a:t>✓</a:t>
            </a:r>
            <a:endParaRPr lang="en-US" sz="1500" dirty="0"/>
          </a:p>
        </p:txBody>
      </p:sp>
      <p:sp>
        <p:nvSpPr>
          <p:cNvPr id="23" name="Text 21"/>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Time • Systems • Change • Meaning • Strengths • Choice • Action</a:t>
            </a:r>
            <a:endParaRPr lang="en-US" sz="1330" dirty="0"/>
          </a:p>
        </p:txBody>
      </p:sp>
      <p:sp>
        <p:nvSpPr>
          <p:cNvPr id="24" name="Text 22"/>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6B4BA3"/>
                </a:solidFill>
                <a:latin typeface="Aptos" pitchFamily="34" charset="0"/>
                <a:ea typeface="Aptos" pitchFamily="34" charset="-122"/>
                <a:cs typeface="Aptos" pitchFamily="34" charset="-120"/>
              </a:rPr>
              <a:t>STUDENT MOVE</a:t>
            </a:r>
            <a:endParaRPr lang="en-US" sz="940" dirty="0"/>
          </a:p>
        </p:txBody>
      </p:sp>
      <p:sp>
        <p:nvSpPr>
          <p:cNvPr id="25" name="Text 23"/>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It is to identify the system, barrier, strength, or meaning that most affects safety, functioning, participation, and the next social work…</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Clinical Training Academy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CTA LCSW Workbook 03 Companion: Workbook 3 Companion: Human Development, Diversity, and Person-in-Environment</dc:title>
  <dc:subject>LCSW Workbook 03 Companion</dc:subject>
  <dc:creator>Clinical Training Academy</dc:creator>
  <cp:lastModifiedBy>Clinical Training Academy</cp:lastModifiedBy>
  <cp:revision>1</cp:revision>
  <dcterms:created xsi:type="dcterms:W3CDTF">2026-07-25T22:41:47Z</dcterms:created>
  <dcterms:modified xsi:type="dcterms:W3CDTF">2026-07-25T22:41:47Z</dcterms:modified>
</cp:coreProperties>
</file>