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1 gives you the reasoning structure for the entire LCSW program. ASWB-style questions often include several actions that could eventually help. The challenge is to identify the action that fits the exact qualifier, the social worker role, the stage of practice, the client or client system, and the facts already provided. Strong answers are not automatically the most intensive, the most service-heavy, or the most protective sounding. They are the least assumptive, proportionate, client-centered actions that address the controlling priority. In this lesson, focus on three habits: define the task before solving the story, use a consistent decision sequence, and compare options for timing, role, self-determination, and person-in-environment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final question. FIRST asks for the earliest necessary step. NEXT asks what follows from work already completed. BEST or MOST appropriate asks which option fits the whole situation better than the alternatives. INITIAL usually points to the opening phase of engagement or assessment. Then name the practice function: ethics, safety, engagement, assessment, diagnosis, planning, intervention, referral, case management, advocacy, supervision, or evaluation. This prevents a common error: choosing a good intervention when the item is asking what must be assessed first. After defining the task, return to the vignette and mark only the facts that change the decision, including safety, capacity, client preference, environmental barriers, available resources, and what the social worker has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priority sequence when several answers seem reasonable. Address immediate medical instability or danger first. Respond to a clearly supported legal or ethical duty. Clarify role, consent, and the client or client system when those are uncertain. Engage and assess before choosing a diagnosis, referral, service plan, or intervention that depends on missing information. Integrate symptoms and functioning with housing, income, health care, family, school, work, discrimination, transportation, culture, and resources. Then collaborate on goals, implement the least intrusive effective response, and evaluate the outcome. The sequence is flexible rather than mechanical. It prevents premature action while allowing urgent action when the facts already establish an emergency, mandatory duty, or inability to remain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helps you test answer choices. V asks what professional value or ethical duty applies. A asks what assessment is needed before acting. L asks for the least assumptive, proportionate response. U asks how the client or client system can be understood and included. E asks which environmental and resource factors matter. S asks what safety, service, supervision, or system action comes next. When two options both sound clinically acceptable, run them through these prompts. The stronger answer usually preserves client participation, responds to the real level of urgency, addresses practical barriers, and stays within role. The weaker answer often assumes facts, overrides choice without a basis, refers before assessing, ignores the environment, or solves the problem without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first pass, read the final question and define the qualifier and practice function. On the second pass, mark decision facts: danger, medical concerns, capacity, consent, client goals, stage of service, systems, resources, barriers, and what has already occurred. On the third pass, compare options. Eliminate answers that are outside role, too intensive, too vague, paternalistic, system-blind, or correctly principled but mistimed. Do not reward an answer merely because it contains more services or stronger language. Ask what the option would require you to assume and whether the stem supports that assumption. This method slows impulsive answers without requiring you to reread every sentence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referring before assessing need, urgency, eligibility, access, and preference; confusing self-determination with passivity when risk still requires assessment; importing a jurisdiction-specific rule that the national item did not provide; ignoring housing, benefits, health, school, work, or discrimination; solving the problem without client participation; choosing the answer with the most services; and selecting a correct principle at the wrong stage. Another trap is adding facts. Do not assume incapacity, abuse, psychosis, consent, or resource availability unless the stem supports it. The best answer uses the information given, not the story you fear or hope may be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seeks help for depression, reports an eviction notice, and has missed medication appointments because transportation is unreliable. One option begins cognitive restructuring, another gives a long referral list, and another labels the client noncompliant. A stronger first response clarifies immediate safety, the timing of the housing loss, medication access, transportation, current functioning, and the client’s priorities. The social worker then coordinates a feasible plan with the client. Therapy may be appropriate, but the first answer should not ignore basic needs or assume that missed appointments reflect motivation. The vignette is testing whether you can integrate clinical assessment with person-in-environment barriers and sequence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1 question, write six short notes: the qualifier, the practice function, the controlling priority, the assumption made by each tempting distractor, how the client is included, and which environmental factor changes the plan. In your error log, classify each miss as content, sequence, role, self-determination, person-in-environment, or distractor recognition. Rewrite one best-answer rule in your own words. The goal is not to memorize the option. It is to recognize the reasoning pattern when the people and facts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0E7C86"/>
                </a:solidFill>
                <a:latin typeface="Aptos" pitchFamily="34" charset="0"/>
                <a:ea typeface="Aptos" pitchFamily="34" charset="-122"/>
                <a:cs typeface="Aptos" pitchFamily="34" charset="-120"/>
              </a:rPr>
              <a:t>Workbook 1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ASWB Exam Strategy and Applied Reasoning</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Workbook 1 gives you the reasoning structure for the entire LCSW program.</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0E7C8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0E7C86">
                <a:alpha val="75000"/>
              </a:srgbClr>
            </a:solidFill>
            <a:prstDash val="solid"/>
            <a:tailEnd type="triangle"/>
          </a:ln>
        </p:spPr>
      </p:sp>
      <p:sp>
        <p:nvSpPr>
          <p:cNvPr id="16" name="Text 14"/>
          <p:cNvSpPr/>
          <p:nvPr/>
        </p:nvSpPr>
        <p:spPr>
          <a:xfrm>
            <a:off x="658368"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Task</a:t>
            </a:r>
            <a:endParaRPr lang="en-US" sz="1140" dirty="0"/>
          </a:p>
        </p:txBody>
      </p:sp>
      <p:sp>
        <p:nvSpPr>
          <p:cNvPr id="17" name="Text 15"/>
          <p:cNvSpPr/>
          <p:nvPr/>
        </p:nvSpPr>
        <p:spPr>
          <a:xfrm>
            <a:off x="2116836"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Priority</a:t>
            </a:r>
            <a:endParaRPr lang="en-US" sz="1140" dirty="0"/>
          </a:p>
        </p:txBody>
      </p:sp>
      <p:sp>
        <p:nvSpPr>
          <p:cNvPr id="18" name="Text 16"/>
          <p:cNvSpPr/>
          <p:nvPr/>
        </p:nvSpPr>
        <p:spPr>
          <a:xfrm>
            <a:off x="3575304"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Fit</a:t>
            </a:r>
            <a:endParaRPr lang="en-US" sz="1140" dirty="0"/>
          </a:p>
        </p:txBody>
      </p:sp>
      <p:sp>
        <p:nvSpPr>
          <p:cNvPr id="19" name="Text 17"/>
          <p:cNvSpPr/>
          <p:nvPr/>
        </p:nvSpPr>
        <p:spPr>
          <a:xfrm>
            <a:off x="5033772" y="3822192"/>
            <a:ext cx="129387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Answer</a:t>
            </a:r>
            <a:endParaRPr lang="en-US" sz="1140" dirty="0"/>
          </a:p>
        </p:txBody>
      </p:sp>
      <p:sp>
        <p:nvSpPr>
          <p:cNvPr id="20" name="Text 18"/>
          <p:cNvSpPr/>
          <p:nvPr/>
        </p:nvSpPr>
        <p:spPr>
          <a:xfrm>
            <a:off x="7498080" y="3474720"/>
            <a:ext cx="1668780" cy="80010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Task</a:t>
            </a:r>
            <a:endParaRPr lang="en-US" sz="1500" dirty="0"/>
          </a:p>
        </p:txBody>
      </p:sp>
      <p:sp>
        <p:nvSpPr>
          <p:cNvPr id="21" name="Text 19"/>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Priority</a:t>
            </a:r>
            <a:endParaRPr lang="en-US" sz="1500" dirty="0"/>
          </a:p>
        </p:txBody>
      </p:sp>
      <p:sp>
        <p:nvSpPr>
          <p:cNvPr id="22" name="Text 20"/>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Fit</a:t>
            </a:r>
            <a:endParaRPr lang="en-US" sz="1500" dirty="0"/>
          </a:p>
        </p:txBody>
      </p:sp>
      <p:sp>
        <p:nvSpPr>
          <p:cNvPr id="23" name="Text 21"/>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Answer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Let the Qualifier Define the Task</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Start with the final question.</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FIRST</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NEXT</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BEST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MOST</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INITIAL appear beside…</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FIRST</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FIRST asks for the earliest necessary step.</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After defining the task, return to the vignette and mark only the facts that change the…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Read the Final Question First</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After defining the task, return to the vignette and mark only the facts that change the decision, including safety, capacity, client…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Social Work Decision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a priority sequence when several answers seem reasonable.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0E7C86"/>
            </a:solidFill>
          </a:ln>
        </p:spPr>
        <p:txBody>
          <a:bodyPr wrap="square" lIns="508" tIns="508" rIns="508" bIns="508" rtlCol="0" anchor="ctr">
            <a:normAutofit/>
          </a:bodyPr>
          <a:lstStyle/>
          <a:p>
            <a:pPr algn="ctr" indent="0" marL="0">
              <a:buNone/>
            </a:pPr>
            <a:r>
              <a:rPr lang="en-US" sz="1220" b="1" dirty="0">
                <a:solidFill>
                  <a:srgbClr val="0E7C86"/>
                </a:solidFill>
                <a:latin typeface="Aptos" pitchFamily="34" charset="0"/>
                <a:ea typeface="Aptos" pitchFamily="34" charset="-122"/>
                <a:cs typeface="Aptos" pitchFamily="34" charset="-120"/>
              </a:rPr>
              <a:t>Safety</a:t>
            </a:r>
            <a:endParaRPr lang="en-US" sz="1220" dirty="0"/>
          </a:p>
        </p:txBody>
      </p:sp>
      <p:sp>
        <p:nvSpPr>
          <p:cNvPr id="12" name="Text 10"/>
          <p:cNvSpPr/>
          <p:nvPr/>
        </p:nvSpPr>
        <p:spPr>
          <a:xfrm>
            <a:off x="6793992" y="2368296"/>
            <a:ext cx="3557016"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Duty</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Engage</a:t>
            </a:r>
            <a:endParaRPr lang="en-US" sz="1220" dirty="0"/>
          </a:p>
        </p:txBody>
      </p:sp>
      <p:sp>
        <p:nvSpPr>
          <p:cNvPr id="14" name="Text 12"/>
          <p:cNvSpPr/>
          <p:nvPr/>
        </p:nvSpPr>
        <p:spPr>
          <a:xfrm>
            <a:off x="7123176" y="3355848"/>
            <a:ext cx="2898648"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Assess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Plan</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Address immediate medical instability or danger first.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prevents premature action while allowing urgent action when the facts already establish an…</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 Duty → Engage → Assess → Plan → Act → Review</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prevents premature action while allowing urgent action when the facts already establish an emergency, mandatory duty, or inability to remain…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VALUES to Compare Plausible Options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VALUES helps you test answer choices.</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Values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Assessment</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Least Assumptive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Understand</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Environment</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Values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V asks what professional value or ethical duty applies.</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weaker answer often assumes facts, overrides choice without a basis, refers before…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Values • Assessment • Least Assumptive • Understand • Environment • Safety/System</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weaker answer often assumes facts, overrides choice without a basis, refers before assessing, ignores the environment, or solves the…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Three-Pass Vignette Method</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On the first pass, read the final question and define the qualifier and practice function.</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Pass 1: Task</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Pass 2: Facts</a:t>
            </a:r>
            <a:endParaRPr lang="en-US" sz="1140" dirty="0"/>
          </a:p>
        </p:txBody>
      </p:sp>
      <p:sp>
        <p:nvSpPr>
          <p:cNvPr id="14" name="Text 12"/>
          <p:cNvSpPr/>
          <p:nvPr/>
        </p:nvSpPr>
        <p:spPr>
          <a:xfrm>
            <a:off x="9467088" y="2331720"/>
            <a:ext cx="1368552"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Pass 3: Options</a:t>
            </a:r>
            <a:endParaRPr lang="en-US" sz="1140" dirty="0"/>
          </a:p>
        </p:txBody>
      </p:sp>
      <p:sp>
        <p:nvSpPr>
          <p:cNvPr id="15" name="Text 13"/>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Pass 1: Task</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On the second pass, mark decision facts: danger, medical concerns, capacity, consent, client…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method slows impulsive answers without requiring you to reread every sentence repeatedly.</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Pass 1: Task • Pass 2: Facts • Pass 3: Options</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This method slows impulsive answers without requiring you to reread every sentence repeatedly.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referring before assessing need, urgency, eligibility, access, and preference; confusing self-determination with passivity when…</a:t>
            </a:r>
            <a:endParaRPr lang="en-US" sz="2080" dirty="0"/>
          </a:p>
        </p:txBody>
      </p:sp>
      <p:sp>
        <p:nvSpPr>
          <p:cNvPr id="11" name="Text 9"/>
          <p:cNvSpPr/>
          <p:nvPr/>
        </p:nvSpPr>
        <p:spPr>
          <a:xfrm>
            <a:off x="6446520" y="2011680"/>
            <a:ext cx="2103120" cy="109728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Trap cards show premature…</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passive self-determination</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extra facts</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excessive services</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adding facts.</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answer uses the information given, not the story you fear or hope may be true.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Good Idea, Wrong Stage = Wrong Answer</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best answer uses the information given, not the story you fear or hope may be true.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Depression and Housing Loss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seeks help for depression, reports an eviction notice, and has missed medication appointments because transportation is unreliable.</a:t>
            </a:r>
            <a:endParaRPr lang="en-US" sz="2080" dirty="0"/>
          </a:p>
        </p:txBody>
      </p:sp>
      <p:sp>
        <p:nvSpPr>
          <p:cNvPr id="11" name="Shape 9"/>
          <p:cNvSpPr/>
          <p:nvPr/>
        </p:nvSpPr>
        <p:spPr>
          <a:xfrm>
            <a:off x="6537960" y="2148840"/>
            <a:ext cx="4160520" cy="2743200"/>
          </a:xfrm>
          <a:prstGeom prst="rect">
            <a:avLst>
              <a:gd name="adj" fmla="val 3333"/>
            </a:avLst>
          </a:prstGeom>
          <a:solidFill>
            <a:srgbClr val="E5F3F4"/>
          </a:solidFill>
          <a:ln w="15240">
            <a:solidFill>
              <a:srgbClr val="0E7C8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0E7C8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0E7C8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One option begins cognitive restructuring, another gives a long referral list, and another…</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vignette is testing whether you can integrate clinical assessment with…</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Urgency and Access Before Routine Technique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vignette is testing whether you can integrate clinical assessment with person-in-environment barriers and sequence the response.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1 question, write six short notes: the qualifier, the practice function, the controlling priority, the assumption made by each…</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Task</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Priority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Assumption</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Client</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Environment</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Task</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classify each miss as content, sequence, role, self-determination,…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recognize the reasoning pattern when the people and facts change.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Task • Priority • Assumption • Client • Environment • Next Step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is to recognize the reasoning pattern when the people and facts change.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01 Companion: Workbook 1 Companion: ASWB Exam Strategy and Applied Reasoning</dc:title>
  <dc:subject>LCSW Workbook 01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