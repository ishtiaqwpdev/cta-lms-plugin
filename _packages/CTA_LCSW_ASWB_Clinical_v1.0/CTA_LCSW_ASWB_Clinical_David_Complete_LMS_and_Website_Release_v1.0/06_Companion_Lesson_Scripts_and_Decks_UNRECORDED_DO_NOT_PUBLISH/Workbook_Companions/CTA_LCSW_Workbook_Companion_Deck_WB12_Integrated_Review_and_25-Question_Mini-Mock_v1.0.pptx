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workbook asks you to shift between values and ethics, assessment and planning, and intervention and practice without being told which domain is being tested. A vignette may include risk, consent, housing, diagnosis, family participation, referral, advocacy, supervision, and evaluation at the same time. Your task is to identify the client or client system, the qualifier, the controlling priority, the social worker role, and the current stage of practice. The mini-mock is a learning tool. It is designed to reveal content gaps, sequencing errors, distractor patterns, pacing problems, and confidence habits before a full-length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means clarify the client, role, referral or mandate, and exact question. L means locate urgency: immediate safety, medical concerns, abuse, severe impairment, or a time-sensitive duty. I means identify the client’s context, goals, strengths, capacity, consent, environmental barriers, and available resources. N means name the practice stage: engagement, assessment, diagnosis, planning, intervention, referral, coordination, supervision, evaluation, or administration. I means intervene proportionately with the least assumptive response supported by the facts. C means check continuation through outcomes, documentation, supervision, follow-up, transfer, or revision. CLINIC keeps mixed questions organized without adding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immediate safety, medical emergency, abuse, severe impairment, or a time-sensitive legal duty. Next consider capacity, consent, confidentiality, role, jurisdiction, and professional competence. Then engage and conduct focused assessment of the presenting concern, context, strengths, risk, and client goals. Formulate collaboratively, diagnose when supported, prioritize needs, write measurable goals, and select level of care. Implement proportionate intervention, referral, coordination, advocacy, or systems action. Finally, evaluate outcomes, revise the plan, use supervision, document, and preserve continuity. The ladder helps distinguish a good later action from the correct next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gathers and organizes information. Diagnosis is a supported working explanation. Planning converts the formulation into goals, actions, resources, measures, and responsibility. Intervention changes a clinical, behavioral, relational, environmental, or systems target. Referral connects to another service; case management makes that connection accessible and accountable. Advocacy addresses a barrier or power imbalance. Supervision supports competence and risk management without transferring responsibility. Evaluation determines whether practice or a program is working. Naming the stage prevents you from selecting an intervention when the item is still asking what to assess or from choosing consultation when direct action is already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the mini-mock under the recommended timed conditions without notes. Record confidence after each answer. If a question is taking too long, choose the best supported option, flag it, and move on. During review, change an answer only when you can identify a specific fact, principle, role boundary, or sequence that makes the original choice weaker. Do not change an answer merely because another option sounds more sophisticated on second reading. Confidence is data, not a grade. A correct low-confidence answer may reveal fragile knowledge; an incorrect high-confidence answer may reveal a strong misconception that deserves priority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adding abuse, incapacity, psychosis, consent, or resources that are not stated; choosing the most restrictive response; selecting intervention before assessment; diagnosing before medical or substance factors are clarified; ignoring self-determination, culture, disability, or environmental barriers; giving a referral list without access planning; using supervision to avoid responsibility; choosing an answer with more services simply because it sounds comprehensive; and forgetting outcome review or continuity. Strong answers are specific enough to address the task but not broader than the evidence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reports passive death wishes, missed medication because transportation is unavailable, and an eviction deadline. The vignette includes ethics, risk, assessment, medical coordination, housing, and case management. Use CLINIC. Clarify the client and role. Locate the suicide and medical-access priorities. Ask direct risk questions and assess the medication interruption and housing urgency. Include the client’s goals and available supports. Then coordinate the least restrictive safe plan with reachable medical, transportation, housing, and crisis resources, assigned responsibility, and follow-up. A therapy technique alone, a generic referral list, or automatic hospitalization may each be wrong depending on the risk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the 25-question mini-mock without notes and record time and confidence. After scoring, classify every miss by content area, missing knowledge, practice stage, sequence, distractor pattern, and confidence. Review the rationale and return to the specific workbook section rather than rereading everything. Write one corrective rule and one cue that would help you recognize the pattern next time. Then complete a small set of targeted questions before moving to the comprehensive simulations. Readiness comes from accurate review, not from the score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B84C45"/>
                </a:solidFill>
                <a:latin typeface="Aptos" pitchFamily="34" charset="0"/>
                <a:ea typeface="Aptos" pitchFamily="34" charset="-122"/>
                <a:cs typeface="Aptos" pitchFamily="34" charset="-120"/>
              </a:rPr>
              <a:t>Workbook 12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Integrated Review and 25-Question Mini-Mock</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The final workbook asks you to shift between values and ethics, assessment and planning, and intervention and practice without being told which domain is being tested.</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B84C45"/>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B84C45">
                <a:alpha val="75000"/>
              </a:srgbClr>
            </a:solidFill>
            <a:prstDash val="solid"/>
            <a:tailEnd type="triangle"/>
          </a:ln>
        </p:spPr>
      </p:sp>
      <p:sp>
        <p:nvSpPr>
          <p:cNvPr id="16" name="Text 14"/>
          <p:cNvSpPr/>
          <p:nvPr/>
        </p:nvSpPr>
        <p:spPr>
          <a:xfrm>
            <a:off x="658368"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a:t>
            </a:r>
            <a:endParaRPr lang="en-US" sz="1140" dirty="0"/>
          </a:p>
        </p:txBody>
      </p:sp>
      <p:sp>
        <p:nvSpPr>
          <p:cNvPr id="17" name="Text 15"/>
          <p:cNvSpPr/>
          <p:nvPr/>
        </p:nvSpPr>
        <p:spPr>
          <a:xfrm>
            <a:off x="2602992"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8" name="Text 16"/>
          <p:cNvSpPr/>
          <p:nvPr/>
        </p:nvSpPr>
        <p:spPr>
          <a:xfrm>
            <a:off x="4547616" y="3822192"/>
            <a:ext cx="1780032"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Choose</a:t>
            </a:r>
            <a:endParaRPr lang="en-US" sz="1140" dirty="0"/>
          </a:p>
        </p:txBody>
      </p:sp>
      <p:sp>
        <p:nvSpPr>
          <p:cNvPr id="19" name="Text 17"/>
          <p:cNvSpPr/>
          <p:nvPr/>
        </p:nvSpPr>
        <p:spPr>
          <a:xfrm>
            <a:off x="7498080" y="3474720"/>
            <a:ext cx="1668780" cy="800100"/>
          </a:xfrm>
          <a:prstGeom prst="rect">
            <a:avLst/>
          </a:prstGeom>
          <a:solidFill>
            <a:srgbClr val="F7E7E5"/>
          </a:solidFill>
          <a:ln w="11430">
            <a:solidFill>
              <a:srgbClr val="B84C45"/>
            </a:solidFill>
          </a:ln>
        </p:spPr>
        <p:txBody>
          <a:bodyPr wrap="square" lIns="1016" tIns="1016" rIns="1016" bIns="1016" rtlCol="0" anchor="ctr">
            <a:normAutofit/>
          </a:bodyPr>
          <a:lstStyle/>
          <a:p>
            <a:pPr algn="ctr" indent="0" marL="0">
              <a:buNone/>
            </a:pPr>
            <a:r>
              <a:rPr lang="en-US" sz="1500" b="1" dirty="0">
                <a:solidFill>
                  <a:srgbClr val="B84C45"/>
                </a:solidFill>
                <a:latin typeface="Aptos Display" pitchFamily="34" charset="0"/>
                <a:ea typeface="Aptos Display" pitchFamily="34" charset="-122"/>
                <a:cs typeface="Aptos Display" pitchFamily="34" charset="-120"/>
              </a:rPr>
              <a:t>Clarify</a:t>
            </a:r>
            <a:endParaRPr lang="en-US" sz="1500" dirty="0"/>
          </a:p>
        </p:txBody>
      </p:sp>
      <p:sp>
        <p:nvSpPr>
          <p:cNvPr id="20" name="Text 18"/>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Assess</a:t>
            </a:r>
            <a:endParaRPr lang="en-US" sz="1500" dirty="0"/>
          </a:p>
        </p:txBody>
      </p:sp>
      <p:sp>
        <p:nvSpPr>
          <p:cNvPr id="21" name="Text 19"/>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Choose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CLINIC</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 means clarify the client, role, referral or mandate, and exact question.</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B84C45"/>
            </a:solidFill>
          </a:ln>
        </p:spPr>
        <p:txBody>
          <a:bodyPr wrap="square" lIns="508" tIns="508" rIns="508" bIns="508" rtlCol="0" anchor="ctr">
            <a:normAutofit/>
          </a:bodyPr>
          <a:lstStyle/>
          <a:p>
            <a:pPr algn="ctr" indent="0" marL="0">
              <a:buNone/>
            </a:pPr>
            <a:r>
              <a:rPr lang="en-US" sz="1220" b="1" dirty="0">
                <a:solidFill>
                  <a:srgbClr val="B84C45"/>
                </a:solidFill>
                <a:latin typeface="Aptos" pitchFamily="34" charset="0"/>
                <a:ea typeface="Aptos" pitchFamily="34" charset="-122"/>
                <a:cs typeface="Aptos" pitchFamily="34" charset="-120"/>
              </a:rPr>
              <a:t>Clarify</a:t>
            </a:r>
            <a:endParaRPr lang="en-US" sz="1220" dirty="0"/>
          </a:p>
        </p:txBody>
      </p:sp>
      <p:sp>
        <p:nvSpPr>
          <p:cNvPr id="12" name="Text 10"/>
          <p:cNvSpPr/>
          <p:nvPr/>
        </p:nvSpPr>
        <p:spPr>
          <a:xfrm>
            <a:off x="6793992" y="2368296"/>
            <a:ext cx="3557016"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Locate</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Identify</a:t>
            </a:r>
            <a:endParaRPr lang="en-US" sz="1220" dirty="0"/>
          </a:p>
        </p:txBody>
      </p:sp>
      <p:sp>
        <p:nvSpPr>
          <p:cNvPr id="14" name="Text 12"/>
          <p:cNvSpPr/>
          <p:nvPr/>
        </p:nvSpPr>
        <p:spPr>
          <a:xfrm>
            <a:off x="7123176" y="3355848"/>
            <a:ext cx="2898648"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Name</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Intervene</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 means locate urgency: immediate safety, medical concerns, abuse, severe impairment, or a…</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CLINIC keeps mixed questions organized without adding facts.</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Clarify • Locate • Identify • Name • Intervene • Check</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CLINIC keeps mixed questions organized without adding facts.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Priority Ladder</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Start with immediate safety, medical emergency, abuse, severe impairment, or a time-sensitive legal duty.</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Urgency</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Authority/Capacity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Plan</a:t>
            </a:r>
            <a:endParaRPr lang="en-US" sz="1140" dirty="0"/>
          </a:p>
        </p:txBody>
      </p:sp>
      <p:sp>
        <p:nvSpPr>
          <p:cNvPr id="16" name="Text 14"/>
          <p:cNvSpPr/>
          <p:nvPr/>
        </p:nvSpPr>
        <p:spPr>
          <a:xfrm>
            <a:off x="10080346" y="2331720"/>
            <a:ext cx="755294"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a:t>
            </a:r>
            <a:endParaRPr lang="en-US" sz="1140" dirty="0"/>
          </a:p>
        </p:txBody>
      </p:sp>
      <p:sp>
        <p:nvSpPr>
          <p:cNvPr id="17" name="Text 15"/>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Urgency</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Next consider capacity, consent, confidentiality, role, jurisdiction, and professional…</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ladder helps distinguish a good later action from the correct next action.</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Urgency → Authority/Capacity → Assess → Plan → Act → Review</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ladder helps distinguish a good later action from the correct next action.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Distinguish Practice Stages and Content Areas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Assessment gathers and organizes information.</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Assessment</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planning</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intervention</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referral</a:t>
            </a:r>
            <a:endParaRPr lang="en-US" sz="1140" dirty="0"/>
          </a:p>
        </p:txBody>
      </p:sp>
      <p:sp>
        <p:nvSpPr>
          <p:cNvPr id="16" name="Text 14"/>
          <p:cNvSpPr/>
          <p:nvPr/>
        </p:nvSpPr>
        <p:spPr>
          <a:xfrm>
            <a:off x="10080346" y="2331720"/>
            <a:ext cx="755294"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coordination</a:t>
            </a:r>
            <a:endParaRPr lang="en-US" sz="1140" dirty="0"/>
          </a:p>
        </p:txBody>
      </p:sp>
      <p:sp>
        <p:nvSpPr>
          <p:cNvPr id="17" name="Text 15"/>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Assessment</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Diagnosis is a supported working explanation.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Naming the stage prevents you from selecting an intervention when the item is still asking…</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Name the Stage Before Comparing Options</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Naming the stage prevents you from selecting an intervention when the item is still asking what to assess or from choosing consultation when…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Manage Time, Confidence, and Answer Changes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Complete the mini-mock under the recommended timed conditions without notes.</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timer</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confidence scale</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flag</a:t>
            </a:r>
            <a:endParaRPr lang="en-US" sz="1140" dirty="0"/>
          </a:p>
        </p:txBody>
      </p:sp>
      <p:sp>
        <p:nvSpPr>
          <p:cNvPr id="15" name="Text 13"/>
          <p:cNvSpPr/>
          <p:nvPr/>
        </p:nvSpPr>
        <p:spPr>
          <a:xfrm>
            <a:off x="9850374" y="2331720"/>
            <a:ext cx="985266"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review decision rule…</a:t>
            </a:r>
            <a:endParaRPr lang="en-US" sz="1140" dirty="0"/>
          </a:p>
        </p:txBody>
      </p:sp>
      <p:sp>
        <p:nvSpPr>
          <p:cNvPr id="16" name="Text 14"/>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A timer</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Record confidence after each answer.</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correct low-confidence answer may reveal fragile knowledge; an incorrect high-confidence…</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Change an Answer Only for a Specific Reason</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 correct low-confidence answer may reveal fragile knowledge; an incorrect high-confidence answer may reveal a strong misconception that…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Integrated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adding abuse, incapacity, psychosis, consent, or resources that are not stated; choosing the most restrictive response;…</a:t>
            </a:r>
            <a:endParaRPr lang="en-US" sz="2080" dirty="0"/>
          </a:p>
        </p:txBody>
      </p:sp>
      <p:sp>
        <p:nvSpPr>
          <p:cNvPr id="11" name="Text 9"/>
          <p:cNvSpPr/>
          <p:nvPr/>
        </p:nvSpPr>
        <p:spPr>
          <a:xfrm>
            <a:off x="6446520" y="2011680"/>
            <a:ext cx="2103120" cy="1097280"/>
          </a:xfrm>
          <a:prstGeom prst="rect">
            <a:avLst/>
          </a:prstGeom>
          <a:solidFill>
            <a:srgbClr val="F7E7E5"/>
          </a:solidFill>
          <a:ln w="11430">
            <a:solidFill>
              <a:srgbClr val="B84C45"/>
            </a:solidFill>
          </a:ln>
        </p:spPr>
        <p:txBody>
          <a:bodyPr wrap="square" lIns="1016" tIns="1016" rIns="1016" bIns="1016" rtlCol="0" anchor="ctr">
            <a:normAutofit/>
          </a:bodyPr>
          <a:lstStyle/>
          <a:p>
            <a:pPr algn="ctr" indent="0" marL="0">
              <a:buNone/>
            </a:pPr>
            <a:r>
              <a:rPr lang="en-US" sz="1500" b="1" dirty="0">
                <a:solidFill>
                  <a:srgbClr val="B84C45"/>
                </a:solidFill>
                <a:latin typeface="Aptos Display" pitchFamily="34" charset="0"/>
                <a:ea typeface="Aptos Display" pitchFamily="34" charset="-122"/>
                <a:cs typeface="Aptos Display" pitchFamily="34" charset="-120"/>
              </a:rPr>
              <a:t>Trap cards show extra facts</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wrong stage</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paternalism</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system blindness</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are specific enough to address the task but not broader than the evidence…</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are specific enough to address the task but not broader than the evidence…</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the Facts Given and the Stage Asked</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answers are specific enough to address the task but not broader than the evidence supports.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Mixed Ethics, Risk, and Access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reports passive death wishes, missed medication because transportation is unavailable, and an eviction deadline.</a:t>
            </a:r>
            <a:endParaRPr lang="en-US" sz="2080" dirty="0"/>
          </a:p>
        </p:txBody>
      </p:sp>
      <p:sp>
        <p:nvSpPr>
          <p:cNvPr id="11" name="Shape 9"/>
          <p:cNvSpPr/>
          <p:nvPr/>
        </p:nvSpPr>
        <p:spPr>
          <a:xfrm>
            <a:off x="6537960" y="2148840"/>
            <a:ext cx="4160520" cy="2743200"/>
          </a:xfrm>
          <a:prstGeom prst="rect">
            <a:avLst>
              <a:gd name="adj" fmla="val 3333"/>
            </a:avLst>
          </a:prstGeom>
          <a:solidFill>
            <a:srgbClr val="F7E7E5"/>
          </a:solidFill>
          <a:ln w="15240">
            <a:solidFill>
              <a:srgbClr val="B84C45">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B84C45"/>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B84C45">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vignette includes ethics, risk, assessment, medical coordination, housing, and case…</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therapy technique alone, a generic referral list, or automatic hospitalization may each be…</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Locate Urgency, Assess Directly, Then Coordinate the Accessible Plan</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 therapy technique alone, a generic referral list, or automatic hospitalization may each be wrong depending on the risk findings.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 and Mini-Mock Review</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Complete the 25-question mini-mock without notes and record time and confidence.</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B84C45"/>
            </a:solidFill>
          </a:ln>
        </p:spPr>
        <p:txBody>
          <a:bodyPr wrap="square" lIns="508" tIns="508" rIns="508" bIns="508" rtlCol="0" anchor="ctr">
            <a:normAutofit/>
          </a:bodyPr>
          <a:lstStyle/>
          <a:p>
            <a:pPr algn="ctr" indent="0" marL="0">
              <a:buNone/>
            </a:pPr>
            <a:r>
              <a:rPr lang="en-US" sz="1220" b="1" dirty="0">
                <a:solidFill>
                  <a:srgbClr val="B84C45"/>
                </a:solidFill>
                <a:latin typeface="Aptos" pitchFamily="34" charset="0"/>
                <a:ea typeface="Aptos" pitchFamily="34" charset="-122"/>
                <a:cs typeface="Aptos" pitchFamily="34" charset="-120"/>
              </a:rPr>
              <a:t>Attempt</a:t>
            </a:r>
            <a:endParaRPr lang="en-US" sz="1220" dirty="0"/>
          </a:p>
        </p:txBody>
      </p:sp>
      <p:sp>
        <p:nvSpPr>
          <p:cNvPr id="12" name="Text 10"/>
          <p:cNvSpPr/>
          <p:nvPr/>
        </p:nvSpPr>
        <p:spPr>
          <a:xfrm>
            <a:off x="6793992" y="2368296"/>
            <a:ext cx="3557016"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Score</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Classify</a:t>
            </a:r>
            <a:endParaRPr lang="en-US" sz="1220" dirty="0"/>
          </a:p>
        </p:txBody>
      </p:sp>
      <p:sp>
        <p:nvSpPr>
          <p:cNvPr id="14" name="Text 12"/>
          <p:cNvSpPr/>
          <p:nvPr/>
        </p:nvSpPr>
        <p:spPr>
          <a:xfrm>
            <a:off x="7123176" y="3355848"/>
            <a:ext cx="2898648"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Remediate</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Retest</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After scoring, classify every miss by content area, missing knowledge, practice stage,…</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Readiness comes from accurate review, not from the score alone.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Attempt → Score → Classify → Remediate → Retest</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Readiness comes from accurate review, not from the score alone.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12 Companion: Workbook 12 Companion: Integrated Review and 25-Question Mini-Mock</dc:title>
  <dc:subject>LCSW Workbook 12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