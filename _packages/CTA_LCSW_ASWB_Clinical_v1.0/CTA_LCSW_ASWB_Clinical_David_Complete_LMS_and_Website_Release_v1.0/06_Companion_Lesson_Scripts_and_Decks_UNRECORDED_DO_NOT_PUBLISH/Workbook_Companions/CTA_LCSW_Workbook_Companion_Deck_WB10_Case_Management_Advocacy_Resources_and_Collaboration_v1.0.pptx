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ASWB-style questions may offer several helpful agencies or professionals. The strongest answer is usually the next coordinated step that matches urgency, client choice, access, authority, and role. Case management links assessment, planning, counseling, resource mobilization, advocacy, monitoring, and continuity. It is clinical when housing, health, caregiving, poverty, discrimination, or organizational barriers maintain distress or prevent treatment. Providing a phone number does not establish eligibility, accessibility, entry, or benefit. The social worker must clarify who is responsible for the next step and how the client will be supported if the service does not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means begin with the priority: safety, medical, housing, food, legal, caregiving, or functional urgency. R means respect participation by clarifying what the client wants, understands, consents to, and prefers. I means identify systems and barriers, including people, agencies, benefits, policies, eligibility, and access. D means define roles and disclosure: who has authority, who is responsible, and what information may be shared. G means generate an accessible handoff that addresses contact, language, disability, cost, transportation, scheduling, and wait time. E means evaluate continuity: did access occur, did the service help, and what must be revised?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Prioritize immediate safety and medical needs, basic survival, time-sensitive benefits or rights, and conditions that block all other care. Then map natural supports, family or caregivers, health and behavioral-health providers, schools, employers, benefit systems, housing, legal resources, community organizations, and informal supports. Look for duplication, conflicting plans, inaccessible requirements, missing services, and unclear responsibility. The map should remain understandable to the client. A common systems failure occurs when every professional assumes someone else will act. Strong answers assign the next step and a review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resource is useful only when it matches the need and the client can realistically use it. Check eligibility, required documents, language, disability access, culture, cost, transportation, technology, hours, waitlists, childcare, location, safety, and preference. A warm handoff may include obtaining authorization, contacting the receiving service with the client, sharing limited relevant information, scheduling the first step, preparing the client for what to expect, and confirming whether entry occurred. The intensity of support should match urgency, capacity, and choice. Missed appointments or incomplete applications are data about barriers, not automatic proof of low motivation.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Advocacy begins by clarifying the client’s goal, the barrier, power and risk, desired participation, and the least intrusive effective level of action. The response may involve coaching, accommodation, appeal, internal problem solving, policy challenge, coalition work, or community action. Collaboration requires explicit roles, authority, consent, minimum necessary information, deadlines, and ownership. Documentation should show the client’s goals, authorization, barrier, action, responsible party, due date, outcome, and revision. Advocacy should not replace the client’s voice or expose the client to unnecessary retaliation without assessing risk and preference.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traps include giving a resource list without verifying fit; contacting providers without consent or another valid basis; sharing more information than necessary; ignoring language, disability, cost, transportation, childcare, technology, or documentation barriers; labeling incomplete follow-through as noncompliance; choosing public confrontation before clarifying facts and proportionate channels; and assuming another professional will follow up. Strong answers preserve informed participation, define responsibility, use the correct level of advocacy, and evaluate whether access and outcomes occurred.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client with diabetes and depression is discharged to temporary housing without transportation or medication access. The strongest response is not simply a therapy appointment or a housing list. Begin with medical and housing safety. Clarify the client’s priorities and consent. Identify the hospital team, pharmacy, transportation, housing provider, benefits, and natural supports. Define who will arrange medication, transportation, and follow-up. Complete accessible handoffs and confirm that the client can reach and use the services. Schedule reassessment. The social worker remains accountable for coordination within role rather than assuming that referral ends responsibility.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Workbook 10 vignette, complete BRIDGE and write the name of the person or system that owns the next step. In your error log, mark referral-without-fit, access-as-motivation, missing authorization, overdisclosure, advocacy-level mismatch, unclear responsibility, or absent follow-up. Strong case management makes the path into service visible and checks whether the path actually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D7A4D"/>
          </a:solidFill>
          <a:ln w="12700">
            <a:solidFill>
              <a:srgbClr val="3D7A4D">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D7A4D"/>
                </a:solidFill>
                <a:latin typeface="Aptos" pitchFamily="34" charset="0"/>
                <a:ea typeface="Aptos" pitchFamily="34" charset="-122"/>
                <a:cs typeface="Aptos" pitchFamily="34" charset="-120"/>
              </a:rPr>
              <a:t>LCSW WORKBOOK 10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WB10 • 01/8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D7A4D"/>
                </a:solidFill>
                <a:latin typeface="Aptos Display" pitchFamily="34" charset="0"/>
                <a:ea typeface="Aptos Display" pitchFamily="34" charset="-122"/>
                <a:cs typeface="Aptos Display" pitchFamily="34" charset="-120"/>
              </a:rPr>
              <a:t>01</a:t>
            </a:r>
            <a:endParaRPr lang="en-US" sz="3200" dirty="0"/>
          </a:p>
        </p:txBody>
      </p:sp>
      <p:sp>
        <p:nvSpPr>
          <p:cNvPr id="9" name="Text 7"/>
          <p:cNvSpPr/>
          <p:nvPr/>
        </p:nvSpPr>
        <p:spPr>
          <a:xfrm>
            <a:off x="566928" y="914400"/>
            <a:ext cx="3840480" cy="310896"/>
          </a:xfrm>
          <a:prstGeom prst="rect">
            <a:avLst/>
          </a:prstGeom>
          <a:noFill/>
          <a:ln/>
        </p:spPr>
        <p:txBody>
          <a:bodyPr wrap="square" lIns="0" tIns="0" rIns="0" bIns="0" rtlCol="0" anchor="ctr"/>
          <a:lstStyle/>
          <a:p>
            <a:pPr indent="0" marL="0">
              <a:buNone/>
            </a:pPr>
            <a:r>
              <a:rPr lang="en-US" sz="1420" b="1" dirty="0">
                <a:solidFill>
                  <a:srgbClr val="3D7A4D"/>
                </a:solidFill>
                <a:latin typeface="Aptos" pitchFamily="34" charset="0"/>
                <a:ea typeface="Aptos" pitchFamily="34" charset="-122"/>
                <a:cs typeface="Aptos" pitchFamily="34" charset="-120"/>
              </a:rPr>
              <a:t>Workbook 10 Companion</a:t>
            </a:r>
            <a:endParaRPr lang="en-US" sz="1420" dirty="0"/>
          </a:p>
        </p:txBody>
      </p:sp>
      <p:sp>
        <p:nvSpPr>
          <p:cNvPr id="10" name="Text 8"/>
          <p:cNvSpPr/>
          <p:nvPr/>
        </p:nvSpPr>
        <p:spPr>
          <a:xfrm>
            <a:off x="566928" y="1298448"/>
            <a:ext cx="6583680" cy="1024128"/>
          </a:xfrm>
          <a:prstGeom prst="rect">
            <a:avLst/>
          </a:prstGeom>
          <a:noFill/>
          <a:ln/>
        </p:spPr>
        <p:txBody>
          <a:bodyPr wrap="square" lIns="127" tIns="127" rIns="127" bIns="127" rtlCol="0" anchor="ctr">
            <a:normAutofit/>
          </a:bodyPr>
          <a:lstStyle/>
          <a:p>
            <a:pPr indent="0" marL="0">
              <a:buNone/>
            </a:pPr>
            <a:r>
              <a:rPr lang="en-US" sz="3100" b="1" dirty="0">
                <a:solidFill>
                  <a:srgbClr val="10263F"/>
                </a:solidFill>
                <a:latin typeface="Aptos Display" pitchFamily="34" charset="0"/>
                <a:ea typeface="Aptos Display" pitchFamily="34" charset="-122"/>
                <a:cs typeface="Aptos Display" pitchFamily="34" charset="-120"/>
              </a:rPr>
              <a:t>Case Management, Advocacy, Resources, and Collaboration</a:t>
            </a:r>
            <a:endParaRPr lang="en-US" sz="3100" dirty="0"/>
          </a:p>
        </p:txBody>
      </p:sp>
      <p:sp>
        <p:nvSpPr>
          <p:cNvPr id="11" name="Text 9"/>
          <p:cNvSpPr/>
          <p:nvPr/>
        </p:nvSpPr>
        <p:spPr>
          <a:xfrm>
            <a:off x="585216" y="2432304"/>
            <a:ext cx="5852160" cy="310896"/>
          </a:xfrm>
          <a:prstGeom prst="rect">
            <a:avLst/>
          </a:prstGeom>
          <a:noFill/>
          <a:ln/>
        </p:spPr>
        <p:txBody>
          <a:bodyPr wrap="square" lIns="0" tIns="0" rIns="0" bIns="0" rtlCol="0" anchor="ctr"/>
          <a:lstStyle/>
          <a:p>
            <a:pPr indent="0" marL="0">
              <a:buNone/>
            </a:pPr>
            <a:r>
              <a:rPr lang="en-US" sz="1320" dirty="0">
                <a:solidFill>
                  <a:srgbClr val="5A6675"/>
                </a:solidFill>
                <a:latin typeface="Aptos" pitchFamily="34" charset="0"/>
                <a:ea typeface="Aptos" pitchFamily="34" charset="-122"/>
                <a:cs typeface="Aptos" pitchFamily="34" charset="-120"/>
              </a:rPr>
              <a:t>Ready-to-record CTA workbook companion deck</a:t>
            </a:r>
            <a:endParaRPr lang="en-US" sz="1320" dirty="0"/>
          </a:p>
        </p:txBody>
      </p:sp>
      <p:sp>
        <p:nvSpPr>
          <p:cNvPr id="12" name="Text 10"/>
          <p:cNvSpPr/>
          <p:nvPr/>
        </p:nvSpPr>
        <p:spPr>
          <a:xfrm>
            <a:off x="7571232" y="1810512"/>
            <a:ext cx="3429000" cy="1188720"/>
          </a:xfrm>
          <a:prstGeom prst="rect">
            <a:avLst/>
          </a:prstGeom>
          <a:noFill/>
          <a:ln/>
        </p:spPr>
        <p:txBody>
          <a:bodyPr wrap="square" lIns="254" tIns="254" rIns="254" bIns="254" rtlCol="0" anchor="ctr">
            <a:normAutofit/>
          </a:bodyPr>
          <a:lstStyle/>
          <a:p>
            <a:pPr indent="0" marL="0">
              <a:buNone/>
            </a:pPr>
            <a:r>
              <a:rPr lang="en-US" sz="1960" b="1" dirty="0">
                <a:solidFill>
                  <a:srgbClr val="1D2838"/>
                </a:solidFill>
                <a:latin typeface="Aptos Display" pitchFamily="34" charset="0"/>
                <a:ea typeface="Aptos Display" pitchFamily="34" charset="-122"/>
                <a:cs typeface="Aptos Display" pitchFamily="34" charset="-120"/>
              </a:rPr>
              <a:t>ASWB-style questions may offer several helpful agencies or professionals.</a:t>
            </a:r>
            <a:endParaRPr lang="en-US" sz="1960" dirty="0"/>
          </a:p>
        </p:txBody>
      </p:sp>
      <p:sp>
        <p:nvSpPr>
          <p:cNvPr id="13" name="Text 11"/>
          <p:cNvSpPr/>
          <p:nvPr/>
        </p:nvSpPr>
        <p:spPr>
          <a:xfrm>
            <a:off x="7552944" y="5468112"/>
            <a:ext cx="3520440" cy="384048"/>
          </a:xfrm>
          <a:prstGeom prst="rect">
            <a:avLst/>
          </a:prstGeom>
          <a:noFill/>
          <a:ln/>
        </p:spPr>
        <p:txBody>
          <a:bodyPr wrap="square" lIns="0" tIns="0" rIns="0" bIns="0" rtlCol="0" anchor="ctr">
            <a:normAutofit/>
          </a:bodyPr>
          <a:lstStyle/>
          <a:p>
            <a:pPr indent="0" marL="0">
              <a:buNone/>
            </a:pPr>
            <a:r>
              <a:rPr lang="en-US" sz="1220" dirty="0">
                <a:solidFill>
                  <a:srgbClr val="5A6675"/>
                </a:solidFill>
                <a:latin typeface="Aptos" pitchFamily="34" charset="0"/>
                <a:ea typeface="Aptos" pitchFamily="34" charset="-122"/>
                <a:cs typeface="Aptos" pitchFamily="34" charset="-120"/>
              </a:rPr>
              <a:t>Speaker notes are synchronized with the Word narration script.</a:t>
            </a:r>
            <a:endParaRPr lang="en-US" sz="1220" dirty="0"/>
          </a:p>
        </p:txBody>
      </p:sp>
      <p:sp>
        <p:nvSpPr>
          <p:cNvPr id="14" name="Text 12"/>
          <p:cNvSpPr/>
          <p:nvPr/>
        </p:nvSpPr>
        <p:spPr>
          <a:xfrm>
            <a:off x="585216" y="5340096"/>
            <a:ext cx="3429000" cy="301752"/>
          </a:xfrm>
          <a:prstGeom prst="rect">
            <a:avLst/>
          </a:prstGeom>
          <a:solidFill>
            <a:srgbClr val="3D7A4D"/>
          </a:solidFill>
          <a:ln/>
        </p:spPr>
        <p:txBody>
          <a:bodyPr wrap="square" lIns="254" tIns="254" rIns="254" bIns="254" rtlCol="0" anchor="ctr"/>
          <a:lstStyle/>
          <a:p>
            <a:pPr algn="ctr" indent="0" marL="0">
              <a:buNone/>
            </a:pPr>
            <a:r>
              <a:rPr lang="en-US" sz="1030" b="1" dirty="0">
                <a:solidFill>
                  <a:srgbClr val="FFFFFF"/>
                </a:solidFill>
                <a:latin typeface="Aptos" pitchFamily="34" charset="0"/>
                <a:ea typeface="Aptos" pitchFamily="34" charset="-122"/>
                <a:cs typeface="Aptos" pitchFamily="34" charset="-120"/>
              </a:rPr>
              <a:t>8–10 MINUTE COMPANION LESSON</a:t>
            </a:r>
            <a:endParaRPr lang="en-US" sz="1030" dirty="0"/>
          </a:p>
        </p:txBody>
      </p:sp>
      <p:sp>
        <p:nvSpPr>
          <p:cNvPr id="15" name="Shape 13"/>
          <p:cNvSpPr/>
          <p:nvPr/>
        </p:nvSpPr>
        <p:spPr>
          <a:xfrm>
            <a:off x="795528" y="4114800"/>
            <a:ext cx="5394960" cy="0"/>
          </a:xfrm>
          <a:prstGeom prst="line">
            <a:avLst/>
          </a:prstGeom>
          <a:noFill/>
          <a:ln w="13970">
            <a:solidFill>
              <a:srgbClr val="3D7A4D">
                <a:alpha val="75000"/>
              </a:srgbClr>
            </a:solidFill>
            <a:prstDash val="solid"/>
            <a:tailEnd type="triangle"/>
          </a:ln>
        </p:spPr>
      </p:sp>
      <p:sp>
        <p:nvSpPr>
          <p:cNvPr id="16" name="Text 14"/>
          <p:cNvSpPr/>
          <p:nvPr/>
        </p:nvSpPr>
        <p:spPr>
          <a:xfrm>
            <a:off x="658368"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Need</a:t>
            </a:r>
            <a:endParaRPr lang="en-US" sz="1140" dirty="0"/>
          </a:p>
        </p:txBody>
      </p:sp>
      <p:sp>
        <p:nvSpPr>
          <p:cNvPr id="17" name="Text 15"/>
          <p:cNvSpPr/>
          <p:nvPr/>
        </p:nvSpPr>
        <p:spPr>
          <a:xfrm>
            <a:off x="1825142"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client goal</a:t>
            </a:r>
            <a:endParaRPr lang="en-US" sz="1140" dirty="0"/>
          </a:p>
        </p:txBody>
      </p:sp>
      <p:sp>
        <p:nvSpPr>
          <p:cNvPr id="18" name="Text 16"/>
          <p:cNvSpPr/>
          <p:nvPr/>
        </p:nvSpPr>
        <p:spPr>
          <a:xfrm>
            <a:off x="2991917"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system map</a:t>
            </a:r>
            <a:endParaRPr lang="en-US" sz="1140" dirty="0"/>
          </a:p>
        </p:txBody>
      </p:sp>
      <p:sp>
        <p:nvSpPr>
          <p:cNvPr id="19" name="Text 17"/>
          <p:cNvSpPr/>
          <p:nvPr/>
        </p:nvSpPr>
        <p:spPr>
          <a:xfrm>
            <a:off x="4158691"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access</a:t>
            </a:r>
            <a:endParaRPr lang="en-US" sz="1140" dirty="0"/>
          </a:p>
        </p:txBody>
      </p:sp>
      <p:sp>
        <p:nvSpPr>
          <p:cNvPr id="20" name="Text 18"/>
          <p:cNvSpPr/>
          <p:nvPr/>
        </p:nvSpPr>
        <p:spPr>
          <a:xfrm>
            <a:off x="5325466" y="3822192"/>
            <a:ext cx="1002182" cy="594360"/>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handoff</a:t>
            </a:r>
            <a:endParaRPr lang="en-US" sz="1140" dirty="0"/>
          </a:p>
        </p:txBody>
      </p:sp>
      <p:sp>
        <p:nvSpPr>
          <p:cNvPr id="21" name="Text 19"/>
          <p:cNvSpPr/>
          <p:nvPr/>
        </p:nvSpPr>
        <p:spPr>
          <a:xfrm>
            <a:off x="7498080" y="3474720"/>
            <a:ext cx="1668780" cy="800100"/>
          </a:xfrm>
          <a:prstGeom prst="rect">
            <a:avLst/>
          </a:prstGeom>
          <a:solidFill>
            <a:srgbClr val="EAF3EC"/>
          </a:solidFill>
          <a:ln w="11430">
            <a:solidFill>
              <a:srgbClr val="3D7A4D"/>
            </a:solidFill>
          </a:ln>
        </p:spPr>
        <p:txBody>
          <a:bodyPr wrap="square" lIns="1016" tIns="1016" rIns="1016" bIns="1016" rtlCol="0" anchor="ctr">
            <a:normAutofit/>
          </a:bodyPr>
          <a:lstStyle/>
          <a:p>
            <a:pPr algn="ctr" indent="0" marL="0">
              <a:buNone/>
            </a:pPr>
            <a:r>
              <a:rPr lang="en-US" sz="1500" b="1" dirty="0">
                <a:solidFill>
                  <a:srgbClr val="3D7A4D"/>
                </a:solidFill>
                <a:latin typeface="Aptos Display" pitchFamily="34" charset="0"/>
                <a:ea typeface="Aptos Display" pitchFamily="34" charset="-122"/>
                <a:cs typeface="Aptos Display" pitchFamily="34" charset="-120"/>
              </a:rPr>
              <a:t>Need</a:t>
            </a:r>
            <a:endParaRPr lang="en-US" sz="1500" dirty="0"/>
          </a:p>
        </p:txBody>
      </p:sp>
      <p:sp>
        <p:nvSpPr>
          <p:cNvPr id="22" name="Text 20"/>
          <p:cNvSpPr/>
          <p:nvPr/>
        </p:nvSpPr>
        <p:spPr>
          <a:xfrm>
            <a:off x="9304020" y="347472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client goal</a:t>
            </a:r>
            <a:endParaRPr lang="en-US" sz="1500" dirty="0"/>
          </a:p>
        </p:txBody>
      </p:sp>
      <p:sp>
        <p:nvSpPr>
          <p:cNvPr id="23" name="Text 21"/>
          <p:cNvSpPr/>
          <p:nvPr/>
        </p:nvSpPr>
        <p:spPr>
          <a:xfrm>
            <a:off x="7498080" y="441198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system map</a:t>
            </a:r>
            <a:endParaRPr lang="en-US" sz="1500" dirty="0"/>
          </a:p>
        </p:txBody>
      </p:sp>
      <p:sp>
        <p:nvSpPr>
          <p:cNvPr id="24" name="Text 22"/>
          <p:cNvSpPr/>
          <p:nvPr/>
        </p:nvSpPr>
        <p:spPr>
          <a:xfrm>
            <a:off x="9304020" y="441198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access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D7A4D"/>
          </a:solidFill>
          <a:ln w="12700">
            <a:solidFill>
              <a:srgbClr val="3D7A4D">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D7A4D"/>
                </a:solidFill>
                <a:latin typeface="Aptos" pitchFamily="34" charset="0"/>
                <a:ea typeface="Aptos" pitchFamily="34" charset="-122"/>
                <a:cs typeface="Aptos" pitchFamily="34" charset="-120"/>
              </a:rPr>
              <a:t>LCSW WORKBOOK 10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WB10 • 02/8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D7A4D"/>
                </a:solidFill>
                <a:latin typeface="Aptos Display" pitchFamily="34" charset="0"/>
                <a:ea typeface="Aptos Display" pitchFamily="34" charset="-122"/>
                <a:cs typeface="Aptos Display" pitchFamily="34" charset="-120"/>
              </a:rPr>
              <a:t>02</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Use BRIDGE</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B means begin with the priority: safety, medical, housing, food, legal, caregiving, or functional urgency.</a:t>
            </a:r>
            <a:endParaRPr lang="en-US" sz="2080" dirty="0"/>
          </a:p>
        </p:txBody>
      </p:sp>
      <p:sp>
        <p:nvSpPr>
          <p:cNvPr id="11" name="Text 9"/>
          <p:cNvSpPr/>
          <p:nvPr/>
        </p:nvSpPr>
        <p:spPr>
          <a:xfrm>
            <a:off x="6629400" y="1874520"/>
            <a:ext cx="3886200" cy="438912"/>
          </a:xfrm>
          <a:prstGeom prst="rect">
            <a:avLst/>
          </a:prstGeom>
          <a:solidFill>
            <a:srgbClr val="FFFFFF"/>
          </a:solidFill>
          <a:ln w="10795">
            <a:solidFill>
              <a:srgbClr val="3D7A4D"/>
            </a:solidFill>
          </a:ln>
        </p:spPr>
        <p:txBody>
          <a:bodyPr wrap="square" lIns="508" tIns="508" rIns="508" bIns="508" rtlCol="0" anchor="ctr">
            <a:normAutofit/>
          </a:bodyPr>
          <a:lstStyle/>
          <a:p>
            <a:pPr algn="ctr" indent="0" marL="0">
              <a:buNone/>
            </a:pPr>
            <a:r>
              <a:rPr lang="en-US" sz="1220" b="1" dirty="0">
                <a:solidFill>
                  <a:srgbClr val="3D7A4D"/>
                </a:solidFill>
                <a:latin typeface="Aptos" pitchFamily="34" charset="0"/>
                <a:ea typeface="Aptos" pitchFamily="34" charset="-122"/>
                <a:cs typeface="Aptos" pitchFamily="34" charset="-120"/>
              </a:rPr>
              <a:t>Begin</a:t>
            </a:r>
            <a:endParaRPr lang="en-US" sz="1220" dirty="0"/>
          </a:p>
        </p:txBody>
      </p:sp>
      <p:sp>
        <p:nvSpPr>
          <p:cNvPr id="12" name="Text 10"/>
          <p:cNvSpPr/>
          <p:nvPr/>
        </p:nvSpPr>
        <p:spPr>
          <a:xfrm>
            <a:off x="6793992" y="2368296"/>
            <a:ext cx="3557016" cy="438912"/>
          </a:xfrm>
          <a:prstGeom prst="rect">
            <a:avLst/>
          </a:prstGeom>
          <a:solidFill>
            <a:srgbClr val="EAF3EC"/>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Respect</a:t>
            </a:r>
            <a:endParaRPr lang="en-US" sz="1220" dirty="0"/>
          </a:p>
        </p:txBody>
      </p:sp>
      <p:sp>
        <p:nvSpPr>
          <p:cNvPr id="13" name="Text 11"/>
          <p:cNvSpPr/>
          <p:nvPr/>
        </p:nvSpPr>
        <p:spPr>
          <a:xfrm>
            <a:off x="6958584" y="2862072"/>
            <a:ext cx="3227832"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Identify</a:t>
            </a:r>
            <a:endParaRPr lang="en-US" sz="1220" dirty="0"/>
          </a:p>
        </p:txBody>
      </p:sp>
      <p:sp>
        <p:nvSpPr>
          <p:cNvPr id="14" name="Text 12"/>
          <p:cNvSpPr/>
          <p:nvPr/>
        </p:nvSpPr>
        <p:spPr>
          <a:xfrm>
            <a:off x="7123176" y="3355848"/>
            <a:ext cx="2898648" cy="438912"/>
          </a:xfrm>
          <a:prstGeom prst="rect">
            <a:avLst/>
          </a:prstGeom>
          <a:solidFill>
            <a:srgbClr val="EAF3EC"/>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Define</a:t>
            </a:r>
            <a:endParaRPr lang="en-US" sz="1220" dirty="0"/>
          </a:p>
        </p:txBody>
      </p:sp>
      <p:sp>
        <p:nvSpPr>
          <p:cNvPr id="15" name="Text 13"/>
          <p:cNvSpPr/>
          <p:nvPr/>
        </p:nvSpPr>
        <p:spPr>
          <a:xfrm>
            <a:off x="7287768" y="3849624"/>
            <a:ext cx="2569464"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Generate</a:t>
            </a:r>
            <a:endParaRPr lang="en-US" sz="1220" dirty="0"/>
          </a:p>
        </p:txBody>
      </p:sp>
      <p:sp>
        <p:nvSpPr>
          <p:cNvPr id="16" name="Text 14"/>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R means respect participation by clarifying what the client wants, understands, consents to,…</a:t>
            </a:r>
            <a:endParaRPr lang="en-US" sz="1330" dirty="0"/>
          </a:p>
        </p:txBody>
      </p:sp>
      <p:sp>
        <p:nvSpPr>
          <p:cNvPr id="18" name="Text 16"/>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E means evaluate continuity: did access occur, did the service help, and what must be revised?</a:t>
            </a:r>
            <a:endParaRPr lang="en-US" sz="133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Begin • Respect • Identify • Define • Generate • Evaluate</a:t>
            </a:r>
            <a:endParaRPr lang="en-US" sz="1330" dirty="0"/>
          </a:p>
        </p:txBody>
      </p:sp>
      <p:sp>
        <p:nvSpPr>
          <p:cNvPr id="22" name="Text 20"/>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D7A4D"/>
                </a:solidFill>
                <a:latin typeface="Aptos" pitchFamily="34" charset="0"/>
                <a:ea typeface="Aptos" pitchFamily="34" charset="-122"/>
                <a:cs typeface="Aptos" pitchFamily="34" charset="-120"/>
              </a:rPr>
              <a:t>STUDENT MOVE</a:t>
            </a:r>
            <a:endParaRPr lang="en-US" sz="940" dirty="0"/>
          </a:p>
        </p:txBody>
      </p:sp>
      <p:sp>
        <p:nvSpPr>
          <p:cNvPr id="23" name="Text 21"/>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E means evaluate continuity: did access occur, did the service help, and what must be revised?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D7A4D"/>
          </a:solidFill>
          <a:ln w="12700">
            <a:solidFill>
              <a:srgbClr val="3D7A4D">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D7A4D"/>
                </a:solidFill>
                <a:latin typeface="Aptos" pitchFamily="34" charset="0"/>
                <a:ea typeface="Aptos" pitchFamily="34" charset="-122"/>
                <a:cs typeface="Aptos" pitchFamily="34" charset="-120"/>
              </a:rPr>
              <a:t>LCSW WORKBOOK 10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WB10 • 03/8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D7A4D"/>
                </a:solidFill>
                <a:latin typeface="Aptos Display" pitchFamily="34" charset="0"/>
                <a:ea typeface="Aptos Display" pitchFamily="34" charset="-122"/>
                <a:cs typeface="Aptos Display" pitchFamily="34" charset="-120"/>
              </a:rPr>
              <a:t>03</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Prioritize and Map the System</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Prioritize immediate safety and medical needs, basic survival, time-sensitive benefits or rights, and conditions that block all other care.</a:t>
            </a:r>
            <a:endParaRPr lang="en-US" sz="2080" dirty="0"/>
          </a:p>
        </p:txBody>
      </p:sp>
      <p:sp>
        <p:nvSpPr>
          <p:cNvPr id="11" name="Shape 9"/>
          <p:cNvSpPr/>
          <p:nvPr/>
        </p:nvSpPr>
        <p:spPr>
          <a:xfrm>
            <a:off x="6537960" y="2624328"/>
            <a:ext cx="4160520" cy="0"/>
          </a:xfrm>
          <a:prstGeom prst="line">
            <a:avLst/>
          </a:prstGeom>
          <a:noFill/>
          <a:ln w="13970">
            <a:solidFill>
              <a:srgbClr val="3D7A4D">
                <a:alpha val="75000"/>
              </a:srgbClr>
            </a:solidFill>
            <a:prstDash val="solid"/>
            <a:tailEnd type="triangle"/>
          </a:ln>
        </p:spPr>
      </p:sp>
      <p:sp>
        <p:nvSpPr>
          <p:cNvPr id="12" name="Text 10"/>
          <p:cNvSpPr/>
          <p:nvPr/>
        </p:nvSpPr>
        <p:spPr>
          <a:xfrm>
            <a:off x="6400800" y="2331720"/>
            <a:ext cx="136855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Who Is Involved</a:t>
            </a:r>
            <a:endParaRPr lang="en-US" sz="1140" dirty="0"/>
          </a:p>
        </p:txBody>
      </p:sp>
      <p:sp>
        <p:nvSpPr>
          <p:cNvPr id="13" name="Text 11"/>
          <p:cNvSpPr/>
          <p:nvPr/>
        </p:nvSpPr>
        <p:spPr>
          <a:xfrm>
            <a:off x="7933944" y="2331720"/>
            <a:ext cx="136855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What Is the Barrier</a:t>
            </a:r>
            <a:endParaRPr lang="en-US" sz="1140" dirty="0"/>
          </a:p>
        </p:txBody>
      </p:sp>
      <p:sp>
        <p:nvSpPr>
          <p:cNvPr id="14" name="Text 12"/>
          <p:cNvSpPr/>
          <p:nvPr/>
        </p:nvSpPr>
        <p:spPr>
          <a:xfrm>
            <a:off x="9467088" y="2331720"/>
            <a:ext cx="1368552" cy="594360"/>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Who Owns the Next Step?</a:t>
            </a:r>
            <a:endParaRPr lang="en-US" sz="1140" dirty="0"/>
          </a:p>
        </p:txBody>
      </p:sp>
      <p:sp>
        <p:nvSpPr>
          <p:cNvPr id="15" name="Text 13"/>
          <p:cNvSpPr/>
          <p:nvPr/>
        </p:nvSpPr>
        <p:spPr>
          <a:xfrm>
            <a:off x="7086600" y="3401568"/>
            <a:ext cx="3063240" cy="914400"/>
          </a:xfrm>
          <a:prstGeom prst="rect">
            <a:avLst/>
          </a:prstGeom>
          <a:solidFill>
            <a:srgbClr val="EAF3EC"/>
          </a:solidFill>
          <a:ln w="13970">
            <a:solidFill>
              <a:srgbClr val="3D7A4D">
                <a:alpha val="75000"/>
              </a:srgbClr>
            </a:solidFill>
          </a:ln>
        </p:spPr>
        <p:txBody>
          <a:bodyPr wrap="square" lIns="635" tIns="635" rIns="635" bIns="635" rtlCol="0" anchor="ctr">
            <a:normAutofit/>
          </a:bodyPr>
          <a:lstStyle/>
          <a:p>
            <a:pPr algn="ctr" indent="0" marL="0">
              <a:buNone/>
            </a:pPr>
            <a:r>
              <a:rPr lang="en-US" sz="2200" b="1" dirty="0">
                <a:solidFill>
                  <a:srgbClr val="3D7A4D"/>
                </a:solidFill>
                <a:latin typeface="Aptos Display" pitchFamily="34" charset="0"/>
                <a:ea typeface="Aptos Display" pitchFamily="34" charset="-122"/>
                <a:cs typeface="Aptos Display" pitchFamily="34" charset="-120"/>
              </a:rPr>
              <a:t>Who Is Involved</a:t>
            </a:r>
            <a:endParaRPr lang="en-US" sz="2200" dirty="0"/>
          </a:p>
        </p:txBody>
      </p:sp>
      <p:sp>
        <p:nvSpPr>
          <p:cNvPr id="16" name="Text 14"/>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Then map natural supports, family or caregivers, health and behavioral-health providers,…</a:t>
            </a:r>
            <a:endParaRPr lang="en-US" sz="1330" dirty="0"/>
          </a:p>
        </p:txBody>
      </p:sp>
      <p:sp>
        <p:nvSpPr>
          <p:cNvPr id="18" name="Text 16"/>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Strong answers assign the next step and a review date.</a:t>
            </a:r>
            <a:endParaRPr lang="en-US" sz="133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Who Is Involved, What Is the Barrier, and Who Owns the Next Step?</a:t>
            </a:r>
            <a:endParaRPr lang="en-US" sz="1330" dirty="0"/>
          </a:p>
        </p:txBody>
      </p:sp>
      <p:sp>
        <p:nvSpPr>
          <p:cNvPr id="22" name="Text 20"/>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D7A4D"/>
                </a:solidFill>
                <a:latin typeface="Aptos" pitchFamily="34" charset="0"/>
                <a:ea typeface="Aptos" pitchFamily="34" charset="-122"/>
                <a:cs typeface="Aptos" pitchFamily="34" charset="-120"/>
              </a:rPr>
              <a:t>STUDENT MOVE</a:t>
            </a:r>
            <a:endParaRPr lang="en-US" sz="940" dirty="0"/>
          </a:p>
        </p:txBody>
      </p:sp>
      <p:sp>
        <p:nvSpPr>
          <p:cNvPr id="23" name="Text 21"/>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Strong answers assign the next step and a review date.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D7A4D"/>
          </a:solidFill>
          <a:ln w="12700">
            <a:solidFill>
              <a:srgbClr val="3D7A4D">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D7A4D"/>
                </a:solidFill>
                <a:latin typeface="Aptos" pitchFamily="34" charset="0"/>
                <a:ea typeface="Aptos" pitchFamily="34" charset="-122"/>
                <a:cs typeface="Aptos" pitchFamily="34" charset="-120"/>
              </a:rPr>
              <a:t>LCSW WORKBOOK 10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WB10 • 04/8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D7A4D"/>
                </a:solidFill>
                <a:latin typeface="Aptos Display" pitchFamily="34" charset="0"/>
                <a:ea typeface="Aptos Display" pitchFamily="34" charset="-122"/>
                <a:cs typeface="Aptos Display" pitchFamily="34" charset="-120"/>
              </a:rPr>
              <a:t>04</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Resource Matching and Warm Handoffs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A resource is useful only when it matches the need and the client can realistically use it.</a:t>
            </a:r>
            <a:endParaRPr lang="en-US" sz="2080" dirty="0"/>
          </a:p>
        </p:txBody>
      </p:sp>
      <p:sp>
        <p:nvSpPr>
          <p:cNvPr id="11" name="Shape 9"/>
          <p:cNvSpPr/>
          <p:nvPr/>
        </p:nvSpPr>
        <p:spPr>
          <a:xfrm>
            <a:off x="6537960" y="2624328"/>
            <a:ext cx="4160520" cy="0"/>
          </a:xfrm>
          <a:prstGeom prst="line">
            <a:avLst/>
          </a:prstGeom>
          <a:noFill/>
          <a:ln w="13970">
            <a:solidFill>
              <a:srgbClr val="3D7A4D">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Eligibility</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availability</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accessibility</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acceptability</a:t>
            </a:r>
            <a:endParaRPr lang="en-US" sz="1140" dirty="0"/>
          </a:p>
        </p:txBody>
      </p:sp>
      <p:sp>
        <p:nvSpPr>
          <p:cNvPr id="16" name="Text 14"/>
          <p:cNvSpPr/>
          <p:nvPr/>
        </p:nvSpPr>
        <p:spPr>
          <a:xfrm>
            <a:off x="10080346" y="2331720"/>
            <a:ext cx="755294" cy="594360"/>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logistics</a:t>
            </a:r>
            <a:endParaRPr lang="en-US" sz="1140" dirty="0"/>
          </a:p>
        </p:txBody>
      </p:sp>
      <p:sp>
        <p:nvSpPr>
          <p:cNvPr id="17" name="Text 15"/>
          <p:cNvSpPr/>
          <p:nvPr/>
        </p:nvSpPr>
        <p:spPr>
          <a:xfrm>
            <a:off x="7086600" y="3401568"/>
            <a:ext cx="3063240" cy="914400"/>
          </a:xfrm>
          <a:prstGeom prst="rect">
            <a:avLst/>
          </a:prstGeom>
          <a:solidFill>
            <a:srgbClr val="EAF3EC"/>
          </a:solidFill>
          <a:ln w="13970">
            <a:solidFill>
              <a:srgbClr val="3D7A4D">
                <a:alpha val="75000"/>
              </a:srgbClr>
            </a:solidFill>
          </a:ln>
        </p:spPr>
        <p:txBody>
          <a:bodyPr wrap="square" lIns="635" tIns="635" rIns="635" bIns="635" rtlCol="0" anchor="ctr">
            <a:normAutofit/>
          </a:bodyPr>
          <a:lstStyle/>
          <a:p>
            <a:pPr algn="ctr" indent="0" marL="0">
              <a:buNone/>
            </a:pPr>
            <a:r>
              <a:rPr lang="en-US" sz="2200" b="1" dirty="0">
                <a:solidFill>
                  <a:srgbClr val="3D7A4D"/>
                </a:solidFill>
                <a:latin typeface="Aptos Display" pitchFamily="34" charset="0"/>
                <a:ea typeface="Aptos Display" pitchFamily="34" charset="-122"/>
                <a:cs typeface="Aptos Display" pitchFamily="34" charset="-120"/>
              </a:rPr>
              <a:t>Eligibility</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Check eligibility, required documents, language, disability access, culture, cost,…</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Missed appointments or incomplete applications are data about barriers, not automatic proof of…</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Fit Must Be Verified, Not Assumed</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D7A4D"/>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Missed appointments or incomplete applications are data about barriers, not automatic proof of low motivation.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D7A4D"/>
          </a:solidFill>
          <a:ln w="12700">
            <a:solidFill>
              <a:srgbClr val="3D7A4D">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D7A4D"/>
                </a:solidFill>
                <a:latin typeface="Aptos" pitchFamily="34" charset="0"/>
                <a:ea typeface="Aptos" pitchFamily="34" charset="-122"/>
                <a:cs typeface="Aptos" pitchFamily="34" charset="-120"/>
              </a:rPr>
              <a:t>LCSW WORKBOOK 10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WB10 • 05/8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D7A4D"/>
                </a:solidFill>
                <a:latin typeface="Aptos Display" pitchFamily="34" charset="0"/>
                <a:ea typeface="Aptos Display" pitchFamily="34" charset="-122"/>
                <a:cs typeface="Aptos Display" pitchFamily="34" charset="-120"/>
              </a:rPr>
              <a:t>05</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Advocacy, Collaboration, Consent, and Documentation</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Advocacy begins by clarifying the client’s goal, the barrier, power and risk, desired participation, and the least intrusive effective level of…</a:t>
            </a:r>
            <a:endParaRPr lang="en-US" sz="2080" dirty="0"/>
          </a:p>
        </p:txBody>
      </p:sp>
      <p:sp>
        <p:nvSpPr>
          <p:cNvPr id="11" name="Shape 9"/>
          <p:cNvSpPr/>
          <p:nvPr/>
        </p:nvSpPr>
        <p:spPr>
          <a:xfrm>
            <a:off x="6537960" y="2624328"/>
            <a:ext cx="4160520" cy="0"/>
          </a:xfrm>
          <a:prstGeom prst="line">
            <a:avLst/>
          </a:prstGeom>
          <a:noFill/>
          <a:ln w="13970">
            <a:solidFill>
              <a:srgbClr val="3D7A4D">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Individual</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organizational</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systems</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community advocacy levels…</a:t>
            </a:r>
            <a:endParaRPr lang="en-US" sz="1140" dirty="0"/>
          </a:p>
        </p:txBody>
      </p:sp>
      <p:sp>
        <p:nvSpPr>
          <p:cNvPr id="16" name="Text 14"/>
          <p:cNvSpPr/>
          <p:nvPr/>
        </p:nvSpPr>
        <p:spPr>
          <a:xfrm>
            <a:off x="10080346" y="2331720"/>
            <a:ext cx="755294" cy="594360"/>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role</a:t>
            </a:r>
            <a:endParaRPr lang="en-US" sz="1140" dirty="0"/>
          </a:p>
        </p:txBody>
      </p:sp>
      <p:sp>
        <p:nvSpPr>
          <p:cNvPr id="17" name="Text 15"/>
          <p:cNvSpPr/>
          <p:nvPr/>
        </p:nvSpPr>
        <p:spPr>
          <a:xfrm>
            <a:off x="7086600" y="3401568"/>
            <a:ext cx="3063240" cy="914400"/>
          </a:xfrm>
          <a:prstGeom prst="rect">
            <a:avLst/>
          </a:prstGeom>
          <a:solidFill>
            <a:srgbClr val="EAF3EC"/>
          </a:solidFill>
          <a:ln w="13970">
            <a:solidFill>
              <a:srgbClr val="3D7A4D">
                <a:alpha val="75000"/>
              </a:srgbClr>
            </a:solidFill>
          </a:ln>
        </p:spPr>
        <p:txBody>
          <a:bodyPr wrap="square" lIns="635" tIns="635" rIns="635" bIns="635" rtlCol="0" anchor="ctr">
            <a:normAutofit/>
          </a:bodyPr>
          <a:lstStyle/>
          <a:p>
            <a:pPr algn="ctr" indent="0" marL="0">
              <a:buNone/>
            </a:pPr>
            <a:r>
              <a:rPr lang="en-US" sz="2200" b="1" dirty="0">
                <a:solidFill>
                  <a:srgbClr val="3D7A4D"/>
                </a:solidFill>
                <a:latin typeface="Aptos Display" pitchFamily="34" charset="0"/>
                <a:ea typeface="Aptos Display" pitchFamily="34" charset="-122"/>
                <a:cs typeface="Aptos Display" pitchFamily="34" charset="-120"/>
              </a:rPr>
              <a:t>Individual</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response may involve coaching, accommodation, appeal, internal problem solving, policy…</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Advocacy should not replace the client’s voice or expose the client to unnecessary retaliation…</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Use the Least Intrusive Effective Level of Advocacy</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D7A4D"/>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Advocacy should not replace the client’s voice or expose the client to unnecessary retaliation without assessing risk and preference.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D7A4D"/>
          </a:solidFill>
          <a:ln w="12700">
            <a:solidFill>
              <a:srgbClr val="3D7A4D">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D7A4D"/>
                </a:solidFill>
                <a:latin typeface="Aptos" pitchFamily="34" charset="0"/>
                <a:ea typeface="Aptos" pitchFamily="34" charset="-122"/>
                <a:cs typeface="Aptos" pitchFamily="34" charset="-120"/>
              </a:rPr>
              <a:t>LCSW WORKBOOK 10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WB10 • 06/8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D7A4D"/>
                </a:solidFill>
                <a:latin typeface="Aptos Display" pitchFamily="34" charset="0"/>
                <a:ea typeface="Aptos Display" pitchFamily="34" charset="-122"/>
                <a:cs typeface="Aptos Display" pitchFamily="34" charset="-120"/>
              </a:rPr>
              <a:t>06</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Common Exam Traps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Common traps include giving a resource list without verifying fit; contacting providers without consent or another valid basis; sharing more…</a:t>
            </a:r>
            <a:endParaRPr lang="en-US" sz="2080" dirty="0"/>
          </a:p>
        </p:txBody>
      </p:sp>
      <p:sp>
        <p:nvSpPr>
          <p:cNvPr id="11" name="Text 9"/>
          <p:cNvSpPr/>
          <p:nvPr/>
        </p:nvSpPr>
        <p:spPr>
          <a:xfrm>
            <a:off x="6446520" y="2011680"/>
            <a:ext cx="2103120" cy="1097280"/>
          </a:xfrm>
          <a:prstGeom prst="rect">
            <a:avLst/>
          </a:prstGeom>
          <a:solidFill>
            <a:srgbClr val="EAF3EC"/>
          </a:solidFill>
          <a:ln w="11430">
            <a:solidFill>
              <a:srgbClr val="3D7A4D"/>
            </a:solidFill>
          </a:ln>
        </p:spPr>
        <p:txBody>
          <a:bodyPr wrap="square" lIns="1016" tIns="1016" rIns="1016" bIns="1016" rtlCol="0" anchor="ctr">
            <a:normAutofit/>
          </a:bodyPr>
          <a:lstStyle/>
          <a:p>
            <a:pPr algn="ctr" indent="0" marL="0">
              <a:buNone/>
            </a:pPr>
            <a:r>
              <a:rPr lang="en-US" sz="1500" b="1" dirty="0">
                <a:solidFill>
                  <a:srgbClr val="3D7A4D"/>
                </a:solidFill>
                <a:latin typeface="Aptos Display" pitchFamily="34" charset="0"/>
                <a:ea typeface="Aptos Display" pitchFamily="34" charset="-122"/>
                <a:cs typeface="Aptos Display" pitchFamily="34" charset="-120"/>
              </a:rPr>
              <a:t>Trap cards show referral…</a:t>
            </a:r>
            <a:endParaRPr lang="en-US" sz="1500" dirty="0"/>
          </a:p>
        </p:txBody>
      </p:sp>
      <p:sp>
        <p:nvSpPr>
          <p:cNvPr id="12" name="Text 10"/>
          <p:cNvSpPr/>
          <p:nvPr/>
        </p:nvSpPr>
        <p:spPr>
          <a:xfrm>
            <a:off x="8686800" y="201168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unclear roles</a:t>
            </a:r>
            <a:endParaRPr lang="en-US" sz="1500" dirty="0"/>
          </a:p>
        </p:txBody>
      </p:sp>
      <p:sp>
        <p:nvSpPr>
          <p:cNvPr id="13" name="Text 11"/>
          <p:cNvSpPr/>
          <p:nvPr/>
        </p:nvSpPr>
        <p:spPr>
          <a:xfrm>
            <a:off x="644652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overdisclosure</a:t>
            </a:r>
            <a:endParaRPr lang="en-US" sz="1500" dirty="0"/>
          </a:p>
        </p:txBody>
      </p:sp>
      <p:sp>
        <p:nvSpPr>
          <p:cNvPr id="14" name="Text 12"/>
          <p:cNvSpPr/>
          <p:nvPr/>
        </p:nvSpPr>
        <p:spPr>
          <a:xfrm>
            <a:off x="868680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access-as-motivation</a:t>
            </a:r>
            <a:endParaRPr lang="en-US" sz="1500" dirty="0"/>
          </a:p>
        </p:txBody>
      </p:sp>
      <p:sp>
        <p:nvSpPr>
          <p:cNvPr id="15" name="Text 13"/>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16" name="Text 14"/>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Strong answers preserve informed participation, define responsibility, use the correct level…</a:t>
            </a:r>
            <a:endParaRPr lang="en-US" sz="1330" dirty="0"/>
          </a:p>
        </p:txBody>
      </p:sp>
      <p:sp>
        <p:nvSpPr>
          <p:cNvPr id="17" name="Text 15"/>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Strong answers preserve informed participation, define responsibility, use the correct level…</a:t>
            </a:r>
            <a:endParaRPr lang="en-US" sz="133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Coordination Requires Accountability</a:t>
            </a:r>
            <a:endParaRPr lang="en-US" sz="1330" dirty="0"/>
          </a:p>
        </p:txBody>
      </p:sp>
      <p:sp>
        <p:nvSpPr>
          <p:cNvPr id="21" name="Text 19"/>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D7A4D"/>
                </a:solidFill>
                <a:latin typeface="Aptos" pitchFamily="34" charset="0"/>
                <a:ea typeface="Aptos" pitchFamily="34" charset="-122"/>
                <a:cs typeface="Aptos" pitchFamily="34" charset="-120"/>
              </a:rPr>
              <a:t>STUDENT MOVE</a:t>
            </a:r>
            <a:endParaRPr lang="en-US" sz="940" dirty="0"/>
          </a:p>
        </p:txBody>
      </p:sp>
      <p:sp>
        <p:nvSpPr>
          <p:cNvPr id="22" name="Text 20"/>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Strong answers preserve informed participation, define responsibility, use the correct level of advocacy, and evaluate whether access and…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D7A4D"/>
          </a:solidFill>
          <a:ln w="12700">
            <a:solidFill>
              <a:srgbClr val="3D7A4D">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D7A4D"/>
                </a:solidFill>
                <a:latin typeface="Aptos" pitchFamily="34" charset="0"/>
                <a:ea typeface="Aptos" pitchFamily="34" charset="-122"/>
                <a:cs typeface="Aptos" pitchFamily="34" charset="-120"/>
              </a:rPr>
              <a:t>LCSW WORKBOOK 10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WB10 • 07/8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D7A4D"/>
                </a:solidFill>
                <a:latin typeface="Aptos Display" pitchFamily="34" charset="0"/>
                <a:ea typeface="Aptos Display" pitchFamily="34" charset="-122"/>
                <a:cs typeface="Aptos Display" pitchFamily="34" charset="-120"/>
              </a:rPr>
              <a:t>07</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Mini Scenario: Discharge, Diabetes, and Temporary Housing</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A client with diabetes and depression is discharged to temporary housing without transportation or medication access.</a:t>
            </a:r>
            <a:endParaRPr lang="en-US" sz="2080" dirty="0"/>
          </a:p>
        </p:txBody>
      </p:sp>
      <p:sp>
        <p:nvSpPr>
          <p:cNvPr id="11" name="Shape 9"/>
          <p:cNvSpPr/>
          <p:nvPr/>
        </p:nvSpPr>
        <p:spPr>
          <a:xfrm>
            <a:off x="6537960" y="2148840"/>
            <a:ext cx="4160520" cy="2743200"/>
          </a:xfrm>
          <a:prstGeom prst="rect">
            <a:avLst>
              <a:gd name="adj" fmla="val 3333"/>
            </a:avLst>
          </a:prstGeom>
          <a:solidFill>
            <a:srgbClr val="EAF3EC"/>
          </a:solidFill>
          <a:ln w="15240">
            <a:solidFill>
              <a:srgbClr val="3D7A4D">
                <a:alpha val="85000"/>
              </a:srgbClr>
            </a:solidFill>
            <a:prstDash val="solid"/>
          </a:ln>
        </p:spPr>
      </p:sp>
      <p:sp>
        <p:nvSpPr>
          <p:cNvPr id="12" name="Text 10"/>
          <p:cNvSpPr/>
          <p:nvPr/>
        </p:nvSpPr>
        <p:spPr>
          <a:xfrm>
            <a:off x="6766560" y="2350008"/>
            <a:ext cx="3703320" cy="228600"/>
          </a:xfrm>
          <a:prstGeom prst="rect">
            <a:avLst/>
          </a:prstGeom>
          <a:noFill/>
          <a:ln/>
        </p:spPr>
        <p:txBody>
          <a:bodyPr wrap="square" lIns="0" tIns="0" rIns="0" bIns="0" rtlCol="0" anchor="ctr"/>
          <a:lstStyle/>
          <a:p>
            <a:pPr indent="0" marL="0">
              <a:buNone/>
            </a:pPr>
            <a:r>
              <a:rPr lang="en-US" sz="1000" b="1" dirty="0">
                <a:solidFill>
                  <a:srgbClr val="3D7A4D"/>
                </a:solidFill>
                <a:latin typeface="Aptos" pitchFamily="34" charset="0"/>
                <a:ea typeface="Aptos" pitchFamily="34" charset="-122"/>
                <a:cs typeface="Aptos" pitchFamily="34" charset="-120"/>
              </a:rPr>
              <a:t>MINI SCENARIO</a:t>
            </a:r>
            <a:endParaRPr lang="en-US" sz="1000" dirty="0"/>
          </a:p>
        </p:txBody>
      </p:sp>
      <p:sp>
        <p:nvSpPr>
          <p:cNvPr id="13" name="Text 11"/>
          <p:cNvSpPr/>
          <p:nvPr/>
        </p:nvSpPr>
        <p:spPr>
          <a:xfrm>
            <a:off x="6766560" y="2770632"/>
            <a:ext cx="3703320" cy="713232"/>
          </a:xfrm>
          <a:prstGeom prst="rect">
            <a:avLst/>
          </a:prstGeom>
          <a:noFill/>
          <a:ln/>
        </p:spPr>
        <p:txBody>
          <a:bodyPr wrap="square" lIns="254" tIns="254" rIns="254" bIns="254" rtlCol="0" anchor="ctr">
            <a:normAutofit/>
          </a:bodyPr>
          <a:lstStyle/>
          <a:p>
            <a:pPr indent="0" marL="0">
              <a:buNone/>
            </a:pPr>
            <a:r>
              <a:rPr lang="en-US" sz="2000" b="1" dirty="0">
                <a:solidFill>
                  <a:srgbClr val="1D2838"/>
                </a:solidFill>
                <a:latin typeface="Aptos Display" pitchFamily="34" charset="0"/>
                <a:ea typeface="Aptos Display" pitchFamily="34" charset="-122"/>
                <a:cs typeface="Aptos Display" pitchFamily="34" charset="-120"/>
              </a:rPr>
              <a:t>Facts → Safety → Role → Next step</a:t>
            </a:r>
            <a:endParaRPr lang="en-US" sz="2000" dirty="0"/>
          </a:p>
        </p:txBody>
      </p:sp>
      <p:sp>
        <p:nvSpPr>
          <p:cNvPr id="14" name="Shape 12"/>
          <p:cNvSpPr/>
          <p:nvPr/>
        </p:nvSpPr>
        <p:spPr>
          <a:xfrm>
            <a:off x="6995160" y="3922776"/>
            <a:ext cx="3246120" cy="0"/>
          </a:xfrm>
          <a:prstGeom prst="line">
            <a:avLst/>
          </a:prstGeom>
          <a:noFill/>
          <a:ln w="13970">
            <a:solidFill>
              <a:srgbClr val="3D7A4D">
                <a:alpha val="75000"/>
              </a:srgbClr>
            </a:solidFill>
            <a:prstDash val="solid"/>
            <a:tailEnd type="triangle"/>
          </a:ln>
        </p:spPr>
      </p:sp>
      <p:sp>
        <p:nvSpPr>
          <p:cNvPr id="15" name="Text 13"/>
          <p:cNvSpPr/>
          <p:nvPr/>
        </p:nvSpPr>
        <p:spPr>
          <a:xfrm>
            <a:off x="6858000"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Facts</a:t>
            </a:r>
            <a:endParaRPr lang="en-US" sz="1140" dirty="0"/>
          </a:p>
        </p:txBody>
      </p:sp>
      <p:sp>
        <p:nvSpPr>
          <p:cNvPr id="16" name="Text 14"/>
          <p:cNvSpPr/>
          <p:nvPr/>
        </p:nvSpPr>
        <p:spPr>
          <a:xfrm>
            <a:off x="7779258"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Risk</a:t>
            </a:r>
            <a:endParaRPr lang="en-US" sz="1140" dirty="0"/>
          </a:p>
        </p:txBody>
      </p:sp>
      <p:sp>
        <p:nvSpPr>
          <p:cNvPr id="17" name="Text 15"/>
          <p:cNvSpPr/>
          <p:nvPr/>
        </p:nvSpPr>
        <p:spPr>
          <a:xfrm>
            <a:off x="8700516"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Role</a:t>
            </a:r>
            <a:endParaRPr lang="en-US" sz="1140" dirty="0"/>
          </a:p>
        </p:txBody>
      </p:sp>
      <p:sp>
        <p:nvSpPr>
          <p:cNvPr id="18" name="Text 16"/>
          <p:cNvSpPr/>
          <p:nvPr/>
        </p:nvSpPr>
        <p:spPr>
          <a:xfrm>
            <a:off x="9621774" y="3630168"/>
            <a:ext cx="756666" cy="594360"/>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Action</a:t>
            </a:r>
            <a:endParaRPr lang="en-US" sz="1140" dirty="0"/>
          </a:p>
        </p:txBody>
      </p:sp>
      <p:sp>
        <p:nvSpPr>
          <p:cNvPr id="19" name="Text 17"/>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strongest response is not simply a therapy appointment or a housing list.</a:t>
            </a:r>
            <a:endParaRPr lang="en-US" sz="1330" dirty="0"/>
          </a:p>
        </p:txBody>
      </p:sp>
      <p:sp>
        <p:nvSpPr>
          <p:cNvPr id="21" name="Text 19"/>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2" name="Text 20"/>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social worker remains accountable for coordination within role rather than assuming that…</a:t>
            </a:r>
            <a:endParaRPr lang="en-US" sz="1330" dirty="0"/>
          </a:p>
        </p:txBody>
      </p:sp>
      <p:sp>
        <p:nvSpPr>
          <p:cNvPr id="23" name="Text 21"/>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4" name="Text 22"/>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Coordinate Medical and Housing Safety With a Warm Handoff</a:t>
            </a:r>
            <a:endParaRPr lang="en-US" sz="1330" dirty="0"/>
          </a:p>
        </p:txBody>
      </p:sp>
      <p:sp>
        <p:nvSpPr>
          <p:cNvPr id="25" name="Text 23"/>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D7A4D"/>
                </a:solidFill>
                <a:latin typeface="Aptos" pitchFamily="34" charset="0"/>
                <a:ea typeface="Aptos" pitchFamily="34" charset="-122"/>
                <a:cs typeface="Aptos" pitchFamily="34" charset="-120"/>
              </a:rPr>
              <a:t>STUDENT MOVE</a:t>
            </a:r>
            <a:endParaRPr lang="en-US" sz="940" dirty="0"/>
          </a:p>
        </p:txBody>
      </p:sp>
      <p:sp>
        <p:nvSpPr>
          <p:cNvPr id="26" name="Text 24"/>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 social worker remains accountable for coordination within role rather than assuming that referral ends responsibility.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D7A4D"/>
          </a:solidFill>
          <a:ln w="12700">
            <a:solidFill>
              <a:srgbClr val="3D7A4D">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D7A4D"/>
                </a:solidFill>
                <a:latin typeface="Aptos" pitchFamily="34" charset="0"/>
                <a:ea typeface="Aptos" pitchFamily="34" charset="-122"/>
                <a:cs typeface="Aptos" pitchFamily="34" charset="-120"/>
              </a:rPr>
              <a:t>LCSW WORKBOOK 10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WB10 • 08/8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D7A4D"/>
                </a:solidFill>
                <a:latin typeface="Aptos Display" pitchFamily="34" charset="0"/>
                <a:ea typeface="Aptos Display" pitchFamily="34" charset="-122"/>
                <a:cs typeface="Aptos Display" pitchFamily="34" charset="-120"/>
              </a:rPr>
              <a:t>08</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Study Direction</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For each Workbook 10 vignette, complete BRIDGE and write the name of the person or system that owns the next step.</a:t>
            </a:r>
            <a:endParaRPr lang="en-US" sz="2080" dirty="0"/>
          </a:p>
        </p:txBody>
      </p:sp>
      <p:sp>
        <p:nvSpPr>
          <p:cNvPr id="11" name="Shape 9"/>
          <p:cNvSpPr/>
          <p:nvPr/>
        </p:nvSpPr>
        <p:spPr>
          <a:xfrm>
            <a:off x="6537960" y="2624328"/>
            <a:ext cx="4160520" cy="0"/>
          </a:xfrm>
          <a:prstGeom prst="line">
            <a:avLst/>
          </a:prstGeom>
          <a:noFill/>
          <a:ln w="13970">
            <a:solidFill>
              <a:srgbClr val="3D7A4D">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Priority</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Participation</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Systems/Barrier</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Roles/Disclosure</a:t>
            </a:r>
            <a:endParaRPr lang="en-US" sz="1140" dirty="0"/>
          </a:p>
        </p:txBody>
      </p:sp>
      <p:sp>
        <p:nvSpPr>
          <p:cNvPr id="16" name="Text 14"/>
          <p:cNvSpPr/>
          <p:nvPr/>
        </p:nvSpPr>
        <p:spPr>
          <a:xfrm>
            <a:off x="10080346" y="2331720"/>
            <a:ext cx="755294" cy="594360"/>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Handoff</a:t>
            </a:r>
            <a:endParaRPr lang="en-US" sz="1140" dirty="0"/>
          </a:p>
        </p:txBody>
      </p:sp>
      <p:sp>
        <p:nvSpPr>
          <p:cNvPr id="17" name="Text 15"/>
          <p:cNvSpPr/>
          <p:nvPr/>
        </p:nvSpPr>
        <p:spPr>
          <a:xfrm>
            <a:off x="7086600" y="3401568"/>
            <a:ext cx="3063240" cy="914400"/>
          </a:xfrm>
          <a:prstGeom prst="rect">
            <a:avLst/>
          </a:prstGeom>
          <a:solidFill>
            <a:srgbClr val="EAF3EC"/>
          </a:solidFill>
          <a:ln w="13970">
            <a:solidFill>
              <a:srgbClr val="3D7A4D">
                <a:alpha val="75000"/>
              </a:srgbClr>
            </a:solidFill>
          </a:ln>
        </p:spPr>
        <p:txBody>
          <a:bodyPr wrap="square" lIns="635" tIns="635" rIns="635" bIns="635" rtlCol="0" anchor="ctr">
            <a:normAutofit/>
          </a:bodyPr>
          <a:lstStyle/>
          <a:p>
            <a:pPr algn="ctr" indent="0" marL="0">
              <a:buNone/>
            </a:pPr>
            <a:r>
              <a:rPr lang="en-US" sz="2200" b="1" dirty="0">
                <a:solidFill>
                  <a:srgbClr val="3D7A4D"/>
                </a:solidFill>
                <a:latin typeface="Aptos Display" pitchFamily="34" charset="0"/>
                <a:ea typeface="Aptos Display" pitchFamily="34" charset="-122"/>
                <a:cs typeface="Aptos Display" pitchFamily="34" charset="-120"/>
              </a:rPr>
              <a:t>Priority</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In your error log, mark referral-without-fit, access-as-motivation, missing authorization,…</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Strong case management makes the path into service visible and checks whether the path…</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Priority • Participation • Systems/Barrier • Roles/Disclosure • Handoff • Outcome</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D7A4D"/>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Strong case management makes the path into service visible and checks whether the path actually worked.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LCSW Workbook 10 Companion: Workbook 10 Companion: Case Management, Advocacy, Resources, and Collaboration</dc:title>
  <dc:subject>LCSW Workbook 10 Companion</dc:subject>
  <dc:creator>Clinical Training Academy</dc:creator>
  <cp:lastModifiedBy>Clinical Training Academy</cp:lastModifiedBy>
  <cp:revision>1</cp:revision>
  <dcterms:created xsi:type="dcterms:W3CDTF">2026-07-25T22:41:47Z</dcterms:created>
  <dcterms:modified xsi:type="dcterms:W3CDTF">2026-07-25T22:41:47Z</dcterms:modified>
</cp:coreProperties>
</file>