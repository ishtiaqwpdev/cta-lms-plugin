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questions are rarely solved by choosing the most restrictive or morally forceful answer. They are solved by clarifying the social worker’s role, identifying the actual conflict, protecting rights and safety, examining power and access, and choosing a proportionate action. Professional values guide behavior; they are not slogans. Respect for dignity and self-determination affects how information is presented and how choices are supported. Integrity affects honesty and role clarity. Competence affects consultation, referral, and service limits. Social justice affects whether an answer addresses an actionable barrier rather than asking the client to cope alone with discrimination or exclusion.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means clarify the role, facts, setting, and governing duties. L means locate the ethical conflict and affected rights. E means evaluate safety, capacity, consent, power, culture, access, alternatives, and likely consequences. A means act with the least intrusive proportionate response. R means review, document, consult when useful, and follow up. CLEAR helps when the stem includes competing concerns, such as autonomy and risk, confidentiality and team coordination, client choice and agency pressure, or individual coping and structural discrimination. Consultation may strengthen judgment, but it is not a substitute for an immediate action when the facts already establish a serious danger or required 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Informed consent is an ongoing process that explains role, purpose, risks, benefits, alternatives, fees, records, technology, and foreseeable limits. Privacy concerns control over personal information. Confidentiality is the professional duty to protect information. Privilege concerns protection from compelled disclosure in legal proceedings and depends on the applicable rules. Authorization is permission to release defined information to a defined recipient for a defined purpose. A family member, payer, referral source, or team member does not automatically have a right to information. Strong exam answers clarify who the client is, what the social worker’s role is, what authority exists, and whether limited relevant information can meet the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Self-determination means supporting informed client choice, including choices the social worker would not make. It does not mean ignoring danger, failing to provide information, or abandoning assessment. Clarify the client’s understanding of benefits, risks, alternatives, and consequences. Assess decision-specific capacity only when the facts raise a concern; do not equate disagreement with incapacity. Explore values, culture, work, caregiving, cost, transportation, prior harm, and access barriers. A limit on choice requires a supported legal, ethical, capacity, or serious safety basis and should be no broader than necessary. When possible, involve the client in even a protective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decisions require attention to power, vulnerability, clinical purpose, culture, community context, alternatives, and potential exploitation. Do not rigidly treat every gift, self-disclosure, or community contact as identical, but do not use context to excuse harmful or prohibited conduct. Competence includes education, training, supervised experience, current knowledge, and recognition of limits. Impairment requires action to protect clients and continuity. Social justice reasoning asks whether policy, language, disability, cost, transportation, technology, discrimination, or organizational practice prevents meaningful access. The answer may require advocacy or service adaptation, not only emotional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choosing what the worker believes is best instead of supporting informed choice; treating a signed form as the entire consent process; releasing a full record when limited information would meet the purpose; assuming family, payer, referral source, or team membership creates access; using confidentiality to avoid a stated safety or reporting duty; using consultation to delay an urgent action; labeling every boundary situation the same without assessing power and impact; and responding to discrimination only with coping advice while ignoring an actionable barrier. Also avoid confusing personal discomfort or cultural preference with an ethical violation.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adult client with a chronic medical condition plans to stop a recommended treatment because side effects interfere with work. The social worker strongly disagrees. The first response is not to threaten services, contact family without authority, or assume incapacity. Clarify the social worker’s role and the client’s understanding of benefits, risks, alternatives, and likely consequences. Assess whether there is a decision-specific capacity concern. Explore employment pressure, cost, transportation, caregiving, prior experiences, and whether the medical team has discussed alternatives. Support informed choice and appropriate coordination unless the facts establish a specific legal or serious safety limit. Document the discussion and follow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2 vignette, complete one CLEAR line: clarify the role and facts; locate the conflict; evaluate rights, risk, power, culture, and access; identify the least intrusive action; and name the documentation, consultation, or follow-up step. In your error log, mark paternalism, authority confusion, overdisclosure, capacity assumptions, boundary overgeneralization, competence limits, or missed social-justice action. Strong ethical reasoning protects both client rights and client welfare without using more control than the facts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467A6"/>
                </a:solidFill>
                <a:latin typeface="Aptos" pitchFamily="34" charset="0"/>
                <a:ea typeface="Aptos" pitchFamily="34" charset="-122"/>
                <a:cs typeface="Aptos" pitchFamily="34" charset="-120"/>
              </a:rPr>
              <a:t>Workbook 2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Values, Ethics, Self-Determination, and Social Justice</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Ethical questions are rarely solved by choosing the most restrictive or morally forceful answer.</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467A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467A6">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Values flow into role</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rights</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power</a:t>
            </a:r>
            <a:endParaRPr lang="en-US" sz="1140" dirty="0"/>
          </a:p>
        </p:txBody>
      </p:sp>
      <p:sp>
        <p:nvSpPr>
          <p:cNvPr id="20" name="Text 18"/>
          <p:cNvSpPr/>
          <p:nvPr/>
        </p:nvSpPr>
        <p:spPr>
          <a:xfrm>
            <a:off x="5325466" y="3822192"/>
            <a:ext cx="100218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21" name="Text 19"/>
          <p:cNvSpPr/>
          <p:nvPr/>
        </p:nvSpPr>
        <p:spPr>
          <a:xfrm>
            <a:off x="7498080" y="3474720"/>
            <a:ext cx="1668780" cy="80010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Values flow into role</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rights</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risk</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power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CLEAR Ethical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 means clarify the role, facts, setting, and governing duties.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467A6"/>
            </a:solidFill>
          </a:ln>
        </p:spPr>
        <p:txBody>
          <a:bodyPr wrap="square" lIns="508" tIns="508" rIns="508" bIns="508" rtlCol="0" anchor="ctr">
            <a:normAutofit/>
          </a:bodyPr>
          <a:lstStyle/>
          <a:p>
            <a:pPr algn="ctr" indent="0" marL="0">
              <a:buNone/>
            </a:pPr>
            <a:r>
              <a:rPr lang="en-US" sz="1220" b="1" dirty="0">
                <a:solidFill>
                  <a:srgbClr val="3467A6"/>
                </a:solidFill>
                <a:latin typeface="Aptos" pitchFamily="34" charset="0"/>
                <a:ea typeface="Aptos" pitchFamily="34" charset="-122"/>
                <a:cs typeface="Aptos" pitchFamily="34" charset="-120"/>
              </a:rPr>
              <a:t>Clarify</a:t>
            </a:r>
            <a:endParaRPr lang="en-US" sz="1220" dirty="0"/>
          </a:p>
        </p:txBody>
      </p:sp>
      <p:sp>
        <p:nvSpPr>
          <p:cNvPr id="12" name="Text 10"/>
          <p:cNvSpPr/>
          <p:nvPr/>
        </p:nvSpPr>
        <p:spPr>
          <a:xfrm>
            <a:off x="6793992" y="2368296"/>
            <a:ext cx="3557016"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Locate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Evaluate</a:t>
            </a:r>
            <a:endParaRPr lang="en-US" sz="1220" dirty="0"/>
          </a:p>
        </p:txBody>
      </p:sp>
      <p:sp>
        <p:nvSpPr>
          <p:cNvPr id="14" name="Text 12"/>
          <p:cNvSpPr/>
          <p:nvPr/>
        </p:nvSpPr>
        <p:spPr>
          <a:xfrm>
            <a:off x="7123176" y="3355848"/>
            <a:ext cx="2898648"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Act</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Review</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 means locate the ethical conflict and affected rights.</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Consultation may strengthen judgment, but it is not a substitute for an immediate action when…</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 Locate • Evaluate • Act • Review</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Consultation may strengthen judgment, but it is not a substitute for an immediate action when the facts already establish a serious danger 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Clarify Information Rights and Roles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Informed consent is an ongoing process that explains role, purpose, risks, benefits, alternatives, fees, records, technology, and foreseeable limits.</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Consent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confidentiality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privacy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privilege</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authorization appear in…</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Consent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Privacy concerns control over personal information.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exam answers clarify who the client is, what the social worker’s role is, what…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Collapse Different Concepts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exam answers clarify who the client is, what the social worker’s role is, what authority exists, and whether limited relevant…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Support Self-Determination Without Becoming Passive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Self-determination means supporting informed client choice, including choices the social worker would not make.</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client decision sits…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capacity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alternatives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barriers.</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A client decision sits…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does not mean ignoring danger, failing to provide information, or abandoning assessment.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possible, involve the client in even a protective response.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Informed Choice + Proportionate Limits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When possible, involve the client in even a protective response.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Power, Boundaries, Competence, and Social Justice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Boundary decisions require attention to power, vulnerability, clinical purpose, culture, community context, alternatives, and potential exploitation.</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Ask Who Benefits</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Who Is Pressured</a:t>
            </a:r>
            <a:endParaRPr lang="en-US" sz="1140" dirty="0"/>
          </a:p>
        </p:txBody>
      </p:sp>
      <p:sp>
        <p:nvSpPr>
          <p:cNvPr id="14" name="Text 12"/>
          <p:cNvSpPr/>
          <p:nvPr/>
        </p:nvSpPr>
        <p:spPr>
          <a:xfrm>
            <a:off x="9467088" y="2331720"/>
            <a:ext cx="136855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Who Is Excluded</a:t>
            </a:r>
            <a:endParaRPr lang="en-US" sz="1140" dirty="0"/>
          </a:p>
        </p:txBody>
      </p:sp>
      <p:sp>
        <p:nvSpPr>
          <p:cNvPr id="15" name="Text 13"/>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Ask Who Benefits</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rigidly treat every gift, self-disclosure, or community contact as identical, but do…</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answer may require advocacy or service adaptation, not only emotional support.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Who Benefits, Who Is Pressured, and Who Is Excluded</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answer may require advocacy or service adaptation, not only emotional support.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Examination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choosing what the worker believes is best instead of supporting informed choice; treating a signed form as the entire consent…</a:t>
            </a:r>
            <a:endParaRPr lang="en-US" sz="2080" dirty="0"/>
          </a:p>
        </p:txBody>
      </p:sp>
      <p:sp>
        <p:nvSpPr>
          <p:cNvPr id="11" name="Text 9"/>
          <p:cNvSpPr/>
          <p:nvPr/>
        </p:nvSpPr>
        <p:spPr>
          <a:xfrm>
            <a:off x="6446520" y="2011680"/>
            <a:ext cx="2103120" cy="109728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Trap cards show paternalism</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full-record release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payer access</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consultation delay</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Also avoid confusing personal discomfort or cultural preference with an ethical violation.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Also avoid confusing personal discomfort or cultural preference with an ethical violation.</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Protect Rights Without Overreaching</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Also avoid confusing personal discomfort or cultural preference with an ethical violation.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Client Declines Medical Treatment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An adult client with a chronic medical condition plans to stop a recommended treatment because side effects interfere with work.</a:t>
            </a:r>
            <a:endParaRPr lang="en-US" sz="2080" dirty="0"/>
          </a:p>
        </p:txBody>
      </p:sp>
      <p:sp>
        <p:nvSpPr>
          <p:cNvPr id="11" name="Shape 9"/>
          <p:cNvSpPr/>
          <p:nvPr/>
        </p:nvSpPr>
        <p:spPr>
          <a:xfrm>
            <a:off x="6537960" y="2148840"/>
            <a:ext cx="4160520" cy="2743200"/>
          </a:xfrm>
          <a:prstGeom prst="rect">
            <a:avLst>
              <a:gd name="adj" fmla="val 3333"/>
            </a:avLst>
          </a:prstGeom>
          <a:solidFill>
            <a:srgbClr val="EAF0F8"/>
          </a:solidFill>
          <a:ln w="15240">
            <a:solidFill>
              <a:srgbClr val="3467A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467A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467A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social worker strongly disagrees.</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Document the discussion and follow up.</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Understanding, Capacity, Barriers, and Choice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Document the discussion and follow up.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WB02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2 vignette, complete one CLEAR line: clarify the role and facts; locate the conflict; evaluate rights, risk, power, culture, and…</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Conflict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Rights/Risk/Power</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Review</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Role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paternalism, authority confusion, overdisclosure, capacity…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ethical reasoning protects both client rights and client welfare without using more…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Role • Conflict • Rights/Risk/Power • Action • Review</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ethical reasoning protects both client rights and client welfare without using more control than the facts support.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02 Companion: Workbook 2 Companion: Values, Ethics, Self-Determination, and Social Justice</dc:title>
  <dc:subject>LCSW Workbook 02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