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Clinical assessment is not a checklist performed after rapport is complete. Engagement itself provides information about trust, expectations, readiness, coercion, culture, communication, and the client’s experience of services. At the same time, rapport does not justify avoiding direct questions about danger, medical instability, substance use, or abuse when the facts support them. The goal is to gather enough reliable information to make the next decision while preserving dignity and participation. Workbook 4 emphasizes role clarity, trauma-informed pacing, accessible communication, mental status, functioning, strengths, needs, health, medication, substance use, collateral data, and person-in-environment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social worker’s role, referral or mandate, and any immediate safety or basic-needs priority. Explain the purpose of the contact and invite the client or client system’s perspective. Use active listening, validation, accessible communication, and trauma-informed pacing. Assess symptoms, functioning, mental status, strengths, needs, barriers, resources, motivation, readiness, and resilience. Clarify health, medication, substance, developmental, cultural, and environmental factors. Obtain relevant collateral information or records within role and permission requirements. Identify the most important missing information and consult or coordinate as needed. Collaborate on the least restrictive safe treatment, service, resource, referral, advocacy, or discharge step. Document and revise the assessment as circumstances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open questions to understand the client’s story, priorities, and meaning. Use reflection to communicate tentative understanding and invite correction. Use clarification when language is vague, such as “I lose it” or “everything gets bad.” Use focused or closed questions for timing, amount, access, current symptoms, medication changes, or safety. Use direct questions when a statement suggests suicide, violence, abuse, intoxication, or another urgent concern. Avoid leading questions, multiple questions at once, jargon, unnecessary confrontation, and premature interpretation. The best interviewing response fits the information need while preserving choice and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status examination describes current appearance, behavior, speech, mood, affect, thought process, thought content, perception, cognition, insight, and judgment. Document what was seen and heard before assigning meaning. Soft speech, delayed responses, or limited eye contact do not by themselves prove depression, deception, or poor insight. Compare new findings with baseline and consider language, culture, anxiety, disability, sleep, medication, substance use, pain, neurological change, and environmental stress. A sudden deviation from baseline may be more urgent than a familiar symptom label. Mental status informs the assessment; it does not replace history, collateral information, functioning, or person-in-environment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Collateral information may come from family, schools, medical providers, records, agencies, or other sources. Clarify the purpose, authority, relevance, and reliability of each source, and do not treat one report as the complete truth. Health and medication assessment includes recent starts, stops, missed doses, side effects, adherence barriers, pain, sleep, pregnancy, injury, and access to care. Substance assessment should be neutral and behaviorally specific: what, how much, how often, in what context, with what consequences, and with what intoxication or withdrawal risk. The social worker assesses and coordinates; the social worker does not prescribe or direct medication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selecting treatment before clarifying safety or missing information; interpreting behavior instead of documenting it; assuming a referral label or prior diagnosis is current; avoiding direct risk questions to preserve rapport; accepting collateral information without considering source and authority; pressing for trauma detail before establishing relevance and choice; telling the client to stop or change medication; labeling substance use with stigmatizing language; and ignoring basic needs or access barriers. The strongest answer identifies the unanswered question that most affects safety, formulation, level of care, or service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arrives for an intake after a recent medication change and appears newly confused, unsteady, and unable to follow questions. The client is also staying in temporary housing. The first response is not to complete the full psychosocial history, diagnose a psychiatric disorder, or interpret the presentation as lack of motivation. Assess immediate safety, consciousness, recent medication and substance use, injury, medical symptoms, and baseline. Arrange prompt medical evaluation at the level required by severity and address transportation or other access barriers. Once medical stability is addressed, the social worker can continue the broader assessment and service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4 vignette, write what is known, what is missing, who can provide the information, whether authority is needed, and how the answer changes urgency or the next step. In your error log, mark rapport-over-safety, observation-versus-inference, collateral-source errors, premature diagnosis, medication scope, substance-use assumptions, or ignored environmental barriers. Repeat the integrated assessment sequence until you can identify the most important missing information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D7A4D"/>
                </a:solidFill>
                <a:latin typeface="Aptos" pitchFamily="34" charset="0"/>
                <a:ea typeface="Aptos" pitchFamily="34" charset="-122"/>
                <a:cs typeface="Aptos" pitchFamily="34" charset="-120"/>
              </a:rPr>
              <a:t>Workbook 4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Clinical Assessment, Interviewing, and Mental Status</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Clinical assessment is not a checklist performed after rapport is complete.</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D7A4D"/>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D7A4D">
                <a:alpha val="75000"/>
              </a:srgbClr>
            </a:solidFill>
            <a:prstDash val="solid"/>
            <a:tailEnd type="triangle"/>
          </a:ln>
        </p:spPr>
      </p:sp>
      <p:sp>
        <p:nvSpPr>
          <p:cNvPr id="16" name="Text 14"/>
          <p:cNvSpPr/>
          <p:nvPr/>
        </p:nvSpPr>
        <p:spPr>
          <a:xfrm>
            <a:off x="658368"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7" name="Text 15"/>
          <p:cNvSpPr/>
          <p:nvPr/>
        </p:nvSpPr>
        <p:spPr>
          <a:xfrm>
            <a:off x="2602992"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8" name="Text 16"/>
          <p:cNvSpPr/>
          <p:nvPr/>
        </p:nvSpPr>
        <p:spPr>
          <a:xfrm>
            <a:off x="4547616" y="3822192"/>
            <a:ext cx="178003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9" name="Text 17"/>
          <p:cNvSpPr/>
          <p:nvPr/>
        </p:nvSpPr>
        <p:spPr>
          <a:xfrm>
            <a:off x="7498080" y="3474720"/>
            <a:ext cx="1668780" cy="80010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Clarify</a:t>
            </a:r>
            <a:endParaRPr lang="en-US" sz="1500" dirty="0"/>
          </a:p>
        </p:txBody>
      </p:sp>
      <p:sp>
        <p:nvSpPr>
          <p:cNvPr id="20" name="Text 18"/>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Assess</a:t>
            </a:r>
            <a:endParaRPr lang="en-US" sz="1500" dirty="0"/>
          </a:p>
        </p:txBody>
      </p:sp>
      <p:sp>
        <p:nvSpPr>
          <p:cNvPr id="21" name="Text 19"/>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Choose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Integrated Assessment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Clarify the social worker’s role, referral or mandate, and any immediate safety or basic-needs priority.</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3D7A4D"/>
            </a:solidFill>
          </a:ln>
        </p:spPr>
        <p:txBody>
          <a:bodyPr wrap="square" lIns="508" tIns="508" rIns="508" bIns="508" rtlCol="0" anchor="ctr">
            <a:normAutofit/>
          </a:bodyPr>
          <a:lstStyle/>
          <a:p>
            <a:pPr algn="ctr" indent="0" marL="0">
              <a:buNone/>
            </a:pPr>
            <a:r>
              <a:rPr lang="en-US" sz="1220" b="1" dirty="0">
                <a:solidFill>
                  <a:srgbClr val="3D7A4D"/>
                </a:solidFill>
                <a:latin typeface="Aptos" pitchFamily="34" charset="0"/>
                <a:ea typeface="Aptos" pitchFamily="34" charset="-122"/>
                <a:cs typeface="Aptos" pitchFamily="34" charset="-120"/>
              </a:rPr>
              <a:t>Role/Safety</a:t>
            </a:r>
            <a:endParaRPr lang="en-US" sz="1220" dirty="0"/>
          </a:p>
        </p:txBody>
      </p:sp>
      <p:sp>
        <p:nvSpPr>
          <p:cNvPr id="12" name="Text 10"/>
          <p:cNvSpPr/>
          <p:nvPr/>
        </p:nvSpPr>
        <p:spPr>
          <a:xfrm>
            <a:off x="6793992" y="2368296"/>
            <a:ext cx="3557016" cy="438912"/>
          </a:xfrm>
          <a:prstGeom prst="rect">
            <a:avLst/>
          </a:prstGeom>
          <a:solidFill>
            <a:srgbClr val="EAF3EC"/>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Perspective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Engagement</a:t>
            </a:r>
            <a:endParaRPr lang="en-US" sz="1220" dirty="0"/>
          </a:p>
        </p:txBody>
      </p:sp>
      <p:sp>
        <p:nvSpPr>
          <p:cNvPr id="14" name="Text 12"/>
          <p:cNvSpPr/>
          <p:nvPr/>
        </p:nvSpPr>
        <p:spPr>
          <a:xfrm>
            <a:off x="7123176" y="3355848"/>
            <a:ext cx="2898648" cy="438912"/>
          </a:xfrm>
          <a:prstGeom prst="rect">
            <a:avLst/>
          </a:prstGeom>
          <a:solidFill>
            <a:srgbClr val="EAF3EC"/>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Domains</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Health/Context</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Explain the purpose of the contact and invite the client or client system’s perspective.</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Document and revise the assessment as circumstances change.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Role/Safety → Perspective → Engagement → Domains → Health/Context → Collateral → Missing Data…</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Document and revise the assessment as circumstances change.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the Interviewing Tool to the Task</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Use open questions to understand the client’s story, priorities, and meaning.</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Open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focused</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reflective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clarifying</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direct questions point to…</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Open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reflection to communicate tentative understanding and invite correction.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best interviewing response fits the information need while preserving choice and respect.</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Broad for Story • Direct for Precision</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best interviewing response fits the information need while preserving choice and respect.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Mental Status as a Current Snapshot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The mental status examination describes current appearance, behavior, speech, mood, affect, thought process, thought content, perception, cognition,…</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Observe</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Describe</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Compare</a:t>
            </a:r>
            <a:endParaRPr lang="en-US" sz="1140" dirty="0"/>
          </a:p>
        </p:txBody>
      </p:sp>
      <p:sp>
        <p:nvSpPr>
          <p:cNvPr id="15" name="Text 13"/>
          <p:cNvSpPr/>
          <p:nvPr/>
        </p:nvSpPr>
        <p:spPr>
          <a:xfrm>
            <a:off x="9850374" y="2331720"/>
            <a:ext cx="98526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Contextualize</a:t>
            </a:r>
            <a:endParaRPr lang="en-US" sz="1140" dirty="0"/>
          </a:p>
        </p:txBody>
      </p:sp>
      <p:sp>
        <p:nvSpPr>
          <p:cNvPr id="16" name="Text 14"/>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Observe</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Document what was seen and heard before assigning meaning.</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Mental status informs the assessment; it does not replace history, collateral information,…</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Observe • Describe • Compare • Contextualize</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Mental status informs the assessment; it does not replace history, collateral information, functioning, or person-in-environment analysis.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Integrate Collateral, Health, Medication, and Substance Data</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Collateral information may come from family, schools, medical providers, records, agencies, or other sources.</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Source</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Authority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Relevance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Reliability</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Impact</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Source</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the purpose, authority, relevance, and reliability of each source, and do not treat…</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social worker assesses and coordinates; the social worker does not prescribe or direct…</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Source • Authority • Relevance • Reliability • Impact</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social worker assesses and coordinates; the social worker does not prescribe or direct medication changes.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selecting treatment before clarifying safety or missing information; interpreting behavior instead of documenting it; assuming…</a:t>
            </a:r>
            <a:endParaRPr lang="en-US" sz="2080" dirty="0"/>
          </a:p>
        </p:txBody>
      </p:sp>
      <p:sp>
        <p:nvSpPr>
          <p:cNvPr id="11" name="Text 9"/>
          <p:cNvSpPr/>
          <p:nvPr/>
        </p:nvSpPr>
        <p:spPr>
          <a:xfrm>
            <a:off x="6446520" y="2011680"/>
            <a:ext cx="2103120" cy="109728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Trap cards show…</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inference from behavior</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full reliance on collateral</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medication advice.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identifies the unanswered question that most affects safety, formulation,…</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identifies the unanswered question that most affects safety, formulation,…</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Describe Before Diagnosing; Assess Before Acting</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strongest answer identifies the unanswered question that most affects safety, formulation, level of care, or service fit.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New Confusion During Intake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arrives for an intake after a recent medication change and appears newly confused, unsteady, and unable to follow questions.</a:t>
            </a:r>
            <a:endParaRPr lang="en-US" sz="2080" dirty="0"/>
          </a:p>
        </p:txBody>
      </p:sp>
      <p:sp>
        <p:nvSpPr>
          <p:cNvPr id="11" name="Shape 9"/>
          <p:cNvSpPr/>
          <p:nvPr/>
        </p:nvSpPr>
        <p:spPr>
          <a:xfrm>
            <a:off x="6537960" y="2148840"/>
            <a:ext cx="4160520" cy="2743200"/>
          </a:xfrm>
          <a:prstGeom prst="rect">
            <a:avLst>
              <a:gd name="adj" fmla="val 3333"/>
            </a:avLst>
          </a:prstGeom>
          <a:solidFill>
            <a:srgbClr val="EAF3EC"/>
          </a:solidFill>
          <a:ln w="15240">
            <a:solidFill>
              <a:srgbClr val="3D7A4D">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D7A4D"/>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D7A4D">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client is also staying in temporary housing.</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Once medical stability is addressed, the social worker can continue the broader assessment and…</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Medical Risk and Baseline Before Routine Interviewing</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Once medical stability is addressed, the social worker can continue the broader assessment and service plan.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LCSW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4 vignette, write what is known, what is missing, who can provide the information, whether authority is needed, and how the answer…</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Known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Missing</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Source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Urgency</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Next Step</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Known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rapport-over-safety, observation-versus-inference, collateral-source…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Repeat the integrated assessment sequence until you can identify the most important missing…</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Known • Missing • Source • Urgency • Next Step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Repeat the integrated assessment sequence until you can identify the most important missing information quickly.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04 Companion: Workbook 4 Companion: Clinical Assessment, Interviewing, and Mental Status</dc:title>
  <dc:subject>LCSW Workbook 04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