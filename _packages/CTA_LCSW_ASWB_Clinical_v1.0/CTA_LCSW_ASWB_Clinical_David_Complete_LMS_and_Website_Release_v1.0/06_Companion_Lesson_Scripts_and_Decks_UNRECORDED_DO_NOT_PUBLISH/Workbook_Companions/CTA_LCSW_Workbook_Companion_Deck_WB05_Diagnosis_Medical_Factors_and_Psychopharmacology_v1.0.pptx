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Diagnostic reasoning organizes evidence; it should not replace assessment or client participation. The exam may present a familiar symptom pattern while also including medical, medication, substance, sleep, pain, trauma, grief, or environmental explanations. A diagnosis becomes stronger when the pattern, duration, severity, impairment, and exclusions are supported. It becomes weaker when the chronology is unclear, baseline has changed suddenly, or a competing health or substance factor has not been assessed. The social worker also considers how a working impression affects level of care, benefits, referrals, treatment, stigma, access, and the client’s understanding of the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safety and stability: immediate danger, altered consciousness, severe intoxication or withdrawal, acute medical concern, or inability to participate. Identify the presenting emotional, cognitive, behavioral, physical, relational, and functional pattern. Establish chronology and baseline. Review medical conditions, injury, pregnancy, pain, sleep, medication changes, interactions, side effects, and missed doses. Assess substance use and withdrawal risk. Compare diagnostic and contextual explanations and identify what separates them. Integrate housing, income, family, work, school, discrimination, health care, legal systems, and service access. Include the client’s understanding, priorities, and readiness. Then select the appropriate level of care, referral, consultation, resource, record review, or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working diagnosis is the best current explanation and may change with new information. A provisional diagnosis signals that important criteria or exclusions are still being evaluated. A differential is the set of plausible alternatives that must be compared. A rule-out indicates that a condition requires further assessment rather than that it is already established. Contextual factors describe conditions affecting symptoms, functioning, treatment, or access and may be central even when they are not psychiatric disorders. The exam often rewards the answer that maintains appropriate uncertainty and seeks the information that would most change the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confusion, fluctuating alertness, seizure, head injury, sudden weakness, severe headache, fever with behavioral change, falls, or rapid decline can indicate a medical or neurological problem. Severe sedation, agitation, tremor, rigidity, rash, restlessness, slurred speech, or falls after a medication change may require prompt medical or prescriber evaluation. Altered consciousness, slowed breathing, collapse, overheating, chest pain, or inability to stay awake may require emergency response. Substance timing, dose, intoxication, withdrawal, and periods of abstinence can clarify whether symptoms are independent, induced, worsened, or maintained by use. Do not reduce a health signal to motivation or personality.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social worker obtains an accurate medication history, including prescription drugs, over-the-counter products, supplements, as-needed medications, and substances used for symptom relief. Ask about purpose, recent changes, perceived benefit, side effects, understanding, missed doses, cost, transportation, pharmacy access, stigma, literacy, and daily routine. Encourage communication with the prescriber and coordinate with authorization when needed. Do not tell the client to start, stop, increase, or decrease a medication. A medication concern may also require immediate safety planning, medical evaluation, or a higher level of care depending on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naming a likely diagnosis when the question asks what to do first; ignoring medical access, pain, sleep, transportation, housing, or medication barriers because the psychiatric label seems obvious; accepting a prior record diagnosis or positive screen without current assessment; pathologizing understandable responses to oppression, poverty, migration, caregiving, grief, or danger; using diagnosis to override self-determination without evidence of incapacity or emergency; telling a client to change medication; and making a referral without assessing eligibility, accessibility, cost, readiness, and follow-through.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college student reports panic episodes that occur mainly after using high-potency cannabis. The strongest next step is not to diagnose panic disorder immediately or simply advise the student to stop without assessment. Clarify the timing, amount, potency, other substances, medical symptoms, sleep, baseline anxiety, episodes during abstinence, functional impact, safety, and readiness to discuss use. The social worker can provide information, use motivational or harm-reduction strategies, and coordinate medical assessment when indicated. The diagnostic question remains open until the relationship between substance use and symptoms is better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5 vignette, complete the nine diagnostic-health steps and underline the fact that most weakens the obvious diagnosis. In your error log, mark premature labeling, missing chronology, ignored baseline, medical red flags, medication scope, substance timing, contextual pathologizing, or referral without access planning. Strong diagnostic answers state what is supported, what remains uncertain, and what information or coordination will resolve the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B84C45"/>
                </a:solidFill>
                <a:latin typeface="Aptos" pitchFamily="34" charset="0"/>
                <a:ea typeface="Aptos" pitchFamily="34" charset="-122"/>
                <a:cs typeface="Aptos" pitchFamily="34" charset="-120"/>
              </a:rPr>
              <a:t>Workbook 5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Diagnosis, Medical Factors, and Psychopharmacology</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Diagnostic reasoning organizes evidence; it should not replace assessment or client participation.</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B84C45"/>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B84C45">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Symptoms</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chronology</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function</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exclusions</a:t>
            </a:r>
            <a:endParaRPr lang="en-US" sz="1140" dirty="0"/>
          </a:p>
        </p:txBody>
      </p:sp>
      <p:sp>
        <p:nvSpPr>
          <p:cNvPr id="20" name="Text 18"/>
          <p:cNvSpPr/>
          <p:nvPr/>
        </p:nvSpPr>
        <p:spPr>
          <a:xfrm>
            <a:off x="5325466" y="3822192"/>
            <a:ext cx="1002182"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context</a:t>
            </a:r>
            <a:endParaRPr lang="en-US" sz="1140" dirty="0"/>
          </a:p>
        </p:txBody>
      </p:sp>
      <p:sp>
        <p:nvSpPr>
          <p:cNvPr id="21" name="Text 19"/>
          <p:cNvSpPr/>
          <p:nvPr/>
        </p:nvSpPr>
        <p:spPr>
          <a:xfrm>
            <a:off x="7498080" y="3474720"/>
            <a:ext cx="1668780" cy="800100"/>
          </a:xfrm>
          <a:prstGeom prst="rect">
            <a:avLst/>
          </a:prstGeom>
          <a:solidFill>
            <a:srgbClr val="F7E7E5"/>
          </a:solidFill>
          <a:ln w="11430">
            <a:solidFill>
              <a:srgbClr val="B84C45"/>
            </a:solidFill>
          </a:ln>
        </p:spPr>
        <p:txBody>
          <a:bodyPr wrap="square" lIns="1016" tIns="1016" rIns="1016" bIns="1016" rtlCol="0" anchor="ctr">
            <a:normAutofit/>
          </a:bodyPr>
          <a:lstStyle/>
          <a:p>
            <a:pPr algn="ctr" indent="0" marL="0">
              <a:buNone/>
            </a:pPr>
            <a:r>
              <a:rPr lang="en-US" sz="1500" b="1" dirty="0">
                <a:solidFill>
                  <a:srgbClr val="B84C45"/>
                </a:solidFill>
                <a:latin typeface="Aptos Display" pitchFamily="34" charset="0"/>
                <a:ea typeface="Aptos Display" pitchFamily="34" charset="-122"/>
                <a:cs typeface="Aptos Display" pitchFamily="34" charset="-120"/>
              </a:rPr>
              <a:t>Symptoms</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chronology</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function</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exclusions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Nine-Step Diagnostic-Health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Begin with safety and stability: immediate danger, altered consciousness, severe intoxication or withdrawal, acute medical concern, or inability to…</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B84C45"/>
            </a:solidFill>
          </a:ln>
        </p:spPr>
        <p:txBody>
          <a:bodyPr wrap="square" lIns="508" tIns="508" rIns="508" bIns="508" rtlCol="0" anchor="ctr">
            <a:normAutofit/>
          </a:bodyPr>
          <a:lstStyle/>
          <a:p>
            <a:pPr algn="ctr" indent="0" marL="0">
              <a:buNone/>
            </a:pPr>
            <a:r>
              <a:rPr lang="en-US" sz="1220" b="1" dirty="0">
                <a:solidFill>
                  <a:srgbClr val="B84C45"/>
                </a:solidFill>
                <a:latin typeface="Aptos" pitchFamily="34" charset="0"/>
                <a:ea typeface="Aptos" pitchFamily="34" charset="-122"/>
                <a:cs typeface="Aptos" pitchFamily="34" charset="-120"/>
              </a:rPr>
              <a:t>Safety</a:t>
            </a:r>
            <a:endParaRPr lang="en-US" sz="1220" dirty="0"/>
          </a:p>
        </p:txBody>
      </p:sp>
      <p:sp>
        <p:nvSpPr>
          <p:cNvPr id="12" name="Text 10"/>
          <p:cNvSpPr/>
          <p:nvPr/>
        </p:nvSpPr>
        <p:spPr>
          <a:xfrm>
            <a:off x="6793992" y="2368296"/>
            <a:ext cx="3557016"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Pattern</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Chronology</a:t>
            </a:r>
            <a:endParaRPr lang="en-US" sz="1220" dirty="0"/>
          </a:p>
        </p:txBody>
      </p:sp>
      <p:sp>
        <p:nvSpPr>
          <p:cNvPr id="14" name="Text 12"/>
          <p:cNvSpPr/>
          <p:nvPr/>
        </p:nvSpPr>
        <p:spPr>
          <a:xfrm>
            <a:off x="7123176" y="3355848"/>
            <a:ext cx="2898648" cy="438912"/>
          </a:xfrm>
          <a:prstGeom prst="rect">
            <a:avLst/>
          </a:prstGeom>
          <a:solidFill>
            <a:srgbClr val="F7E7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Medical/Medication</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Substance</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Identify the presenting emotional, cognitive, behavioral, physical, relational, and functional…</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Then select the appropriate level of care, referral, consultation, resource, record review, or…</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Safety • Pattern • Chronology • Medical/Medication • Substance • Differential • PIE • Client •…</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Then select the appropriate level of care, referral, consultation, resource, record review, or follow-up.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Status Terms Accurately</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working diagnosis is the best current explanation and may change with new information.</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Working</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provisional</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differential</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rule-out</a:t>
            </a:r>
            <a:endParaRPr lang="en-US" sz="1140" dirty="0"/>
          </a:p>
        </p:txBody>
      </p:sp>
      <p:sp>
        <p:nvSpPr>
          <p:cNvPr id="16" name="Text 14"/>
          <p:cNvSpPr/>
          <p:nvPr/>
        </p:nvSpPr>
        <p:spPr>
          <a:xfrm>
            <a:off x="10080346" y="2331720"/>
            <a:ext cx="755294"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contextual formulations…</a:t>
            </a:r>
            <a:endParaRPr lang="en-US" sz="1140" dirty="0"/>
          </a:p>
        </p:txBody>
      </p:sp>
      <p:sp>
        <p:nvSpPr>
          <p:cNvPr id="17" name="Text 15"/>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Working</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provisional diagnosis signals that important criteria or exclusions are still being evaluated.</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exam often rewards the answer that maintains appropriate uncertainty and seeks the…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State What Is Supported and What Remains Uncertain</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exam often rewards the answer that maintains appropriate uncertainty and seeks the information that would most change the formulation.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Medical, Neurological, Medication, and Substance Factors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New confusion, fluctuating alertness, seizure, head injury, sudden weakness, severe headache, fever with behavioral change, falls, or rapid decline…</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New</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Fluctuating</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Physical</a:t>
            </a:r>
            <a:endParaRPr lang="en-US" sz="1140" dirty="0"/>
          </a:p>
        </p:txBody>
      </p:sp>
      <p:sp>
        <p:nvSpPr>
          <p:cNvPr id="15" name="Text 13"/>
          <p:cNvSpPr/>
          <p:nvPr/>
        </p:nvSpPr>
        <p:spPr>
          <a:xfrm>
            <a:off x="9850374" y="2331720"/>
            <a:ext cx="985266"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Time-Linked = Assess Health</a:t>
            </a:r>
            <a:endParaRPr lang="en-US" sz="1140" dirty="0"/>
          </a:p>
        </p:txBody>
      </p:sp>
      <p:sp>
        <p:nvSpPr>
          <p:cNvPr id="16" name="Text 14"/>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New</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Severe sedation, agitation, tremor, rigidity, rash, restlessness, slurred speech, or falls…</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reduce a health signal to motivation or personality.</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New, Fluctuating, Physical, or Time-Linked = Assess Health</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Do not reduce a health signal to motivation or personality.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Psychopharmacology Within Social Work Scope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The social worker obtains an accurate medication history, including prescription drugs, over-the-counter products, supplements, as-needed…</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Medication purpose</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benefit</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effects</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adherence barriers</a:t>
            </a:r>
            <a:endParaRPr lang="en-US" sz="1140" dirty="0"/>
          </a:p>
        </p:txBody>
      </p:sp>
      <p:sp>
        <p:nvSpPr>
          <p:cNvPr id="16" name="Text 14"/>
          <p:cNvSpPr/>
          <p:nvPr/>
        </p:nvSpPr>
        <p:spPr>
          <a:xfrm>
            <a:off x="10080346" y="2331720"/>
            <a:ext cx="755294"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prescriber communication</a:t>
            </a:r>
            <a:endParaRPr lang="en-US" sz="1140" dirty="0"/>
          </a:p>
        </p:txBody>
      </p:sp>
      <p:sp>
        <p:nvSpPr>
          <p:cNvPr id="17" name="Text 15"/>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Medication purpose</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Ask about purpose, recent changes, perceived benefit, side effects, understanding, missed…</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medication concern may also require immediate safety planning, medical evaluation, or a…</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 and Coordinate; Do Not Prescribe</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 medication concern may also require immediate safety planning, medical evaluation, or a higher level of care depending on severity.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naming a likely diagnosis when the question asks what to do first; ignoring medical access, pain, sleep, transportation,…</a:t>
            </a:r>
            <a:endParaRPr lang="en-US" sz="2080" dirty="0"/>
          </a:p>
        </p:txBody>
      </p:sp>
      <p:sp>
        <p:nvSpPr>
          <p:cNvPr id="11" name="Text 9"/>
          <p:cNvSpPr/>
          <p:nvPr/>
        </p:nvSpPr>
        <p:spPr>
          <a:xfrm>
            <a:off x="6446520" y="2011680"/>
            <a:ext cx="2103120" cy="1097280"/>
          </a:xfrm>
          <a:prstGeom prst="rect">
            <a:avLst/>
          </a:prstGeom>
          <a:solidFill>
            <a:srgbClr val="F7E7E5"/>
          </a:solidFill>
          <a:ln w="11430">
            <a:solidFill>
              <a:srgbClr val="B84C45"/>
            </a:solidFill>
          </a:ln>
        </p:spPr>
        <p:txBody>
          <a:bodyPr wrap="square" lIns="1016" tIns="1016" rIns="1016" bIns="1016" rtlCol="0" anchor="ctr">
            <a:normAutofit/>
          </a:bodyPr>
          <a:lstStyle/>
          <a:p>
            <a:pPr algn="ctr" indent="0" marL="0">
              <a:buNone/>
            </a:pPr>
            <a:r>
              <a:rPr lang="en-US" sz="1500" b="1" dirty="0">
                <a:solidFill>
                  <a:srgbClr val="B84C45"/>
                </a:solidFill>
                <a:latin typeface="Aptos Display" pitchFamily="34" charset="0"/>
                <a:ea typeface="Aptos Display" pitchFamily="34" charset="-122"/>
                <a:cs typeface="Aptos Display" pitchFamily="34" charset="-120"/>
              </a:rPr>
              <a:t>Trap cards show diagnosis…</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ignored health barriers</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prior-label reliance</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medication advice.</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Common traps include naming a likely diagnosis when the question asks what to do first;…</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Let a Familiar Label End the Assessment</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Common traps include naming a likely diagnosis when the question asks what to do first; ignoring medical access, pain, sleep, transportation,…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Panic After High-Potency Cannabis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college student reports panic episodes that occur mainly after using high-potency cannabis.</a:t>
            </a:r>
            <a:endParaRPr lang="en-US" sz="2080" dirty="0"/>
          </a:p>
        </p:txBody>
      </p:sp>
      <p:sp>
        <p:nvSpPr>
          <p:cNvPr id="11" name="Shape 9"/>
          <p:cNvSpPr/>
          <p:nvPr/>
        </p:nvSpPr>
        <p:spPr>
          <a:xfrm>
            <a:off x="6537960" y="2148840"/>
            <a:ext cx="4160520" cy="2743200"/>
          </a:xfrm>
          <a:prstGeom prst="rect">
            <a:avLst>
              <a:gd name="adj" fmla="val 3333"/>
            </a:avLst>
          </a:prstGeom>
          <a:solidFill>
            <a:srgbClr val="F7E7E5"/>
          </a:solidFill>
          <a:ln w="15240">
            <a:solidFill>
              <a:srgbClr val="B84C45">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B84C45"/>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B84C45">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strongest next step is not to diagnose panic disorder immediately or simply advise the…</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diagnostic question remains open until the relationship between substance use and symptoms…</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Clarify Timing and Competing Explanations Before Diagnosing</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diagnostic question remains open until the relationship between substance use and symptoms is better understood.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B84C45"/>
          </a:solidFill>
          <a:ln w="12700">
            <a:solidFill>
              <a:srgbClr val="B84C45">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B84C45"/>
                </a:solidFill>
                <a:latin typeface="Aptos" pitchFamily="34" charset="0"/>
                <a:ea typeface="Aptos" pitchFamily="34" charset="-122"/>
                <a:cs typeface="Aptos" pitchFamily="34" charset="-120"/>
              </a:rPr>
              <a:t>LCSW WORKBOOK 05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WB05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B84C45"/>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5 vignette, complete the nine diagnostic-health steps and underline the fact that most weakens the obvious diagnosis.</a:t>
            </a:r>
            <a:endParaRPr lang="en-US" sz="2080" dirty="0"/>
          </a:p>
        </p:txBody>
      </p:sp>
      <p:sp>
        <p:nvSpPr>
          <p:cNvPr id="11" name="Shape 9"/>
          <p:cNvSpPr/>
          <p:nvPr/>
        </p:nvSpPr>
        <p:spPr>
          <a:xfrm>
            <a:off x="6537960" y="2624328"/>
            <a:ext cx="4160520" cy="0"/>
          </a:xfrm>
          <a:prstGeom prst="line">
            <a:avLst/>
          </a:prstGeom>
          <a:noFill/>
          <a:ln w="13970">
            <a:solidFill>
              <a:srgbClr val="B84C45">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Pattern</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Time</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Baseline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Health</a:t>
            </a:r>
            <a:endParaRPr lang="en-US" sz="1140" dirty="0"/>
          </a:p>
        </p:txBody>
      </p:sp>
      <p:sp>
        <p:nvSpPr>
          <p:cNvPr id="16" name="Text 14"/>
          <p:cNvSpPr/>
          <p:nvPr/>
        </p:nvSpPr>
        <p:spPr>
          <a:xfrm>
            <a:off x="10080346" y="2331720"/>
            <a:ext cx="755294" cy="594360"/>
          </a:xfrm>
          <a:prstGeom prst="rect">
            <a:avLst/>
          </a:prstGeom>
          <a:solidFill>
            <a:srgbClr val="B84C45"/>
          </a:solidFill>
          <a:ln w="10160">
            <a:solidFill>
              <a:srgbClr val="B84C45"/>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Substance</a:t>
            </a:r>
            <a:endParaRPr lang="en-US" sz="1140" dirty="0"/>
          </a:p>
        </p:txBody>
      </p:sp>
      <p:sp>
        <p:nvSpPr>
          <p:cNvPr id="17" name="Text 15"/>
          <p:cNvSpPr/>
          <p:nvPr/>
        </p:nvSpPr>
        <p:spPr>
          <a:xfrm>
            <a:off x="7086600" y="3401568"/>
            <a:ext cx="3063240" cy="914400"/>
          </a:xfrm>
          <a:prstGeom prst="rect">
            <a:avLst/>
          </a:prstGeom>
          <a:solidFill>
            <a:srgbClr val="F7E7E5"/>
          </a:solidFill>
          <a:ln w="13970">
            <a:solidFill>
              <a:srgbClr val="B84C45">
                <a:alpha val="75000"/>
              </a:srgbClr>
            </a:solidFill>
          </a:ln>
        </p:spPr>
        <p:txBody>
          <a:bodyPr wrap="square" lIns="635" tIns="635" rIns="635" bIns="635" rtlCol="0" anchor="ctr">
            <a:normAutofit/>
          </a:bodyPr>
          <a:lstStyle/>
          <a:p>
            <a:pPr algn="ctr" indent="0" marL="0">
              <a:buNone/>
            </a:pPr>
            <a:r>
              <a:rPr lang="en-US" sz="2200" b="1" dirty="0">
                <a:solidFill>
                  <a:srgbClr val="B84C45"/>
                </a:solidFill>
                <a:latin typeface="Aptos Display" pitchFamily="34" charset="0"/>
                <a:ea typeface="Aptos Display" pitchFamily="34" charset="-122"/>
                <a:cs typeface="Aptos Display" pitchFamily="34" charset="-120"/>
              </a:rPr>
              <a:t>Pattern</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mark premature labeling, missing chronology, ignored baseline, medical red…</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diagnostic answers state what is supported, what remains uncertain, and what…</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B84C45"/>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Pattern • Time • Baseline • Health • Substance • Differential • Context • Client • Plan</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B84C45"/>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diagnostic answers state what is supported, what remains uncertain, and what information or coordination will resolve the uncertainty.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Workbook 05 Companion: Workbook 5 Companion: Diagnosis, Medical Factors, and Psychopharmacology</dc:title>
  <dc:subject>LCSW Workbook 05 Companion</dc:subject>
  <dc:creator>Clinical Training Academy</dc:creator>
  <cp:lastModifiedBy>Clinical Training Academy</cp:lastModifiedBy>
  <cp:revision>1</cp:revision>
  <dcterms:created xsi:type="dcterms:W3CDTF">2026-07-25T22:41:47Z</dcterms:created>
  <dcterms:modified xsi:type="dcterms:W3CDTF">2026-07-25T22:41:47Z</dcterms:modified>
</cp:coreProperties>
</file>