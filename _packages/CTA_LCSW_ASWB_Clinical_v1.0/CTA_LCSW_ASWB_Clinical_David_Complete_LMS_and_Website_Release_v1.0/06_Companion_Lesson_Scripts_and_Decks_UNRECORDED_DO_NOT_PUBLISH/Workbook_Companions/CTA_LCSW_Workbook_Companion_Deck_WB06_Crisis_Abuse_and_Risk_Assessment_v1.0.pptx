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Crisis questions are not solved by choosing the most restrictive action or the most reassuring response. They test whether the social worker can identify urgency, ask direct questions, integrate person-in-environment conditions, preserve self-determination when possible, and select a response that is both safe and realistic. Housing, language, transportation, caregiving, technology, discrimination, health care, and service availability may determine whether a safety plan can actually be used. The goal is not to eliminate all uncertainty. It is to gather enough information to choose the least restrictive response that adequately addresses the level of danger and to ensure handoff and reassessment.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 means stabilize immediate danger and medical instability. A means assess directly and specifically. F means formulate risk in person-in-environment context. E means execute the least restrictive safe response. Then use REAL. R asks whether resources are reachable and appropriate. E engages the client or client system in the plan. A addresses access, language, disability, cost, transportation, technology, and caregiving. L links the client to help, follows up, and reassesses. This sequence applies across suicide, self-harm, violence, abuse, neglect, overdose, intoxication, withdrawal, self-neglect, disaster, displacement, and homelessness. The exact action changes, but direct assessment and realistic follow-through remain constant.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client expresses hopelessness, burdensomeness, a wish not to wake up, violent intent, abuse, or another warning sign, ask direct questions. Clarify current thoughts, intent, plan, access to means, preparations, recent behavior, frequency, controllability, triggers, prior attempts or violence, intoxication, psychosis, sleep loss, and protective factors. Formulation also includes the person’s ability to participate, the safety of the environment, access to help, caregiving responsibilities, and barriers to using the plan. A denial of current intent does not erase all risk, and the presence of thoughts does not automatically require hospitalization. Match the response to acuity and feasibility.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Adults ordinarily retain the right to make choices that professionals dislike. Assess whether the client understands the situation, appreciates likely consequences, can reason about options, and can communicate a choice when capacity is relevant. Do not assume incapacity because a decision appears risky, because the client is older, unhoused, disabled, or living with a diagnosis. At the same time, immediate danger, inability to care for basic needs, severe impairment, medical instability, or a supported protective duty may require action. Choose the least restrictive effective response and involve the client in the plan to the greatest extent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Abuse, neglect, exploitation, intimate partner violence, stalking, sexual assault, overdose, withdrawal, and medical instability require category-specific assessment. Follow the legal duty provided by the question or use jurisdiction-neutral ethical reasoning when none is supplied. Do not import a local rule into a national item. In intimate partner violence, assess danger, coercion, safe communication, technology risks, children, pets, shelter access, and the client’s choices. In overdose, dangerous withdrawal, altered consciousness, or severe physical symptoms, medical response may precede routine psychosocial work. In homelessness or disaster, integrate safety with shelter, medication, communication, transportation, and continuity.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traps include addressing housing before assessing a death wish, ignoring medical instability, overriding an adult survivor’s choices without a supported basis, assuming refusal ends services, importing jurisdiction-specific law, using consultation instead of an urgent action, relying on a promise or no-harm contract instead of assessment, and giving a generic referral without checking availability, eligibility, language, transportation, cost, safety, and follow-up. Another trap is choosing hospitalization for every risk signal or avoiding hospitalization when the person cannot remain safe. The response must fit acuity.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client who recently lost housing says, “I cannot do this anymore. I wish I would not wake up.” Housing assistance is important, but the statement requires direct suicide assessment before the social worker can determine disposition. Ask about active thoughts, intent, plan, means, recent behavior, substance use, protective factors, and the ability to remain safe. Then integrate housing, transportation, phone access, medication, supports, and reachable crisis resources into the least restrictive safe plan. Confirm the handoff and schedule reassessment. The strong answer addresses both the immediate risk signal and the environmental crisis rather than choosing one and ignoring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Workbook 6 vignette, identify the immediate danger or medical issue, the direct questions required, the person-in-environment factors that change acuity, the least restrictive safe response, whether the resources are reachable, and who will follow up. In your error log, mark urgency, sequence, capacity, self-determination, legal-versus-clinical reasoning, access, or handoff. A safety plan is only as strong as the client’s ability and opportunity to use it under stress.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C99700"/>
          </a:solidFill>
          <a:ln w="12700">
            <a:solidFill>
              <a:srgbClr val="C99700">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C99700"/>
                </a:solidFill>
                <a:latin typeface="Aptos" pitchFamily="34" charset="0"/>
                <a:ea typeface="Aptos" pitchFamily="34" charset="-122"/>
                <a:cs typeface="Aptos" pitchFamily="34" charset="-120"/>
              </a:rPr>
              <a:t>LCSW WORKBOOK 06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WB06 • 01/8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C99700"/>
                </a:solidFill>
                <a:latin typeface="Aptos Display" pitchFamily="34" charset="0"/>
                <a:ea typeface="Aptos Display" pitchFamily="34" charset="-122"/>
                <a:cs typeface="Aptos Display" pitchFamily="34" charset="-120"/>
              </a:rPr>
              <a:t>01</a:t>
            </a:r>
            <a:endParaRPr lang="en-US" sz="3200" dirty="0"/>
          </a:p>
        </p:txBody>
      </p:sp>
      <p:sp>
        <p:nvSpPr>
          <p:cNvPr id="9" name="Text 7"/>
          <p:cNvSpPr/>
          <p:nvPr/>
        </p:nvSpPr>
        <p:spPr>
          <a:xfrm>
            <a:off x="566928" y="914400"/>
            <a:ext cx="3840480" cy="310896"/>
          </a:xfrm>
          <a:prstGeom prst="rect">
            <a:avLst/>
          </a:prstGeom>
          <a:noFill/>
          <a:ln/>
        </p:spPr>
        <p:txBody>
          <a:bodyPr wrap="square" lIns="0" tIns="0" rIns="0" bIns="0" rtlCol="0" anchor="ctr"/>
          <a:lstStyle/>
          <a:p>
            <a:pPr indent="0" marL="0">
              <a:buNone/>
            </a:pPr>
            <a:r>
              <a:rPr lang="en-US" sz="1420" b="1" dirty="0">
                <a:solidFill>
                  <a:srgbClr val="C99700"/>
                </a:solidFill>
                <a:latin typeface="Aptos" pitchFamily="34" charset="0"/>
                <a:ea typeface="Aptos" pitchFamily="34" charset="-122"/>
                <a:cs typeface="Aptos" pitchFamily="34" charset="-120"/>
              </a:rPr>
              <a:t>Workbook 6 Companion</a:t>
            </a:r>
            <a:endParaRPr lang="en-US" sz="1420" dirty="0"/>
          </a:p>
        </p:txBody>
      </p:sp>
      <p:sp>
        <p:nvSpPr>
          <p:cNvPr id="10" name="Text 8"/>
          <p:cNvSpPr/>
          <p:nvPr/>
        </p:nvSpPr>
        <p:spPr>
          <a:xfrm>
            <a:off x="566928" y="1298448"/>
            <a:ext cx="6583680" cy="1024128"/>
          </a:xfrm>
          <a:prstGeom prst="rect">
            <a:avLst/>
          </a:prstGeom>
          <a:noFill/>
          <a:ln/>
        </p:spPr>
        <p:txBody>
          <a:bodyPr wrap="square" lIns="127" tIns="127" rIns="127" bIns="127" rtlCol="0" anchor="ctr">
            <a:normAutofit/>
          </a:bodyPr>
          <a:lstStyle/>
          <a:p>
            <a:pPr indent="0" marL="0">
              <a:buNone/>
            </a:pPr>
            <a:r>
              <a:rPr lang="en-US" sz="3100" b="1" dirty="0">
                <a:solidFill>
                  <a:srgbClr val="10263F"/>
                </a:solidFill>
                <a:latin typeface="Aptos Display" pitchFamily="34" charset="0"/>
                <a:ea typeface="Aptos Display" pitchFamily="34" charset="-122"/>
                <a:cs typeface="Aptos Display" pitchFamily="34" charset="-120"/>
              </a:rPr>
              <a:t>Crisis, Abuse, and Risk Assessment</a:t>
            </a:r>
            <a:endParaRPr lang="en-US" sz="3100" dirty="0"/>
          </a:p>
        </p:txBody>
      </p:sp>
      <p:sp>
        <p:nvSpPr>
          <p:cNvPr id="11" name="Text 9"/>
          <p:cNvSpPr/>
          <p:nvPr/>
        </p:nvSpPr>
        <p:spPr>
          <a:xfrm>
            <a:off x="585216" y="2432304"/>
            <a:ext cx="5852160" cy="310896"/>
          </a:xfrm>
          <a:prstGeom prst="rect">
            <a:avLst/>
          </a:prstGeom>
          <a:noFill/>
          <a:ln/>
        </p:spPr>
        <p:txBody>
          <a:bodyPr wrap="square" lIns="0" tIns="0" rIns="0" bIns="0" rtlCol="0" anchor="ctr"/>
          <a:lstStyle/>
          <a:p>
            <a:pPr indent="0" marL="0">
              <a:buNone/>
            </a:pPr>
            <a:r>
              <a:rPr lang="en-US" sz="1320" dirty="0">
                <a:solidFill>
                  <a:srgbClr val="5A6675"/>
                </a:solidFill>
                <a:latin typeface="Aptos" pitchFamily="34" charset="0"/>
                <a:ea typeface="Aptos" pitchFamily="34" charset="-122"/>
                <a:cs typeface="Aptos" pitchFamily="34" charset="-120"/>
              </a:rPr>
              <a:t>Ready-to-record CTA workbook companion deck</a:t>
            </a:r>
            <a:endParaRPr lang="en-US" sz="1320" dirty="0"/>
          </a:p>
        </p:txBody>
      </p:sp>
      <p:sp>
        <p:nvSpPr>
          <p:cNvPr id="12" name="Text 10"/>
          <p:cNvSpPr/>
          <p:nvPr/>
        </p:nvSpPr>
        <p:spPr>
          <a:xfrm>
            <a:off x="7571232" y="1810512"/>
            <a:ext cx="3429000" cy="1188720"/>
          </a:xfrm>
          <a:prstGeom prst="rect">
            <a:avLst/>
          </a:prstGeom>
          <a:noFill/>
          <a:ln/>
        </p:spPr>
        <p:txBody>
          <a:bodyPr wrap="square" lIns="254" tIns="254" rIns="254" bIns="254" rtlCol="0" anchor="ctr">
            <a:normAutofit/>
          </a:bodyPr>
          <a:lstStyle/>
          <a:p>
            <a:pPr indent="0" marL="0">
              <a:buNone/>
            </a:pPr>
            <a:r>
              <a:rPr lang="en-US" sz="1960" b="1" dirty="0">
                <a:solidFill>
                  <a:srgbClr val="1D2838"/>
                </a:solidFill>
                <a:latin typeface="Aptos Display" pitchFamily="34" charset="0"/>
                <a:ea typeface="Aptos Display" pitchFamily="34" charset="-122"/>
                <a:cs typeface="Aptos Display" pitchFamily="34" charset="-120"/>
              </a:rPr>
              <a:t>Crisis questions are not solved by choosing the most restrictive action or the most reassuring response.</a:t>
            </a:r>
            <a:endParaRPr lang="en-US" sz="1960" dirty="0"/>
          </a:p>
        </p:txBody>
      </p:sp>
      <p:sp>
        <p:nvSpPr>
          <p:cNvPr id="13" name="Text 11"/>
          <p:cNvSpPr/>
          <p:nvPr/>
        </p:nvSpPr>
        <p:spPr>
          <a:xfrm>
            <a:off x="7552944" y="5468112"/>
            <a:ext cx="3520440" cy="384048"/>
          </a:xfrm>
          <a:prstGeom prst="rect">
            <a:avLst/>
          </a:prstGeom>
          <a:noFill/>
          <a:ln/>
        </p:spPr>
        <p:txBody>
          <a:bodyPr wrap="square" lIns="0" tIns="0" rIns="0" bIns="0" rtlCol="0" anchor="ctr">
            <a:normAutofit/>
          </a:bodyPr>
          <a:lstStyle/>
          <a:p>
            <a:pPr indent="0" marL="0">
              <a:buNone/>
            </a:pPr>
            <a:r>
              <a:rPr lang="en-US" sz="1220" dirty="0">
                <a:solidFill>
                  <a:srgbClr val="5A6675"/>
                </a:solidFill>
                <a:latin typeface="Aptos" pitchFamily="34" charset="0"/>
                <a:ea typeface="Aptos" pitchFamily="34" charset="-122"/>
                <a:cs typeface="Aptos" pitchFamily="34" charset="-120"/>
              </a:rPr>
              <a:t>Speaker notes are synchronized with the Word narration script.</a:t>
            </a:r>
            <a:endParaRPr lang="en-US" sz="1220" dirty="0"/>
          </a:p>
        </p:txBody>
      </p:sp>
      <p:sp>
        <p:nvSpPr>
          <p:cNvPr id="14" name="Text 12"/>
          <p:cNvSpPr/>
          <p:nvPr/>
        </p:nvSpPr>
        <p:spPr>
          <a:xfrm>
            <a:off x="585216" y="5340096"/>
            <a:ext cx="3429000" cy="301752"/>
          </a:xfrm>
          <a:prstGeom prst="rect">
            <a:avLst/>
          </a:prstGeom>
          <a:solidFill>
            <a:srgbClr val="C99700"/>
          </a:solidFill>
          <a:ln/>
        </p:spPr>
        <p:txBody>
          <a:bodyPr wrap="square" lIns="254" tIns="254" rIns="254" bIns="254" rtlCol="0" anchor="ctr"/>
          <a:lstStyle/>
          <a:p>
            <a:pPr algn="ctr" indent="0" marL="0">
              <a:buNone/>
            </a:pPr>
            <a:r>
              <a:rPr lang="en-US" sz="1030" b="1" dirty="0">
                <a:solidFill>
                  <a:srgbClr val="FFFFFF"/>
                </a:solidFill>
                <a:latin typeface="Aptos" pitchFamily="34" charset="0"/>
                <a:ea typeface="Aptos" pitchFamily="34" charset="-122"/>
                <a:cs typeface="Aptos" pitchFamily="34" charset="-120"/>
              </a:rPr>
              <a:t>8–10 MINUTE COMPANION LESSON</a:t>
            </a:r>
            <a:endParaRPr lang="en-US" sz="1030" dirty="0"/>
          </a:p>
        </p:txBody>
      </p:sp>
      <p:sp>
        <p:nvSpPr>
          <p:cNvPr id="15" name="Shape 13"/>
          <p:cNvSpPr/>
          <p:nvPr/>
        </p:nvSpPr>
        <p:spPr>
          <a:xfrm>
            <a:off x="795528" y="4114800"/>
            <a:ext cx="5394960" cy="0"/>
          </a:xfrm>
          <a:prstGeom prst="line">
            <a:avLst/>
          </a:prstGeom>
          <a:noFill/>
          <a:ln w="13970">
            <a:solidFill>
              <a:srgbClr val="C99700">
                <a:alpha val="75000"/>
              </a:srgbClr>
            </a:solidFill>
            <a:prstDash val="solid"/>
            <a:tailEnd type="triangle"/>
          </a:ln>
        </p:spPr>
      </p:sp>
      <p:sp>
        <p:nvSpPr>
          <p:cNvPr id="16" name="Text 14"/>
          <p:cNvSpPr/>
          <p:nvPr/>
        </p:nvSpPr>
        <p:spPr>
          <a:xfrm>
            <a:off x="658368" y="3822192"/>
            <a:ext cx="100218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Risk</a:t>
            </a:r>
            <a:endParaRPr lang="en-US" sz="1140" dirty="0"/>
          </a:p>
        </p:txBody>
      </p:sp>
      <p:sp>
        <p:nvSpPr>
          <p:cNvPr id="17" name="Text 15"/>
          <p:cNvSpPr/>
          <p:nvPr/>
        </p:nvSpPr>
        <p:spPr>
          <a:xfrm>
            <a:off x="1825142" y="3822192"/>
            <a:ext cx="100218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capacity</a:t>
            </a:r>
            <a:endParaRPr lang="en-US" sz="1140" dirty="0"/>
          </a:p>
        </p:txBody>
      </p:sp>
      <p:sp>
        <p:nvSpPr>
          <p:cNvPr id="18" name="Text 16"/>
          <p:cNvSpPr/>
          <p:nvPr/>
        </p:nvSpPr>
        <p:spPr>
          <a:xfrm>
            <a:off x="2991917" y="3822192"/>
            <a:ext cx="100218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environment</a:t>
            </a:r>
            <a:endParaRPr lang="en-US" sz="1140" dirty="0"/>
          </a:p>
        </p:txBody>
      </p:sp>
      <p:sp>
        <p:nvSpPr>
          <p:cNvPr id="19" name="Text 17"/>
          <p:cNvSpPr/>
          <p:nvPr/>
        </p:nvSpPr>
        <p:spPr>
          <a:xfrm>
            <a:off x="4158691" y="3822192"/>
            <a:ext cx="100218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resources</a:t>
            </a:r>
            <a:endParaRPr lang="en-US" sz="1140" dirty="0"/>
          </a:p>
        </p:txBody>
      </p:sp>
      <p:sp>
        <p:nvSpPr>
          <p:cNvPr id="20" name="Text 18"/>
          <p:cNvSpPr/>
          <p:nvPr/>
        </p:nvSpPr>
        <p:spPr>
          <a:xfrm>
            <a:off x="5325466" y="3822192"/>
            <a:ext cx="1002182" cy="594360"/>
          </a:xfrm>
          <a:prstGeom prst="rect">
            <a:avLst/>
          </a:prstGeom>
          <a:solidFill>
            <a:srgbClr val="C99700"/>
          </a:solidFill>
          <a:ln w="10160">
            <a:solidFill>
              <a:srgbClr val="C99700"/>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follow-up form a crisis…</a:t>
            </a:r>
            <a:endParaRPr lang="en-US" sz="1140" dirty="0"/>
          </a:p>
        </p:txBody>
      </p:sp>
      <p:sp>
        <p:nvSpPr>
          <p:cNvPr id="21" name="Text 19"/>
          <p:cNvSpPr/>
          <p:nvPr/>
        </p:nvSpPr>
        <p:spPr>
          <a:xfrm>
            <a:off x="7498080" y="3474720"/>
            <a:ext cx="1668780" cy="800100"/>
          </a:xfrm>
          <a:prstGeom prst="rect">
            <a:avLst/>
          </a:prstGeom>
          <a:solidFill>
            <a:srgbClr val="FFF6DD"/>
          </a:solidFill>
          <a:ln w="11430">
            <a:solidFill>
              <a:srgbClr val="C99700"/>
            </a:solidFill>
          </a:ln>
        </p:spPr>
        <p:txBody>
          <a:bodyPr wrap="square" lIns="1016" tIns="1016" rIns="1016" bIns="1016" rtlCol="0" anchor="ctr">
            <a:normAutofit/>
          </a:bodyPr>
          <a:lstStyle/>
          <a:p>
            <a:pPr algn="ctr" indent="0" marL="0">
              <a:buNone/>
            </a:pPr>
            <a:r>
              <a:rPr lang="en-US" sz="1500" b="1" dirty="0">
                <a:solidFill>
                  <a:srgbClr val="C99700"/>
                </a:solidFill>
                <a:latin typeface="Aptos Display" pitchFamily="34" charset="0"/>
                <a:ea typeface="Aptos Display" pitchFamily="34" charset="-122"/>
                <a:cs typeface="Aptos Display" pitchFamily="34" charset="-120"/>
              </a:rPr>
              <a:t>Risk</a:t>
            </a:r>
            <a:endParaRPr lang="en-US" sz="1500" dirty="0"/>
          </a:p>
        </p:txBody>
      </p:sp>
      <p:sp>
        <p:nvSpPr>
          <p:cNvPr id="22" name="Text 20"/>
          <p:cNvSpPr/>
          <p:nvPr/>
        </p:nvSpPr>
        <p:spPr>
          <a:xfrm>
            <a:off x="9304020" y="347472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capacity</a:t>
            </a:r>
            <a:endParaRPr lang="en-US" sz="1500" dirty="0"/>
          </a:p>
        </p:txBody>
      </p:sp>
      <p:sp>
        <p:nvSpPr>
          <p:cNvPr id="23" name="Text 21"/>
          <p:cNvSpPr/>
          <p:nvPr/>
        </p:nvSpPr>
        <p:spPr>
          <a:xfrm>
            <a:off x="7498080" y="441198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environment</a:t>
            </a:r>
            <a:endParaRPr lang="en-US" sz="1500" dirty="0"/>
          </a:p>
        </p:txBody>
      </p:sp>
      <p:sp>
        <p:nvSpPr>
          <p:cNvPr id="24" name="Text 22"/>
          <p:cNvSpPr/>
          <p:nvPr/>
        </p:nvSpPr>
        <p:spPr>
          <a:xfrm>
            <a:off x="9304020" y="441198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resources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C99700"/>
          </a:solidFill>
          <a:ln w="12700">
            <a:solidFill>
              <a:srgbClr val="C99700">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C99700"/>
                </a:solidFill>
                <a:latin typeface="Aptos" pitchFamily="34" charset="0"/>
                <a:ea typeface="Aptos" pitchFamily="34" charset="-122"/>
                <a:cs typeface="Aptos" pitchFamily="34" charset="-120"/>
              </a:rPr>
              <a:t>LCSW WORKBOOK 06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WB06 • 02/8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C99700"/>
                </a:solidFill>
                <a:latin typeface="Aptos Display" pitchFamily="34" charset="0"/>
                <a:ea typeface="Aptos Display" pitchFamily="34" charset="-122"/>
                <a:cs typeface="Aptos Display" pitchFamily="34" charset="-120"/>
              </a:rPr>
              <a:t>02</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Use SAFE + REAL</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S means stabilize immediate danger and medical instability.</a:t>
            </a:r>
            <a:endParaRPr lang="en-US" sz="2080" dirty="0"/>
          </a:p>
        </p:txBody>
      </p:sp>
      <p:sp>
        <p:nvSpPr>
          <p:cNvPr id="11" name="Text 9"/>
          <p:cNvSpPr/>
          <p:nvPr/>
        </p:nvSpPr>
        <p:spPr>
          <a:xfrm>
            <a:off x="6629400" y="1874520"/>
            <a:ext cx="3886200" cy="438912"/>
          </a:xfrm>
          <a:prstGeom prst="rect">
            <a:avLst/>
          </a:prstGeom>
          <a:solidFill>
            <a:srgbClr val="FFFFFF"/>
          </a:solidFill>
          <a:ln w="10795">
            <a:solidFill>
              <a:srgbClr val="C99700"/>
            </a:solidFill>
          </a:ln>
        </p:spPr>
        <p:txBody>
          <a:bodyPr wrap="square" lIns="508" tIns="508" rIns="508" bIns="508" rtlCol="0" anchor="ctr">
            <a:normAutofit/>
          </a:bodyPr>
          <a:lstStyle/>
          <a:p>
            <a:pPr algn="ctr" indent="0" marL="0">
              <a:buNone/>
            </a:pPr>
            <a:r>
              <a:rPr lang="en-US" sz="1220" b="1" dirty="0">
                <a:solidFill>
                  <a:srgbClr val="C99700"/>
                </a:solidFill>
                <a:latin typeface="Aptos" pitchFamily="34" charset="0"/>
                <a:ea typeface="Aptos" pitchFamily="34" charset="-122"/>
                <a:cs typeface="Aptos" pitchFamily="34" charset="-120"/>
              </a:rPr>
              <a:t>Stabilize</a:t>
            </a:r>
            <a:endParaRPr lang="en-US" sz="1220" dirty="0"/>
          </a:p>
        </p:txBody>
      </p:sp>
      <p:sp>
        <p:nvSpPr>
          <p:cNvPr id="12" name="Text 10"/>
          <p:cNvSpPr/>
          <p:nvPr/>
        </p:nvSpPr>
        <p:spPr>
          <a:xfrm>
            <a:off x="6793992" y="2368296"/>
            <a:ext cx="3557016" cy="438912"/>
          </a:xfrm>
          <a:prstGeom prst="rect">
            <a:avLst/>
          </a:prstGeom>
          <a:solidFill>
            <a:srgbClr val="FFF6DD"/>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Assess</a:t>
            </a:r>
            <a:endParaRPr lang="en-US" sz="1220" dirty="0"/>
          </a:p>
        </p:txBody>
      </p:sp>
      <p:sp>
        <p:nvSpPr>
          <p:cNvPr id="13" name="Text 11"/>
          <p:cNvSpPr/>
          <p:nvPr/>
        </p:nvSpPr>
        <p:spPr>
          <a:xfrm>
            <a:off x="6958584" y="2862072"/>
            <a:ext cx="3227832"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Formulate</a:t>
            </a:r>
            <a:endParaRPr lang="en-US" sz="1220" dirty="0"/>
          </a:p>
        </p:txBody>
      </p:sp>
      <p:sp>
        <p:nvSpPr>
          <p:cNvPr id="14" name="Text 12"/>
          <p:cNvSpPr/>
          <p:nvPr/>
        </p:nvSpPr>
        <p:spPr>
          <a:xfrm>
            <a:off x="7123176" y="3355848"/>
            <a:ext cx="2898648" cy="438912"/>
          </a:xfrm>
          <a:prstGeom prst="rect">
            <a:avLst/>
          </a:prstGeom>
          <a:solidFill>
            <a:srgbClr val="FFF6DD"/>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Execute</a:t>
            </a:r>
            <a:endParaRPr lang="en-US" sz="1220" dirty="0"/>
          </a:p>
        </p:txBody>
      </p:sp>
      <p:sp>
        <p:nvSpPr>
          <p:cNvPr id="15" name="Text 13"/>
          <p:cNvSpPr/>
          <p:nvPr/>
        </p:nvSpPr>
        <p:spPr>
          <a:xfrm>
            <a:off x="7287768" y="3849624"/>
            <a:ext cx="2569464"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Resources</a:t>
            </a:r>
            <a:endParaRPr lang="en-US" sz="1220" dirty="0"/>
          </a:p>
        </p:txBody>
      </p:sp>
      <p:sp>
        <p:nvSpPr>
          <p:cNvPr id="16" name="Text 14"/>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C99700"/>
                </a:solidFill>
                <a:latin typeface="Aptos" pitchFamily="34" charset="0"/>
                <a:ea typeface="Aptos" pitchFamily="34" charset="-122"/>
                <a:cs typeface="Aptos" pitchFamily="34" charset="-120"/>
              </a:rPr>
              <a:t>✓</a:t>
            </a:r>
            <a:endParaRPr lang="en-US" sz="1500" dirty="0"/>
          </a:p>
        </p:txBody>
      </p:sp>
      <p:sp>
        <p:nvSpPr>
          <p:cNvPr id="17" name="Text 15"/>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 means assess directly and specifically.</a:t>
            </a:r>
            <a:endParaRPr lang="en-US" sz="1330" dirty="0"/>
          </a:p>
        </p:txBody>
      </p:sp>
      <p:sp>
        <p:nvSpPr>
          <p:cNvPr id="18" name="Text 16"/>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C99700"/>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exact action changes, but direct assessment and realistic follow-through remain constant.</a:t>
            </a:r>
            <a:endParaRPr lang="en-US" sz="133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C99700"/>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Stabilize • Assess • Formulate • Execute • Resources • Engage • Access • Link</a:t>
            </a:r>
            <a:endParaRPr lang="en-US" sz="1330" dirty="0"/>
          </a:p>
        </p:txBody>
      </p:sp>
      <p:sp>
        <p:nvSpPr>
          <p:cNvPr id="22" name="Text 20"/>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C99700"/>
                </a:solidFill>
                <a:latin typeface="Aptos" pitchFamily="34" charset="0"/>
                <a:ea typeface="Aptos" pitchFamily="34" charset="-122"/>
                <a:cs typeface="Aptos" pitchFamily="34" charset="-120"/>
              </a:rPr>
              <a:t>STUDENT MOVE</a:t>
            </a:r>
            <a:endParaRPr lang="en-US" sz="940" dirty="0"/>
          </a:p>
        </p:txBody>
      </p:sp>
      <p:sp>
        <p:nvSpPr>
          <p:cNvPr id="23" name="Text 21"/>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The exact action changes, but direct assessment and realistic follow-through remain constant.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C99700"/>
          </a:solidFill>
          <a:ln w="12700">
            <a:solidFill>
              <a:srgbClr val="C99700">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C99700"/>
                </a:solidFill>
                <a:latin typeface="Aptos" pitchFamily="34" charset="0"/>
                <a:ea typeface="Aptos" pitchFamily="34" charset="-122"/>
                <a:cs typeface="Aptos" pitchFamily="34" charset="-120"/>
              </a:rPr>
              <a:t>LCSW WORKBOOK 06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WB06 • 03/8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C99700"/>
                </a:solidFill>
                <a:latin typeface="Aptos Display" pitchFamily="34" charset="0"/>
                <a:ea typeface="Aptos Display" pitchFamily="34" charset="-122"/>
                <a:cs typeface="Aptos Display" pitchFamily="34" charset="-120"/>
              </a:rPr>
              <a:t>03</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Ask Directly and Formulate Acuity</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When a client expresses hopelessness, burdensomeness, a wish not to wake up, violent intent, abuse, or another warning sign, ask direct questions.</a:t>
            </a:r>
            <a:endParaRPr lang="en-US" sz="2080" dirty="0"/>
          </a:p>
        </p:txBody>
      </p:sp>
      <p:sp>
        <p:nvSpPr>
          <p:cNvPr id="11" name="Shape 9"/>
          <p:cNvSpPr/>
          <p:nvPr/>
        </p:nvSpPr>
        <p:spPr>
          <a:xfrm>
            <a:off x="6537960" y="2624328"/>
            <a:ext cx="4160520" cy="0"/>
          </a:xfrm>
          <a:prstGeom prst="line">
            <a:avLst/>
          </a:prstGeom>
          <a:noFill/>
          <a:ln w="13970">
            <a:solidFill>
              <a:srgbClr val="C99700">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Ideation</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intent</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plan</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means</a:t>
            </a:r>
            <a:endParaRPr lang="en-US" sz="1140" dirty="0"/>
          </a:p>
        </p:txBody>
      </p:sp>
      <p:sp>
        <p:nvSpPr>
          <p:cNvPr id="16" name="Text 14"/>
          <p:cNvSpPr/>
          <p:nvPr/>
        </p:nvSpPr>
        <p:spPr>
          <a:xfrm>
            <a:off x="10080346" y="2331720"/>
            <a:ext cx="755294" cy="594360"/>
          </a:xfrm>
          <a:prstGeom prst="rect">
            <a:avLst/>
          </a:prstGeom>
          <a:solidFill>
            <a:srgbClr val="C99700"/>
          </a:solidFill>
          <a:ln w="10160">
            <a:solidFill>
              <a:srgbClr val="C99700"/>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behavior</a:t>
            </a:r>
            <a:endParaRPr lang="en-US" sz="1140" dirty="0"/>
          </a:p>
        </p:txBody>
      </p:sp>
      <p:sp>
        <p:nvSpPr>
          <p:cNvPr id="17" name="Text 15"/>
          <p:cNvSpPr/>
          <p:nvPr/>
        </p:nvSpPr>
        <p:spPr>
          <a:xfrm>
            <a:off x="7086600" y="3401568"/>
            <a:ext cx="3063240" cy="914400"/>
          </a:xfrm>
          <a:prstGeom prst="rect">
            <a:avLst/>
          </a:prstGeom>
          <a:solidFill>
            <a:srgbClr val="FFF6DD"/>
          </a:solidFill>
          <a:ln w="13970">
            <a:solidFill>
              <a:srgbClr val="C99700">
                <a:alpha val="75000"/>
              </a:srgbClr>
            </a:solidFill>
          </a:ln>
        </p:spPr>
        <p:txBody>
          <a:bodyPr wrap="square" lIns="635" tIns="635" rIns="635" bIns="635" rtlCol="0" anchor="ctr">
            <a:normAutofit/>
          </a:bodyPr>
          <a:lstStyle/>
          <a:p>
            <a:pPr algn="ctr" indent="0" marL="0">
              <a:buNone/>
            </a:pPr>
            <a:r>
              <a:rPr lang="en-US" sz="2200" b="1" dirty="0">
                <a:solidFill>
                  <a:srgbClr val="C99700"/>
                </a:solidFill>
                <a:latin typeface="Aptos Display" pitchFamily="34" charset="0"/>
                <a:ea typeface="Aptos Display" pitchFamily="34" charset="-122"/>
                <a:cs typeface="Aptos Display" pitchFamily="34" charset="-120"/>
              </a:rPr>
              <a:t>Ideation</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C99700"/>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Clarify current thoughts, intent, plan, access to means, preparations, recent behavior,…</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C99700"/>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Match the response to acuity and feasibility.</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C99700"/>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Specific Questions Produce Safer Decisions</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C99700"/>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Match the response to acuity and feasibility.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C99700"/>
          </a:solidFill>
          <a:ln w="12700">
            <a:solidFill>
              <a:srgbClr val="C99700">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C99700"/>
                </a:solidFill>
                <a:latin typeface="Aptos" pitchFamily="34" charset="0"/>
                <a:ea typeface="Aptos" pitchFamily="34" charset="-122"/>
                <a:cs typeface="Aptos" pitchFamily="34" charset="-120"/>
              </a:rPr>
              <a:t>LCSW WORKBOOK 06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WB06 • 04/8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C99700"/>
                </a:solidFill>
                <a:latin typeface="Aptos Display" pitchFamily="34" charset="0"/>
                <a:ea typeface="Aptos Display" pitchFamily="34" charset="-122"/>
                <a:cs typeface="Aptos Display" pitchFamily="34" charset="-120"/>
              </a:rPr>
              <a:t>04</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Self-Determination, Capacity, and Least Restrictive Care</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Adults ordinarily retain the right to make choices that professionals dislike.</a:t>
            </a:r>
            <a:endParaRPr lang="en-US" sz="2080" dirty="0"/>
          </a:p>
        </p:txBody>
      </p:sp>
      <p:sp>
        <p:nvSpPr>
          <p:cNvPr id="11" name="Shape 9"/>
          <p:cNvSpPr/>
          <p:nvPr/>
        </p:nvSpPr>
        <p:spPr>
          <a:xfrm>
            <a:off x="6537960" y="2624328"/>
            <a:ext cx="4160520" cy="0"/>
          </a:xfrm>
          <a:prstGeom prst="line">
            <a:avLst/>
          </a:prstGeom>
          <a:noFill/>
          <a:ln w="13970">
            <a:solidFill>
              <a:srgbClr val="C99700">
                <a:alpha val="75000"/>
              </a:srgbClr>
            </a:solidFill>
            <a:prstDash val="solid"/>
            <a:tailEnd type="triangle"/>
          </a:ln>
        </p:spPr>
      </p:sp>
      <p:sp>
        <p:nvSpPr>
          <p:cNvPr id="12" name="Text 10"/>
          <p:cNvSpPr/>
          <p:nvPr/>
        </p:nvSpPr>
        <p:spPr>
          <a:xfrm>
            <a:off x="6400800" y="2331720"/>
            <a:ext cx="9852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Client choice is balanced…</a:t>
            </a:r>
            <a:endParaRPr lang="en-US" sz="1140" dirty="0"/>
          </a:p>
        </p:txBody>
      </p:sp>
      <p:sp>
        <p:nvSpPr>
          <p:cNvPr id="13" name="Text 11"/>
          <p:cNvSpPr/>
          <p:nvPr/>
        </p:nvSpPr>
        <p:spPr>
          <a:xfrm>
            <a:off x="7550658" y="2331720"/>
            <a:ext cx="9852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danger</a:t>
            </a:r>
            <a:endParaRPr lang="en-US" sz="1140" dirty="0"/>
          </a:p>
        </p:txBody>
      </p:sp>
      <p:sp>
        <p:nvSpPr>
          <p:cNvPr id="14" name="Text 12"/>
          <p:cNvSpPr/>
          <p:nvPr/>
        </p:nvSpPr>
        <p:spPr>
          <a:xfrm>
            <a:off x="8700516" y="2331720"/>
            <a:ext cx="9852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vulnerability</a:t>
            </a:r>
            <a:endParaRPr lang="en-US" sz="1140" dirty="0"/>
          </a:p>
        </p:txBody>
      </p:sp>
      <p:sp>
        <p:nvSpPr>
          <p:cNvPr id="15" name="Text 13"/>
          <p:cNvSpPr/>
          <p:nvPr/>
        </p:nvSpPr>
        <p:spPr>
          <a:xfrm>
            <a:off x="9850374" y="2331720"/>
            <a:ext cx="985266" cy="594360"/>
          </a:xfrm>
          <a:prstGeom prst="rect">
            <a:avLst/>
          </a:prstGeom>
          <a:solidFill>
            <a:srgbClr val="C99700"/>
          </a:solidFill>
          <a:ln w="10160">
            <a:solidFill>
              <a:srgbClr val="C99700"/>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available alternatives.</a:t>
            </a:r>
            <a:endParaRPr lang="en-US" sz="1140" dirty="0"/>
          </a:p>
        </p:txBody>
      </p:sp>
      <p:sp>
        <p:nvSpPr>
          <p:cNvPr id="16" name="Text 14"/>
          <p:cNvSpPr/>
          <p:nvPr/>
        </p:nvSpPr>
        <p:spPr>
          <a:xfrm>
            <a:off x="7086600" y="3401568"/>
            <a:ext cx="3063240" cy="914400"/>
          </a:xfrm>
          <a:prstGeom prst="rect">
            <a:avLst/>
          </a:prstGeom>
          <a:solidFill>
            <a:srgbClr val="FFF6DD"/>
          </a:solidFill>
          <a:ln w="13970">
            <a:solidFill>
              <a:srgbClr val="C99700">
                <a:alpha val="75000"/>
              </a:srgbClr>
            </a:solidFill>
          </a:ln>
        </p:spPr>
        <p:txBody>
          <a:bodyPr wrap="square" lIns="635" tIns="635" rIns="635" bIns="635" rtlCol="0" anchor="ctr">
            <a:normAutofit/>
          </a:bodyPr>
          <a:lstStyle/>
          <a:p>
            <a:pPr algn="ctr" indent="0" marL="0">
              <a:buNone/>
            </a:pPr>
            <a:r>
              <a:rPr lang="en-US" sz="2200" b="1" dirty="0">
                <a:solidFill>
                  <a:srgbClr val="C99700"/>
                </a:solidFill>
                <a:latin typeface="Aptos Display" pitchFamily="34" charset="0"/>
                <a:ea typeface="Aptos Display" pitchFamily="34" charset="-122"/>
                <a:cs typeface="Aptos Display" pitchFamily="34" charset="-120"/>
              </a:rPr>
              <a:t>Client choice is balanced…</a:t>
            </a:r>
            <a:endParaRPr lang="en-US" sz="2200" dirty="0"/>
          </a:p>
        </p:txBody>
      </p:sp>
      <p:sp>
        <p:nvSpPr>
          <p:cNvPr id="17" name="Text 15"/>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C99700"/>
                </a:solidFill>
                <a:latin typeface="Aptos" pitchFamily="34" charset="0"/>
                <a:ea typeface="Aptos" pitchFamily="34" charset="-122"/>
                <a:cs typeface="Aptos" pitchFamily="34" charset="-120"/>
              </a:rPr>
              <a:t>✓</a:t>
            </a:r>
            <a:endParaRPr lang="en-US" sz="1500" dirty="0"/>
          </a:p>
        </p:txBody>
      </p:sp>
      <p:sp>
        <p:nvSpPr>
          <p:cNvPr id="18" name="Text 16"/>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Assess whether the client understands the situation, appreciates likely consequences, can…</a:t>
            </a:r>
            <a:endParaRPr lang="en-US" sz="1330" dirty="0"/>
          </a:p>
        </p:txBody>
      </p:sp>
      <p:sp>
        <p:nvSpPr>
          <p:cNvPr id="19" name="Text 17"/>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C99700"/>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Choose the least restrictive effective response and involve the client in the plan to the…</a:t>
            </a:r>
            <a:endParaRPr lang="en-US" sz="1330" dirty="0"/>
          </a:p>
        </p:txBody>
      </p:sp>
      <p:sp>
        <p:nvSpPr>
          <p:cNvPr id="21" name="Text 19"/>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C99700"/>
                </a:solidFill>
                <a:latin typeface="Aptos" pitchFamily="34" charset="0"/>
                <a:ea typeface="Aptos" pitchFamily="34" charset="-122"/>
                <a:cs typeface="Aptos" pitchFamily="34" charset="-120"/>
              </a:rPr>
              <a:t>✓</a:t>
            </a:r>
            <a:endParaRPr lang="en-US" sz="1500" dirty="0"/>
          </a:p>
        </p:txBody>
      </p:sp>
      <p:sp>
        <p:nvSpPr>
          <p:cNvPr id="22" name="Text 20"/>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Protect Without Using More Control Than Necessary</a:t>
            </a:r>
            <a:endParaRPr lang="en-US" sz="1330" dirty="0"/>
          </a:p>
        </p:txBody>
      </p:sp>
      <p:sp>
        <p:nvSpPr>
          <p:cNvPr id="23" name="Text 21"/>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C99700"/>
                </a:solidFill>
                <a:latin typeface="Aptos" pitchFamily="34" charset="0"/>
                <a:ea typeface="Aptos" pitchFamily="34" charset="-122"/>
                <a:cs typeface="Aptos" pitchFamily="34" charset="-120"/>
              </a:rPr>
              <a:t>STUDENT MOVE</a:t>
            </a:r>
            <a:endParaRPr lang="en-US" sz="940" dirty="0"/>
          </a:p>
        </p:txBody>
      </p:sp>
      <p:sp>
        <p:nvSpPr>
          <p:cNvPr id="24" name="Text 22"/>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Choose the least restrictive effective response and involve the client in the plan to the greatest extent possible.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C99700"/>
          </a:solidFill>
          <a:ln w="12700">
            <a:solidFill>
              <a:srgbClr val="C99700">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C99700"/>
                </a:solidFill>
                <a:latin typeface="Aptos" pitchFamily="34" charset="0"/>
                <a:ea typeface="Aptos" pitchFamily="34" charset="-122"/>
                <a:cs typeface="Aptos" pitchFamily="34" charset="-120"/>
              </a:rPr>
              <a:t>LCSW WORKBOOK 06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WB06 • 05/8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C99700"/>
                </a:solidFill>
                <a:latin typeface="Aptos Display" pitchFamily="34" charset="0"/>
                <a:ea typeface="Aptos Display" pitchFamily="34" charset="-122"/>
                <a:cs typeface="Aptos Display" pitchFamily="34" charset="-120"/>
              </a:rPr>
              <a:t>05</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Abuse, Medical, Substance, and Environmental Crises</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Abuse, neglect, exploitation, intimate partner violence, stalking, sexual assault, overdose, withdrawal, and medical instability require…</a:t>
            </a:r>
            <a:endParaRPr lang="en-US" sz="2080" dirty="0"/>
          </a:p>
        </p:txBody>
      </p:sp>
      <p:sp>
        <p:nvSpPr>
          <p:cNvPr id="11" name="Shape 9"/>
          <p:cNvSpPr/>
          <p:nvPr/>
        </p:nvSpPr>
        <p:spPr>
          <a:xfrm>
            <a:off x="6537960" y="2624328"/>
            <a:ext cx="4160520" cy="0"/>
          </a:xfrm>
          <a:prstGeom prst="line">
            <a:avLst/>
          </a:prstGeom>
          <a:noFill/>
          <a:ln w="13970">
            <a:solidFill>
              <a:srgbClr val="C99700">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Different crisis…</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protection</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medical care</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shelter</a:t>
            </a:r>
            <a:endParaRPr lang="en-US" sz="1140" dirty="0"/>
          </a:p>
        </p:txBody>
      </p:sp>
      <p:sp>
        <p:nvSpPr>
          <p:cNvPr id="16" name="Text 14"/>
          <p:cNvSpPr/>
          <p:nvPr/>
        </p:nvSpPr>
        <p:spPr>
          <a:xfrm>
            <a:off x="10080346" y="2331720"/>
            <a:ext cx="755294" cy="594360"/>
          </a:xfrm>
          <a:prstGeom prst="rect">
            <a:avLst/>
          </a:prstGeom>
          <a:solidFill>
            <a:srgbClr val="C99700"/>
          </a:solidFill>
          <a:ln w="10160">
            <a:solidFill>
              <a:srgbClr val="C99700"/>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coordinated services.</a:t>
            </a:r>
            <a:endParaRPr lang="en-US" sz="1140" dirty="0"/>
          </a:p>
        </p:txBody>
      </p:sp>
      <p:sp>
        <p:nvSpPr>
          <p:cNvPr id="17" name="Text 15"/>
          <p:cNvSpPr/>
          <p:nvPr/>
        </p:nvSpPr>
        <p:spPr>
          <a:xfrm>
            <a:off x="7086600" y="3401568"/>
            <a:ext cx="3063240" cy="914400"/>
          </a:xfrm>
          <a:prstGeom prst="rect">
            <a:avLst/>
          </a:prstGeom>
          <a:solidFill>
            <a:srgbClr val="FFF6DD"/>
          </a:solidFill>
          <a:ln w="13970">
            <a:solidFill>
              <a:srgbClr val="C99700">
                <a:alpha val="75000"/>
              </a:srgbClr>
            </a:solidFill>
          </a:ln>
        </p:spPr>
        <p:txBody>
          <a:bodyPr wrap="square" lIns="635" tIns="635" rIns="635" bIns="635" rtlCol="0" anchor="ctr">
            <a:normAutofit/>
          </a:bodyPr>
          <a:lstStyle/>
          <a:p>
            <a:pPr algn="ctr" indent="0" marL="0">
              <a:buNone/>
            </a:pPr>
            <a:r>
              <a:rPr lang="en-US" sz="2200" b="1" dirty="0">
                <a:solidFill>
                  <a:srgbClr val="C99700"/>
                </a:solidFill>
                <a:latin typeface="Aptos Display" pitchFamily="34" charset="0"/>
                <a:ea typeface="Aptos Display" pitchFamily="34" charset="-122"/>
                <a:cs typeface="Aptos Display" pitchFamily="34" charset="-120"/>
              </a:rPr>
              <a:t>Different crisis…</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C99700"/>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Follow the legal duty provided by the question or use jurisdiction-neutral ethical reasoning…</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C99700"/>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In homelessness or disaster, integrate safety with shelter, medication, communication,…</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C99700"/>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Use the Duty Supplied by the Item and Address Access</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C99700"/>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In homelessness or disaster, integrate safety with shelter, medication, communication, transportation, and continuity.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C99700"/>
          </a:solidFill>
          <a:ln w="12700">
            <a:solidFill>
              <a:srgbClr val="C99700">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C99700"/>
                </a:solidFill>
                <a:latin typeface="Aptos" pitchFamily="34" charset="0"/>
                <a:ea typeface="Aptos" pitchFamily="34" charset="-122"/>
                <a:cs typeface="Aptos" pitchFamily="34" charset="-120"/>
              </a:rPr>
              <a:t>LCSW WORKBOOK 06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WB06 • 06/8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C99700"/>
                </a:solidFill>
                <a:latin typeface="Aptos Display" pitchFamily="34" charset="0"/>
                <a:ea typeface="Aptos Display" pitchFamily="34" charset="-122"/>
                <a:cs typeface="Aptos Display" pitchFamily="34" charset="-120"/>
              </a:rPr>
              <a:t>06</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Common Exam Traps</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Common traps include addressing housing before assessing a death wish, ignoring medical instability, overriding an adult survivor’s choices without…</a:t>
            </a:r>
            <a:endParaRPr lang="en-US" sz="2080" dirty="0"/>
          </a:p>
        </p:txBody>
      </p:sp>
      <p:sp>
        <p:nvSpPr>
          <p:cNvPr id="11" name="Text 9"/>
          <p:cNvSpPr/>
          <p:nvPr/>
        </p:nvSpPr>
        <p:spPr>
          <a:xfrm>
            <a:off x="6446520" y="2011680"/>
            <a:ext cx="2103120" cy="1097280"/>
          </a:xfrm>
          <a:prstGeom prst="rect">
            <a:avLst/>
          </a:prstGeom>
          <a:solidFill>
            <a:srgbClr val="FFF6DD"/>
          </a:solidFill>
          <a:ln w="11430">
            <a:solidFill>
              <a:srgbClr val="C99700"/>
            </a:solidFill>
          </a:ln>
        </p:spPr>
        <p:txBody>
          <a:bodyPr wrap="square" lIns="1016" tIns="1016" rIns="1016" bIns="1016" rtlCol="0" anchor="ctr">
            <a:normAutofit/>
          </a:bodyPr>
          <a:lstStyle/>
          <a:p>
            <a:pPr algn="ctr" indent="0" marL="0">
              <a:buNone/>
            </a:pPr>
            <a:r>
              <a:rPr lang="en-US" sz="1500" b="1" dirty="0">
                <a:solidFill>
                  <a:srgbClr val="C99700"/>
                </a:solidFill>
                <a:latin typeface="Aptos Display" pitchFamily="34" charset="0"/>
                <a:ea typeface="Aptos Display" pitchFamily="34" charset="-122"/>
                <a:cs typeface="Aptos Display" pitchFamily="34" charset="-120"/>
              </a:rPr>
              <a:t>Trap cards show housing…</a:t>
            </a:r>
            <a:endParaRPr lang="en-US" sz="1500" dirty="0"/>
          </a:p>
        </p:txBody>
      </p:sp>
      <p:sp>
        <p:nvSpPr>
          <p:cNvPr id="12" name="Text 10"/>
          <p:cNvSpPr/>
          <p:nvPr/>
        </p:nvSpPr>
        <p:spPr>
          <a:xfrm>
            <a:off x="8686800" y="201168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generic referral</a:t>
            </a:r>
            <a:endParaRPr lang="en-US" sz="1500" dirty="0"/>
          </a:p>
        </p:txBody>
      </p:sp>
      <p:sp>
        <p:nvSpPr>
          <p:cNvPr id="13" name="Text 11"/>
          <p:cNvSpPr/>
          <p:nvPr/>
        </p:nvSpPr>
        <p:spPr>
          <a:xfrm>
            <a:off x="6446520" y="324612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coercion</a:t>
            </a:r>
            <a:endParaRPr lang="en-US" sz="1500" dirty="0"/>
          </a:p>
        </p:txBody>
      </p:sp>
      <p:sp>
        <p:nvSpPr>
          <p:cNvPr id="14" name="Text 12"/>
          <p:cNvSpPr/>
          <p:nvPr/>
        </p:nvSpPr>
        <p:spPr>
          <a:xfrm>
            <a:off x="8686800" y="324612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delayed medical response.</a:t>
            </a:r>
            <a:endParaRPr lang="en-US" sz="1500" dirty="0"/>
          </a:p>
        </p:txBody>
      </p:sp>
      <p:sp>
        <p:nvSpPr>
          <p:cNvPr id="15" name="Text 13"/>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C99700"/>
                </a:solidFill>
                <a:latin typeface="Aptos" pitchFamily="34" charset="0"/>
                <a:ea typeface="Aptos" pitchFamily="34" charset="-122"/>
                <a:cs typeface="Aptos" pitchFamily="34" charset="-120"/>
              </a:rPr>
              <a:t>✓</a:t>
            </a:r>
            <a:endParaRPr lang="en-US" sz="1500" dirty="0"/>
          </a:p>
        </p:txBody>
      </p:sp>
      <p:sp>
        <p:nvSpPr>
          <p:cNvPr id="16" name="Text 14"/>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Another trap is choosing hospitalization for every risk signal or avoiding hospitalization…</a:t>
            </a:r>
            <a:endParaRPr lang="en-US" sz="1330" dirty="0"/>
          </a:p>
        </p:txBody>
      </p:sp>
      <p:sp>
        <p:nvSpPr>
          <p:cNvPr id="17" name="Text 15"/>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C99700"/>
                </a:solidFill>
                <a:latin typeface="Aptos" pitchFamily="34" charset="0"/>
                <a:ea typeface="Aptos" pitchFamily="34" charset="-122"/>
                <a:cs typeface="Aptos" pitchFamily="34" charset="-120"/>
              </a:rPr>
              <a:t>✓</a:t>
            </a:r>
            <a:endParaRPr lang="en-US" sz="1500" dirty="0"/>
          </a:p>
        </p:txBody>
      </p:sp>
      <p:sp>
        <p:nvSpPr>
          <p:cNvPr id="18" name="Text 16"/>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response must fit acuity.</a:t>
            </a:r>
            <a:endParaRPr lang="en-US" sz="133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C99700"/>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Urgency First; Access Makes the Plan Real</a:t>
            </a:r>
            <a:endParaRPr lang="en-US" sz="1330" dirty="0"/>
          </a:p>
        </p:txBody>
      </p:sp>
      <p:sp>
        <p:nvSpPr>
          <p:cNvPr id="21" name="Text 19"/>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C99700"/>
                </a:solidFill>
                <a:latin typeface="Aptos" pitchFamily="34" charset="0"/>
                <a:ea typeface="Aptos" pitchFamily="34" charset="-122"/>
                <a:cs typeface="Aptos" pitchFamily="34" charset="-120"/>
              </a:rPr>
              <a:t>STUDENT MOVE</a:t>
            </a:r>
            <a:endParaRPr lang="en-US" sz="940" dirty="0"/>
          </a:p>
        </p:txBody>
      </p:sp>
      <p:sp>
        <p:nvSpPr>
          <p:cNvPr id="22" name="Text 20"/>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The response must fit acuity.</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C99700"/>
          </a:solidFill>
          <a:ln w="12700">
            <a:solidFill>
              <a:srgbClr val="C99700">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C99700"/>
                </a:solidFill>
                <a:latin typeface="Aptos" pitchFamily="34" charset="0"/>
                <a:ea typeface="Aptos" pitchFamily="34" charset="-122"/>
                <a:cs typeface="Aptos" pitchFamily="34" charset="-120"/>
              </a:rPr>
              <a:t>LCSW WORKBOOK 06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WB06 • 07/8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C99700"/>
                </a:solidFill>
                <a:latin typeface="Aptos Display" pitchFamily="34" charset="0"/>
                <a:ea typeface="Aptos Display" pitchFamily="34" charset="-122"/>
                <a:cs typeface="Aptos Display" pitchFamily="34" charset="-120"/>
              </a:rPr>
              <a:t>07</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Mini Scenario: Housing Loss and Passive Death Wish</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A client who recently lost housing says, “I cannot do this anymore.</a:t>
            </a:r>
            <a:endParaRPr lang="en-US" sz="2080" dirty="0"/>
          </a:p>
        </p:txBody>
      </p:sp>
      <p:sp>
        <p:nvSpPr>
          <p:cNvPr id="11" name="Shape 9"/>
          <p:cNvSpPr/>
          <p:nvPr/>
        </p:nvSpPr>
        <p:spPr>
          <a:xfrm>
            <a:off x="6537960" y="2148840"/>
            <a:ext cx="4160520" cy="2743200"/>
          </a:xfrm>
          <a:prstGeom prst="rect">
            <a:avLst>
              <a:gd name="adj" fmla="val 3333"/>
            </a:avLst>
          </a:prstGeom>
          <a:solidFill>
            <a:srgbClr val="FFF6DD"/>
          </a:solidFill>
          <a:ln w="15240">
            <a:solidFill>
              <a:srgbClr val="C99700">
                <a:alpha val="85000"/>
              </a:srgbClr>
            </a:solidFill>
            <a:prstDash val="solid"/>
          </a:ln>
        </p:spPr>
      </p:sp>
      <p:sp>
        <p:nvSpPr>
          <p:cNvPr id="12" name="Text 10"/>
          <p:cNvSpPr/>
          <p:nvPr/>
        </p:nvSpPr>
        <p:spPr>
          <a:xfrm>
            <a:off x="6766560" y="2350008"/>
            <a:ext cx="3703320" cy="228600"/>
          </a:xfrm>
          <a:prstGeom prst="rect">
            <a:avLst/>
          </a:prstGeom>
          <a:noFill/>
          <a:ln/>
        </p:spPr>
        <p:txBody>
          <a:bodyPr wrap="square" lIns="0" tIns="0" rIns="0" bIns="0" rtlCol="0" anchor="ctr"/>
          <a:lstStyle/>
          <a:p>
            <a:pPr indent="0" marL="0">
              <a:buNone/>
            </a:pPr>
            <a:r>
              <a:rPr lang="en-US" sz="1000" b="1" dirty="0">
                <a:solidFill>
                  <a:srgbClr val="C99700"/>
                </a:solidFill>
                <a:latin typeface="Aptos" pitchFamily="34" charset="0"/>
                <a:ea typeface="Aptos" pitchFamily="34" charset="-122"/>
                <a:cs typeface="Aptos" pitchFamily="34" charset="-120"/>
              </a:rPr>
              <a:t>MINI SCENARIO</a:t>
            </a:r>
            <a:endParaRPr lang="en-US" sz="1000" dirty="0"/>
          </a:p>
        </p:txBody>
      </p:sp>
      <p:sp>
        <p:nvSpPr>
          <p:cNvPr id="13" name="Text 11"/>
          <p:cNvSpPr/>
          <p:nvPr/>
        </p:nvSpPr>
        <p:spPr>
          <a:xfrm>
            <a:off x="6766560" y="2770632"/>
            <a:ext cx="3703320" cy="713232"/>
          </a:xfrm>
          <a:prstGeom prst="rect">
            <a:avLst/>
          </a:prstGeom>
          <a:noFill/>
          <a:ln/>
        </p:spPr>
        <p:txBody>
          <a:bodyPr wrap="square" lIns="254" tIns="254" rIns="254" bIns="254" rtlCol="0" anchor="ctr">
            <a:normAutofit/>
          </a:bodyPr>
          <a:lstStyle/>
          <a:p>
            <a:pPr indent="0" marL="0">
              <a:buNone/>
            </a:pPr>
            <a:r>
              <a:rPr lang="en-US" sz="2000" b="1" dirty="0">
                <a:solidFill>
                  <a:srgbClr val="1D2838"/>
                </a:solidFill>
                <a:latin typeface="Aptos Display" pitchFamily="34" charset="0"/>
                <a:ea typeface="Aptos Display" pitchFamily="34" charset="-122"/>
                <a:cs typeface="Aptos Display" pitchFamily="34" charset="-120"/>
              </a:rPr>
              <a:t>Facts → Safety → Role → Next step</a:t>
            </a:r>
            <a:endParaRPr lang="en-US" sz="2000" dirty="0"/>
          </a:p>
        </p:txBody>
      </p:sp>
      <p:sp>
        <p:nvSpPr>
          <p:cNvPr id="14" name="Shape 12"/>
          <p:cNvSpPr/>
          <p:nvPr/>
        </p:nvSpPr>
        <p:spPr>
          <a:xfrm>
            <a:off x="6995160" y="3922776"/>
            <a:ext cx="3246120" cy="0"/>
          </a:xfrm>
          <a:prstGeom prst="line">
            <a:avLst/>
          </a:prstGeom>
          <a:noFill/>
          <a:ln w="13970">
            <a:solidFill>
              <a:srgbClr val="C99700">
                <a:alpha val="75000"/>
              </a:srgbClr>
            </a:solidFill>
            <a:prstDash val="solid"/>
            <a:tailEnd type="triangle"/>
          </a:ln>
        </p:spPr>
      </p:sp>
      <p:sp>
        <p:nvSpPr>
          <p:cNvPr id="15" name="Text 13"/>
          <p:cNvSpPr/>
          <p:nvPr/>
        </p:nvSpPr>
        <p:spPr>
          <a:xfrm>
            <a:off x="6858000"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Facts</a:t>
            </a:r>
            <a:endParaRPr lang="en-US" sz="1140" dirty="0"/>
          </a:p>
        </p:txBody>
      </p:sp>
      <p:sp>
        <p:nvSpPr>
          <p:cNvPr id="16" name="Text 14"/>
          <p:cNvSpPr/>
          <p:nvPr/>
        </p:nvSpPr>
        <p:spPr>
          <a:xfrm>
            <a:off x="7779258"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Risk</a:t>
            </a:r>
            <a:endParaRPr lang="en-US" sz="1140" dirty="0"/>
          </a:p>
        </p:txBody>
      </p:sp>
      <p:sp>
        <p:nvSpPr>
          <p:cNvPr id="17" name="Text 15"/>
          <p:cNvSpPr/>
          <p:nvPr/>
        </p:nvSpPr>
        <p:spPr>
          <a:xfrm>
            <a:off x="8700516"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Role</a:t>
            </a:r>
            <a:endParaRPr lang="en-US" sz="1140" dirty="0"/>
          </a:p>
        </p:txBody>
      </p:sp>
      <p:sp>
        <p:nvSpPr>
          <p:cNvPr id="18" name="Text 16"/>
          <p:cNvSpPr/>
          <p:nvPr/>
        </p:nvSpPr>
        <p:spPr>
          <a:xfrm>
            <a:off x="9621774" y="3630168"/>
            <a:ext cx="756666" cy="594360"/>
          </a:xfrm>
          <a:prstGeom prst="rect">
            <a:avLst/>
          </a:prstGeom>
          <a:solidFill>
            <a:srgbClr val="C99700"/>
          </a:solidFill>
          <a:ln w="10160">
            <a:solidFill>
              <a:srgbClr val="C99700"/>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Action</a:t>
            </a:r>
            <a:endParaRPr lang="en-US" sz="1140" dirty="0"/>
          </a:p>
        </p:txBody>
      </p:sp>
      <p:sp>
        <p:nvSpPr>
          <p:cNvPr id="19" name="Text 17"/>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C99700"/>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 wish I would not wake up.” Housing assistance is important, but the statement requires…</a:t>
            </a:r>
            <a:endParaRPr lang="en-US" sz="1330" dirty="0"/>
          </a:p>
        </p:txBody>
      </p:sp>
      <p:sp>
        <p:nvSpPr>
          <p:cNvPr id="21" name="Text 19"/>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C99700"/>
                </a:solidFill>
                <a:latin typeface="Aptos" pitchFamily="34" charset="0"/>
                <a:ea typeface="Aptos" pitchFamily="34" charset="-122"/>
                <a:cs typeface="Aptos" pitchFamily="34" charset="-120"/>
              </a:rPr>
              <a:t>✓</a:t>
            </a:r>
            <a:endParaRPr lang="en-US" sz="1500" dirty="0"/>
          </a:p>
        </p:txBody>
      </p:sp>
      <p:sp>
        <p:nvSpPr>
          <p:cNvPr id="22" name="Text 20"/>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strong answer addresses both the immediate risk signal and the environmental crisis rather…</a:t>
            </a:r>
            <a:endParaRPr lang="en-US" sz="1330" dirty="0"/>
          </a:p>
        </p:txBody>
      </p:sp>
      <p:sp>
        <p:nvSpPr>
          <p:cNvPr id="23" name="Text 21"/>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C99700"/>
                </a:solidFill>
                <a:latin typeface="Aptos" pitchFamily="34" charset="0"/>
                <a:ea typeface="Aptos" pitchFamily="34" charset="-122"/>
                <a:cs typeface="Aptos" pitchFamily="34" charset="-120"/>
              </a:rPr>
              <a:t>✓</a:t>
            </a:r>
            <a:endParaRPr lang="en-US" sz="1500" dirty="0"/>
          </a:p>
        </p:txBody>
      </p:sp>
      <p:sp>
        <p:nvSpPr>
          <p:cNvPr id="24" name="Text 22"/>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Assess Suicide Risk Before Finalizing the Housing Plan</a:t>
            </a:r>
            <a:endParaRPr lang="en-US" sz="1330" dirty="0"/>
          </a:p>
        </p:txBody>
      </p:sp>
      <p:sp>
        <p:nvSpPr>
          <p:cNvPr id="25" name="Text 23"/>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C99700"/>
                </a:solidFill>
                <a:latin typeface="Aptos" pitchFamily="34" charset="0"/>
                <a:ea typeface="Aptos" pitchFamily="34" charset="-122"/>
                <a:cs typeface="Aptos" pitchFamily="34" charset="-120"/>
              </a:rPr>
              <a:t>STUDENT MOVE</a:t>
            </a:r>
            <a:endParaRPr lang="en-US" sz="940" dirty="0"/>
          </a:p>
        </p:txBody>
      </p:sp>
      <p:sp>
        <p:nvSpPr>
          <p:cNvPr id="26" name="Text 24"/>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The strong answer addresses both the immediate risk signal and the environmental crisis rather than choosing one and ignoring the other.</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C99700"/>
          </a:solidFill>
          <a:ln w="12700">
            <a:solidFill>
              <a:srgbClr val="C99700">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C99700"/>
                </a:solidFill>
                <a:latin typeface="Aptos" pitchFamily="34" charset="0"/>
                <a:ea typeface="Aptos" pitchFamily="34" charset="-122"/>
                <a:cs typeface="Aptos" pitchFamily="34" charset="-120"/>
              </a:rPr>
              <a:t>LCSW WORKBOOK 06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WB06 • 08/8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C99700"/>
                </a:solidFill>
                <a:latin typeface="Aptos Display" pitchFamily="34" charset="0"/>
                <a:ea typeface="Aptos Display" pitchFamily="34" charset="-122"/>
                <a:cs typeface="Aptos Display" pitchFamily="34" charset="-120"/>
              </a:rPr>
              <a:t>08</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Study Direction</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For each Workbook 6 vignette, identify the immediate danger or medical issue, the direct questions required, the person-in-environment factors that…</a:t>
            </a:r>
            <a:endParaRPr lang="en-US" sz="2080" dirty="0"/>
          </a:p>
        </p:txBody>
      </p:sp>
      <p:sp>
        <p:nvSpPr>
          <p:cNvPr id="11" name="Shape 9"/>
          <p:cNvSpPr/>
          <p:nvPr/>
        </p:nvSpPr>
        <p:spPr>
          <a:xfrm>
            <a:off x="6537960" y="2624328"/>
            <a:ext cx="4160520" cy="0"/>
          </a:xfrm>
          <a:prstGeom prst="line">
            <a:avLst/>
          </a:prstGeom>
          <a:noFill/>
          <a:ln w="13970">
            <a:solidFill>
              <a:srgbClr val="C99700">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Danger</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Questions</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Acuity</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Least Restrictive Plan</a:t>
            </a:r>
            <a:endParaRPr lang="en-US" sz="1140" dirty="0"/>
          </a:p>
        </p:txBody>
      </p:sp>
      <p:sp>
        <p:nvSpPr>
          <p:cNvPr id="16" name="Text 14"/>
          <p:cNvSpPr/>
          <p:nvPr/>
        </p:nvSpPr>
        <p:spPr>
          <a:xfrm>
            <a:off x="10080346" y="2331720"/>
            <a:ext cx="755294" cy="594360"/>
          </a:xfrm>
          <a:prstGeom prst="rect">
            <a:avLst/>
          </a:prstGeom>
          <a:solidFill>
            <a:srgbClr val="C99700"/>
          </a:solidFill>
          <a:ln w="10160">
            <a:solidFill>
              <a:srgbClr val="C99700"/>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Reachability</a:t>
            </a:r>
            <a:endParaRPr lang="en-US" sz="1140" dirty="0"/>
          </a:p>
        </p:txBody>
      </p:sp>
      <p:sp>
        <p:nvSpPr>
          <p:cNvPr id="17" name="Text 15"/>
          <p:cNvSpPr/>
          <p:nvPr/>
        </p:nvSpPr>
        <p:spPr>
          <a:xfrm>
            <a:off x="7086600" y="3401568"/>
            <a:ext cx="3063240" cy="914400"/>
          </a:xfrm>
          <a:prstGeom prst="rect">
            <a:avLst/>
          </a:prstGeom>
          <a:solidFill>
            <a:srgbClr val="FFF6DD"/>
          </a:solidFill>
          <a:ln w="13970">
            <a:solidFill>
              <a:srgbClr val="C99700">
                <a:alpha val="75000"/>
              </a:srgbClr>
            </a:solidFill>
          </a:ln>
        </p:spPr>
        <p:txBody>
          <a:bodyPr wrap="square" lIns="635" tIns="635" rIns="635" bIns="635" rtlCol="0" anchor="ctr">
            <a:normAutofit/>
          </a:bodyPr>
          <a:lstStyle/>
          <a:p>
            <a:pPr algn="ctr" indent="0" marL="0">
              <a:buNone/>
            </a:pPr>
            <a:r>
              <a:rPr lang="en-US" sz="2200" b="1" dirty="0">
                <a:solidFill>
                  <a:srgbClr val="C99700"/>
                </a:solidFill>
                <a:latin typeface="Aptos Display" pitchFamily="34" charset="0"/>
                <a:ea typeface="Aptos Display" pitchFamily="34" charset="-122"/>
                <a:cs typeface="Aptos Display" pitchFamily="34" charset="-120"/>
              </a:rPr>
              <a:t>Danger</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C99700"/>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In your error log, mark urgency, sequence, capacity, self-determination, legal-versus-clinical…</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C99700"/>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 safety plan is only as strong as the client’s ability and opportunity to use it under stress.</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C99700"/>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Danger • Questions • Acuity • Least Restrictive Plan • Reachability • Follow-Up</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C99700"/>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A safety plan is only as strong as the client’s ability and opportunity to use it under stress.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Clinical Training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CTA LCSW Workbook 06 Companion: Workbook 6 Companion: Crisis, Abuse, and Risk Assessment</dc:title>
  <dc:subject>LCSW Workbook 06 Companion</dc:subject>
  <dc:creator>Clinical Training Academy</dc:creator>
  <cp:lastModifiedBy>Clinical Training Academy</cp:lastModifiedBy>
  <cp:revision>1</cp:revision>
  <dcterms:created xsi:type="dcterms:W3CDTF">2026-07-25T22:41:47Z</dcterms:created>
  <dcterms:modified xsi:type="dcterms:W3CDTF">2026-07-25T22:41:47Z</dcterms:modified>
</cp:coreProperties>
</file>